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 id="2147483681" r:id="rId3"/>
    <p:sldMasterId id="2147483696" r:id="rId4"/>
  </p:sldMasterIdLst>
  <p:notesMasterIdLst>
    <p:notesMasterId r:id="rId124"/>
  </p:notesMasterIdLst>
  <p:handoutMasterIdLst>
    <p:handoutMasterId r:id="rId125"/>
  </p:handoutMasterIdLst>
  <p:sldIdLst>
    <p:sldId id="383" r:id="rId5"/>
    <p:sldId id="381" r:id="rId6"/>
    <p:sldId id="384" r:id="rId7"/>
    <p:sldId id="592" r:id="rId8"/>
    <p:sldId id="591" r:id="rId9"/>
    <p:sldId id="593" r:id="rId10"/>
    <p:sldId id="597" r:id="rId11"/>
    <p:sldId id="594" r:id="rId12"/>
    <p:sldId id="595" r:id="rId13"/>
    <p:sldId id="596" r:id="rId14"/>
    <p:sldId id="257" r:id="rId15"/>
    <p:sldId id="278" r:id="rId16"/>
    <p:sldId id="385" r:id="rId17"/>
    <p:sldId id="386" r:id="rId18"/>
    <p:sldId id="459" r:id="rId19"/>
    <p:sldId id="277" r:id="rId20"/>
    <p:sldId id="460" r:id="rId21"/>
    <p:sldId id="461" r:id="rId22"/>
    <p:sldId id="374" r:id="rId23"/>
    <p:sldId id="375" r:id="rId24"/>
    <p:sldId id="531" r:id="rId25"/>
    <p:sldId id="532" r:id="rId26"/>
    <p:sldId id="535" r:id="rId27"/>
    <p:sldId id="536" r:id="rId28"/>
    <p:sldId id="533" r:id="rId29"/>
    <p:sldId id="534" r:id="rId30"/>
    <p:sldId id="540" r:id="rId31"/>
    <p:sldId id="544" r:id="rId32"/>
    <p:sldId id="545" r:id="rId33"/>
    <p:sldId id="376" r:id="rId34"/>
    <p:sldId id="554" r:id="rId35"/>
    <p:sldId id="553" r:id="rId36"/>
    <p:sldId id="558" r:id="rId37"/>
    <p:sldId id="600" r:id="rId38"/>
    <p:sldId id="601" r:id="rId39"/>
    <p:sldId id="602" r:id="rId40"/>
    <p:sldId id="604" r:id="rId41"/>
    <p:sldId id="603" r:id="rId42"/>
    <p:sldId id="605" r:id="rId43"/>
    <p:sldId id="606" r:id="rId44"/>
    <p:sldId id="563" r:id="rId45"/>
    <p:sldId id="564" r:id="rId46"/>
    <p:sldId id="565" r:id="rId47"/>
    <p:sldId id="566" r:id="rId48"/>
    <p:sldId id="279" r:id="rId49"/>
    <p:sldId id="607" r:id="rId50"/>
    <p:sldId id="368" r:id="rId51"/>
    <p:sldId id="262" r:id="rId52"/>
    <p:sldId id="282" r:id="rId53"/>
    <p:sldId id="378" r:id="rId54"/>
    <p:sldId id="265" r:id="rId55"/>
    <p:sldId id="379" r:id="rId56"/>
    <p:sldId id="260" r:id="rId57"/>
    <p:sldId id="259" r:id="rId58"/>
    <p:sldId id="270" r:id="rId59"/>
    <p:sldId id="387" r:id="rId60"/>
    <p:sldId id="264" r:id="rId61"/>
    <p:sldId id="285" r:id="rId62"/>
    <p:sldId id="283" r:id="rId63"/>
    <p:sldId id="284" r:id="rId64"/>
    <p:sldId id="388" r:id="rId65"/>
    <p:sldId id="287" r:id="rId66"/>
    <p:sldId id="389" r:id="rId67"/>
    <p:sldId id="288" r:id="rId68"/>
    <p:sldId id="289" r:id="rId69"/>
    <p:sldId id="290" r:id="rId70"/>
    <p:sldId id="582" r:id="rId71"/>
    <p:sldId id="569" r:id="rId72"/>
    <p:sldId id="567" r:id="rId73"/>
    <p:sldId id="584" r:id="rId74"/>
    <p:sldId id="583" r:id="rId75"/>
    <p:sldId id="291" r:id="rId76"/>
    <p:sldId id="295" r:id="rId77"/>
    <p:sldId id="292" r:id="rId78"/>
    <p:sldId id="293" r:id="rId79"/>
    <p:sldId id="578" r:id="rId80"/>
    <p:sldId id="294" r:id="rId81"/>
    <p:sldId id="297" r:id="rId82"/>
    <p:sldId id="586" r:id="rId83"/>
    <p:sldId id="298" r:id="rId84"/>
    <p:sldId id="300" r:id="rId85"/>
    <p:sldId id="299" r:id="rId86"/>
    <p:sldId id="301" r:id="rId87"/>
    <p:sldId id="390" r:id="rId88"/>
    <p:sldId id="577" r:id="rId89"/>
    <p:sldId id="576" r:id="rId90"/>
    <p:sldId id="302" r:id="rId91"/>
    <p:sldId id="303" r:id="rId92"/>
    <p:sldId id="304" r:id="rId93"/>
    <p:sldId id="305" r:id="rId94"/>
    <p:sldId id="306" r:id="rId95"/>
    <p:sldId id="307" r:id="rId96"/>
    <p:sldId id="308" r:id="rId97"/>
    <p:sldId id="309" r:id="rId98"/>
    <p:sldId id="391" r:id="rId99"/>
    <p:sldId id="310" r:id="rId100"/>
    <p:sldId id="311" r:id="rId101"/>
    <p:sldId id="312" r:id="rId102"/>
    <p:sldId id="313" r:id="rId103"/>
    <p:sldId id="315" r:id="rId104"/>
    <p:sldId id="556" r:id="rId105"/>
    <p:sldId id="587" r:id="rId106"/>
    <p:sldId id="316" r:id="rId107"/>
    <p:sldId id="589" r:id="rId108"/>
    <p:sldId id="317" r:id="rId109"/>
    <p:sldId id="319" r:id="rId110"/>
    <p:sldId id="320" r:id="rId111"/>
    <p:sldId id="321" r:id="rId112"/>
    <p:sldId id="318" r:id="rId113"/>
    <p:sldId id="322" r:id="rId114"/>
    <p:sldId id="393" r:id="rId115"/>
    <p:sldId id="323" r:id="rId116"/>
    <p:sldId id="590" r:id="rId117"/>
    <p:sldId id="367" r:id="rId118"/>
    <p:sldId id="324" r:id="rId119"/>
    <p:sldId id="580" r:id="rId120"/>
    <p:sldId id="579" r:id="rId121"/>
    <p:sldId id="366" r:id="rId122"/>
    <p:sldId id="608" r:id="rId123"/>
  </p:sldIdLst>
  <p:sldSz cx="9144000" cy="5143500" type="screen16x9"/>
  <p:notesSz cx="6858000" cy="9144000"/>
  <p:custShowLst>
    <p:custShow name="自定义放映1" id="0">
      <p:sldLst/>
    </p:custShow>
  </p:custShowLst>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幼圆" pitchFamily="49" charset="-122"/>
        <a:cs typeface="+mn-cs"/>
      </a:defRPr>
    </a:lvl9pPr>
  </p:defaultTextStyle>
  <p:extLst>
    <p:ext uri="{EFAFB233-063F-42B5-8137-9DF3F51BA10A}">
      <p15:sldGuideLst xmlns:p15="http://schemas.microsoft.com/office/powerpoint/2012/main">
        <p15:guide id="1" orient="horz" pos="1650">
          <p15:clr>
            <a:srgbClr val="A4A3A4"/>
          </p15:clr>
        </p15:guide>
        <p15:guide id="2" pos="290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99FF"/>
    <a:srgbClr val="3399FF"/>
    <a:srgbClr val="FFFF00"/>
    <a:srgbClr val="C0C5A6"/>
    <a:srgbClr val="9900CC"/>
    <a:srgbClr val="008000"/>
    <a:srgbClr val="0033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6"/>
    <p:restoredTop sz="94634"/>
  </p:normalViewPr>
  <p:slideViewPr>
    <p:cSldViewPr showGuides="1">
      <p:cViewPr varScale="1">
        <p:scale>
          <a:sx n="122" d="100"/>
          <a:sy n="122" d="100"/>
        </p:scale>
        <p:origin x="84" y="4584"/>
      </p:cViewPr>
      <p:guideLst>
        <p:guide orient="horz" pos="1650"/>
        <p:guide pos="290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notesMaster" Target="notesMasters/notesMaster1.xml"/><Relationship Id="rId129" Type="http://schemas.openxmlformats.org/officeDocument/2006/relationships/theme" Target="theme/theme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555"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556"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55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buNone/>
            </a:pPr>
            <a:fld id="{9A0DB2DC-4C9A-4742-B13C-FB6460FD3503}" type="slidenum">
              <a:rPr lang="en-US" altLang="zh-CN" sz="1200" b="0" strike="noStrike" noProof="1" dirty="0">
                <a:latin typeface="Arial" panose="020B0604020202020204" pitchFamily="34" charset="0"/>
                <a:ea typeface="宋体" panose="02010600030101010101" pitchFamily="2" charset="-122"/>
                <a:cs typeface="+mn-cs"/>
              </a:rPr>
              <a:t>‹#›</a:t>
            </a:fld>
            <a:endParaRPr lang="en-US" altLang="zh-CN" sz="1200" b="0" strike="noStrike" noProof="1">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948064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022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0" hangingPunct="0">
              <a:defRPr sz="1200" b="0">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0227"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defRPr sz="1200" b="0">
                <a:latin typeface="Arial" panose="020B060402020202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1C51C4E4-A514-4C56-91C5-3802B2ECA94C}"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2025/12/31</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4" name="Rectangle 4"/>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180229"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180230"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0" hangingPunct="0">
              <a:defRPr sz="1200" b="0">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0231"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fontAlgn="base">
              <a:buNone/>
            </a:pPr>
            <a:fld id="{9A0DB2DC-4C9A-4742-B13C-FB6460FD3503}" type="slidenum">
              <a:rPr lang="zh-CN" altLang="en-US" sz="1200" b="0" strike="noStrike" noProof="1" dirty="0">
                <a:latin typeface="Arial" panose="020B0604020202020204" pitchFamily="34" charset="0"/>
                <a:ea typeface="宋体" panose="02010600030101010101" pitchFamily="2" charset="-122"/>
                <a:cs typeface="+mn-cs"/>
              </a:rPr>
              <a:t>‹#›</a:t>
            </a:fld>
            <a:endParaRPr lang="zh-CN" altLang="en-US" sz="1200" b="0" strike="noStrike" noProof="1">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418144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TextEdit="1"/>
          </p:cNvSpPr>
          <p:nvPr>
            <p:ph type="sldImg"/>
          </p:nvPr>
        </p:nvSpPr>
        <p:spPr>
          <a:xfrm>
            <a:off x="381000" y="685800"/>
            <a:ext cx="6096000" cy="3429000"/>
          </a:xfrm>
        </p:spPr>
      </p:sp>
      <p:sp>
        <p:nvSpPr>
          <p:cNvPr id="2253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TextEdit="1"/>
          </p:cNvSpPr>
          <p:nvPr>
            <p:ph type="sldImg"/>
          </p:nvPr>
        </p:nvSpPr>
        <p:spPr>
          <a:xfrm>
            <a:off x="381000" y="685800"/>
            <a:ext cx="6096000" cy="3429000"/>
          </a:xfrm>
        </p:spPr>
      </p:sp>
      <p:sp>
        <p:nvSpPr>
          <p:cNvPr id="24578"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23448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p:cNvSpPr>
            <a:spLocks noGrp="1" noRot="1" noChangeAspect="1" noTextEdit="1"/>
          </p:cNvSpPr>
          <p:nvPr>
            <p:ph type="sldImg"/>
          </p:nvPr>
        </p:nvSpPr>
        <p:spPr>
          <a:xfrm>
            <a:off x="381000" y="685800"/>
            <a:ext cx="6096000" cy="3429000"/>
          </a:xfrm>
        </p:spPr>
      </p:sp>
      <p:sp>
        <p:nvSpPr>
          <p:cNvPr id="53250" name="备注占位符 2"/>
          <p:cNvSpPr>
            <a:spLocks noGrp="1"/>
          </p:cNvSpPr>
          <p:nvPr>
            <p:ph type="body"/>
          </p:nvPr>
        </p:nvSpPr>
        <p:spPr/>
        <p:txBody>
          <a:bodyPr wrap="square" lIns="91440" tIns="45720" rIns="91440" bIns="45720" anchor="t" anchorCtr="0"/>
          <a:lstStyle/>
          <a:p>
            <a:pPr lvl="0"/>
            <a:endParaRPr lang="zh-CN" altLang="en-US" dirty="0"/>
          </a:p>
        </p:txBody>
      </p:sp>
      <p:sp>
        <p:nvSpPr>
          <p:cNvPr id="53251"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63</a:t>
            </a:fld>
            <a:endParaRPr lang="zh-CN" altLang="en-US" sz="12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19201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9975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5" Type="http://schemas.openxmlformats.org/officeDocument/2006/relationships/image" Target="../media/image1.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050" name="Group 2"/>
          <p:cNvGrpSpPr/>
          <p:nvPr/>
        </p:nvGrpSpPr>
        <p:grpSpPr>
          <a:xfrm>
            <a:off x="0" y="0"/>
            <a:ext cx="9144000" cy="5143500"/>
            <a:chOff x="0" y="0"/>
            <a:chExt cx="5760" cy="4320"/>
          </a:xfrm>
        </p:grpSpPr>
        <p:sp>
          <p:nvSpPr>
            <p:cNvPr id="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Rectangle 4"/>
            <p:cNvSpPr>
              <a:spLocks noChangeArrowheads="1"/>
            </p:cNvSpPr>
            <p:nvPr/>
          </p:nvSpPr>
          <p:spPr bwMode="hidden">
            <a:xfrm>
              <a:off x="1081" y="1065"/>
              <a:ext cx="4679" cy="1596"/>
            </a:xfrm>
            <a:prstGeom prst="rect">
              <a:avLst/>
            </a:prstGeom>
            <a:solidFill>
              <a:schemeClr val="bg2"/>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3" name="Group 5"/>
            <p:cNvGrpSpPr/>
            <p:nvPr/>
          </p:nvGrpSpPr>
          <p:grpSpPr>
            <a:xfrm>
              <a:off x="0" y="672"/>
              <a:ext cx="1806" cy="1989"/>
              <a:chOff x="0" y="672"/>
              <a:chExt cx="1806" cy="1989"/>
            </a:xfrm>
          </p:grpSpPr>
          <p:sp>
            <p:nvSpPr>
              <p:cNvPr id="11" name="Rectangle 6"/>
              <p:cNvSpPr>
                <a:spLocks noChangeArrowheads="1"/>
              </p:cNvSpPr>
              <p:nvPr/>
            </p:nvSpPr>
            <p:spPr bwMode="auto">
              <a:xfrm>
                <a:off x="361" y="2257"/>
                <a:ext cx="363" cy="404"/>
              </a:xfrm>
              <a:prstGeom prst="rect">
                <a:avLst/>
              </a:prstGeom>
              <a:solidFill>
                <a:schemeClr val="accent2"/>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Rectangle 7"/>
              <p:cNvSpPr>
                <a:spLocks noChangeArrowheads="1"/>
              </p:cNvSpPr>
              <p:nvPr/>
            </p:nvSpPr>
            <p:spPr bwMode="auto">
              <a:xfrm>
                <a:off x="1081" y="1065"/>
                <a:ext cx="362" cy="405"/>
              </a:xfrm>
              <a:prstGeom prst="rect">
                <a:avLst/>
              </a:prstGeom>
              <a:solidFill>
                <a:schemeClr val="folHlink"/>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8"/>
              <p:cNvSpPr>
                <a:spLocks noChangeArrowheads="1"/>
              </p:cNvSpPr>
              <p:nvPr/>
            </p:nvSpPr>
            <p:spPr bwMode="auto">
              <a:xfrm>
                <a:off x="1437" y="672"/>
                <a:ext cx="369" cy="400"/>
              </a:xfrm>
              <a:prstGeom prst="rect">
                <a:avLst/>
              </a:prstGeom>
              <a:solidFill>
                <a:schemeClr val="folHlink"/>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719" y="2257"/>
                <a:ext cx="368" cy="404"/>
              </a:xfrm>
              <a:prstGeom prst="rect">
                <a:avLst/>
              </a:prstGeom>
              <a:solidFill>
                <a:schemeClr val="bg2"/>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1437" y="1065"/>
                <a:ext cx="369" cy="405"/>
              </a:xfrm>
              <a:prstGeom prst="rect">
                <a:avLst/>
              </a:prstGeom>
              <a:solidFill>
                <a:schemeClr val="accent2"/>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Rectangle 11"/>
              <p:cNvSpPr>
                <a:spLocks noChangeArrowheads="1"/>
              </p:cNvSpPr>
              <p:nvPr/>
            </p:nvSpPr>
            <p:spPr bwMode="auto">
              <a:xfrm>
                <a:off x="719" y="1464"/>
                <a:ext cx="368" cy="399"/>
              </a:xfrm>
              <a:prstGeom prst="rect">
                <a:avLst/>
              </a:prstGeom>
              <a:solidFill>
                <a:schemeClr val="folHlink"/>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Rectangle 12"/>
              <p:cNvSpPr>
                <a:spLocks noChangeArrowheads="1"/>
              </p:cNvSpPr>
              <p:nvPr/>
            </p:nvSpPr>
            <p:spPr bwMode="auto">
              <a:xfrm>
                <a:off x="0" y="1464"/>
                <a:ext cx="367" cy="399"/>
              </a:xfrm>
              <a:prstGeom prst="rect">
                <a:avLst/>
              </a:prstGeom>
              <a:solidFill>
                <a:schemeClr val="bg2"/>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Rectangle 13"/>
              <p:cNvSpPr>
                <a:spLocks noChangeArrowheads="1"/>
              </p:cNvSpPr>
              <p:nvPr/>
            </p:nvSpPr>
            <p:spPr bwMode="auto">
              <a:xfrm>
                <a:off x="1081" y="1464"/>
                <a:ext cx="362" cy="399"/>
              </a:xfrm>
              <a:prstGeom prst="rect">
                <a:avLst/>
              </a:prstGeom>
              <a:solidFill>
                <a:schemeClr val="accent2"/>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14"/>
              <p:cNvSpPr>
                <a:spLocks noChangeArrowheads="1"/>
              </p:cNvSpPr>
              <p:nvPr/>
            </p:nvSpPr>
            <p:spPr bwMode="auto">
              <a:xfrm>
                <a:off x="361" y="1857"/>
                <a:ext cx="363" cy="406"/>
              </a:xfrm>
              <a:prstGeom prst="rect">
                <a:avLst/>
              </a:prstGeom>
              <a:solidFill>
                <a:schemeClr val="folHlink"/>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15"/>
              <p:cNvSpPr>
                <a:spLocks noChangeArrowheads="1"/>
              </p:cNvSpPr>
              <p:nvPr/>
            </p:nvSpPr>
            <p:spPr bwMode="auto">
              <a:xfrm>
                <a:off x="719" y="1857"/>
                <a:ext cx="368" cy="406"/>
              </a:xfrm>
              <a:prstGeom prst="rect">
                <a:avLst/>
              </a:prstGeom>
              <a:solidFill>
                <a:schemeClr val="accent2"/>
              </a:solidFill>
              <a:ln>
                <a:noFill/>
              </a:ln>
            </p:spPr>
            <p:txBody>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7427" name="Rectangle 19"/>
          <p:cNvSpPr>
            <a:spLocks noGrp="1" noChangeArrowheads="1"/>
          </p:cNvSpPr>
          <p:nvPr>
            <p:ph type="ctrTitle"/>
          </p:nvPr>
        </p:nvSpPr>
        <p:spPr>
          <a:xfrm>
            <a:off x="2971800" y="1371600"/>
            <a:ext cx="6019800" cy="1657350"/>
          </a:xfrm>
        </p:spPr>
        <p:txBody>
          <a:bodyPr/>
          <a:lstStyle>
            <a:lvl1pPr>
              <a:defRPr sz="5000">
                <a:solidFill>
                  <a:srgbClr val="FFFFFF"/>
                </a:solidFill>
              </a:defRPr>
            </a:lvl1pPr>
          </a:lstStyle>
          <a:p>
            <a:pPr fontAlgn="base"/>
            <a:r>
              <a:rPr lang="zh-CN" altLang="en-US" strike="noStrike" noProof="1"/>
              <a:t>单击此处编辑母版标题样式</a:t>
            </a:r>
          </a:p>
        </p:txBody>
      </p:sp>
      <p:sp>
        <p:nvSpPr>
          <p:cNvPr id="17428" name="Rectangle 20"/>
          <p:cNvSpPr>
            <a:spLocks noGrp="1" noChangeArrowheads="1"/>
          </p:cNvSpPr>
          <p:nvPr>
            <p:ph type="subTitle" idx="1"/>
          </p:nvPr>
        </p:nvSpPr>
        <p:spPr>
          <a:xfrm>
            <a:off x="2971800" y="3200400"/>
            <a:ext cx="6019800" cy="1314450"/>
          </a:xfrm>
        </p:spPr>
        <p:txBody>
          <a:bodyPr/>
          <a:lstStyle>
            <a:lvl1pPr marL="0" indent="0">
              <a:buFont typeface="Wingdings" panose="05000000000000000000" pitchFamily="2" charset="2"/>
              <a:buNone/>
              <a:defRPr sz="3400"/>
            </a:lvl1pPr>
          </a:lstStyle>
          <a:p>
            <a:pPr fontAlgn="base"/>
            <a:r>
              <a:rPr lang="zh-CN" altLang="en-US" strike="noStrike" noProof="1"/>
              <a:t>单击此处编辑母版副标题样式</a:t>
            </a:r>
          </a:p>
        </p:txBody>
      </p:sp>
      <p:sp>
        <p:nvSpPr>
          <p:cNvPr id="21" name="Rectangle 16"/>
          <p:cNvSpPr>
            <a:spLocks noGrp="1" noChangeArrowheads="1"/>
          </p:cNvSpPr>
          <p:nvPr>
            <p:ph type="dt" sz="half" idx="2"/>
          </p:nvPr>
        </p:nvSpPr>
        <p:spPr bwMode="auto">
          <a:xfrm>
            <a:off x="457200" y="4686300"/>
            <a:ext cx="2133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 name="Rectangle 17"/>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 name="Rectangle 18"/>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485900"/>
            <a:ext cx="4038600" cy="2914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485900"/>
            <a:ext cx="4038600" cy="2914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1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32"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32"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Rectangle 2"/>
          <p:cNvSpPr>
            <a:spLocks noGrp="1" noChangeArrowheads="1"/>
          </p:cNvSpPr>
          <p:nvPr>
            <p:ph type="ftr" sz="quarter" idx="1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1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1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7" y="204787"/>
            <a:ext cx="3008313" cy="871538"/>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7"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1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459581"/>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1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1300" y="171450"/>
            <a:ext cx="2095500" cy="42291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04800" y="171450"/>
            <a:ext cx="6134100" cy="42291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2"/>
            <a:ext cx="7772400" cy="1102519"/>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7"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p>
            <a:pPr algn="r" fontAlgn="base">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latin typeface="Arial Black" panose="020B0A04020102020204" pitchFamily="34" charset="0"/>
              <a:ea typeface="宋体" panose="02010600030101010101" pitchFamily="2" charset="-122"/>
            </a:endParaRPr>
          </a:p>
        </p:txBody>
      </p:sp>
      <p:sp>
        <p:nvSpPr>
          <p:cNvPr id="9" name="Rectangle 16"/>
          <p:cNvSpPr>
            <a:spLocks noGrp="1" noChangeArrowheads="1"/>
          </p:cNvSpPr>
          <p:nvPr>
            <p:ph type="dt" sz="half" idx="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pic>
        <p:nvPicPr>
          <p:cNvPr id="18" name="图片 17" descr="图片包含 游戏机&#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l="21258" t="13304" r="21312" b="15047"/>
          <a:stretch>
            <a:fillRect/>
          </a:stretch>
        </p:blipFill>
        <p:spPr>
          <a:xfrm rot="16200000">
            <a:off x="4671402" y="270846"/>
            <a:ext cx="5429249" cy="6773509"/>
          </a:xfrm>
          <a:prstGeom prst="rect">
            <a:avLst/>
          </a:prstGeom>
        </p:spPr>
      </p:pic>
      <p:sp>
        <p:nvSpPr>
          <p:cNvPr id="19" name="文本占位符 11"/>
          <p:cNvSpPr>
            <a:spLocks noGrp="1"/>
          </p:cNvSpPr>
          <p:nvPr>
            <p:ph type="body" sz="quarter" idx="14"/>
          </p:nvPr>
        </p:nvSpPr>
        <p:spPr>
          <a:xfrm>
            <a:off x="447380" y="2030183"/>
            <a:ext cx="3584083" cy="342900"/>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23" name="文本占位符 11"/>
          <p:cNvSpPr>
            <a:spLocks noGrp="1"/>
          </p:cNvSpPr>
          <p:nvPr>
            <p:ph type="body" sz="quarter" idx="15"/>
          </p:nvPr>
        </p:nvSpPr>
        <p:spPr>
          <a:xfrm>
            <a:off x="447380" y="2587559"/>
            <a:ext cx="3584083" cy="1945563"/>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sp>
        <p:nvSpPr>
          <p:cNvPr id="19" name="文本占位符 11"/>
          <p:cNvSpPr>
            <a:spLocks noGrp="1"/>
          </p:cNvSpPr>
          <p:nvPr>
            <p:ph type="body" sz="quarter" idx="14"/>
          </p:nvPr>
        </p:nvSpPr>
        <p:spPr>
          <a:xfrm>
            <a:off x="5215784" y="1353376"/>
            <a:ext cx="2685204"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23" name="文本占位符 11"/>
          <p:cNvSpPr>
            <a:spLocks noGrp="1"/>
          </p:cNvSpPr>
          <p:nvPr>
            <p:ph type="body" sz="quarter" idx="15"/>
          </p:nvPr>
        </p:nvSpPr>
        <p:spPr>
          <a:xfrm>
            <a:off x="5215784" y="1853601"/>
            <a:ext cx="2685204" cy="2375501"/>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3" name="图片占位符 2"/>
          <p:cNvSpPr>
            <a:spLocks noGrp="1"/>
          </p:cNvSpPr>
          <p:nvPr>
            <p:ph type="pic" sz="quarter" idx="16"/>
          </p:nvPr>
        </p:nvSpPr>
        <p:spPr>
          <a:xfrm>
            <a:off x="1128641" y="1113235"/>
            <a:ext cx="2896791" cy="3269456"/>
          </a:xfrm>
          <a:prstGeom prst="rect">
            <a:avLst/>
          </a:prstGeom>
        </p:spPr>
        <p:txBody>
          <a:bodyPr/>
          <a:lstStyle/>
          <a:p>
            <a:endParaRPr lang="zh-CN" altLang="en-US"/>
          </a:p>
        </p:txBody>
      </p:sp>
      <p:sp>
        <p:nvSpPr>
          <p:cNvPr id="4" name="矩形 3"/>
          <p:cNvSpPr/>
          <p:nvPr userDrawn="1"/>
        </p:nvSpPr>
        <p:spPr>
          <a:xfrm>
            <a:off x="5118576" y="1125439"/>
            <a:ext cx="2902822" cy="3269456"/>
          </a:xfrm>
          <a:prstGeom prst="rect">
            <a:avLst/>
          </a:prstGeom>
          <a:noFill/>
          <a:ln w="28575">
            <a:solidFill>
              <a:srgbClr val="0E39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26" name="图片 25" descr="黑白色的花&#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91" r="11029"/>
          <a:stretch>
            <a:fillRect/>
          </a:stretch>
        </p:blipFill>
        <p:spPr>
          <a:xfrm>
            <a:off x="-6343" y="0"/>
            <a:ext cx="9144000" cy="5143500"/>
          </a:xfrm>
          <a:prstGeom prst="rect">
            <a:avLst/>
          </a:prstGeom>
        </p:spPr>
      </p:pic>
      <p:sp>
        <p:nvSpPr>
          <p:cNvPr id="30" name="文本框 29"/>
          <p:cNvSpPr txBox="1"/>
          <p:nvPr userDrawn="1"/>
        </p:nvSpPr>
        <p:spPr>
          <a:xfrm>
            <a:off x="3771905" y="1236413"/>
            <a:ext cx="4099199" cy="8540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4950" b="0" i="1" spc="300" dirty="0">
                <a:solidFill>
                  <a:srgbClr val="0E394B">
                    <a:alpha val="10000"/>
                  </a:srgbClr>
                </a:solidFill>
                <a:latin typeface="文悦青龙体 (非商业使用) W5" pitchFamily="50" charset="-122"/>
                <a:ea typeface="文悦青龙体 (非商业使用) W5" pitchFamily="50" charset="-122"/>
              </a:rPr>
              <a:t>FRESH STYLE</a:t>
            </a:r>
            <a:endParaRPr lang="zh-CN" altLang="en-US" sz="4950" b="0" i="1" spc="300" dirty="0">
              <a:solidFill>
                <a:srgbClr val="0E394B">
                  <a:alpha val="10000"/>
                </a:srgbClr>
              </a:solidFill>
              <a:latin typeface="文悦青龙体 (非商业使用) W5" pitchFamily="50" charset="-122"/>
              <a:ea typeface="文悦青龙体 (非商业使用) W5" pitchFamily="50" charset="-122"/>
            </a:endParaRPr>
          </a:p>
        </p:txBody>
      </p:sp>
      <p:sp>
        <p:nvSpPr>
          <p:cNvPr id="15" name="文本占位符 11"/>
          <p:cNvSpPr>
            <a:spLocks noGrp="1"/>
          </p:cNvSpPr>
          <p:nvPr>
            <p:ph type="body" sz="quarter" idx="11"/>
          </p:nvPr>
        </p:nvSpPr>
        <p:spPr>
          <a:xfrm>
            <a:off x="4013019" y="-2871787"/>
            <a:ext cx="4800600" cy="342900"/>
          </a:xfrm>
          <a:prstGeom prst="rect">
            <a:avLst/>
          </a:prstGeom>
        </p:spPr>
        <p:txBody>
          <a:bodyPr/>
          <a:lstStyle>
            <a:lvl1pPr marL="0" indent="0">
              <a:buNone/>
              <a:defRPr sz="1500">
                <a:solidFill>
                  <a:srgbClr val="376170"/>
                </a:solidFill>
              </a:defRPr>
            </a:lvl1pPr>
          </a:lstStyle>
          <a:p>
            <a:pPr lvl="0"/>
            <a:r>
              <a:rPr lang="zh-CN" altLang="en-US" dirty="0"/>
              <a:t>单击此处编辑母版文本样式</a:t>
            </a:r>
          </a:p>
        </p:txBody>
      </p:sp>
      <p:sp>
        <p:nvSpPr>
          <p:cNvPr id="16" name="文本占位符 11"/>
          <p:cNvSpPr>
            <a:spLocks noGrp="1"/>
          </p:cNvSpPr>
          <p:nvPr>
            <p:ph type="body" sz="quarter" idx="12"/>
          </p:nvPr>
        </p:nvSpPr>
        <p:spPr>
          <a:xfrm>
            <a:off x="3986747" y="-2287907"/>
            <a:ext cx="4800600" cy="342900"/>
          </a:xfrm>
          <a:prstGeom prst="rect">
            <a:avLst/>
          </a:prstGeom>
        </p:spPr>
        <p:txBody>
          <a:bodyPr/>
          <a:lstStyle>
            <a:lvl1pPr marL="0" indent="0">
              <a:buNone/>
              <a:defRPr sz="1500">
                <a:solidFill>
                  <a:srgbClr val="0E394B"/>
                </a:solidFill>
              </a:defRPr>
            </a:lvl1pPr>
          </a:lstStyle>
          <a:p>
            <a:pPr lvl="0"/>
            <a:r>
              <a:rPr lang="zh-CN" altLang="en-US" dirty="0"/>
              <a:t>单击此处编辑母版文本样式</a:t>
            </a:r>
          </a:p>
        </p:txBody>
      </p:sp>
      <p:sp>
        <p:nvSpPr>
          <p:cNvPr id="20" name="椭圆 19"/>
          <p:cNvSpPr/>
          <p:nvPr userDrawn="1"/>
        </p:nvSpPr>
        <p:spPr>
          <a:xfrm>
            <a:off x="13753" y="-2700337"/>
            <a:ext cx="685800" cy="685800"/>
          </a:xfrm>
          <a:prstGeom prst="ellipse">
            <a:avLst/>
          </a:prstGeom>
          <a:solidFill>
            <a:srgbClr val="0E394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userDrawn="1"/>
        </p:nvSpPr>
        <p:spPr>
          <a:xfrm>
            <a:off x="902343" y="-2700337"/>
            <a:ext cx="685800" cy="685800"/>
          </a:xfrm>
          <a:prstGeom prst="ellipse">
            <a:avLst/>
          </a:prstGeom>
          <a:solidFill>
            <a:srgbClr val="37617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椭圆 21"/>
          <p:cNvSpPr/>
          <p:nvPr userDrawn="1"/>
        </p:nvSpPr>
        <p:spPr>
          <a:xfrm>
            <a:off x="1790933" y="-2700337"/>
            <a:ext cx="685800" cy="685800"/>
          </a:xfrm>
          <a:prstGeom prst="ellipse">
            <a:avLst/>
          </a:prstGeom>
          <a:solidFill>
            <a:srgbClr val="497E8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文本占位符 11"/>
          <p:cNvSpPr>
            <a:spLocks noGrp="1"/>
          </p:cNvSpPr>
          <p:nvPr>
            <p:ph type="body" sz="quarter" idx="13" hasCustomPrompt="1"/>
          </p:nvPr>
        </p:nvSpPr>
        <p:spPr>
          <a:xfrm>
            <a:off x="1245243" y="1684604"/>
            <a:ext cx="6653514" cy="587109"/>
          </a:xfrm>
          <a:prstGeom prst="rect">
            <a:avLst/>
          </a:prstGeom>
        </p:spPr>
        <p:txBody>
          <a:bodyPr/>
          <a:lstStyle>
            <a:lvl1pPr marL="0" indent="0" algn="ctr">
              <a:buNone/>
              <a:defRPr sz="4050" b="1">
                <a:solidFill>
                  <a:srgbClr val="0E394B"/>
                </a:solidFill>
              </a:defRPr>
            </a:lvl1pPr>
          </a:lstStyle>
          <a:p>
            <a:pPr lvl="0"/>
            <a:r>
              <a:rPr lang="zh-CN" altLang="en-US" dirty="0"/>
              <a:t>简约小清新</a:t>
            </a:r>
            <a:r>
              <a:rPr lang="en-US" altLang="zh-CN" dirty="0"/>
              <a:t>PPT</a:t>
            </a:r>
            <a:r>
              <a:rPr lang="zh-CN" altLang="en-US" dirty="0"/>
              <a:t>模板</a:t>
            </a:r>
          </a:p>
        </p:txBody>
      </p:sp>
      <p:sp>
        <p:nvSpPr>
          <p:cNvPr id="27" name="文本占位符 11"/>
          <p:cNvSpPr>
            <a:spLocks noGrp="1"/>
          </p:cNvSpPr>
          <p:nvPr>
            <p:ph type="body" sz="quarter" idx="14" hasCustomPrompt="1"/>
          </p:nvPr>
        </p:nvSpPr>
        <p:spPr>
          <a:xfrm>
            <a:off x="3710231" y="2387989"/>
            <a:ext cx="1723549" cy="300082"/>
          </a:xfrm>
          <a:prstGeom prst="rect">
            <a:avLst/>
          </a:prstGeom>
          <a:gradFill>
            <a:gsLst>
              <a:gs pos="0">
                <a:srgbClr val="0E394B"/>
              </a:gs>
              <a:gs pos="100000">
                <a:srgbClr val="376170">
                  <a:alpha val="40000"/>
                </a:srgbClr>
              </a:gs>
            </a:gsLst>
            <a:lin ang="0" scaled="0"/>
          </a:gradFill>
          <a:ln>
            <a:noFill/>
          </a:ln>
        </p:spPr>
        <p:txBody>
          <a:bodyPr wrap="none">
            <a:spAutoFit/>
          </a:bodyPr>
          <a:lstStyle>
            <a:lvl1pPr marL="0" indent="0" algn="ctr">
              <a:buNone/>
              <a:defRPr sz="1500">
                <a:solidFill>
                  <a:schemeClr val="bg1">
                    <a:lumMod val="95000"/>
                  </a:schemeClr>
                </a:solidFill>
              </a:defRPr>
            </a:lvl1pPr>
          </a:lstStyle>
          <a:p>
            <a:pPr lvl="0"/>
            <a:r>
              <a:rPr lang="zh-CN" altLang="en-US" dirty="0"/>
              <a:t>输入您需要的文字</a:t>
            </a:r>
          </a:p>
        </p:txBody>
      </p:sp>
      <p:sp>
        <p:nvSpPr>
          <p:cNvPr id="28" name="文本占位符 11"/>
          <p:cNvSpPr>
            <a:spLocks noGrp="1"/>
          </p:cNvSpPr>
          <p:nvPr>
            <p:ph type="body" sz="quarter" idx="15" hasCustomPrompt="1"/>
          </p:nvPr>
        </p:nvSpPr>
        <p:spPr>
          <a:xfrm>
            <a:off x="3065685" y="4473634"/>
            <a:ext cx="3012630" cy="257910"/>
          </a:xfrm>
          <a:prstGeom prst="rect">
            <a:avLst/>
          </a:prstGeom>
          <a:ln>
            <a:noFill/>
          </a:ln>
        </p:spPr>
        <p:txBody>
          <a:bodyPr/>
          <a:lstStyle>
            <a:lvl1pPr marL="0" indent="0" algn="ctr">
              <a:buNone/>
              <a:defRPr sz="1350">
                <a:solidFill>
                  <a:srgbClr val="376170"/>
                </a:solidFill>
              </a:defRPr>
            </a:lvl1pPr>
          </a:lstStyle>
          <a:p>
            <a:pPr lvl="0"/>
            <a:r>
              <a:rPr lang="zh-CN" altLang="en-US" dirty="0"/>
              <a:t>输入您需要的文字</a:t>
            </a:r>
          </a:p>
        </p:txBody>
      </p:sp>
      <p:sp>
        <p:nvSpPr>
          <p:cNvPr id="31" name="椭圆 30"/>
          <p:cNvSpPr/>
          <p:nvPr userDrawn="1"/>
        </p:nvSpPr>
        <p:spPr>
          <a:xfrm>
            <a:off x="2755257" y="-2714151"/>
            <a:ext cx="685800" cy="685800"/>
          </a:xfrm>
          <a:prstGeom prst="ellipse">
            <a:avLst/>
          </a:prstGeom>
          <a:solidFill>
            <a:srgbClr val="D3E6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空白">
    <p:bg>
      <p:bgPr>
        <a:solidFill>
          <a:srgbClr val="D3E6EC"/>
        </a:solidFill>
        <a:effectLst/>
      </p:bgPr>
    </p:bg>
    <p:spTree>
      <p:nvGrpSpPr>
        <p:cNvPr id="1" name=""/>
        <p:cNvGrpSpPr/>
        <p:nvPr/>
      </p:nvGrpSpPr>
      <p:grpSpPr>
        <a:xfrm>
          <a:off x="0" y="0"/>
          <a:ext cx="0" cy="0"/>
          <a:chOff x="0" y="0"/>
          <a:chExt cx="0" cy="0"/>
        </a:xfrm>
      </p:grpSpPr>
      <p:pic>
        <p:nvPicPr>
          <p:cNvPr id="17" name="图片 16" descr="黑白色的花&#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91" r="11029"/>
          <a:stretch>
            <a:fillRect/>
          </a:stretch>
        </p:blipFill>
        <p:spPr>
          <a:xfrm flipH="1">
            <a:off x="-6343" y="0"/>
            <a:ext cx="9144000" cy="5143500"/>
          </a:xfrm>
          <a:prstGeom prst="rect">
            <a:avLst/>
          </a:prstGeom>
        </p:spPr>
      </p:pic>
      <p:sp>
        <p:nvSpPr>
          <p:cNvPr id="4" name="矩形 3"/>
          <p:cNvSpPr/>
          <p:nvPr userDrawn="1"/>
        </p:nvSpPr>
        <p:spPr>
          <a:xfrm>
            <a:off x="888596" y="641556"/>
            <a:ext cx="3292577" cy="3782962"/>
          </a:xfrm>
          <a:prstGeom prst="rect">
            <a:avLst/>
          </a:prstGeom>
          <a:solidFill>
            <a:schemeClr val="bg1">
              <a:lumMod val="95000"/>
            </a:schemeClr>
          </a:solidFill>
          <a:ln>
            <a:noFill/>
          </a:ln>
          <a:effectLst>
            <a:outerShdw blurRad="190500" dist="38100" sx="102000" sy="1020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8" name="组合 7"/>
          <p:cNvGrpSpPr/>
          <p:nvPr userDrawn="1"/>
        </p:nvGrpSpPr>
        <p:grpSpPr>
          <a:xfrm>
            <a:off x="1810524" y="769993"/>
            <a:ext cx="1448721" cy="646331"/>
            <a:chOff x="2427597" y="1026654"/>
            <a:chExt cx="1931628" cy="861775"/>
          </a:xfrm>
        </p:grpSpPr>
        <p:sp>
          <p:nvSpPr>
            <p:cNvPr id="5" name="文本框 4"/>
            <p:cNvSpPr txBox="1"/>
            <p:nvPr userDrawn="1"/>
          </p:nvSpPr>
          <p:spPr>
            <a:xfrm>
              <a:off x="2682320" y="1026654"/>
              <a:ext cx="1481603" cy="861775"/>
            </a:xfrm>
            <a:prstGeom prst="rect">
              <a:avLst/>
            </a:prstGeom>
            <a:noFill/>
          </p:spPr>
          <p:txBody>
            <a:bodyPr wrap="none" rtlCol="0">
              <a:spAutoFit/>
            </a:bodyPr>
            <a:lstStyle/>
            <a:p>
              <a:r>
                <a:rPr lang="zh-CN" altLang="en-US" sz="3600" b="1" dirty="0">
                  <a:solidFill>
                    <a:srgbClr val="0E394B"/>
                  </a:solidFill>
                </a:rPr>
                <a:t>目录</a:t>
              </a:r>
            </a:p>
          </p:txBody>
        </p:sp>
        <p:grpSp>
          <p:nvGrpSpPr>
            <p:cNvPr id="6" name="组合 5"/>
            <p:cNvGrpSpPr/>
            <p:nvPr userDrawn="1"/>
          </p:nvGrpSpPr>
          <p:grpSpPr>
            <a:xfrm>
              <a:off x="2427597" y="1379089"/>
              <a:ext cx="1931628" cy="126127"/>
              <a:chOff x="2427597" y="1379088"/>
              <a:chExt cx="1931628" cy="126127"/>
            </a:xfrm>
          </p:grpSpPr>
          <p:sp>
            <p:nvSpPr>
              <p:cNvPr id="18" name="椭圆 17"/>
              <p:cNvSpPr/>
              <p:nvPr userDrawn="1"/>
            </p:nvSpPr>
            <p:spPr>
              <a:xfrm>
                <a:off x="2427597" y="1379088"/>
                <a:ext cx="126127" cy="126127"/>
              </a:xfrm>
              <a:prstGeom prst="ellipse">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19" name="椭圆 18"/>
              <p:cNvSpPr/>
              <p:nvPr userDrawn="1"/>
            </p:nvSpPr>
            <p:spPr>
              <a:xfrm>
                <a:off x="4233098" y="1379088"/>
                <a:ext cx="126127" cy="126127"/>
              </a:xfrm>
              <a:prstGeom prst="ellipse">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grpSp>
      </p:grpSp>
      <p:sp>
        <p:nvSpPr>
          <p:cNvPr id="23" name="文本占位符 11"/>
          <p:cNvSpPr>
            <a:spLocks noGrp="1"/>
          </p:cNvSpPr>
          <p:nvPr>
            <p:ph type="body" sz="quarter" idx="13" hasCustomPrompt="1"/>
          </p:nvPr>
        </p:nvSpPr>
        <p:spPr>
          <a:xfrm>
            <a:off x="1885622" y="1770467"/>
            <a:ext cx="2054664" cy="277665"/>
          </a:xfrm>
          <a:prstGeom prst="rect">
            <a:avLst/>
          </a:prstGeom>
        </p:spPr>
        <p:txBody>
          <a:bodyPr/>
          <a:lstStyle>
            <a:lvl1pPr marL="0" indent="0">
              <a:buNone/>
              <a:defRPr sz="1350" b="1">
                <a:solidFill>
                  <a:srgbClr val="376170"/>
                </a:solidFill>
              </a:defRPr>
            </a:lvl1pPr>
          </a:lstStyle>
          <a:p>
            <a:pPr lvl="0"/>
            <a:r>
              <a:rPr lang="zh-CN" altLang="en-US" dirty="0"/>
              <a:t>输入您需要的文字</a:t>
            </a:r>
          </a:p>
        </p:txBody>
      </p:sp>
      <p:sp>
        <p:nvSpPr>
          <p:cNvPr id="29" name="椭圆 28"/>
          <p:cNvSpPr/>
          <p:nvPr userDrawn="1"/>
        </p:nvSpPr>
        <p:spPr>
          <a:xfrm>
            <a:off x="1615879" y="1855850"/>
            <a:ext cx="101559" cy="101559"/>
          </a:xfrm>
          <a:prstGeom prst="ellipse">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31" name="文本占位符 11"/>
          <p:cNvSpPr>
            <a:spLocks noGrp="1"/>
          </p:cNvSpPr>
          <p:nvPr>
            <p:ph type="body" sz="quarter" idx="14" hasCustomPrompt="1"/>
          </p:nvPr>
        </p:nvSpPr>
        <p:spPr>
          <a:xfrm>
            <a:off x="1885622" y="2235383"/>
            <a:ext cx="2054664" cy="277665"/>
          </a:xfrm>
          <a:prstGeom prst="rect">
            <a:avLst/>
          </a:prstGeom>
        </p:spPr>
        <p:txBody>
          <a:bodyPr/>
          <a:lstStyle>
            <a:lvl1pPr marL="0" indent="0">
              <a:buNone/>
              <a:defRPr sz="1350" b="1">
                <a:solidFill>
                  <a:srgbClr val="376170"/>
                </a:solidFill>
              </a:defRPr>
            </a:lvl1pPr>
          </a:lstStyle>
          <a:p>
            <a:pPr lvl="0"/>
            <a:r>
              <a:rPr lang="zh-CN" altLang="en-US" dirty="0"/>
              <a:t>输入您需要的文字</a:t>
            </a:r>
          </a:p>
        </p:txBody>
      </p:sp>
      <p:sp>
        <p:nvSpPr>
          <p:cNvPr id="32" name="椭圆 31"/>
          <p:cNvSpPr/>
          <p:nvPr userDrawn="1"/>
        </p:nvSpPr>
        <p:spPr>
          <a:xfrm>
            <a:off x="1615879" y="2320835"/>
            <a:ext cx="101559" cy="101559"/>
          </a:xfrm>
          <a:prstGeom prst="ellipse">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33" name="文本占位符 11"/>
          <p:cNvSpPr>
            <a:spLocks noGrp="1"/>
          </p:cNvSpPr>
          <p:nvPr>
            <p:ph type="body" sz="quarter" idx="15" hasCustomPrompt="1"/>
          </p:nvPr>
        </p:nvSpPr>
        <p:spPr>
          <a:xfrm>
            <a:off x="1885622" y="2700302"/>
            <a:ext cx="2054664" cy="277665"/>
          </a:xfrm>
          <a:prstGeom prst="rect">
            <a:avLst/>
          </a:prstGeom>
        </p:spPr>
        <p:txBody>
          <a:bodyPr/>
          <a:lstStyle>
            <a:lvl1pPr marL="0" indent="0">
              <a:buNone/>
              <a:defRPr sz="1350" b="1">
                <a:solidFill>
                  <a:srgbClr val="376170"/>
                </a:solidFill>
              </a:defRPr>
            </a:lvl1pPr>
          </a:lstStyle>
          <a:p>
            <a:pPr lvl="0"/>
            <a:r>
              <a:rPr lang="zh-CN" altLang="en-US" dirty="0"/>
              <a:t>输入您需要的文字</a:t>
            </a:r>
          </a:p>
        </p:txBody>
      </p:sp>
      <p:sp>
        <p:nvSpPr>
          <p:cNvPr id="34" name="椭圆 33"/>
          <p:cNvSpPr/>
          <p:nvPr userDrawn="1"/>
        </p:nvSpPr>
        <p:spPr>
          <a:xfrm>
            <a:off x="1615879" y="2785817"/>
            <a:ext cx="101559" cy="101559"/>
          </a:xfrm>
          <a:prstGeom prst="ellipse">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35" name="文本占位符 11"/>
          <p:cNvSpPr>
            <a:spLocks noGrp="1"/>
          </p:cNvSpPr>
          <p:nvPr>
            <p:ph type="body" sz="quarter" idx="16" hasCustomPrompt="1"/>
          </p:nvPr>
        </p:nvSpPr>
        <p:spPr>
          <a:xfrm>
            <a:off x="1885622" y="3165217"/>
            <a:ext cx="2054664" cy="277665"/>
          </a:xfrm>
          <a:prstGeom prst="rect">
            <a:avLst/>
          </a:prstGeom>
        </p:spPr>
        <p:txBody>
          <a:bodyPr/>
          <a:lstStyle>
            <a:lvl1pPr marL="0" indent="0">
              <a:buNone/>
              <a:defRPr sz="1350" b="1">
                <a:solidFill>
                  <a:srgbClr val="376170"/>
                </a:solidFill>
              </a:defRPr>
            </a:lvl1pPr>
          </a:lstStyle>
          <a:p>
            <a:pPr lvl="0"/>
            <a:r>
              <a:rPr lang="zh-CN" altLang="en-US" dirty="0"/>
              <a:t>输入您需要的文字</a:t>
            </a:r>
          </a:p>
        </p:txBody>
      </p:sp>
      <p:sp>
        <p:nvSpPr>
          <p:cNvPr id="36" name="椭圆 35"/>
          <p:cNvSpPr/>
          <p:nvPr userDrawn="1"/>
        </p:nvSpPr>
        <p:spPr>
          <a:xfrm>
            <a:off x="1615879" y="3250802"/>
            <a:ext cx="101559" cy="101559"/>
          </a:xfrm>
          <a:prstGeom prst="ellipse">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26" name="文本占位符 11"/>
          <p:cNvSpPr>
            <a:spLocks noGrp="1"/>
          </p:cNvSpPr>
          <p:nvPr>
            <p:ph type="body" sz="quarter" idx="17" hasCustomPrompt="1"/>
          </p:nvPr>
        </p:nvSpPr>
        <p:spPr>
          <a:xfrm>
            <a:off x="1885622" y="3630134"/>
            <a:ext cx="2054664" cy="277665"/>
          </a:xfrm>
          <a:prstGeom prst="rect">
            <a:avLst/>
          </a:prstGeom>
        </p:spPr>
        <p:txBody>
          <a:bodyPr/>
          <a:lstStyle>
            <a:lvl1pPr marL="0" indent="0">
              <a:buNone/>
              <a:defRPr sz="1350" b="1">
                <a:solidFill>
                  <a:srgbClr val="376170"/>
                </a:solidFill>
              </a:defRPr>
            </a:lvl1pPr>
          </a:lstStyle>
          <a:p>
            <a:pPr lvl="0"/>
            <a:r>
              <a:rPr lang="zh-CN" altLang="en-US" dirty="0"/>
              <a:t>输入您需要的文字</a:t>
            </a:r>
          </a:p>
        </p:txBody>
      </p:sp>
      <p:sp>
        <p:nvSpPr>
          <p:cNvPr id="27" name="椭圆 26"/>
          <p:cNvSpPr/>
          <p:nvPr userDrawn="1"/>
        </p:nvSpPr>
        <p:spPr>
          <a:xfrm>
            <a:off x="1615879" y="3715787"/>
            <a:ext cx="101559" cy="101559"/>
          </a:xfrm>
          <a:prstGeom prst="ellipse">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pic>
        <p:nvPicPr>
          <p:cNvPr id="28" name="图片 27" descr="图片包含 游戏机&#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97540" y="2829211"/>
            <a:ext cx="3292578" cy="3292578"/>
          </a:xfrm>
          <a:prstGeom prst="rect">
            <a:avLst/>
          </a:prstGeom>
        </p:spPr>
      </p:pic>
      <p:pic>
        <p:nvPicPr>
          <p:cNvPr id="37" name="图片 36" descr="图片包含 游戏机&#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91632" y="3515847"/>
            <a:ext cx="2514214" cy="2514214"/>
          </a:xfrm>
          <a:prstGeom prst="rect">
            <a:avLst/>
          </a:prstGeom>
        </p:spPr>
      </p:pic>
      <p:pic>
        <p:nvPicPr>
          <p:cNvPr id="38" name="图片 37" descr="图片包含 游戏机&#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2440160">
            <a:off x="5662946" y="3538203"/>
            <a:ext cx="2469496" cy="2469496"/>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空白">
    <p:bg>
      <p:bgPr>
        <a:solidFill>
          <a:srgbClr val="D3E6EC"/>
        </a:solidFill>
        <a:effectLst/>
      </p:bgPr>
    </p:bg>
    <p:spTree>
      <p:nvGrpSpPr>
        <p:cNvPr id="1" name=""/>
        <p:cNvGrpSpPr/>
        <p:nvPr/>
      </p:nvGrpSpPr>
      <p:grpSpPr>
        <a:xfrm>
          <a:off x="0" y="0"/>
          <a:ext cx="0" cy="0"/>
          <a:chOff x="0" y="0"/>
          <a:chExt cx="0" cy="0"/>
        </a:xfrm>
      </p:grpSpPr>
      <p:pic>
        <p:nvPicPr>
          <p:cNvPr id="3" name="图片 2" descr="粉色的花朵&#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14087" t="8977" r="14521" b="6811"/>
          <a:stretch>
            <a:fillRect/>
          </a:stretch>
        </p:blipFill>
        <p:spPr>
          <a:xfrm flipH="1">
            <a:off x="412648" y="745970"/>
            <a:ext cx="2679137" cy="4588839"/>
          </a:xfrm>
          <a:prstGeom prst="rect">
            <a:avLst/>
          </a:prstGeom>
        </p:spPr>
      </p:pic>
      <p:sp>
        <p:nvSpPr>
          <p:cNvPr id="7" name="文本框 6"/>
          <p:cNvSpPr txBox="1"/>
          <p:nvPr userDrawn="1"/>
        </p:nvSpPr>
        <p:spPr>
          <a:xfrm>
            <a:off x="3623308" y="495600"/>
            <a:ext cx="1608133" cy="1615827"/>
          </a:xfrm>
          <a:prstGeom prst="rect">
            <a:avLst/>
          </a:prstGeom>
          <a:noFill/>
        </p:spPr>
        <p:txBody>
          <a:bodyPr wrap="none" rtlCol="0">
            <a:spAutoFit/>
          </a:bodyPr>
          <a:lstStyle/>
          <a:p>
            <a:pPr algn="l"/>
            <a:r>
              <a:rPr lang="en-US" altLang="zh-CN" sz="4950" b="0" spc="300" dirty="0">
                <a:solidFill>
                  <a:srgbClr val="0E394B"/>
                </a:solidFill>
                <a:latin typeface="文悦青龙体 (非商业使用) W5" pitchFamily="50" charset="-122"/>
                <a:ea typeface="文悦青龙体 (非商业使用) W5" pitchFamily="50" charset="-122"/>
              </a:rPr>
              <a:t>PART</a:t>
            </a:r>
          </a:p>
          <a:p>
            <a:pPr algn="l"/>
            <a:r>
              <a:rPr lang="en-US" altLang="zh-CN" sz="4950" b="0" spc="400" baseline="0" dirty="0">
                <a:solidFill>
                  <a:srgbClr val="0E394B"/>
                </a:solidFill>
                <a:latin typeface="文悦青龙体 (非商业使用) W5" pitchFamily="50" charset="-122"/>
                <a:ea typeface="文悦青龙体 (非商业使用) W5" pitchFamily="50" charset="-122"/>
              </a:rPr>
              <a:t>ONE</a:t>
            </a:r>
          </a:p>
        </p:txBody>
      </p:sp>
      <p:sp>
        <p:nvSpPr>
          <p:cNvPr id="40" name="文本占位符 11"/>
          <p:cNvSpPr>
            <a:spLocks noGrp="1"/>
          </p:cNvSpPr>
          <p:nvPr>
            <p:ph type="body" sz="quarter" idx="13"/>
          </p:nvPr>
        </p:nvSpPr>
        <p:spPr>
          <a:xfrm>
            <a:off x="3623303" y="2400300"/>
            <a:ext cx="4800600" cy="342900"/>
          </a:xfrm>
          <a:prstGeom prst="rect">
            <a:avLst/>
          </a:prstGeom>
        </p:spPr>
        <p:txBody>
          <a:bodyPr/>
          <a:lstStyle>
            <a:lvl1pPr marL="0" indent="0">
              <a:buNone/>
              <a:defRPr sz="1500" b="1">
                <a:solidFill>
                  <a:srgbClr val="0E394B"/>
                </a:solidFill>
              </a:defRPr>
            </a:lvl1pPr>
          </a:lstStyle>
          <a:p>
            <a:pPr lvl="0"/>
            <a:r>
              <a:rPr lang="zh-CN" altLang="en-US" dirty="0"/>
              <a:t>单击此处编辑母版文本样式</a:t>
            </a:r>
          </a:p>
        </p:txBody>
      </p:sp>
      <p:sp>
        <p:nvSpPr>
          <p:cNvPr id="42" name="文本占位符 11"/>
          <p:cNvSpPr>
            <a:spLocks noGrp="1"/>
          </p:cNvSpPr>
          <p:nvPr>
            <p:ph type="body" sz="quarter" idx="14"/>
          </p:nvPr>
        </p:nvSpPr>
        <p:spPr>
          <a:xfrm>
            <a:off x="3623309" y="3171092"/>
            <a:ext cx="4577723" cy="1560453"/>
          </a:xfrm>
          <a:prstGeom prst="rect">
            <a:avLst/>
          </a:prstGeom>
        </p:spPr>
        <p:txBody>
          <a:bodyPr/>
          <a:lstStyle>
            <a:lvl1pPr marL="0" indent="0">
              <a:buNone/>
              <a:defRPr sz="900">
                <a:solidFill>
                  <a:srgbClr val="376170"/>
                </a:solidFill>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空白">
    <p:bg>
      <p:bgPr>
        <a:solidFill>
          <a:srgbClr val="D3E6EC"/>
        </a:solidFill>
        <a:effectLst/>
      </p:bgPr>
    </p:bg>
    <p:spTree>
      <p:nvGrpSpPr>
        <p:cNvPr id="1" name=""/>
        <p:cNvGrpSpPr/>
        <p:nvPr/>
      </p:nvGrpSpPr>
      <p:grpSpPr>
        <a:xfrm>
          <a:off x="0" y="0"/>
          <a:ext cx="0" cy="0"/>
          <a:chOff x="0" y="0"/>
          <a:chExt cx="0" cy="0"/>
        </a:xfrm>
      </p:grpSpPr>
      <p:pic>
        <p:nvPicPr>
          <p:cNvPr id="3" name="图片 2" descr="粉色的花朵&#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14087" t="8977" r="14521" b="6811"/>
          <a:stretch>
            <a:fillRect/>
          </a:stretch>
        </p:blipFill>
        <p:spPr>
          <a:xfrm flipH="1">
            <a:off x="412648" y="745970"/>
            <a:ext cx="2679137" cy="4588839"/>
          </a:xfrm>
          <a:prstGeom prst="rect">
            <a:avLst/>
          </a:prstGeom>
        </p:spPr>
      </p:pic>
      <p:sp>
        <p:nvSpPr>
          <p:cNvPr id="7" name="文本框 6"/>
          <p:cNvSpPr txBox="1"/>
          <p:nvPr userDrawn="1"/>
        </p:nvSpPr>
        <p:spPr>
          <a:xfrm>
            <a:off x="3623309" y="495600"/>
            <a:ext cx="1771639" cy="1615827"/>
          </a:xfrm>
          <a:prstGeom prst="rect">
            <a:avLst/>
          </a:prstGeom>
          <a:noFill/>
        </p:spPr>
        <p:txBody>
          <a:bodyPr wrap="none" rtlCol="0">
            <a:spAutoFit/>
          </a:bodyPr>
          <a:lstStyle/>
          <a:p>
            <a:pPr algn="l"/>
            <a:r>
              <a:rPr lang="en-US" altLang="zh-CN" sz="4950" b="0" spc="300" dirty="0">
                <a:solidFill>
                  <a:srgbClr val="0E394B"/>
                </a:solidFill>
                <a:latin typeface="文悦青龙体 (非商业使用) W5" pitchFamily="50" charset="-122"/>
                <a:ea typeface="文悦青龙体 (非商业使用) W5" pitchFamily="50" charset="-122"/>
              </a:rPr>
              <a:t>PART</a:t>
            </a:r>
          </a:p>
          <a:p>
            <a:pPr algn="l"/>
            <a:r>
              <a:rPr lang="en-US" altLang="zh-CN" sz="4950" b="0" spc="0" baseline="0" dirty="0">
                <a:solidFill>
                  <a:srgbClr val="0E394B"/>
                </a:solidFill>
                <a:latin typeface="文悦青龙体 (非商业使用) W5" pitchFamily="50" charset="-122"/>
                <a:ea typeface="文悦青龙体 (非商业使用) W5" pitchFamily="50" charset="-122"/>
              </a:rPr>
              <a:t>THREE</a:t>
            </a:r>
          </a:p>
        </p:txBody>
      </p:sp>
      <p:sp>
        <p:nvSpPr>
          <p:cNvPr id="40" name="文本占位符 11"/>
          <p:cNvSpPr>
            <a:spLocks noGrp="1"/>
          </p:cNvSpPr>
          <p:nvPr>
            <p:ph type="body" sz="quarter" idx="13"/>
          </p:nvPr>
        </p:nvSpPr>
        <p:spPr>
          <a:xfrm>
            <a:off x="3623303" y="2400300"/>
            <a:ext cx="4800600" cy="342900"/>
          </a:xfrm>
          <a:prstGeom prst="rect">
            <a:avLst/>
          </a:prstGeom>
        </p:spPr>
        <p:txBody>
          <a:bodyPr/>
          <a:lstStyle>
            <a:lvl1pPr marL="0" indent="0">
              <a:buNone/>
              <a:defRPr sz="1500" b="1">
                <a:solidFill>
                  <a:srgbClr val="0E394B"/>
                </a:solidFill>
              </a:defRPr>
            </a:lvl1pPr>
          </a:lstStyle>
          <a:p>
            <a:pPr lvl="0"/>
            <a:r>
              <a:rPr lang="zh-CN" altLang="en-US" dirty="0"/>
              <a:t>单击此处编辑母版文本样式</a:t>
            </a:r>
          </a:p>
        </p:txBody>
      </p:sp>
      <p:sp>
        <p:nvSpPr>
          <p:cNvPr id="42" name="文本占位符 11"/>
          <p:cNvSpPr>
            <a:spLocks noGrp="1"/>
          </p:cNvSpPr>
          <p:nvPr>
            <p:ph type="body" sz="quarter" idx="14"/>
          </p:nvPr>
        </p:nvSpPr>
        <p:spPr>
          <a:xfrm>
            <a:off x="3623309" y="3171092"/>
            <a:ext cx="4577723" cy="1560453"/>
          </a:xfrm>
          <a:prstGeom prst="rect">
            <a:avLst/>
          </a:prstGeom>
        </p:spPr>
        <p:txBody>
          <a:bodyPr/>
          <a:lstStyle>
            <a:lvl1pPr marL="0" indent="0">
              <a:buNone/>
              <a:defRPr sz="900">
                <a:solidFill>
                  <a:srgbClr val="376170"/>
                </a:solidFill>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空白">
    <p:bg>
      <p:bgPr>
        <a:solidFill>
          <a:srgbClr val="D3E6EC"/>
        </a:solidFill>
        <a:effectLst/>
      </p:bgPr>
    </p:bg>
    <p:spTree>
      <p:nvGrpSpPr>
        <p:cNvPr id="1" name=""/>
        <p:cNvGrpSpPr/>
        <p:nvPr/>
      </p:nvGrpSpPr>
      <p:grpSpPr>
        <a:xfrm>
          <a:off x="0" y="0"/>
          <a:ext cx="0" cy="0"/>
          <a:chOff x="0" y="0"/>
          <a:chExt cx="0" cy="0"/>
        </a:xfrm>
      </p:grpSpPr>
      <p:pic>
        <p:nvPicPr>
          <p:cNvPr id="3" name="图片 2" descr="粉色的花朵&#10;&#10;描述已自动生成"/>
          <p:cNvPicPr>
            <a:picLocks noChangeAspect="1"/>
          </p:cNvPicPr>
          <p:nvPr userDrawn="1"/>
        </p:nvPicPr>
        <p:blipFill rotWithShape="1">
          <a:blip r:embed="rId2" cstate="print">
            <a:extLst>
              <a:ext uri="{28A0092B-C50C-407E-A947-70E740481C1C}">
                <a14:useLocalDpi xmlns:a14="http://schemas.microsoft.com/office/drawing/2010/main" val="0"/>
              </a:ext>
            </a:extLst>
          </a:blip>
          <a:srcRect l="14087" t="8977" r="14521" b="6811"/>
          <a:stretch>
            <a:fillRect/>
          </a:stretch>
        </p:blipFill>
        <p:spPr>
          <a:xfrm flipH="1">
            <a:off x="412648" y="745970"/>
            <a:ext cx="2679137" cy="4588839"/>
          </a:xfrm>
          <a:prstGeom prst="rect">
            <a:avLst/>
          </a:prstGeom>
        </p:spPr>
      </p:pic>
      <p:sp>
        <p:nvSpPr>
          <p:cNvPr id="7" name="文本框 6"/>
          <p:cNvSpPr txBox="1"/>
          <p:nvPr userDrawn="1"/>
        </p:nvSpPr>
        <p:spPr>
          <a:xfrm>
            <a:off x="3623308" y="495600"/>
            <a:ext cx="1659429" cy="1615827"/>
          </a:xfrm>
          <a:prstGeom prst="rect">
            <a:avLst/>
          </a:prstGeom>
          <a:noFill/>
        </p:spPr>
        <p:txBody>
          <a:bodyPr wrap="none" rtlCol="0">
            <a:spAutoFit/>
          </a:bodyPr>
          <a:lstStyle/>
          <a:p>
            <a:pPr algn="l"/>
            <a:r>
              <a:rPr lang="en-US" altLang="zh-CN" sz="4950" b="0" spc="300" dirty="0">
                <a:solidFill>
                  <a:srgbClr val="0E394B"/>
                </a:solidFill>
                <a:latin typeface="文悦青龙体 (非商业使用) W5" pitchFamily="50" charset="-122"/>
                <a:ea typeface="文悦青龙体 (非商业使用) W5" pitchFamily="50" charset="-122"/>
              </a:rPr>
              <a:t>PART</a:t>
            </a:r>
          </a:p>
          <a:p>
            <a:pPr algn="l"/>
            <a:r>
              <a:rPr lang="en-US" altLang="zh-CN" sz="4950" b="0" spc="400" baseline="0" dirty="0">
                <a:solidFill>
                  <a:srgbClr val="0E394B"/>
                </a:solidFill>
                <a:latin typeface="文悦青龙体 (非商业使用) W5" pitchFamily="50" charset="-122"/>
                <a:ea typeface="文悦青龙体 (非商业使用) W5" pitchFamily="50" charset="-122"/>
              </a:rPr>
              <a:t>FIVE</a:t>
            </a:r>
          </a:p>
        </p:txBody>
      </p:sp>
      <p:sp>
        <p:nvSpPr>
          <p:cNvPr id="40" name="文本占位符 11"/>
          <p:cNvSpPr>
            <a:spLocks noGrp="1"/>
          </p:cNvSpPr>
          <p:nvPr>
            <p:ph type="body" sz="quarter" idx="13"/>
          </p:nvPr>
        </p:nvSpPr>
        <p:spPr>
          <a:xfrm>
            <a:off x="3623303" y="2400300"/>
            <a:ext cx="4800600" cy="342900"/>
          </a:xfrm>
          <a:prstGeom prst="rect">
            <a:avLst/>
          </a:prstGeom>
        </p:spPr>
        <p:txBody>
          <a:bodyPr/>
          <a:lstStyle>
            <a:lvl1pPr marL="0" indent="0">
              <a:buNone/>
              <a:defRPr sz="1500" b="1">
                <a:solidFill>
                  <a:srgbClr val="0E394B"/>
                </a:solidFill>
              </a:defRPr>
            </a:lvl1pPr>
          </a:lstStyle>
          <a:p>
            <a:pPr lvl="0"/>
            <a:r>
              <a:rPr lang="zh-CN" altLang="en-US" dirty="0"/>
              <a:t>单击此处编辑母版文本样式</a:t>
            </a:r>
          </a:p>
        </p:txBody>
      </p:sp>
      <p:sp>
        <p:nvSpPr>
          <p:cNvPr id="42" name="文本占位符 11"/>
          <p:cNvSpPr>
            <a:spLocks noGrp="1"/>
          </p:cNvSpPr>
          <p:nvPr>
            <p:ph type="body" sz="quarter" idx="14"/>
          </p:nvPr>
        </p:nvSpPr>
        <p:spPr>
          <a:xfrm>
            <a:off x="3623309" y="3171092"/>
            <a:ext cx="4577723" cy="1560453"/>
          </a:xfrm>
          <a:prstGeom prst="rect">
            <a:avLst/>
          </a:prstGeom>
        </p:spPr>
        <p:txBody>
          <a:bodyPr/>
          <a:lstStyle>
            <a:lvl1pPr marL="0" indent="0">
              <a:buNone/>
              <a:defRPr sz="900">
                <a:solidFill>
                  <a:srgbClr val="376170"/>
                </a:solidFill>
              </a:defRPr>
            </a:lvl1pPr>
          </a:lstStyle>
          <a:p>
            <a:pPr lvl="0"/>
            <a:r>
              <a:rPr lang="zh-CN" altLang="en-US" dirty="0"/>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空白">
    <p:bg>
      <p:bgPr>
        <a:solidFill>
          <a:srgbClr val="D3E6EC"/>
        </a:solidFill>
        <a:effectLst/>
      </p:bgPr>
    </p:bg>
    <p:spTree>
      <p:nvGrpSpPr>
        <p:cNvPr id="1" name=""/>
        <p:cNvGrpSpPr/>
        <p:nvPr/>
      </p:nvGrpSpPr>
      <p:grpSpPr>
        <a:xfrm>
          <a:off x="0" y="0"/>
          <a:ext cx="0" cy="0"/>
          <a:chOff x="0" y="0"/>
          <a:chExt cx="0" cy="0"/>
        </a:xfrm>
      </p:grpSpPr>
      <p:sp>
        <p:nvSpPr>
          <p:cNvPr id="7" name="文本框 6"/>
          <p:cNvSpPr txBox="1"/>
          <p:nvPr userDrawn="1"/>
        </p:nvSpPr>
        <p:spPr>
          <a:xfrm>
            <a:off x="3623308" y="495600"/>
            <a:ext cx="1608133" cy="1615827"/>
          </a:xfrm>
          <a:prstGeom prst="rect">
            <a:avLst/>
          </a:prstGeom>
          <a:noFill/>
        </p:spPr>
        <p:txBody>
          <a:bodyPr wrap="none" rtlCol="0">
            <a:spAutoFit/>
          </a:bodyPr>
          <a:lstStyle/>
          <a:p>
            <a:pPr algn="l"/>
            <a:r>
              <a:rPr lang="en-US" altLang="zh-CN" sz="4950" b="0" spc="300" dirty="0">
                <a:solidFill>
                  <a:srgbClr val="0E394B"/>
                </a:solidFill>
                <a:latin typeface="文悦青龙体 (非商业使用) W5" pitchFamily="50" charset="-122"/>
                <a:ea typeface="文悦青龙体 (非商业使用) W5" pitchFamily="50" charset="-122"/>
              </a:rPr>
              <a:t>PART</a:t>
            </a:r>
          </a:p>
          <a:p>
            <a:pPr algn="l"/>
            <a:r>
              <a:rPr lang="en-US" altLang="zh-CN" sz="4950" b="0" spc="400" baseline="0" dirty="0">
                <a:solidFill>
                  <a:srgbClr val="0E394B"/>
                </a:solidFill>
                <a:latin typeface="文悦青龙体 (非商业使用) W5" pitchFamily="50" charset="-122"/>
                <a:ea typeface="文悦青龙体 (非商业使用) W5" pitchFamily="50" charset="-122"/>
              </a:rPr>
              <a:t>TWO</a:t>
            </a:r>
          </a:p>
        </p:txBody>
      </p:sp>
      <p:sp>
        <p:nvSpPr>
          <p:cNvPr id="40" name="文本占位符 11"/>
          <p:cNvSpPr>
            <a:spLocks noGrp="1"/>
          </p:cNvSpPr>
          <p:nvPr>
            <p:ph type="body" sz="quarter" idx="13"/>
          </p:nvPr>
        </p:nvSpPr>
        <p:spPr>
          <a:xfrm>
            <a:off x="3623303" y="2400300"/>
            <a:ext cx="4800600" cy="342900"/>
          </a:xfrm>
          <a:prstGeom prst="rect">
            <a:avLst/>
          </a:prstGeom>
        </p:spPr>
        <p:txBody>
          <a:bodyPr/>
          <a:lstStyle>
            <a:lvl1pPr marL="0" indent="0">
              <a:buNone/>
              <a:defRPr sz="1500" b="1">
                <a:solidFill>
                  <a:srgbClr val="0E394B"/>
                </a:solidFill>
              </a:defRPr>
            </a:lvl1pPr>
          </a:lstStyle>
          <a:p>
            <a:pPr lvl="0"/>
            <a:r>
              <a:rPr lang="zh-CN" altLang="en-US" dirty="0"/>
              <a:t>单击此处编辑母版文本样式</a:t>
            </a:r>
          </a:p>
        </p:txBody>
      </p:sp>
      <p:sp>
        <p:nvSpPr>
          <p:cNvPr id="42" name="文本占位符 11"/>
          <p:cNvSpPr>
            <a:spLocks noGrp="1"/>
          </p:cNvSpPr>
          <p:nvPr>
            <p:ph type="body" sz="quarter" idx="14"/>
          </p:nvPr>
        </p:nvSpPr>
        <p:spPr>
          <a:xfrm>
            <a:off x="3623309" y="3171092"/>
            <a:ext cx="4577723" cy="1560453"/>
          </a:xfrm>
          <a:prstGeom prst="rect">
            <a:avLst/>
          </a:prstGeom>
        </p:spPr>
        <p:txBody>
          <a:bodyPr/>
          <a:lstStyle>
            <a:lvl1pPr marL="0" indent="0">
              <a:buNone/>
              <a:defRPr sz="900">
                <a:solidFill>
                  <a:srgbClr val="376170"/>
                </a:solidFill>
              </a:defRPr>
            </a:lvl1pPr>
          </a:lstStyle>
          <a:p>
            <a:pPr lvl="0"/>
            <a:r>
              <a:rPr lang="zh-CN" altLang="en-US" dirty="0"/>
              <a:t>单击此处编辑母版文本样式</a:t>
            </a:r>
          </a:p>
        </p:txBody>
      </p:sp>
      <p:pic>
        <p:nvPicPr>
          <p:cNvPr id="4" name="图片 3" descr="图片包含 花, 小, 黑色, 黑暗&#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235838" flipH="1">
            <a:off x="105413" y="371709"/>
            <a:ext cx="3591482" cy="562336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空白">
    <p:bg>
      <p:bgPr>
        <a:solidFill>
          <a:srgbClr val="D3E6EC"/>
        </a:solidFill>
        <a:effectLst/>
      </p:bgPr>
    </p:bg>
    <p:spTree>
      <p:nvGrpSpPr>
        <p:cNvPr id="1" name=""/>
        <p:cNvGrpSpPr/>
        <p:nvPr/>
      </p:nvGrpSpPr>
      <p:grpSpPr>
        <a:xfrm>
          <a:off x="0" y="0"/>
          <a:ext cx="0" cy="0"/>
          <a:chOff x="0" y="0"/>
          <a:chExt cx="0" cy="0"/>
        </a:xfrm>
      </p:grpSpPr>
      <p:sp>
        <p:nvSpPr>
          <p:cNvPr id="7" name="文本框 6"/>
          <p:cNvSpPr txBox="1"/>
          <p:nvPr userDrawn="1"/>
        </p:nvSpPr>
        <p:spPr>
          <a:xfrm>
            <a:off x="3623308" y="495600"/>
            <a:ext cx="1659429" cy="1615827"/>
          </a:xfrm>
          <a:prstGeom prst="rect">
            <a:avLst/>
          </a:prstGeom>
          <a:noFill/>
        </p:spPr>
        <p:txBody>
          <a:bodyPr wrap="none" rtlCol="0">
            <a:spAutoFit/>
          </a:bodyPr>
          <a:lstStyle/>
          <a:p>
            <a:pPr algn="l"/>
            <a:r>
              <a:rPr lang="en-US" altLang="zh-CN" sz="4950" b="0" spc="300" dirty="0">
                <a:solidFill>
                  <a:srgbClr val="0E394B"/>
                </a:solidFill>
                <a:latin typeface="文悦青龙体 (非商业使用) W5" pitchFamily="50" charset="-122"/>
                <a:ea typeface="文悦青龙体 (非商业使用) W5" pitchFamily="50" charset="-122"/>
              </a:rPr>
              <a:t>PART</a:t>
            </a:r>
          </a:p>
          <a:p>
            <a:pPr algn="l"/>
            <a:r>
              <a:rPr lang="en-US" altLang="zh-CN" sz="4950" b="0" spc="400" baseline="0" dirty="0">
                <a:solidFill>
                  <a:srgbClr val="0E394B"/>
                </a:solidFill>
                <a:latin typeface="文悦青龙体 (非商业使用) W5" pitchFamily="50" charset="-122"/>
                <a:ea typeface="文悦青龙体 (非商业使用) W5" pitchFamily="50" charset="-122"/>
              </a:rPr>
              <a:t>FORE</a:t>
            </a:r>
          </a:p>
        </p:txBody>
      </p:sp>
      <p:sp>
        <p:nvSpPr>
          <p:cNvPr id="40" name="文本占位符 11"/>
          <p:cNvSpPr>
            <a:spLocks noGrp="1"/>
          </p:cNvSpPr>
          <p:nvPr>
            <p:ph type="body" sz="quarter" idx="13"/>
          </p:nvPr>
        </p:nvSpPr>
        <p:spPr>
          <a:xfrm>
            <a:off x="3623303" y="2400300"/>
            <a:ext cx="4800600" cy="342900"/>
          </a:xfrm>
          <a:prstGeom prst="rect">
            <a:avLst/>
          </a:prstGeom>
        </p:spPr>
        <p:txBody>
          <a:bodyPr/>
          <a:lstStyle>
            <a:lvl1pPr marL="0" indent="0">
              <a:buNone/>
              <a:defRPr sz="1500" b="1">
                <a:solidFill>
                  <a:srgbClr val="0E394B"/>
                </a:solidFill>
              </a:defRPr>
            </a:lvl1pPr>
          </a:lstStyle>
          <a:p>
            <a:pPr lvl="0"/>
            <a:r>
              <a:rPr lang="zh-CN" altLang="en-US" dirty="0"/>
              <a:t>单击此处编辑母版文本样式</a:t>
            </a:r>
          </a:p>
        </p:txBody>
      </p:sp>
      <p:sp>
        <p:nvSpPr>
          <p:cNvPr id="42" name="文本占位符 11"/>
          <p:cNvSpPr>
            <a:spLocks noGrp="1"/>
          </p:cNvSpPr>
          <p:nvPr>
            <p:ph type="body" sz="quarter" idx="14"/>
          </p:nvPr>
        </p:nvSpPr>
        <p:spPr>
          <a:xfrm>
            <a:off x="3623309" y="3171092"/>
            <a:ext cx="4577723" cy="1560453"/>
          </a:xfrm>
          <a:prstGeom prst="rect">
            <a:avLst/>
          </a:prstGeom>
        </p:spPr>
        <p:txBody>
          <a:bodyPr/>
          <a:lstStyle>
            <a:lvl1pPr marL="0" indent="0">
              <a:buNone/>
              <a:defRPr sz="900">
                <a:solidFill>
                  <a:srgbClr val="376170"/>
                </a:solidFill>
              </a:defRPr>
            </a:lvl1pPr>
          </a:lstStyle>
          <a:p>
            <a:pPr lvl="0"/>
            <a:r>
              <a:rPr lang="zh-CN" altLang="en-US" dirty="0"/>
              <a:t>单击此处编辑母版文本样式</a:t>
            </a:r>
          </a:p>
        </p:txBody>
      </p:sp>
      <p:pic>
        <p:nvPicPr>
          <p:cNvPr id="4" name="图片 3" descr="图片包含 花, 小, 黑色, 黑暗&#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235838" flipH="1">
            <a:off x="105413" y="371709"/>
            <a:ext cx="3591482" cy="562336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pic>
        <p:nvPicPr>
          <p:cNvPr id="18" name="图片 17" descr="图片包含 游戏机&#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l="21258" t="13304" r="21312" b="15047"/>
          <a:stretch>
            <a:fillRect/>
          </a:stretch>
        </p:blipFill>
        <p:spPr>
          <a:xfrm rot="16200000">
            <a:off x="4671402" y="270846"/>
            <a:ext cx="5429249" cy="6773509"/>
          </a:xfrm>
          <a:prstGeom prst="rect">
            <a:avLst/>
          </a:prstGeom>
        </p:spPr>
      </p:pic>
      <p:sp>
        <p:nvSpPr>
          <p:cNvPr id="19" name="文本占位符 11"/>
          <p:cNvSpPr>
            <a:spLocks noGrp="1"/>
          </p:cNvSpPr>
          <p:nvPr>
            <p:ph type="body" sz="quarter" idx="14"/>
          </p:nvPr>
        </p:nvSpPr>
        <p:spPr>
          <a:xfrm>
            <a:off x="447380" y="2030183"/>
            <a:ext cx="3584083" cy="342900"/>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23" name="文本占位符 11"/>
          <p:cNvSpPr>
            <a:spLocks noGrp="1"/>
          </p:cNvSpPr>
          <p:nvPr>
            <p:ph type="body" sz="quarter" idx="15"/>
          </p:nvPr>
        </p:nvSpPr>
        <p:spPr>
          <a:xfrm>
            <a:off x="447380" y="2587559"/>
            <a:ext cx="3584083" cy="1945563"/>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sp>
        <p:nvSpPr>
          <p:cNvPr id="19" name="文本占位符 11"/>
          <p:cNvSpPr>
            <a:spLocks noGrp="1"/>
          </p:cNvSpPr>
          <p:nvPr>
            <p:ph type="body" sz="quarter" idx="14"/>
          </p:nvPr>
        </p:nvSpPr>
        <p:spPr>
          <a:xfrm>
            <a:off x="5215784" y="1353376"/>
            <a:ext cx="2685204"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23" name="文本占位符 11"/>
          <p:cNvSpPr>
            <a:spLocks noGrp="1"/>
          </p:cNvSpPr>
          <p:nvPr>
            <p:ph type="body" sz="quarter" idx="15"/>
          </p:nvPr>
        </p:nvSpPr>
        <p:spPr>
          <a:xfrm>
            <a:off x="5215784" y="1853601"/>
            <a:ext cx="2685204" cy="2375501"/>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3" name="图片占位符 2"/>
          <p:cNvSpPr>
            <a:spLocks noGrp="1"/>
          </p:cNvSpPr>
          <p:nvPr>
            <p:ph type="pic" sz="quarter" idx="16"/>
          </p:nvPr>
        </p:nvSpPr>
        <p:spPr>
          <a:xfrm>
            <a:off x="1128641" y="1113235"/>
            <a:ext cx="2896791" cy="3269456"/>
          </a:xfrm>
          <a:prstGeom prst="rect">
            <a:avLst/>
          </a:prstGeom>
        </p:spPr>
        <p:txBody>
          <a:bodyPr/>
          <a:lstStyle/>
          <a:p>
            <a:endParaRPr lang="zh-CN" altLang="en-US"/>
          </a:p>
        </p:txBody>
      </p:sp>
      <p:sp>
        <p:nvSpPr>
          <p:cNvPr id="4" name="矩形 3"/>
          <p:cNvSpPr/>
          <p:nvPr userDrawn="1"/>
        </p:nvSpPr>
        <p:spPr>
          <a:xfrm>
            <a:off x="5118576" y="1125439"/>
            <a:ext cx="2902822" cy="3269456"/>
          </a:xfrm>
          <a:prstGeom prst="rect">
            <a:avLst/>
          </a:prstGeom>
          <a:noFill/>
          <a:ln w="28575">
            <a:solidFill>
              <a:srgbClr val="0E39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0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sp>
        <p:nvSpPr>
          <p:cNvPr id="19" name="文本占位符 11"/>
          <p:cNvSpPr>
            <a:spLocks noGrp="1"/>
          </p:cNvSpPr>
          <p:nvPr>
            <p:ph type="body" sz="quarter" idx="14"/>
          </p:nvPr>
        </p:nvSpPr>
        <p:spPr>
          <a:xfrm>
            <a:off x="3229398" y="3294276"/>
            <a:ext cx="2685204"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23" name="文本占位符 11"/>
          <p:cNvSpPr>
            <a:spLocks noGrp="1"/>
          </p:cNvSpPr>
          <p:nvPr>
            <p:ph type="body" sz="quarter" idx="15"/>
          </p:nvPr>
        </p:nvSpPr>
        <p:spPr>
          <a:xfrm>
            <a:off x="521495" y="3718301"/>
            <a:ext cx="8101012" cy="937044"/>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3" name="图片占位符 2"/>
          <p:cNvSpPr>
            <a:spLocks noGrp="1"/>
          </p:cNvSpPr>
          <p:nvPr>
            <p:ph type="pic" sz="quarter" idx="16"/>
          </p:nvPr>
        </p:nvSpPr>
        <p:spPr>
          <a:xfrm>
            <a:off x="521494" y="1113237"/>
            <a:ext cx="8101012" cy="1695280"/>
          </a:xfrm>
          <a:prstGeom prst="rect">
            <a:avLst/>
          </a:prstGeom>
        </p:spPr>
        <p:txBody>
          <a:bodyPr/>
          <a:lstStyle/>
          <a:p>
            <a:endParaRPr lang="zh-CN" altLang="en-US"/>
          </a:p>
        </p:txBody>
      </p:sp>
      <p:sp>
        <p:nvSpPr>
          <p:cNvPr id="2" name="矩形 1"/>
          <p:cNvSpPr/>
          <p:nvPr userDrawn="1"/>
        </p:nvSpPr>
        <p:spPr>
          <a:xfrm>
            <a:off x="4321635" y="2656115"/>
            <a:ext cx="500743" cy="541305"/>
          </a:xfrm>
          <a:prstGeom prst="rect">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chat-thinking_13930"/>
          <p:cNvSpPr>
            <a:spLocks noChangeAspect="1"/>
          </p:cNvSpPr>
          <p:nvPr userDrawn="1"/>
        </p:nvSpPr>
        <p:spPr bwMode="auto">
          <a:xfrm>
            <a:off x="4393391" y="2926759"/>
            <a:ext cx="357220" cy="276379"/>
          </a:xfrm>
          <a:custGeom>
            <a:avLst/>
            <a:gdLst>
              <a:gd name="T0" fmla="*/ 32 w 559"/>
              <a:gd name="T1" fmla="*/ 58 h 433"/>
              <a:gd name="T2" fmla="*/ 32 w 559"/>
              <a:gd name="T3" fmla="*/ 330 h 433"/>
              <a:gd name="T4" fmla="*/ 0 w 559"/>
              <a:gd name="T5" fmla="*/ 433 h 433"/>
              <a:gd name="T6" fmla="*/ 176 w 559"/>
              <a:gd name="T7" fmla="*/ 368 h 433"/>
              <a:gd name="T8" fmla="*/ 500 w 559"/>
              <a:gd name="T9" fmla="*/ 368 h 433"/>
              <a:gd name="T10" fmla="*/ 559 w 559"/>
              <a:gd name="T11" fmla="*/ 309 h 433"/>
              <a:gd name="T12" fmla="*/ 559 w 559"/>
              <a:gd name="T13" fmla="*/ 0 h 433"/>
              <a:gd name="T14" fmla="*/ 90 w 559"/>
              <a:gd name="T15" fmla="*/ 0 h 433"/>
              <a:gd name="T16" fmla="*/ 32 w 559"/>
              <a:gd name="T17" fmla="*/ 58 h 433"/>
              <a:gd name="T18" fmla="*/ 449 w 559"/>
              <a:gd name="T19" fmla="*/ 139 h 433"/>
              <a:gd name="T20" fmla="*/ 480 w 559"/>
              <a:gd name="T21" fmla="*/ 170 h 433"/>
              <a:gd name="T22" fmla="*/ 449 w 559"/>
              <a:gd name="T23" fmla="*/ 202 h 433"/>
              <a:gd name="T24" fmla="*/ 417 w 559"/>
              <a:gd name="T25" fmla="*/ 170 h 433"/>
              <a:gd name="T26" fmla="*/ 449 w 559"/>
              <a:gd name="T27" fmla="*/ 139 h 433"/>
              <a:gd name="T28" fmla="*/ 298 w 559"/>
              <a:gd name="T29" fmla="*/ 139 h 433"/>
              <a:gd name="T30" fmla="*/ 329 w 559"/>
              <a:gd name="T31" fmla="*/ 170 h 433"/>
              <a:gd name="T32" fmla="*/ 298 w 559"/>
              <a:gd name="T33" fmla="*/ 202 h 433"/>
              <a:gd name="T34" fmla="*/ 266 w 559"/>
              <a:gd name="T35" fmla="*/ 170 h 433"/>
              <a:gd name="T36" fmla="*/ 298 w 559"/>
              <a:gd name="T37" fmla="*/ 139 h 433"/>
              <a:gd name="T38" fmla="*/ 146 w 559"/>
              <a:gd name="T39" fmla="*/ 139 h 433"/>
              <a:gd name="T40" fmla="*/ 178 w 559"/>
              <a:gd name="T41" fmla="*/ 170 h 433"/>
              <a:gd name="T42" fmla="*/ 146 w 559"/>
              <a:gd name="T43" fmla="*/ 202 h 433"/>
              <a:gd name="T44" fmla="*/ 115 w 559"/>
              <a:gd name="T45" fmla="*/ 170 h 433"/>
              <a:gd name="T46" fmla="*/ 146 w 559"/>
              <a:gd name="T47" fmla="*/ 139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9" h="433">
                <a:moveTo>
                  <a:pt x="32" y="58"/>
                </a:moveTo>
                <a:lnTo>
                  <a:pt x="32" y="330"/>
                </a:lnTo>
                <a:lnTo>
                  <a:pt x="0" y="433"/>
                </a:lnTo>
                <a:lnTo>
                  <a:pt x="176" y="368"/>
                </a:lnTo>
                <a:lnTo>
                  <a:pt x="500" y="368"/>
                </a:lnTo>
                <a:cubicBezTo>
                  <a:pt x="532" y="368"/>
                  <a:pt x="559" y="342"/>
                  <a:pt x="559" y="309"/>
                </a:cubicBezTo>
                <a:lnTo>
                  <a:pt x="559" y="0"/>
                </a:lnTo>
                <a:lnTo>
                  <a:pt x="90" y="0"/>
                </a:lnTo>
                <a:cubicBezTo>
                  <a:pt x="58" y="0"/>
                  <a:pt x="32" y="26"/>
                  <a:pt x="32" y="58"/>
                </a:cubicBezTo>
                <a:close/>
                <a:moveTo>
                  <a:pt x="449" y="139"/>
                </a:moveTo>
                <a:cubicBezTo>
                  <a:pt x="466" y="139"/>
                  <a:pt x="480" y="153"/>
                  <a:pt x="480" y="170"/>
                </a:cubicBezTo>
                <a:cubicBezTo>
                  <a:pt x="480" y="188"/>
                  <a:pt x="466" y="202"/>
                  <a:pt x="449" y="202"/>
                </a:cubicBezTo>
                <a:cubicBezTo>
                  <a:pt x="431" y="202"/>
                  <a:pt x="417" y="188"/>
                  <a:pt x="417" y="170"/>
                </a:cubicBezTo>
                <a:cubicBezTo>
                  <a:pt x="417" y="153"/>
                  <a:pt x="431" y="139"/>
                  <a:pt x="449" y="139"/>
                </a:cubicBezTo>
                <a:close/>
                <a:moveTo>
                  <a:pt x="298" y="139"/>
                </a:moveTo>
                <a:cubicBezTo>
                  <a:pt x="315" y="139"/>
                  <a:pt x="329" y="153"/>
                  <a:pt x="329" y="170"/>
                </a:cubicBezTo>
                <a:cubicBezTo>
                  <a:pt x="329" y="188"/>
                  <a:pt x="315" y="202"/>
                  <a:pt x="298" y="202"/>
                </a:cubicBezTo>
                <a:cubicBezTo>
                  <a:pt x="280" y="202"/>
                  <a:pt x="266" y="188"/>
                  <a:pt x="266" y="170"/>
                </a:cubicBezTo>
                <a:cubicBezTo>
                  <a:pt x="266" y="153"/>
                  <a:pt x="280" y="139"/>
                  <a:pt x="298" y="139"/>
                </a:cubicBezTo>
                <a:close/>
                <a:moveTo>
                  <a:pt x="146" y="139"/>
                </a:moveTo>
                <a:cubicBezTo>
                  <a:pt x="164" y="139"/>
                  <a:pt x="178" y="153"/>
                  <a:pt x="178" y="170"/>
                </a:cubicBezTo>
                <a:cubicBezTo>
                  <a:pt x="178" y="188"/>
                  <a:pt x="164" y="202"/>
                  <a:pt x="146" y="202"/>
                </a:cubicBezTo>
                <a:cubicBezTo>
                  <a:pt x="129" y="202"/>
                  <a:pt x="115" y="188"/>
                  <a:pt x="115" y="170"/>
                </a:cubicBezTo>
                <a:cubicBezTo>
                  <a:pt x="115" y="153"/>
                  <a:pt x="129" y="139"/>
                  <a:pt x="146" y="139"/>
                </a:cubicBezTo>
                <a:close/>
              </a:path>
            </a:pathLst>
          </a:custGeom>
          <a:solidFill>
            <a:srgbClr val="D3E6EC"/>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1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sp>
        <p:nvSpPr>
          <p:cNvPr id="19" name="文本占位符 11"/>
          <p:cNvSpPr>
            <a:spLocks noGrp="1"/>
          </p:cNvSpPr>
          <p:nvPr>
            <p:ph type="body" sz="quarter" idx="14"/>
          </p:nvPr>
        </p:nvSpPr>
        <p:spPr>
          <a:xfrm>
            <a:off x="1411791" y="2999293"/>
            <a:ext cx="2060187"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23" name="文本占位符 11"/>
          <p:cNvSpPr>
            <a:spLocks noGrp="1"/>
          </p:cNvSpPr>
          <p:nvPr>
            <p:ph type="body" sz="quarter" idx="15"/>
          </p:nvPr>
        </p:nvSpPr>
        <p:spPr>
          <a:xfrm>
            <a:off x="1296623" y="3344149"/>
            <a:ext cx="2236909" cy="1387394"/>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5" name="图片占位符 4"/>
          <p:cNvSpPr>
            <a:spLocks noGrp="1"/>
          </p:cNvSpPr>
          <p:nvPr>
            <p:ph type="pic" sz="quarter" idx="16"/>
          </p:nvPr>
        </p:nvSpPr>
        <p:spPr>
          <a:xfrm>
            <a:off x="1583444" y="1113238"/>
            <a:ext cx="1716881" cy="1716881"/>
          </a:xfrm>
          <a:prstGeom prst="rect">
            <a:avLst/>
          </a:prstGeom>
        </p:spPr>
        <p:txBody>
          <a:bodyPr/>
          <a:lstStyle/>
          <a:p>
            <a:endParaRPr lang="zh-CN" altLang="en-US"/>
          </a:p>
        </p:txBody>
      </p:sp>
      <p:sp>
        <p:nvSpPr>
          <p:cNvPr id="24" name="图片占位符 4"/>
          <p:cNvSpPr>
            <a:spLocks noGrp="1"/>
          </p:cNvSpPr>
          <p:nvPr>
            <p:ph type="pic" sz="quarter" idx="17"/>
          </p:nvPr>
        </p:nvSpPr>
        <p:spPr>
          <a:xfrm>
            <a:off x="5841043" y="1110687"/>
            <a:ext cx="1716881" cy="1716881"/>
          </a:xfrm>
          <a:prstGeom prst="rect">
            <a:avLst/>
          </a:prstGeom>
        </p:spPr>
        <p:txBody>
          <a:bodyPr/>
          <a:lstStyle/>
          <a:p>
            <a:endParaRPr lang="zh-CN" altLang="en-US"/>
          </a:p>
        </p:txBody>
      </p:sp>
      <p:sp>
        <p:nvSpPr>
          <p:cNvPr id="25" name="文本占位符 11"/>
          <p:cNvSpPr>
            <a:spLocks noGrp="1"/>
          </p:cNvSpPr>
          <p:nvPr>
            <p:ph type="body" sz="quarter" idx="18"/>
          </p:nvPr>
        </p:nvSpPr>
        <p:spPr>
          <a:xfrm>
            <a:off x="5653256" y="2999293"/>
            <a:ext cx="2060187"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26" name="文本占位符 11"/>
          <p:cNvSpPr>
            <a:spLocks noGrp="1"/>
          </p:cNvSpPr>
          <p:nvPr>
            <p:ph type="body" sz="quarter" idx="19"/>
          </p:nvPr>
        </p:nvSpPr>
        <p:spPr>
          <a:xfrm>
            <a:off x="5538086" y="3344149"/>
            <a:ext cx="2236909" cy="1387394"/>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2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sp>
        <p:nvSpPr>
          <p:cNvPr id="6" name="矩形 5"/>
          <p:cNvSpPr/>
          <p:nvPr/>
        </p:nvSpPr>
        <p:spPr>
          <a:xfrm>
            <a:off x="1023103" y="2351321"/>
            <a:ext cx="4636507" cy="1142143"/>
          </a:xfrm>
          <a:prstGeom prst="rect">
            <a:avLst/>
          </a:prstGeom>
          <a:solidFill>
            <a:srgbClr val="0E394B"/>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8995" tIns="208995" rIns="208995" bIns="208995" numCol="1" spcCol="1270" anchor="ctr" anchorCtr="0">
            <a:noAutofit/>
          </a:bodyPr>
          <a:lstStyle/>
          <a:p>
            <a:pPr marL="0" lvl="0" indent="0" algn="ctr" defTabSz="2667000">
              <a:lnSpc>
                <a:spcPct val="90000"/>
              </a:lnSpc>
              <a:spcBef>
                <a:spcPct val="0"/>
              </a:spcBef>
              <a:spcAft>
                <a:spcPct val="35000"/>
              </a:spcAft>
              <a:buNone/>
            </a:pPr>
            <a:endParaRPr lang="zh-CN" altLang="en-US" sz="4500" kern="1200"/>
          </a:p>
        </p:txBody>
      </p:sp>
      <p:sp>
        <p:nvSpPr>
          <p:cNvPr id="27" name="文本占位符 11"/>
          <p:cNvSpPr>
            <a:spLocks noGrp="1"/>
          </p:cNvSpPr>
          <p:nvPr>
            <p:ph type="body" sz="quarter" idx="18"/>
          </p:nvPr>
        </p:nvSpPr>
        <p:spPr>
          <a:xfrm>
            <a:off x="920907" y="1085672"/>
            <a:ext cx="2060187" cy="342900"/>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28" name="文本占位符 11"/>
          <p:cNvSpPr>
            <a:spLocks noGrp="1"/>
          </p:cNvSpPr>
          <p:nvPr>
            <p:ph type="body" sz="quarter" idx="19"/>
          </p:nvPr>
        </p:nvSpPr>
        <p:spPr>
          <a:xfrm>
            <a:off x="934321" y="1454341"/>
            <a:ext cx="7688186" cy="781988"/>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
        <p:nvSpPr>
          <p:cNvPr id="12" name="图片占位符 11"/>
          <p:cNvSpPr>
            <a:spLocks noGrp="1"/>
          </p:cNvSpPr>
          <p:nvPr>
            <p:ph type="pic" sz="quarter" idx="20"/>
          </p:nvPr>
        </p:nvSpPr>
        <p:spPr>
          <a:xfrm>
            <a:off x="5850332" y="2351154"/>
            <a:ext cx="2270572" cy="1142143"/>
          </a:xfrm>
          <a:prstGeom prst="rect">
            <a:avLst/>
          </a:prstGeom>
        </p:spPr>
        <p:txBody>
          <a:bodyPr/>
          <a:lstStyle/>
          <a:p>
            <a:endParaRPr lang="zh-CN" altLang="en-US"/>
          </a:p>
        </p:txBody>
      </p:sp>
      <p:sp>
        <p:nvSpPr>
          <p:cNvPr id="29" name="图片占位符 11"/>
          <p:cNvSpPr>
            <a:spLocks noGrp="1"/>
          </p:cNvSpPr>
          <p:nvPr>
            <p:ph type="pic" sz="quarter" idx="21"/>
          </p:nvPr>
        </p:nvSpPr>
        <p:spPr>
          <a:xfrm>
            <a:off x="1023097" y="3589402"/>
            <a:ext cx="2270572" cy="1159670"/>
          </a:xfrm>
          <a:prstGeom prst="rect">
            <a:avLst/>
          </a:prstGeom>
        </p:spPr>
        <p:txBody>
          <a:bodyPr/>
          <a:lstStyle/>
          <a:p>
            <a:endParaRPr lang="zh-CN" altLang="en-US"/>
          </a:p>
        </p:txBody>
      </p:sp>
      <p:sp>
        <p:nvSpPr>
          <p:cNvPr id="31" name="图片占位符 11"/>
          <p:cNvSpPr>
            <a:spLocks noGrp="1"/>
          </p:cNvSpPr>
          <p:nvPr>
            <p:ph type="pic" sz="quarter" idx="22"/>
          </p:nvPr>
        </p:nvSpPr>
        <p:spPr>
          <a:xfrm>
            <a:off x="3389033" y="3589402"/>
            <a:ext cx="2270572" cy="1159670"/>
          </a:xfrm>
          <a:prstGeom prst="rect">
            <a:avLst/>
          </a:prstGeom>
        </p:spPr>
        <p:txBody>
          <a:bodyPr/>
          <a:lstStyle/>
          <a:p>
            <a:endParaRPr lang="zh-CN" altLang="en-US"/>
          </a:p>
        </p:txBody>
      </p:sp>
      <p:sp>
        <p:nvSpPr>
          <p:cNvPr id="32" name="图片占位符 11"/>
          <p:cNvSpPr>
            <a:spLocks noGrp="1"/>
          </p:cNvSpPr>
          <p:nvPr>
            <p:ph type="pic" sz="quarter" idx="23"/>
          </p:nvPr>
        </p:nvSpPr>
        <p:spPr>
          <a:xfrm>
            <a:off x="5850332" y="3589402"/>
            <a:ext cx="2270572" cy="1159670"/>
          </a:xfrm>
          <a:prstGeom prst="rect">
            <a:avLst/>
          </a:prstGeom>
        </p:spPr>
        <p:txBody>
          <a:bodyPr/>
          <a:lstStyle/>
          <a:p>
            <a:endParaRPr lang="zh-CN" altLang="en-US"/>
          </a:p>
        </p:txBody>
      </p:sp>
      <p:sp>
        <p:nvSpPr>
          <p:cNvPr id="33" name="文本占位符 11"/>
          <p:cNvSpPr>
            <a:spLocks noGrp="1"/>
          </p:cNvSpPr>
          <p:nvPr>
            <p:ph type="body" sz="quarter" idx="24"/>
          </p:nvPr>
        </p:nvSpPr>
        <p:spPr>
          <a:xfrm>
            <a:off x="1098267" y="2393060"/>
            <a:ext cx="2060187" cy="342900"/>
          </a:xfrm>
          <a:prstGeom prst="rect">
            <a:avLst/>
          </a:prstGeom>
        </p:spPr>
        <p:txBody>
          <a:bodyPr/>
          <a:lstStyle>
            <a:lvl1pPr marL="0" indent="0" algn="l">
              <a:buNone/>
              <a:defRPr sz="1200" b="1">
                <a:solidFill>
                  <a:schemeClr val="bg1">
                    <a:lumMod val="95000"/>
                  </a:schemeClr>
                </a:solidFill>
              </a:defRPr>
            </a:lvl1pPr>
          </a:lstStyle>
          <a:p>
            <a:pPr lvl="0"/>
            <a:r>
              <a:rPr lang="zh-CN" altLang="en-US" dirty="0"/>
              <a:t>单击此处编辑母版文本样式</a:t>
            </a:r>
          </a:p>
        </p:txBody>
      </p:sp>
      <p:sp>
        <p:nvSpPr>
          <p:cNvPr id="34" name="文本占位符 11"/>
          <p:cNvSpPr>
            <a:spLocks noGrp="1"/>
          </p:cNvSpPr>
          <p:nvPr>
            <p:ph type="body" sz="quarter" idx="25"/>
          </p:nvPr>
        </p:nvSpPr>
        <p:spPr>
          <a:xfrm>
            <a:off x="1111687" y="2704579"/>
            <a:ext cx="4439013" cy="717278"/>
          </a:xfrm>
          <a:prstGeom prst="rect">
            <a:avLst/>
          </a:prstGeom>
        </p:spPr>
        <p:txBody>
          <a:bodyPr/>
          <a:lstStyle>
            <a:lvl1pPr marL="0" indent="0" algn="l">
              <a:buNone/>
              <a:defRPr sz="900" b="0">
                <a:solidFill>
                  <a:schemeClr val="bg1">
                    <a:lumMod val="95000"/>
                  </a:schemeClr>
                </a:solidFill>
              </a:defRPr>
            </a:lvl1pPr>
          </a:lstStyle>
          <a:p>
            <a:pPr lvl="0"/>
            <a:r>
              <a:rPr lang="zh-CN" altLang="en-US" dirty="0"/>
              <a:t>单击此处编辑母版文本样式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pic>
        <p:nvPicPr>
          <p:cNvPr id="3" name="图片 2"/>
          <p:cNvPicPr>
            <a:picLocks noChangeAspect="1"/>
          </p:cNvPicPr>
          <p:nvPr userDrawn="1"/>
        </p:nvPicPr>
        <p:blipFill rotWithShape="1">
          <a:blip r:embed="rId3" cstate="print">
            <a:extLst>
              <a:ext uri="{28A0092B-C50C-407E-A947-70E740481C1C}">
                <a14:useLocalDpi xmlns:a14="http://schemas.microsoft.com/office/drawing/2010/main" val="0"/>
              </a:ext>
            </a:extLst>
          </a:blip>
          <a:srcRect l="71045" b="23947"/>
          <a:stretch>
            <a:fillRect/>
          </a:stretch>
        </p:blipFill>
        <p:spPr>
          <a:xfrm>
            <a:off x="0" y="1809798"/>
            <a:ext cx="1777181" cy="3333702"/>
          </a:xfrm>
          <a:prstGeom prst="rect">
            <a:avLst/>
          </a:prstGeom>
        </p:spPr>
      </p:pic>
      <p:pic>
        <p:nvPicPr>
          <p:cNvPr id="36" name="图片 35"/>
          <p:cNvPicPr>
            <a:picLocks noChangeAspect="1"/>
          </p:cNvPicPr>
          <p:nvPr userDrawn="1"/>
        </p:nvPicPr>
        <p:blipFill rotWithShape="1">
          <a:blip r:embed="rId4" cstate="print">
            <a:extLst>
              <a:ext uri="{28A0092B-C50C-407E-A947-70E740481C1C}">
                <a14:useLocalDpi xmlns:a14="http://schemas.microsoft.com/office/drawing/2010/main" val="0"/>
              </a:ext>
            </a:extLst>
          </a:blip>
          <a:srcRect l="313" t="13444" r="76264" b="7265"/>
          <a:stretch>
            <a:fillRect/>
          </a:stretch>
        </p:blipFill>
        <p:spPr>
          <a:xfrm>
            <a:off x="7765027" y="1809798"/>
            <a:ext cx="1378974" cy="3333702"/>
          </a:xfrm>
          <a:prstGeom prst="rect">
            <a:avLst/>
          </a:prstGeom>
        </p:spPr>
      </p:pic>
      <p:sp>
        <p:nvSpPr>
          <p:cNvPr id="37" name="文本占位符 11"/>
          <p:cNvSpPr>
            <a:spLocks noGrp="1"/>
          </p:cNvSpPr>
          <p:nvPr>
            <p:ph type="body" sz="quarter" idx="18"/>
          </p:nvPr>
        </p:nvSpPr>
        <p:spPr>
          <a:xfrm>
            <a:off x="549432" y="1242834"/>
            <a:ext cx="2060187"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38" name="文本占位符 11"/>
          <p:cNvSpPr>
            <a:spLocks noGrp="1"/>
          </p:cNvSpPr>
          <p:nvPr>
            <p:ph type="body" sz="quarter" idx="19"/>
          </p:nvPr>
        </p:nvSpPr>
        <p:spPr>
          <a:xfrm>
            <a:off x="562848" y="1611503"/>
            <a:ext cx="2060187" cy="2746184"/>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39" name="文本占位符 11"/>
          <p:cNvSpPr>
            <a:spLocks noGrp="1"/>
          </p:cNvSpPr>
          <p:nvPr>
            <p:ph type="body" sz="quarter" idx="20"/>
          </p:nvPr>
        </p:nvSpPr>
        <p:spPr>
          <a:xfrm>
            <a:off x="3541913" y="1242834"/>
            <a:ext cx="2060187"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40" name="文本占位符 11"/>
          <p:cNvSpPr>
            <a:spLocks noGrp="1"/>
          </p:cNvSpPr>
          <p:nvPr>
            <p:ph type="body" sz="quarter" idx="21"/>
          </p:nvPr>
        </p:nvSpPr>
        <p:spPr>
          <a:xfrm>
            <a:off x="3555332" y="1611503"/>
            <a:ext cx="2060187" cy="2746184"/>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41" name="文本占位符 11"/>
          <p:cNvSpPr>
            <a:spLocks noGrp="1"/>
          </p:cNvSpPr>
          <p:nvPr>
            <p:ph type="body" sz="quarter" idx="22"/>
          </p:nvPr>
        </p:nvSpPr>
        <p:spPr>
          <a:xfrm>
            <a:off x="6534393" y="1242834"/>
            <a:ext cx="2060187"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42" name="文本占位符 11"/>
          <p:cNvSpPr>
            <a:spLocks noGrp="1"/>
          </p:cNvSpPr>
          <p:nvPr>
            <p:ph type="body" sz="quarter" idx="23"/>
          </p:nvPr>
        </p:nvSpPr>
        <p:spPr>
          <a:xfrm>
            <a:off x="6547813" y="1611503"/>
            <a:ext cx="2060187" cy="2746184"/>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cxnSp>
        <p:nvCxnSpPr>
          <p:cNvPr id="5" name="直接连接符 4"/>
          <p:cNvCxnSpPr/>
          <p:nvPr userDrawn="1"/>
        </p:nvCxnSpPr>
        <p:spPr>
          <a:xfrm>
            <a:off x="3075760" y="957263"/>
            <a:ext cx="0" cy="3886200"/>
          </a:xfrm>
          <a:prstGeom prst="line">
            <a:avLst/>
          </a:prstGeom>
          <a:ln>
            <a:gradFill>
              <a:gsLst>
                <a:gs pos="0">
                  <a:srgbClr val="0E394B"/>
                </a:gs>
                <a:gs pos="100000">
                  <a:srgbClr val="497E84">
                    <a:alpha val="2100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6068240" y="957263"/>
            <a:ext cx="0" cy="3886200"/>
          </a:xfrm>
          <a:prstGeom prst="line">
            <a:avLst/>
          </a:prstGeom>
          <a:ln>
            <a:gradFill>
              <a:gsLst>
                <a:gs pos="0">
                  <a:srgbClr val="0E394B"/>
                </a:gs>
                <a:gs pos="100000">
                  <a:srgbClr val="497E84">
                    <a:alpha val="21000"/>
                  </a:srgbClr>
                </a:gs>
              </a:gsLst>
              <a:lin ang="5400000" scaled="1"/>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4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sp>
        <p:nvSpPr>
          <p:cNvPr id="4" name="图片占位符 3"/>
          <p:cNvSpPr>
            <a:spLocks noGrp="1"/>
          </p:cNvSpPr>
          <p:nvPr>
            <p:ph type="pic" sz="quarter" idx="14"/>
          </p:nvPr>
        </p:nvSpPr>
        <p:spPr>
          <a:xfrm>
            <a:off x="4762500" y="1629142"/>
            <a:ext cx="700088" cy="700088"/>
          </a:xfrm>
          <a:prstGeom prst="rect">
            <a:avLst/>
          </a:prstGeom>
        </p:spPr>
        <p:txBody>
          <a:bodyPr/>
          <a:lstStyle/>
          <a:p>
            <a:endParaRPr lang="zh-CN" altLang="en-US"/>
          </a:p>
        </p:txBody>
      </p:sp>
      <p:sp>
        <p:nvSpPr>
          <p:cNvPr id="23" name="图片占位符 3"/>
          <p:cNvSpPr>
            <a:spLocks noGrp="1"/>
          </p:cNvSpPr>
          <p:nvPr>
            <p:ph type="pic" sz="quarter" idx="15"/>
          </p:nvPr>
        </p:nvSpPr>
        <p:spPr>
          <a:xfrm>
            <a:off x="3125989" y="1574485"/>
            <a:ext cx="1250129" cy="1250129"/>
          </a:xfrm>
          <a:prstGeom prst="rect">
            <a:avLst/>
          </a:prstGeom>
        </p:spPr>
        <p:txBody>
          <a:bodyPr/>
          <a:lstStyle/>
          <a:p>
            <a:endParaRPr lang="zh-CN" altLang="en-US"/>
          </a:p>
        </p:txBody>
      </p:sp>
      <p:sp>
        <p:nvSpPr>
          <p:cNvPr id="24" name="图片占位符 3"/>
          <p:cNvSpPr>
            <a:spLocks noGrp="1"/>
          </p:cNvSpPr>
          <p:nvPr>
            <p:ph type="pic" sz="quarter" idx="16"/>
          </p:nvPr>
        </p:nvSpPr>
        <p:spPr>
          <a:xfrm>
            <a:off x="4600269" y="2658387"/>
            <a:ext cx="995974" cy="995974"/>
          </a:xfrm>
          <a:prstGeom prst="rect">
            <a:avLst/>
          </a:prstGeom>
        </p:spPr>
        <p:txBody>
          <a:bodyPr/>
          <a:lstStyle/>
          <a:p>
            <a:endParaRPr lang="zh-CN" altLang="en-US"/>
          </a:p>
        </p:txBody>
      </p:sp>
      <p:sp>
        <p:nvSpPr>
          <p:cNvPr id="25" name="椭圆 24"/>
          <p:cNvSpPr/>
          <p:nvPr userDrawn="1"/>
        </p:nvSpPr>
        <p:spPr>
          <a:xfrm>
            <a:off x="4507426" y="1228547"/>
            <a:ext cx="318759" cy="318759"/>
          </a:xfrm>
          <a:prstGeom prst="ellipse">
            <a:avLst/>
          </a:prstGeom>
          <a:noFill/>
          <a:ln w="38100">
            <a:solidFill>
              <a:srgbClr val="0E39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userDrawn="1"/>
        </p:nvSpPr>
        <p:spPr>
          <a:xfrm>
            <a:off x="4031456" y="2996995"/>
            <a:ext cx="494996" cy="494996"/>
          </a:xfrm>
          <a:prstGeom prst="ellipse">
            <a:avLst/>
          </a:prstGeom>
          <a:noFill/>
          <a:ln w="38100">
            <a:solidFill>
              <a:srgbClr val="0E39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椭圆 26"/>
          <p:cNvSpPr/>
          <p:nvPr userDrawn="1"/>
        </p:nvSpPr>
        <p:spPr>
          <a:xfrm>
            <a:off x="3511303" y="2993225"/>
            <a:ext cx="235753" cy="235753"/>
          </a:xfrm>
          <a:prstGeom prst="ellipse">
            <a:avLst/>
          </a:prstGeom>
          <a:noFill/>
          <a:ln w="38100">
            <a:solidFill>
              <a:srgbClr val="0E39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文本占位符 11"/>
          <p:cNvSpPr>
            <a:spLocks noGrp="1"/>
          </p:cNvSpPr>
          <p:nvPr>
            <p:ph type="body" sz="quarter" idx="18"/>
          </p:nvPr>
        </p:nvSpPr>
        <p:spPr>
          <a:xfrm>
            <a:off x="549432" y="1700034"/>
            <a:ext cx="2060187" cy="342900"/>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29" name="文本占位符 11"/>
          <p:cNvSpPr>
            <a:spLocks noGrp="1"/>
          </p:cNvSpPr>
          <p:nvPr>
            <p:ph type="body" sz="quarter" idx="19"/>
          </p:nvPr>
        </p:nvSpPr>
        <p:spPr>
          <a:xfrm>
            <a:off x="562848" y="2068703"/>
            <a:ext cx="2060187" cy="1688910"/>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
        <p:nvSpPr>
          <p:cNvPr id="31" name="文本占位符 11"/>
          <p:cNvSpPr>
            <a:spLocks noGrp="1"/>
          </p:cNvSpPr>
          <p:nvPr>
            <p:ph type="body" sz="quarter" idx="20"/>
          </p:nvPr>
        </p:nvSpPr>
        <p:spPr>
          <a:xfrm>
            <a:off x="5693090" y="1128534"/>
            <a:ext cx="2888064" cy="342900"/>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32" name="文本占位符 11"/>
          <p:cNvSpPr>
            <a:spLocks noGrp="1"/>
          </p:cNvSpPr>
          <p:nvPr>
            <p:ph type="body" sz="quarter" idx="21"/>
          </p:nvPr>
        </p:nvSpPr>
        <p:spPr>
          <a:xfrm>
            <a:off x="5706510" y="1497205"/>
            <a:ext cx="2888064" cy="960248"/>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
        <p:nvSpPr>
          <p:cNvPr id="33" name="文本占位符 11"/>
          <p:cNvSpPr>
            <a:spLocks noGrp="1"/>
          </p:cNvSpPr>
          <p:nvPr>
            <p:ph type="body" sz="quarter" idx="22"/>
          </p:nvPr>
        </p:nvSpPr>
        <p:spPr>
          <a:xfrm>
            <a:off x="5872111" y="2993222"/>
            <a:ext cx="2750396" cy="342900"/>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34" name="文本占位符 11"/>
          <p:cNvSpPr>
            <a:spLocks noGrp="1"/>
          </p:cNvSpPr>
          <p:nvPr>
            <p:ph type="body" sz="quarter" idx="23"/>
          </p:nvPr>
        </p:nvSpPr>
        <p:spPr>
          <a:xfrm>
            <a:off x="5885531" y="3361892"/>
            <a:ext cx="2736976" cy="1369653"/>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5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grpSp>
        <p:nvGrpSpPr>
          <p:cNvPr id="3" name="组合 2"/>
          <p:cNvGrpSpPr/>
          <p:nvPr/>
        </p:nvGrpSpPr>
        <p:grpSpPr>
          <a:xfrm>
            <a:off x="523260" y="1113235"/>
            <a:ext cx="7811730" cy="3618308"/>
            <a:chOff x="2031999" y="1484313"/>
            <a:chExt cx="9464674" cy="4824411"/>
          </a:xfrm>
        </p:grpSpPr>
        <p:sp>
          <p:nvSpPr>
            <p:cNvPr id="5" name="矩形 4"/>
            <p:cNvSpPr/>
            <p:nvPr/>
          </p:nvSpPr>
          <p:spPr>
            <a:xfrm>
              <a:off x="2031999" y="1484313"/>
              <a:ext cx="8044973" cy="1447323"/>
            </a:xfrm>
            <a:prstGeom prst="rect">
              <a:avLst/>
            </a:prstGeom>
            <a:noFill/>
            <a:ln>
              <a:solidFill>
                <a:srgbClr val="0E394B"/>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525" tIns="177525" rIns="1285270" bIns="177525" numCol="1" spcCol="1270" anchor="ctr" anchorCtr="0">
              <a:noAutofit/>
            </a:bodyPr>
            <a:lstStyle/>
            <a:p>
              <a:pPr marL="0" lvl="0" indent="0" algn="l" defTabSz="2266950">
                <a:lnSpc>
                  <a:spcPct val="90000"/>
                </a:lnSpc>
                <a:spcBef>
                  <a:spcPct val="0"/>
                </a:spcBef>
                <a:spcAft>
                  <a:spcPct val="35000"/>
                </a:spcAft>
                <a:buNone/>
              </a:pPr>
              <a:endParaRPr lang="zh-CN" altLang="en-US" sz="3825" kern="1200"/>
            </a:p>
          </p:txBody>
        </p:sp>
        <p:sp>
          <p:nvSpPr>
            <p:cNvPr id="6" name="矩形 5"/>
            <p:cNvSpPr/>
            <p:nvPr/>
          </p:nvSpPr>
          <p:spPr>
            <a:xfrm>
              <a:off x="2741849" y="3172857"/>
              <a:ext cx="8044973" cy="1447323"/>
            </a:xfrm>
            <a:prstGeom prst="rect">
              <a:avLst/>
            </a:prstGeom>
            <a:noFill/>
            <a:ln>
              <a:solidFill>
                <a:srgbClr val="0E394B"/>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525" tIns="177525" rIns="1415484" bIns="177525" numCol="1" spcCol="1270" anchor="ctr" anchorCtr="0">
              <a:noAutofit/>
            </a:bodyPr>
            <a:lstStyle/>
            <a:p>
              <a:pPr marL="0" lvl="0" indent="0" algn="l" defTabSz="2266950">
                <a:lnSpc>
                  <a:spcPct val="90000"/>
                </a:lnSpc>
                <a:spcBef>
                  <a:spcPct val="0"/>
                </a:spcBef>
                <a:spcAft>
                  <a:spcPct val="35000"/>
                </a:spcAft>
                <a:buNone/>
              </a:pPr>
              <a:endParaRPr lang="zh-CN" altLang="en-US" sz="3825" kern="1200"/>
            </a:p>
          </p:txBody>
        </p:sp>
        <p:sp>
          <p:nvSpPr>
            <p:cNvPr id="7" name="矩形 6"/>
            <p:cNvSpPr/>
            <p:nvPr/>
          </p:nvSpPr>
          <p:spPr>
            <a:xfrm>
              <a:off x="3451700" y="4861401"/>
              <a:ext cx="8044973" cy="1447323"/>
            </a:xfrm>
            <a:prstGeom prst="rect">
              <a:avLst/>
            </a:prstGeom>
            <a:noFill/>
            <a:ln>
              <a:solidFill>
                <a:srgbClr val="0E394B"/>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525" tIns="177525" rIns="1415484" bIns="177525" numCol="1" spcCol="1270" anchor="ctr" anchorCtr="0">
              <a:noAutofit/>
            </a:bodyPr>
            <a:lstStyle/>
            <a:p>
              <a:pPr marL="0" lvl="0" indent="0" algn="l" defTabSz="2266950">
                <a:lnSpc>
                  <a:spcPct val="90000"/>
                </a:lnSpc>
                <a:spcBef>
                  <a:spcPct val="0"/>
                </a:spcBef>
                <a:spcAft>
                  <a:spcPct val="35000"/>
                </a:spcAft>
                <a:buNone/>
              </a:pPr>
              <a:endParaRPr lang="zh-CN" altLang="en-US" sz="3825" kern="1200"/>
            </a:p>
          </p:txBody>
        </p:sp>
      </p:grpSp>
      <p:sp>
        <p:nvSpPr>
          <p:cNvPr id="11" name="图片占位符 10"/>
          <p:cNvSpPr>
            <a:spLocks noGrp="1"/>
          </p:cNvSpPr>
          <p:nvPr>
            <p:ph type="pic" sz="quarter" idx="14"/>
          </p:nvPr>
        </p:nvSpPr>
        <p:spPr>
          <a:xfrm>
            <a:off x="6618308" y="1643066"/>
            <a:ext cx="1098947" cy="1098947"/>
          </a:xfrm>
          <a:prstGeom prst="rect">
            <a:avLst/>
          </a:prstGeom>
        </p:spPr>
        <p:txBody>
          <a:bodyPr/>
          <a:lstStyle/>
          <a:p>
            <a:endParaRPr lang="zh-CN" altLang="en-US"/>
          </a:p>
        </p:txBody>
      </p:sp>
      <p:sp>
        <p:nvSpPr>
          <p:cNvPr id="35" name="图片占位符 10"/>
          <p:cNvSpPr>
            <a:spLocks noGrp="1"/>
          </p:cNvSpPr>
          <p:nvPr>
            <p:ph type="pic" sz="quarter" idx="15"/>
          </p:nvPr>
        </p:nvSpPr>
        <p:spPr>
          <a:xfrm>
            <a:off x="7213930" y="2955907"/>
            <a:ext cx="1098947" cy="1098947"/>
          </a:xfrm>
          <a:prstGeom prst="rect">
            <a:avLst/>
          </a:prstGeom>
        </p:spPr>
        <p:txBody>
          <a:bodyPr/>
          <a:lstStyle/>
          <a:p>
            <a:endParaRPr lang="zh-CN" altLang="en-US"/>
          </a:p>
        </p:txBody>
      </p:sp>
      <p:sp>
        <p:nvSpPr>
          <p:cNvPr id="36" name="文本占位符 11"/>
          <p:cNvSpPr>
            <a:spLocks noGrp="1"/>
          </p:cNvSpPr>
          <p:nvPr>
            <p:ph type="body" sz="quarter" idx="18"/>
          </p:nvPr>
        </p:nvSpPr>
        <p:spPr>
          <a:xfrm>
            <a:off x="576984" y="1128534"/>
            <a:ext cx="2060187" cy="203052"/>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37" name="文本占位符 11"/>
          <p:cNvSpPr>
            <a:spLocks noGrp="1"/>
          </p:cNvSpPr>
          <p:nvPr>
            <p:ph type="body" sz="quarter" idx="19"/>
          </p:nvPr>
        </p:nvSpPr>
        <p:spPr>
          <a:xfrm>
            <a:off x="590405" y="1421004"/>
            <a:ext cx="5953761" cy="716824"/>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
        <p:nvSpPr>
          <p:cNvPr id="38" name="文本占位符 11"/>
          <p:cNvSpPr>
            <a:spLocks noGrp="1"/>
          </p:cNvSpPr>
          <p:nvPr>
            <p:ph type="body" sz="quarter" idx="20"/>
          </p:nvPr>
        </p:nvSpPr>
        <p:spPr>
          <a:xfrm>
            <a:off x="1196069" y="2410952"/>
            <a:ext cx="2060187" cy="203052"/>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39" name="文本占位符 11"/>
          <p:cNvSpPr>
            <a:spLocks noGrp="1"/>
          </p:cNvSpPr>
          <p:nvPr>
            <p:ph type="body" sz="quarter" idx="21"/>
          </p:nvPr>
        </p:nvSpPr>
        <p:spPr>
          <a:xfrm>
            <a:off x="1209488" y="2703420"/>
            <a:ext cx="5376959" cy="716824"/>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
        <p:nvSpPr>
          <p:cNvPr id="40" name="文本占位符 11"/>
          <p:cNvSpPr>
            <a:spLocks noGrp="1"/>
          </p:cNvSpPr>
          <p:nvPr>
            <p:ph type="body" sz="quarter" idx="22"/>
          </p:nvPr>
        </p:nvSpPr>
        <p:spPr>
          <a:xfrm>
            <a:off x="1787501" y="3670471"/>
            <a:ext cx="2060187" cy="203052"/>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41" name="文本占位符 11"/>
          <p:cNvSpPr>
            <a:spLocks noGrp="1"/>
          </p:cNvSpPr>
          <p:nvPr>
            <p:ph type="body" sz="quarter" idx="23"/>
          </p:nvPr>
        </p:nvSpPr>
        <p:spPr>
          <a:xfrm>
            <a:off x="1800914" y="3962940"/>
            <a:ext cx="5362316" cy="716824"/>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6_空白">
    <p:bg>
      <p:bgPr>
        <a:solidFill>
          <a:srgbClr val="D3E6EC"/>
        </a:solidFill>
        <a:effectLst/>
      </p:bgPr>
    </p:bg>
    <p:spTree>
      <p:nvGrpSpPr>
        <p:cNvPr id="1" name=""/>
        <p:cNvGrpSpPr/>
        <p:nvPr/>
      </p:nvGrpSpPr>
      <p:grpSpPr>
        <a:xfrm>
          <a:off x="0" y="0"/>
          <a:ext cx="0" cy="0"/>
          <a:chOff x="0" y="0"/>
          <a:chExt cx="0" cy="0"/>
        </a:xfrm>
      </p:grpSpPr>
      <p:cxnSp>
        <p:nvCxnSpPr>
          <p:cNvPr id="4" name="直接连接符 3"/>
          <p:cNvCxnSpPr/>
          <p:nvPr userDrawn="1"/>
        </p:nvCxnSpPr>
        <p:spPr>
          <a:xfrm>
            <a:off x="-221226" y="2571750"/>
            <a:ext cx="9800303" cy="0"/>
          </a:xfrm>
          <a:prstGeom prst="line">
            <a:avLst/>
          </a:prstGeom>
          <a:ln>
            <a:solidFill>
              <a:srgbClr val="497E84"/>
            </a:solidFill>
          </a:ln>
        </p:spPr>
        <p:style>
          <a:lnRef idx="1">
            <a:schemeClr val="accent1"/>
          </a:lnRef>
          <a:fillRef idx="0">
            <a:schemeClr val="accent1"/>
          </a:fillRef>
          <a:effectRef idx="0">
            <a:schemeClr val="accent1"/>
          </a:effectRef>
          <a:fontRef idx="minor">
            <a:schemeClr val="tx1"/>
          </a:fontRef>
        </p:style>
      </p:cxnSp>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sp>
        <p:nvSpPr>
          <p:cNvPr id="12" name="图片占位符 11"/>
          <p:cNvSpPr>
            <a:spLocks noGrp="1"/>
          </p:cNvSpPr>
          <p:nvPr>
            <p:ph type="pic" sz="quarter" idx="14"/>
          </p:nvPr>
        </p:nvSpPr>
        <p:spPr>
          <a:xfrm>
            <a:off x="1266831" y="1310703"/>
            <a:ext cx="766763" cy="766763"/>
          </a:xfrm>
          <a:prstGeom prst="rect">
            <a:avLst/>
          </a:prstGeom>
        </p:spPr>
        <p:txBody>
          <a:bodyPr/>
          <a:lstStyle/>
          <a:p>
            <a:endParaRPr lang="zh-CN" altLang="en-US"/>
          </a:p>
        </p:txBody>
      </p:sp>
      <p:sp>
        <p:nvSpPr>
          <p:cNvPr id="29" name="图片占位符 11"/>
          <p:cNvSpPr>
            <a:spLocks noGrp="1"/>
          </p:cNvSpPr>
          <p:nvPr>
            <p:ph type="pic" sz="quarter" idx="15"/>
          </p:nvPr>
        </p:nvSpPr>
        <p:spPr>
          <a:xfrm>
            <a:off x="3217760" y="1310703"/>
            <a:ext cx="766763" cy="766763"/>
          </a:xfrm>
          <a:prstGeom prst="rect">
            <a:avLst/>
          </a:prstGeom>
        </p:spPr>
        <p:txBody>
          <a:bodyPr/>
          <a:lstStyle/>
          <a:p>
            <a:endParaRPr lang="zh-CN" altLang="en-US"/>
          </a:p>
        </p:txBody>
      </p:sp>
      <p:sp>
        <p:nvSpPr>
          <p:cNvPr id="31" name="图片占位符 11"/>
          <p:cNvSpPr>
            <a:spLocks noGrp="1"/>
          </p:cNvSpPr>
          <p:nvPr>
            <p:ph type="pic" sz="quarter" idx="16"/>
          </p:nvPr>
        </p:nvSpPr>
        <p:spPr>
          <a:xfrm>
            <a:off x="5168690" y="1310703"/>
            <a:ext cx="766763" cy="766763"/>
          </a:xfrm>
          <a:prstGeom prst="rect">
            <a:avLst/>
          </a:prstGeom>
        </p:spPr>
        <p:txBody>
          <a:bodyPr/>
          <a:lstStyle/>
          <a:p>
            <a:endParaRPr lang="zh-CN" altLang="en-US"/>
          </a:p>
        </p:txBody>
      </p:sp>
      <p:sp>
        <p:nvSpPr>
          <p:cNvPr id="32" name="图片占位符 11"/>
          <p:cNvSpPr>
            <a:spLocks noGrp="1"/>
          </p:cNvSpPr>
          <p:nvPr>
            <p:ph type="pic" sz="quarter" idx="17"/>
          </p:nvPr>
        </p:nvSpPr>
        <p:spPr>
          <a:xfrm>
            <a:off x="7119618" y="1310703"/>
            <a:ext cx="766763" cy="766763"/>
          </a:xfrm>
          <a:prstGeom prst="rect">
            <a:avLst/>
          </a:prstGeom>
        </p:spPr>
        <p:txBody>
          <a:bodyPr/>
          <a:lstStyle/>
          <a:p>
            <a:endParaRPr lang="zh-CN" altLang="en-US"/>
          </a:p>
        </p:txBody>
      </p:sp>
      <p:sp>
        <p:nvSpPr>
          <p:cNvPr id="33" name="椭圆 32"/>
          <p:cNvSpPr/>
          <p:nvPr userDrawn="1"/>
        </p:nvSpPr>
        <p:spPr>
          <a:xfrm>
            <a:off x="1554347" y="2475888"/>
            <a:ext cx="191729" cy="191729"/>
          </a:xfrm>
          <a:prstGeom prst="ellipse">
            <a:avLst/>
          </a:prstGeom>
          <a:solidFill>
            <a:srgbClr val="0E3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椭圆 33"/>
          <p:cNvSpPr/>
          <p:nvPr userDrawn="1"/>
        </p:nvSpPr>
        <p:spPr>
          <a:xfrm>
            <a:off x="3505277" y="2475888"/>
            <a:ext cx="191729" cy="191729"/>
          </a:xfrm>
          <a:prstGeom prst="ellipse">
            <a:avLst/>
          </a:prstGeom>
          <a:solidFill>
            <a:srgbClr val="0E3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椭圆 41"/>
          <p:cNvSpPr/>
          <p:nvPr userDrawn="1"/>
        </p:nvSpPr>
        <p:spPr>
          <a:xfrm>
            <a:off x="5456206" y="2475888"/>
            <a:ext cx="191729" cy="191729"/>
          </a:xfrm>
          <a:prstGeom prst="ellipse">
            <a:avLst/>
          </a:prstGeom>
          <a:solidFill>
            <a:srgbClr val="497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椭圆 42"/>
          <p:cNvSpPr/>
          <p:nvPr userDrawn="1"/>
        </p:nvSpPr>
        <p:spPr>
          <a:xfrm>
            <a:off x="7407135" y="2475888"/>
            <a:ext cx="191729" cy="191729"/>
          </a:xfrm>
          <a:prstGeom prst="ellipse">
            <a:avLst/>
          </a:prstGeom>
          <a:solidFill>
            <a:srgbClr val="0E3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文本占位符 11"/>
          <p:cNvSpPr>
            <a:spLocks noGrp="1"/>
          </p:cNvSpPr>
          <p:nvPr>
            <p:ph type="body" sz="quarter" idx="18"/>
          </p:nvPr>
        </p:nvSpPr>
        <p:spPr>
          <a:xfrm>
            <a:off x="914129" y="2768693"/>
            <a:ext cx="1472154"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45" name="文本占位符 11"/>
          <p:cNvSpPr>
            <a:spLocks noGrp="1"/>
          </p:cNvSpPr>
          <p:nvPr>
            <p:ph type="body" sz="quarter" idx="19"/>
          </p:nvPr>
        </p:nvSpPr>
        <p:spPr>
          <a:xfrm>
            <a:off x="888590" y="3230707"/>
            <a:ext cx="1482014" cy="1468562"/>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50" name="文本占位符 11"/>
          <p:cNvSpPr>
            <a:spLocks noGrp="1"/>
          </p:cNvSpPr>
          <p:nvPr>
            <p:ph type="body" sz="quarter" idx="20"/>
          </p:nvPr>
        </p:nvSpPr>
        <p:spPr>
          <a:xfrm>
            <a:off x="2865058" y="2770307"/>
            <a:ext cx="1472154"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51" name="文本占位符 11"/>
          <p:cNvSpPr>
            <a:spLocks noGrp="1"/>
          </p:cNvSpPr>
          <p:nvPr>
            <p:ph type="body" sz="quarter" idx="21"/>
          </p:nvPr>
        </p:nvSpPr>
        <p:spPr>
          <a:xfrm>
            <a:off x="4833686" y="2771921"/>
            <a:ext cx="1472154"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52" name="文本占位符 11"/>
          <p:cNvSpPr>
            <a:spLocks noGrp="1"/>
          </p:cNvSpPr>
          <p:nvPr>
            <p:ph type="body" sz="quarter" idx="22"/>
          </p:nvPr>
        </p:nvSpPr>
        <p:spPr>
          <a:xfrm>
            <a:off x="6766916" y="2773535"/>
            <a:ext cx="1472154" cy="342900"/>
          </a:xfrm>
          <a:prstGeom prst="rect">
            <a:avLst/>
          </a:prstGeom>
        </p:spPr>
        <p:txBody>
          <a:bodyPr/>
          <a:lstStyle>
            <a:lvl1pPr marL="0" indent="0" algn="ctr">
              <a:buNone/>
              <a:defRPr sz="1200" b="1">
                <a:solidFill>
                  <a:srgbClr val="0E394B"/>
                </a:solidFill>
              </a:defRPr>
            </a:lvl1pPr>
          </a:lstStyle>
          <a:p>
            <a:pPr lvl="0"/>
            <a:r>
              <a:rPr lang="zh-CN" altLang="en-US" dirty="0"/>
              <a:t>单击此处编辑母版文本样式</a:t>
            </a:r>
          </a:p>
        </p:txBody>
      </p:sp>
      <p:sp>
        <p:nvSpPr>
          <p:cNvPr id="53" name="文本占位符 11"/>
          <p:cNvSpPr>
            <a:spLocks noGrp="1"/>
          </p:cNvSpPr>
          <p:nvPr>
            <p:ph type="body" sz="quarter" idx="23"/>
          </p:nvPr>
        </p:nvSpPr>
        <p:spPr>
          <a:xfrm>
            <a:off x="2865058" y="3215902"/>
            <a:ext cx="1482014" cy="1468562"/>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54" name="文本占位符 11"/>
          <p:cNvSpPr>
            <a:spLocks noGrp="1"/>
          </p:cNvSpPr>
          <p:nvPr>
            <p:ph type="body" sz="quarter" idx="24"/>
          </p:nvPr>
        </p:nvSpPr>
        <p:spPr>
          <a:xfrm>
            <a:off x="4828757" y="3201094"/>
            <a:ext cx="1482014" cy="1468562"/>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
        <p:nvSpPr>
          <p:cNvPr id="55" name="文本占位符 11"/>
          <p:cNvSpPr>
            <a:spLocks noGrp="1"/>
          </p:cNvSpPr>
          <p:nvPr>
            <p:ph type="body" sz="quarter" idx="25"/>
          </p:nvPr>
        </p:nvSpPr>
        <p:spPr>
          <a:xfrm>
            <a:off x="6766916" y="3186289"/>
            <a:ext cx="1482014" cy="1468562"/>
          </a:xfrm>
          <a:prstGeom prst="rect">
            <a:avLst/>
          </a:prstGeom>
        </p:spPr>
        <p:txBody>
          <a:bodyPr/>
          <a:lstStyle>
            <a:lvl1pPr marL="0" indent="0" algn="ctr">
              <a:buNone/>
              <a:defRPr sz="900" b="0">
                <a:solidFill>
                  <a:srgbClr val="376170"/>
                </a:solidFill>
              </a:defRPr>
            </a:lvl1pPr>
          </a:lstStyle>
          <a:p>
            <a:pPr lvl="0"/>
            <a:r>
              <a:rPr lang="zh-CN" altLang="en-US" dirty="0"/>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空白">
    <p:bg>
      <p:bgPr>
        <a:solidFill>
          <a:srgbClr val="D3E6EC"/>
        </a:solidFill>
        <a:effectLst/>
      </p:bgPr>
    </p:bg>
    <p:spTree>
      <p:nvGrpSpPr>
        <p:cNvPr id="1" name=""/>
        <p:cNvGrpSpPr/>
        <p:nvPr/>
      </p:nvGrpSpPr>
      <p:grpSpPr>
        <a:xfrm>
          <a:off x="0" y="0"/>
          <a:ext cx="0" cy="0"/>
          <a:chOff x="0" y="0"/>
          <a:chExt cx="0" cy="0"/>
        </a:xfrm>
      </p:grpSpPr>
      <p:pic>
        <p:nvPicPr>
          <p:cNvPr id="13" name="图片 1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6865488">
            <a:off x="3337256" y="-1569574"/>
            <a:ext cx="2469496" cy="2469496"/>
          </a:xfrm>
          <a:prstGeom prst="rect">
            <a:avLst/>
          </a:prstGeom>
        </p:spPr>
      </p:pic>
      <p:sp>
        <p:nvSpPr>
          <p:cNvPr id="17" name="文本占位符 11"/>
          <p:cNvSpPr>
            <a:spLocks noGrp="1"/>
          </p:cNvSpPr>
          <p:nvPr>
            <p:ph type="body" sz="quarter" idx="13" hasCustomPrompt="1"/>
          </p:nvPr>
        </p:nvSpPr>
        <p:spPr>
          <a:xfrm>
            <a:off x="3123611" y="312227"/>
            <a:ext cx="2896791" cy="342900"/>
          </a:xfrm>
          <a:prstGeom prst="rect">
            <a:avLst/>
          </a:prstGeom>
        </p:spPr>
        <p:txBody>
          <a:bodyPr/>
          <a:lstStyle>
            <a:lvl1pPr marL="0" indent="0" algn="ctr">
              <a:buNone/>
              <a:defRPr sz="1500" b="1">
                <a:solidFill>
                  <a:srgbClr val="0E394B"/>
                </a:solidFill>
              </a:defRPr>
            </a:lvl1pPr>
          </a:lstStyle>
          <a:p>
            <a:pPr lvl="0"/>
            <a:r>
              <a:rPr lang="zh-CN" altLang="en-US" dirty="0"/>
              <a:t>请输入您的标题</a:t>
            </a:r>
          </a:p>
        </p:txBody>
      </p:sp>
      <p:sp>
        <p:nvSpPr>
          <p:cNvPr id="26" name="矩形 25"/>
          <p:cNvSpPr/>
          <p:nvPr userDrawn="1"/>
        </p:nvSpPr>
        <p:spPr>
          <a:xfrm>
            <a:off x="521500" y="2422547"/>
            <a:ext cx="8101013" cy="693611"/>
          </a:xfrm>
          <a:prstGeom prst="rect">
            <a:avLst/>
          </a:prstGeom>
          <a:noFill/>
          <a:ln>
            <a:solidFill>
              <a:srgbClr val="0E39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41" name="直接箭头连接符 40"/>
          <p:cNvCxnSpPr/>
          <p:nvPr userDrawn="1"/>
        </p:nvCxnSpPr>
        <p:spPr>
          <a:xfrm flipV="1">
            <a:off x="1268442" y="988020"/>
            <a:ext cx="0" cy="1434527"/>
          </a:xfrm>
          <a:prstGeom prst="straightConnector1">
            <a:avLst/>
          </a:prstGeom>
          <a:ln>
            <a:solidFill>
              <a:srgbClr val="0E394B"/>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userDrawn="1"/>
        </p:nvCxnSpPr>
        <p:spPr>
          <a:xfrm flipV="1">
            <a:off x="5240520" y="988019"/>
            <a:ext cx="0" cy="1434527"/>
          </a:xfrm>
          <a:prstGeom prst="straightConnector1">
            <a:avLst/>
          </a:prstGeom>
          <a:ln>
            <a:solidFill>
              <a:srgbClr val="0E394B"/>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userDrawn="1"/>
        </p:nvCxnSpPr>
        <p:spPr>
          <a:xfrm>
            <a:off x="3752255" y="3116158"/>
            <a:ext cx="0" cy="1434527"/>
          </a:xfrm>
          <a:prstGeom prst="straightConnector1">
            <a:avLst/>
          </a:prstGeom>
          <a:ln>
            <a:solidFill>
              <a:srgbClr val="0E394B"/>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userDrawn="1"/>
        </p:nvCxnSpPr>
        <p:spPr>
          <a:xfrm>
            <a:off x="7893844" y="3116158"/>
            <a:ext cx="0" cy="1434527"/>
          </a:xfrm>
          <a:prstGeom prst="straightConnector1">
            <a:avLst/>
          </a:prstGeom>
          <a:ln>
            <a:solidFill>
              <a:srgbClr val="0E394B"/>
            </a:solidFill>
            <a:tailEnd type="triangle"/>
          </a:ln>
        </p:spPr>
        <p:style>
          <a:lnRef idx="1">
            <a:schemeClr val="accent1"/>
          </a:lnRef>
          <a:fillRef idx="0">
            <a:schemeClr val="accent1"/>
          </a:fillRef>
          <a:effectRef idx="0">
            <a:schemeClr val="accent1"/>
          </a:effectRef>
          <a:fontRef idx="minor">
            <a:schemeClr val="tx1"/>
          </a:fontRef>
        </p:style>
      </p:cxnSp>
      <p:sp>
        <p:nvSpPr>
          <p:cNvPr id="59" name="文本占位符 11"/>
          <p:cNvSpPr>
            <a:spLocks noGrp="1"/>
          </p:cNvSpPr>
          <p:nvPr>
            <p:ph type="body" sz="quarter" idx="18"/>
          </p:nvPr>
        </p:nvSpPr>
        <p:spPr>
          <a:xfrm>
            <a:off x="1507337" y="1117767"/>
            <a:ext cx="2060187" cy="203052"/>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60" name="文本占位符 11"/>
          <p:cNvSpPr>
            <a:spLocks noGrp="1"/>
          </p:cNvSpPr>
          <p:nvPr>
            <p:ph type="body" sz="quarter" idx="19"/>
          </p:nvPr>
        </p:nvSpPr>
        <p:spPr>
          <a:xfrm>
            <a:off x="1520750" y="1410236"/>
            <a:ext cx="2346784" cy="928965"/>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
        <p:nvSpPr>
          <p:cNvPr id="64" name="文本占位符 11"/>
          <p:cNvSpPr>
            <a:spLocks noGrp="1"/>
          </p:cNvSpPr>
          <p:nvPr>
            <p:ph type="body" sz="quarter" idx="20"/>
          </p:nvPr>
        </p:nvSpPr>
        <p:spPr>
          <a:xfrm>
            <a:off x="1571120" y="3258709"/>
            <a:ext cx="2060187" cy="203052"/>
          </a:xfrm>
          <a:prstGeom prst="rect">
            <a:avLst/>
          </a:prstGeom>
        </p:spPr>
        <p:txBody>
          <a:bodyPr/>
          <a:lstStyle>
            <a:lvl1pPr marL="0" indent="0" algn="r">
              <a:buNone/>
              <a:defRPr sz="1200" b="1">
                <a:solidFill>
                  <a:srgbClr val="0E394B"/>
                </a:solidFill>
              </a:defRPr>
            </a:lvl1pPr>
          </a:lstStyle>
          <a:p>
            <a:pPr lvl="0"/>
            <a:r>
              <a:rPr lang="zh-CN" altLang="en-US" dirty="0"/>
              <a:t>单击此处编辑母版文本样式</a:t>
            </a:r>
          </a:p>
        </p:txBody>
      </p:sp>
      <p:sp>
        <p:nvSpPr>
          <p:cNvPr id="65" name="文本占位符 11"/>
          <p:cNvSpPr>
            <a:spLocks noGrp="1"/>
          </p:cNvSpPr>
          <p:nvPr>
            <p:ph type="body" sz="quarter" idx="21"/>
          </p:nvPr>
        </p:nvSpPr>
        <p:spPr>
          <a:xfrm>
            <a:off x="1284517" y="3551177"/>
            <a:ext cx="2346784" cy="928965"/>
          </a:xfrm>
          <a:prstGeom prst="rect">
            <a:avLst/>
          </a:prstGeom>
        </p:spPr>
        <p:txBody>
          <a:bodyPr/>
          <a:lstStyle>
            <a:lvl1pPr marL="0" indent="0" algn="r">
              <a:buNone/>
              <a:defRPr sz="900" b="0">
                <a:solidFill>
                  <a:srgbClr val="376170"/>
                </a:solidFill>
              </a:defRPr>
            </a:lvl1pPr>
          </a:lstStyle>
          <a:p>
            <a:pPr lvl="0"/>
            <a:r>
              <a:rPr lang="zh-CN" altLang="en-US" dirty="0"/>
              <a:t>单击此处编辑母版文本样式</a:t>
            </a:r>
          </a:p>
        </p:txBody>
      </p:sp>
      <p:sp>
        <p:nvSpPr>
          <p:cNvPr id="66" name="文本占位符 11"/>
          <p:cNvSpPr>
            <a:spLocks noGrp="1"/>
          </p:cNvSpPr>
          <p:nvPr>
            <p:ph type="body" sz="quarter" idx="22"/>
          </p:nvPr>
        </p:nvSpPr>
        <p:spPr>
          <a:xfrm>
            <a:off x="5538846" y="1117767"/>
            <a:ext cx="2060187" cy="203052"/>
          </a:xfrm>
          <a:prstGeom prst="rect">
            <a:avLst/>
          </a:prstGeom>
        </p:spPr>
        <p:txBody>
          <a:bodyPr/>
          <a:lstStyle>
            <a:lvl1pPr marL="0" indent="0" algn="l">
              <a:buNone/>
              <a:defRPr sz="1200" b="1">
                <a:solidFill>
                  <a:srgbClr val="0E394B"/>
                </a:solidFill>
              </a:defRPr>
            </a:lvl1pPr>
          </a:lstStyle>
          <a:p>
            <a:pPr lvl="0"/>
            <a:r>
              <a:rPr lang="zh-CN" altLang="en-US" dirty="0"/>
              <a:t>单击此处编辑母版文本样式</a:t>
            </a:r>
          </a:p>
        </p:txBody>
      </p:sp>
      <p:sp>
        <p:nvSpPr>
          <p:cNvPr id="67" name="文本占位符 11"/>
          <p:cNvSpPr>
            <a:spLocks noGrp="1"/>
          </p:cNvSpPr>
          <p:nvPr>
            <p:ph type="body" sz="quarter" idx="23"/>
          </p:nvPr>
        </p:nvSpPr>
        <p:spPr>
          <a:xfrm>
            <a:off x="5552259" y="1410236"/>
            <a:ext cx="2346784" cy="928965"/>
          </a:xfrm>
          <a:prstGeom prst="rect">
            <a:avLst/>
          </a:prstGeom>
        </p:spPr>
        <p:txBody>
          <a:bodyPr/>
          <a:lstStyle>
            <a:lvl1pPr marL="0" indent="0" algn="l">
              <a:buNone/>
              <a:defRPr sz="900" b="0">
                <a:solidFill>
                  <a:srgbClr val="376170"/>
                </a:solidFill>
              </a:defRPr>
            </a:lvl1pPr>
          </a:lstStyle>
          <a:p>
            <a:pPr lvl="0"/>
            <a:r>
              <a:rPr lang="zh-CN" altLang="en-US" dirty="0"/>
              <a:t>单击此处编辑母版文本样式</a:t>
            </a:r>
          </a:p>
        </p:txBody>
      </p:sp>
      <p:sp>
        <p:nvSpPr>
          <p:cNvPr id="68" name="文本占位符 11"/>
          <p:cNvSpPr>
            <a:spLocks noGrp="1"/>
          </p:cNvSpPr>
          <p:nvPr>
            <p:ph type="body" sz="quarter" idx="24"/>
          </p:nvPr>
        </p:nvSpPr>
        <p:spPr>
          <a:xfrm>
            <a:off x="5725722" y="3258709"/>
            <a:ext cx="2060187" cy="203052"/>
          </a:xfrm>
          <a:prstGeom prst="rect">
            <a:avLst/>
          </a:prstGeom>
        </p:spPr>
        <p:txBody>
          <a:bodyPr/>
          <a:lstStyle>
            <a:lvl1pPr marL="0" indent="0" algn="r">
              <a:buNone/>
              <a:defRPr sz="1200" b="1">
                <a:solidFill>
                  <a:srgbClr val="0E394B"/>
                </a:solidFill>
              </a:defRPr>
            </a:lvl1pPr>
          </a:lstStyle>
          <a:p>
            <a:pPr lvl="0"/>
            <a:r>
              <a:rPr lang="zh-CN" altLang="en-US" dirty="0"/>
              <a:t>单击此处编辑母版文本样式</a:t>
            </a:r>
          </a:p>
        </p:txBody>
      </p:sp>
      <p:sp>
        <p:nvSpPr>
          <p:cNvPr id="69" name="文本占位符 11"/>
          <p:cNvSpPr>
            <a:spLocks noGrp="1"/>
          </p:cNvSpPr>
          <p:nvPr>
            <p:ph type="body" sz="quarter" idx="25"/>
          </p:nvPr>
        </p:nvSpPr>
        <p:spPr>
          <a:xfrm>
            <a:off x="5439119" y="3551177"/>
            <a:ext cx="2346784" cy="928965"/>
          </a:xfrm>
          <a:prstGeom prst="rect">
            <a:avLst/>
          </a:prstGeom>
        </p:spPr>
        <p:txBody>
          <a:bodyPr/>
          <a:lstStyle>
            <a:lvl1pPr marL="0" indent="0" algn="r">
              <a:buNone/>
              <a:defRPr sz="900" b="0">
                <a:solidFill>
                  <a:srgbClr val="376170"/>
                </a:solidFill>
              </a:defRPr>
            </a:lvl1pPr>
          </a:lstStyle>
          <a:p>
            <a:pPr lvl="0"/>
            <a:r>
              <a:rPr lang="zh-CN" altLang="en-US" dirty="0"/>
              <a:t>单击此处编辑母版文本样式</a:t>
            </a:r>
          </a:p>
        </p:txBody>
      </p:sp>
      <p:sp>
        <p:nvSpPr>
          <p:cNvPr id="70" name="文本占位符 11"/>
          <p:cNvSpPr>
            <a:spLocks noGrp="1"/>
          </p:cNvSpPr>
          <p:nvPr>
            <p:ph type="body" sz="quarter" idx="26" hasCustomPrompt="1"/>
          </p:nvPr>
        </p:nvSpPr>
        <p:spPr>
          <a:xfrm>
            <a:off x="2519745" y="2597900"/>
            <a:ext cx="4104510" cy="342900"/>
          </a:xfrm>
          <a:prstGeom prst="rect">
            <a:avLst/>
          </a:prstGeom>
        </p:spPr>
        <p:txBody>
          <a:bodyPr/>
          <a:lstStyle>
            <a:lvl1pPr marL="0" indent="0" algn="ctr">
              <a:buNone/>
              <a:defRPr sz="1800" b="1">
                <a:solidFill>
                  <a:srgbClr val="0E394B"/>
                </a:solidFill>
              </a:defRPr>
            </a:lvl1pPr>
          </a:lstStyle>
          <a:p>
            <a:pPr lvl="0"/>
            <a:r>
              <a:rPr lang="zh-CN" altLang="en-US" dirty="0"/>
              <a:t>请输入您的标题</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FFFFFF"/>
              </a:solidFill>
            </a:endParaRPr>
          </a:p>
        </p:txBody>
      </p:sp>
      <p:sp>
        <p:nvSpPr>
          <p:cNvPr id="3" name="灯片编号占位符 2"/>
          <p:cNvSpPr>
            <a:spLocks noGrp="1"/>
          </p:cNvSpPr>
          <p:nvPr>
            <p:ph type="sldNum" sz="quarter" idx="11"/>
          </p:nvPr>
        </p:nvSpPr>
        <p:spPr/>
        <p:txBody>
          <a:bodyPr/>
          <a:lstStyle>
            <a:lvl1pPr>
              <a:defRPr/>
            </a:lvl1pPr>
          </a:lstStyle>
          <a:p>
            <a:fld id="{D009A4C0-2A71-4CFF-9053-D8FEEFDE216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58205526"/>
      </p:ext>
    </p:extLst>
  </p:cSld>
  <p:clrMapOvr>
    <a:masterClrMapping/>
  </p:clrMapOvr>
  <p:transition spd="med">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1"/>
            <a:ext cx="7772400" cy="1102519"/>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BE2E81-ACB9-4A3E-9FFA-15AA70951904}"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8410744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260841-094D-40D0-989B-BDEF824FB1ED}"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8707015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36B93CA-5641-41B9-95D5-AAC8C0CBE70A}"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4355566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485900"/>
            <a:ext cx="3810000" cy="3086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485900"/>
            <a:ext cx="3810000" cy="3086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C0CC504-C6A8-4527-AE51-C68E838B4BE8}"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8362181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F9695D17-C80A-4121-BA46-664AB43ECE1B}"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4153226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90958E13-992D-4F83-91CC-E46495764462}"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2029745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F0667BB2-BBB2-4833-9B32-A396C3E1F87D}"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5905212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5" y="204787"/>
            <a:ext cx="3008313" cy="871538"/>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9A2A7FF-42AC-45A5-B2E2-74B014B3E612}"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2992991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66B513-B3AD-4F06-8B36-7767B105B1EC}"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40439285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99B80F8-8364-49D4-9D06-75D442E153DC}"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3691610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41148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457200"/>
            <a:ext cx="5676900" cy="41148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1422889-D307-4916-81B2-3E6976E83E27}"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800031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485900"/>
            <a:ext cx="3810000" cy="30861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485900"/>
            <a:ext cx="3810000" cy="30861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4B0A93A-2FCE-4E89-AECF-331174451328}"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4756962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noProof="1"/>
              <a:t>单击此处编辑母版标题样式</a:t>
            </a:r>
          </a:p>
        </p:txBody>
      </p:sp>
      <p:sp>
        <p:nvSpPr>
          <p:cNvPr id="3" name="内容占位符 2"/>
          <p:cNvSpPr>
            <a:spLocks noGrp="1"/>
          </p:cNvSpPr>
          <p:nvPr>
            <p:ph sz="half" idx="1"/>
          </p:nvPr>
        </p:nvSpPr>
        <p:spPr>
          <a:xfrm>
            <a:off x="685800" y="1485900"/>
            <a:ext cx="3810000" cy="30861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485900"/>
            <a:ext cx="3810000" cy="14859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086100"/>
            <a:ext cx="3810000" cy="14859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2C6D5A7A-CBCC-4866-8E4E-56439433BD4D}"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3959528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57200"/>
            <a:ext cx="7772400" cy="857250"/>
          </a:xfrm>
        </p:spPr>
        <p:txBody>
          <a:bodyPr/>
          <a:lstStyle/>
          <a:p>
            <a:r>
              <a:rPr lang="zh-CN" altLang="en-US" noProof="1"/>
              <a:t>单击此处编辑母版标题样式</a:t>
            </a:r>
          </a:p>
        </p:txBody>
      </p:sp>
      <p:sp>
        <p:nvSpPr>
          <p:cNvPr id="3" name="内容占位符 2"/>
          <p:cNvSpPr>
            <a:spLocks noGrp="1"/>
          </p:cNvSpPr>
          <p:nvPr>
            <p:ph sz="quarter" idx="1"/>
          </p:nvPr>
        </p:nvSpPr>
        <p:spPr>
          <a:xfrm>
            <a:off x="685800" y="1485900"/>
            <a:ext cx="3810000" cy="14859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485900"/>
            <a:ext cx="3810000" cy="14859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685800" y="3086100"/>
            <a:ext cx="3810000" cy="14859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4648200" y="3086100"/>
            <a:ext cx="3810000" cy="14859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8B68265F-BC17-4816-B93E-C89B76E76956}"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4386003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57200"/>
            <a:ext cx="77724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D7761A-6D5D-4F32-9BEF-BF9F52042215}"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4458880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noProof="1"/>
              <a:t>单击此处编辑母版标题样式</a:t>
            </a:r>
          </a:p>
        </p:txBody>
      </p:sp>
      <p:sp>
        <p:nvSpPr>
          <p:cNvPr id="3" name="图表占位符 2"/>
          <p:cNvSpPr>
            <a:spLocks noGrp="1"/>
          </p:cNvSpPr>
          <p:nvPr>
            <p:ph type="chart" idx="1"/>
          </p:nvPr>
        </p:nvSpPr>
        <p:spPr>
          <a:xfrm>
            <a:off x="685800" y="1485900"/>
            <a:ext cx="7772400" cy="3086100"/>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FFE8972-0BE2-4F0F-B11E-975E14B35601}"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728136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4.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23000">
              <a:srgbClr val="FFFFCC"/>
            </a:gs>
            <a:gs pos="72000">
              <a:srgbClr val="80C066">
                <a:alpha val="100000"/>
              </a:srgbClr>
            </a:gs>
            <a:gs pos="26000">
              <a:srgbClr val="FFFFCC">
                <a:alpha val="100000"/>
              </a:srgbClr>
            </a:gs>
            <a:gs pos="98000">
              <a:srgbClr val="008000">
                <a:alpha val="70000"/>
              </a:srgbClr>
            </a:gs>
          </a:gsLst>
          <a:lin ang="2700000" scaled="0"/>
        </a:gra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b="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87" name="Rectangle 3"/>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Arial Black" panose="020B0A04020102020204" pitchFamily="34" charset="0"/>
                <a:ea typeface="宋体" panose="02010600030101010101" pitchFamily="2" charset="-122"/>
              </a:defRPr>
            </a:lvl1pPr>
          </a:lstStyle>
          <a:p>
            <a:pPr lvl="0" eaLnBrk="1" fontAlgn="base" hangingPunct="1">
              <a:buNone/>
            </a:pPr>
            <a:fld id="{9A0DB2DC-4C9A-4742-B13C-FB6460FD3503}" type="slidenum">
              <a:rPr lang="en-US" altLang="zh-CN" strike="noStrike" noProof="1" dirty="0">
                <a:latin typeface="Arial Black" panose="020B0A04020102020204" pitchFamily="34" charset="0"/>
                <a:ea typeface="宋体" panose="02010600030101010101" pitchFamily="2" charset="-122"/>
                <a:cs typeface="+mn-cs"/>
              </a:rPr>
              <a:t>‹#›</a:t>
            </a:fld>
            <a:endParaRPr lang="en-US" altLang="zh-CN" strike="noStrike" noProof="1"/>
          </a:p>
        </p:txBody>
      </p:sp>
      <p:sp>
        <p:nvSpPr>
          <p:cNvPr id="1028" name="Rectangle 14"/>
          <p:cNvSpPr>
            <a:spLocks noGrp="1"/>
          </p:cNvSpPr>
          <p:nvPr>
            <p:ph type="title"/>
          </p:nvPr>
        </p:nvSpPr>
        <p:spPr>
          <a:xfrm>
            <a:off x="304800" y="171450"/>
            <a:ext cx="8229600" cy="457200"/>
          </a:xfrm>
          <a:prstGeom prst="rect">
            <a:avLst/>
          </a:prstGeom>
          <a:noFill/>
          <a:ln w="9525">
            <a:noFill/>
          </a:ln>
        </p:spPr>
        <p:txBody>
          <a:bodyPr anchor="ctr" anchorCtr="0"/>
          <a:lstStyle/>
          <a:p>
            <a:pPr lvl="0"/>
            <a:r>
              <a:rPr lang="zh-CN" altLang="en-US" dirty="0"/>
              <a:t>单击此处编辑母版标题样式</a:t>
            </a:r>
          </a:p>
        </p:txBody>
      </p:sp>
      <p:sp>
        <p:nvSpPr>
          <p:cNvPr id="1029" name="Rectangle 15"/>
          <p:cNvSpPr>
            <a:spLocks noGrp="1"/>
          </p:cNvSpPr>
          <p:nvPr>
            <p:ph type="body"/>
          </p:nvPr>
        </p:nvSpPr>
        <p:spPr>
          <a:xfrm>
            <a:off x="457200" y="1485900"/>
            <a:ext cx="8229600" cy="291465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400" name="Rectangle 16"/>
          <p:cNvSpPr>
            <a:spLocks noGrp="1" noChangeArrowheads="1"/>
          </p:cNvSpPr>
          <p:nvPr>
            <p:ph type="dt" sz="half" idx="2"/>
          </p:nvPr>
        </p:nvSpPr>
        <p:spPr bwMode="auto">
          <a:xfrm>
            <a:off x="457200" y="4684714"/>
            <a:ext cx="2133600" cy="3571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3"/>
            <a:ext cx="8229600" cy="339407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6"/>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9470CCD8-3AA8-4728-B5AC-24B903C096FD}" type="datetimeFigureOut">
              <a:rPr lang="zh-CN" altLang="en-US" smtClean="0"/>
              <a:t>2025/12/31</a:t>
            </a:fld>
            <a:endParaRPr lang="zh-CN" altLang="en-US"/>
          </a:p>
        </p:txBody>
      </p:sp>
      <p:sp>
        <p:nvSpPr>
          <p:cNvPr id="5" name="页脚占位符 4"/>
          <p:cNvSpPr>
            <a:spLocks noGrp="1"/>
          </p:cNvSpPr>
          <p:nvPr>
            <p:ph type="ftr" sz="quarter" idx="3"/>
          </p:nvPr>
        </p:nvSpPr>
        <p:spPr>
          <a:xfrm>
            <a:off x="3124200" y="4767266"/>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6"/>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AF182B72-897C-4E3F-A805-715752C0897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82" r:id="rId1"/>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accent2"/>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685800" y="457200"/>
            <a:ext cx="7772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4294967295"/>
          </p:nvPr>
        </p:nvSpPr>
        <p:spPr bwMode="auto">
          <a:xfrm>
            <a:off x="685800" y="1485900"/>
            <a:ext cx="7772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4686300"/>
            <a:ext cx="1905000" cy="342900"/>
          </a:xfrm>
          <a:prstGeom prst="rect">
            <a:avLst/>
          </a:prstGeom>
          <a:noFill/>
          <a:ln w="9525">
            <a:noFill/>
            <a:miter lim="800000"/>
          </a:ln>
          <a:effectLst/>
        </p:spPr>
        <p:txBody>
          <a:bodyPr vert="horz" wrap="square" lIns="91440" tIns="45720" rIns="91440" bIns="45720" numCol="1" anchor="t" anchorCtr="0" compatLnSpc="1"/>
          <a:lstStyle>
            <a:lvl1pPr>
              <a:buFontTx/>
              <a:buNone/>
              <a:defRPr sz="1400"/>
            </a:lvl1pPr>
          </a:lstStyle>
          <a:p>
            <a:pPr>
              <a:defRPr/>
            </a:pPr>
            <a:endParaRPr lang="en-US" altLang="zh-CN" b="0">
              <a:solidFill>
                <a:srgbClr val="000000"/>
              </a:solidFill>
              <a:ea typeface="宋体" pitchFamily="2" charset="-122"/>
            </a:endParaRPr>
          </a:p>
        </p:txBody>
      </p:sp>
      <p:sp>
        <p:nvSpPr>
          <p:cNvPr id="1029" name="Rectangle 5"/>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400"/>
            </a:lvl1pPr>
          </a:lstStyle>
          <a:p>
            <a:pPr>
              <a:defRPr/>
            </a:pPr>
            <a:endParaRPr lang="en-US" altLang="zh-CN" b="0">
              <a:solidFill>
                <a:srgbClr val="000000"/>
              </a:solidFill>
              <a:ea typeface="宋体" pitchFamily="2" charset="-122"/>
            </a:endParaRPr>
          </a:p>
        </p:txBody>
      </p:sp>
      <p:sp>
        <p:nvSpPr>
          <p:cNvPr id="1030" name="Rectangle 6"/>
          <p:cNvSpPr>
            <a:spLocks noGrp="1" noChangeArrowheads="1"/>
          </p:cNvSpPr>
          <p:nvPr>
            <p:ph type="sldNum" sz="quarter" idx="4"/>
          </p:nvPr>
        </p:nvSpPr>
        <p:spPr bwMode="auto">
          <a:xfrm>
            <a:off x="6553200" y="4686300"/>
            <a:ext cx="1905000" cy="3429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a:defRPr sz="1400"/>
            </a:lvl1pPr>
          </a:lstStyle>
          <a:p>
            <a:pPr>
              <a:buFont typeface="Arial" pitchFamily="34" charset="0"/>
              <a:buNone/>
              <a:defRPr/>
            </a:pPr>
            <a:fld id="{7E180A1B-9615-43DC-9174-483CBDFE7436}" type="slidenum">
              <a:rPr lang="zh-CN" altLang="en-US" b="0">
                <a:solidFill>
                  <a:srgbClr val="000000"/>
                </a:solidFill>
                <a:ea typeface="宋体" pitchFamily="2" charset="-122"/>
              </a:rPr>
              <a:pPr>
                <a:buFont typeface="Arial" pitchFamily="34" charset="0"/>
                <a:buNone/>
                <a:defRPr/>
              </a:pPr>
              <a:t>‹#›</a:t>
            </a:fld>
            <a:endParaRPr lang="zh-CN" altLang="en-US" b="0">
              <a:solidFill>
                <a:srgbClr val="000000"/>
              </a:solidFill>
              <a:ea typeface="宋体" pitchFamily="2" charset="-122"/>
            </a:endParaRPr>
          </a:p>
        </p:txBody>
      </p:sp>
    </p:spTree>
    <p:extLst>
      <p:ext uri="{BB962C8B-B14F-4D97-AF65-F5344CB8AC3E}">
        <p14:creationId xmlns:p14="http://schemas.microsoft.com/office/powerpoint/2010/main" val="19829467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3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hyperlink" Target="&#27700;&#21644;&#27682;&#38190;.flv"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image" Target="../media/image34.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33.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hyperlink" Target="&#39281;&#21644;&#27668;&#21387;.swf"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39.wmf"/></Relationships>
</file>

<file path=ppt/slides/_rels/slide17.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3.png"/><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w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4.wmf"/><Relationship Id="rId7" Type="http://schemas.openxmlformats.org/officeDocument/2006/relationships/image" Target="../media/image46.w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45.wmf"/><Relationship Id="rId4" Type="http://schemas.openxmlformats.org/officeDocument/2006/relationships/oleObject" Target="../embeddings/oleObject8.bin"/></Relationships>
</file>

<file path=ppt/slides/_rels/slide20.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10.bin"/><Relationship Id="rId1" Type="http://schemas.openxmlformats.org/officeDocument/2006/relationships/slideLayout" Target="../slideLayouts/slideLayout7.xml"/><Relationship Id="rId5" Type="http://schemas.openxmlformats.org/officeDocument/2006/relationships/image" Target="../media/image48.wmf"/><Relationship Id="rId4" Type="http://schemas.openxmlformats.org/officeDocument/2006/relationships/oleObject" Target="../embeddings/oleObject11.bin"/></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52.jpeg"/><Relationship Id="rId5" Type="http://schemas.openxmlformats.org/officeDocument/2006/relationships/image" Target="../media/image51.wmf"/><Relationship Id="rId4" Type="http://schemas.openxmlformats.org/officeDocument/2006/relationships/oleObject" Target="../embeddings/oleObject12.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57.wmf"/><Relationship Id="rId18" Type="http://schemas.openxmlformats.org/officeDocument/2006/relationships/oleObject" Target="../embeddings/oleObject20.bin"/><Relationship Id="rId3" Type="http://schemas.openxmlformats.org/officeDocument/2006/relationships/image" Target="../media/image50.png"/><Relationship Id="rId21" Type="http://schemas.openxmlformats.org/officeDocument/2006/relationships/image" Target="../media/image61.wmf"/><Relationship Id="rId7" Type="http://schemas.openxmlformats.org/officeDocument/2006/relationships/image" Target="../media/image54.wmf"/><Relationship Id="rId12" Type="http://schemas.openxmlformats.org/officeDocument/2006/relationships/oleObject" Target="../embeddings/oleObject17.bin"/><Relationship Id="rId17" Type="http://schemas.openxmlformats.org/officeDocument/2006/relationships/image" Target="../media/image59.wmf"/><Relationship Id="rId2" Type="http://schemas.openxmlformats.org/officeDocument/2006/relationships/slideLayout" Target="../slideLayouts/slideLayout7.xml"/><Relationship Id="rId16" Type="http://schemas.openxmlformats.org/officeDocument/2006/relationships/oleObject" Target="../embeddings/oleObject19.bin"/><Relationship Id="rId20" Type="http://schemas.openxmlformats.org/officeDocument/2006/relationships/oleObject" Target="../embeddings/oleObject21.bin"/><Relationship Id="rId1" Type="http://schemas.openxmlformats.org/officeDocument/2006/relationships/tags" Target="../tags/tag3.xml"/><Relationship Id="rId6" Type="http://schemas.openxmlformats.org/officeDocument/2006/relationships/oleObject" Target="../embeddings/oleObject14.bin"/><Relationship Id="rId11" Type="http://schemas.openxmlformats.org/officeDocument/2006/relationships/image" Target="../media/image56.wmf"/><Relationship Id="rId5" Type="http://schemas.openxmlformats.org/officeDocument/2006/relationships/image" Target="../media/image53.wmf"/><Relationship Id="rId15" Type="http://schemas.openxmlformats.org/officeDocument/2006/relationships/image" Target="../media/image58.wmf"/><Relationship Id="rId23" Type="http://schemas.openxmlformats.org/officeDocument/2006/relationships/image" Target="../media/image62.wmf"/><Relationship Id="rId10" Type="http://schemas.openxmlformats.org/officeDocument/2006/relationships/oleObject" Target="../embeddings/oleObject16.bin"/><Relationship Id="rId19" Type="http://schemas.openxmlformats.org/officeDocument/2006/relationships/image" Target="../media/image60.wmf"/><Relationship Id="rId4" Type="http://schemas.openxmlformats.org/officeDocument/2006/relationships/oleObject" Target="../embeddings/oleObject13.bin"/><Relationship Id="rId9" Type="http://schemas.openxmlformats.org/officeDocument/2006/relationships/image" Target="../media/image55.wmf"/><Relationship Id="rId14" Type="http://schemas.openxmlformats.org/officeDocument/2006/relationships/oleObject" Target="../embeddings/oleObject18.bin"/><Relationship Id="rId22" Type="http://schemas.openxmlformats.org/officeDocument/2006/relationships/oleObject" Target="../embeddings/oleObject22.bin"/></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image" Target="../media/image63.wmf"/><Relationship Id="rId4" Type="http://schemas.openxmlformats.org/officeDocument/2006/relationships/oleObject" Target="../embeddings/oleObject23.bin"/></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52.jpeg"/><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image" Target="../media/image50.png"/><Relationship Id="rId1" Type="http://schemas.openxmlformats.org/officeDocument/2006/relationships/slideLayout" Target="../slideLayouts/slideLayout6.xml"/><Relationship Id="rId6" Type="http://schemas.openxmlformats.org/officeDocument/2006/relationships/image" Target="../media/image68.wmf"/><Relationship Id="rId5" Type="http://schemas.openxmlformats.org/officeDocument/2006/relationships/oleObject" Target="../embeddings/oleObject25.bin"/><Relationship Id="rId10" Type="http://schemas.openxmlformats.org/officeDocument/2006/relationships/image" Target="../media/image70.wmf"/><Relationship Id="rId4" Type="http://schemas.openxmlformats.org/officeDocument/2006/relationships/image" Target="../media/image67.wmf"/><Relationship Id="rId9" Type="http://schemas.openxmlformats.org/officeDocument/2006/relationships/oleObject" Target="../embeddings/oleObject27.bin"/></Relationships>
</file>

<file path=ppt/slides/_rels/slide2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7.xml"/><Relationship Id="rId4" Type="http://schemas.openxmlformats.org/officeDocument/2006/relationships/image" Target="../media/image73.jpeg"/></Relationships>
</file>

<file path=ppt/slides/_rels/slide29.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28.bin"/><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2.xml"/><Relationship Id="rId5" Type="http://schemas.openxmlformats.org/officeDocument/2006/relationships/image" Target="../media/image80.png"/><Relationship Id="rId4" Type="http://schemas.openxmlformats.org/officeDocument/2006/relationships/image" Target="../media/image79.png"/></Relationships>
</file>

<file path=ppt/slides/_rels/slide3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4.png"/><Relationship Id="rId7" Type="http://schemas.openxmlformats.org/officeDocument/2006/relationships/image" Target="../media/image87.png"/><Relationship Id="rId2" Type="http://schemas.openxmlformats.org/officeDocument/2006/relationships/image" Target="../media/image83.png"/><Relationship Id="rId1" Type="http://schemas.openxmlformats.org/officeDocument/2006/relationships/slideLayout" Target="../slideLayouts/slideLayout3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0.png"/><Relationship Id="rId9" Type="http://schemas.openxmlformats.org/officeDocument/2006/relationships/image" Target="../media/image8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32.xml"/><Relationship Id="rId5" Type="http://schemas.openxmlformats.org/officeDocument/2006/relationships/image" Target="../media/image95.png"/><Relationship Id="rId4" Type="http://schemas.openxmlformats.org/officeDocument/2006/relationships/image" Target="../media/image94.png"/></Relationships>
</file>

<file path=ppt/slides/_rels/slide40.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3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4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29.bin"/><Relationship Id="rId1" Type="http://schemas.openxmlformats.org/officeDocument/2006/relationships/slideLayout" Target="../slideLayouts/slideLayout2.xml"/><Relationship Id="rId5" Type="http://schemas.openxmlformats.org/officeDocument/2006/relationships/oleObject" Target="../embeddings/oleObject31.bin"/><Relationship Id="rId4" Type="http://schemas.openxmlformats.org/officeDocument/2006/relationships/oleObject" Target="../embeddings/oleObject30.bin"/></Relationships>
</file>

<file path=ppt/slides/_rels/slide49.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32.bin"/><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10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oleObject" Target="../embeddings/oleObject33.bin"/><Relationship Id="rId1" Type="http://schemas.openxmlformats.org/officeDocument/2006/relationships/slideLayout" Target="../slideLayouts/slideLayout4.xml"/><Relationship Id="rId6" Type="http://schemas.openxmlformats.org/officeDocument/2006/relationships/image" Target="../media/image108.wmf"/><Relationship Id="rId5" Type="http://schemas.openxmlformats.org/officeDocument/2006/relationships/oleObject" Target="../embeddings/oleObject34.bin"/><Relationship Id="rId4" Type="http://schemas.openxmlformats.org/officeDocument/2006/relationships/image" Target="../media/image10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3.wmf"/><Relationship Id="rId7" Type="http://schemas.openxmlformats.org/officeDocument/2006/relationships/image" Target="../media/image110.wmf"/><Relationship Id="rId2" Type="http://schemas.openxmlformats.org/officeDocument/2006/relationships/oleObject" Target="../embeddings/oleObject35.bin"/><Relationship Id="rId1" Type="http://schemas.openxmlformats.org/officeDocument/2006/relationships/slideLayout" Target="../slideLayouts/slideLayout4.xml"/><Relationship Id="rId6" Type="http://schemas.openxmlformats.org/officeDocument/2006/relationships/oleObject" Target="../embeddings/oleObject37.bin"/><Relationship Id="rId5" Type="http://schemas.openxmlformats.org/officeDocument/2006/relationships/image" Target="../media/image109.wmf"/><Relationship Id="rId4" Type="http://schemas.openxmlformats.org/officeDocument/2006/relationships/oleObject" Target="../embeddings/oleObject36.bin"/><Relationship Id="rId9" Type="http://schemas.microsoft.com/office/2007/relationships/hdphoto" Target="../media/hdphoto1.wdp"/></Relationships>
</file>

<file path=ppt/slides/_rels/slide55.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oleObject" Target="../embeddings/oleObject38.bin"/><Relationship Id="rId1" Type="http://schemas.openxmlformats.org/officeDocument/2006/relationships/slideLayout" Target="../slideLayouts/slideLayout7.xml"/><Relationship Id="rId5" Type="http://schemas.openxmlformats.org/officeDocument/2006/relationships/image" Target="../media/image113.wmf"/><Relationship Id="rId4" Type="http://schemas.openxmlformats.org/officeDocument/2006/relationships/oleObject" Target="../embeddings/oleObject39.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118.wmf"/><Relationship Id="rId3" Type="http://schemas.openxmlformats.org/officeDocument/2006/relationships/image" Target="../media/image103.wmf"/><Relationship Id="rId7" Type="http://schemas.openxmlformats.org/officeDocument/2006/relationships/image" Target="../media/image115.wmf"/><Relationship Id="rId12" Type="http://schemas.openxmlformats.org/officeDocument/2006/relationships/oleObject" Target="../embeddings/oleObject45.bin"/><Relationship Id="rId2" Type="http://schemas.openxmlformats.org/officeDocument/2006/relationships/oleObject" Target="../embeddings/oleObject40.bin"/><Relationship Id="rId1" Type="http://schemas.openxmlformats.org/officeDocument/2006/relationships/slideLayout" Target="../slideLayouts/slideLayout7.xml"/><Relationship Id="rId6" Type="http://schemas.openxmlformats.org/officeDocument/2006/relationships/oleObject" Target="../embeddings/oleObject42.bin"/><Relationship Id="rId11" Type="http://schemas.openxmlformats.org/officeDocument/2006/relationships/image" Target="../media/image117.wmf"/><Relationship Id="rId5" Type="http://schemas.openxmlformats.org/officeDocument/2006/relationships/image" Target="../media/image114.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116.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oleObject" Target="../embeddings/oleObject51.bin"/><Relationship Id="rId3" Type="http://schemas.openxmlformats.org/officeDocument/2006/relationships/image" Target="../media/image119.wmf"/><Relationship Id="rId7" Type="http://schemas.openxmlformats.org/officeDocument/2006/relationships/image" Target="../media/image120.wmf"/><Relationship Id="rId12" Type="http://schemas.openxmlformats.org/officeDocument/2006/relationships/image" Target="../media/image123.wmf"/><Relationship Id="rId2" Type="http://schemas.openxmlformats.org/officeDocument/2006/relationships/oleObject" Target="../embeddings/oleObject46.bin"/><Relationship Id="rId1" Type="http://schemas.openxmlformats.org/officeDocument/2006/relationships/slideLayout" Target="../slideLayouts/slideLayout7.xml"/><Relationship Id="rId6" Type="http://schemas.openxmlformats.org/officeDocument/2006/relationships/oleObject" Target="../embeddings/oleObject48.bin"/><Relationship Id="rId11" Type="http://schemas.openxmlformats.org/officeDocument/2006/relationships/oleObject" Target="../embeddings/oleObject50.bin"/><Relationship Id="rId5" Type="http://schemas.openxmlformats.org/officeDocument/2006/relationships/image" Target="../media/image103.wmf"/><Relationship Id="rId10" Type="http://schemas.openxmlformats.org/officeDocument/2006/relationships/image" Target="../media/image122.png"/><Relationship Id="rId4" Type="http://schemas.openxmlformats.org/officeDocument/2006/relationships/oleObject" Target="../embeddings/oleObject47.bin"/><Relationship Id="rId9" Type="http://schemas.openxmlformats.org/officeDocument/2006/relationships/image" Target="../media/image121.wmf"/><Relationship Id="rId14" Type="http://schemas.openxmlformats.org/officeDocument/2006/relationships/image" Target="../media/image124.wmf"/></Relationships>
</file>

<file path=ppt/slides/_rels/slide58.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image" Target="../media/image130.wmf"/><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oleObject" Target="../embeddings/oleObject56.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6.wmf"/><Relationship Id="rId11" Type="http://schemas.openxmlformats.org/officeDocument/2006/relationships/image" Target="../media/image129.wmf"/><Relationship Id="rId5" Type="http://schemas.openxmlformats.org/officeDocument/2006/relationships/oleObject" Target="../embeddings/oleObject53.bin"/><Relationship Id="rId15" Type="http://schemas.openxmlformats.org/officeDocument/2006/relationships/image" Target="../media/image116.wmf"/><Relationship Id="rId10" Type="http://schemas.openxmlformats.org/officeDocument/2006/relationships/oleObject" Target="../embeddings/oleObject55.bin"/><Relationship Id="rId4" Type="http://schemas.openxmlformats.org/officeDocument/2006/relationships/image" Target="../media/image125.wmf"/><Relationship Id="rId9" Type="http://schemas.openxmlformats.org/officeDocument/2006/relationships/image" Target="../media/image128.png"/><Relationship Id="rId14" Type="http://schemas.openxmlformats.org/officeDocument/2006/relationships/oleObject" Target="../embeddings/oleObject57.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image" Target="../media/image131.wmf"/><Relationship Id="rId7" Type="http://schemas.openxmlformats.org/officeDocument/2006/relationships/image" Target="../media/image133.wmf"/><Relationship Id="rId2" Type="http://schemas.openxmlformats.org/officeDocument/2006/relationships/oleObject" Target="../embeddings/oleObject58.bin"/><Relationship Id="rId1" Type="http://schemas.openxmlformats.org/officeDocument/2006/relationships/slideLayout" Target="../slideLayouts/slideLayout7.xml"/><Relationship Id="rId6" Type="http://schemas.openxmlformats.org/officeDocument/2006/relationships/oleObject" Target="../embeddings/oleObject59.bin"/><Relationship Id="rId5" Type="http://schemas.openxmlformats.org/officeDocument/2006/relationships/image" Target="../media/image132.png"/><Relationship Id="rId4" Type="http://schemas.openxmlformats.org/officeDocument/2006/relationships/slide" Target="slide62.xml"/><Relationship Id="rId9" Type="http://schemas.openxmlformats.org/officeDocument/2006/relationships/image" Target="../media/image134.wmf"/></Relationships>
</file>

<file path=ppt/slides/_rels/slide60.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image" Target="../media/image138.wmf"/><Relationship Id="rId18" Type="http://schemas.openxmlformats.org/officeDocument/2006/relationships/oleObject" Target="../embeddings/oleObject69.bin"/><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oleObject" Target="../embeddings/oleObject66.bin"/><Relationship Id="rId17" Type="http://schemas.openxmlformats.org/officeDocument/2006/relationships/image" Target="../media/image140.wmf"/><Relationship Id="rId2" Type="http://schemas.openxmlformats.org/officeDocument/2006/relationships/image" Target="../media/image135.png"/><Relationship Id="rId16" Type="http://schemas.openxmlformats.org/officeDocument/2006/relationships/oleObject" Target="../embeddings/oleObject68.bin"/><Relationship Id="rId1" Type="http://schemas.openxmlformats.org/officeDocument/2006/relationships/slideLayout" Target="../slideLayouts/slideLayout2.xml"/><Relationship Id="rId6" Type="http://schemas.openxmlformats.org/officeDocument/2006/relationships/image" Target="../media/image136.wmf"/><Relationship Id="rId11" Type="http://schemas.openxmlformats.org/officeDocument/2006/relationships/oleObject" Target="../embeddings/oleObject65.bin"/><Relationship Id="rId5" Type="http://schemas.openxmlformats.org/officeDocument/2006/relationships/oleObject" Target="../embeddings/oleObject62.bin"/><Relationship Id="rId15" Type="http://schemas.openxmlformats.org/officeDocument/2006/relationships/image" Target="../media/image139.wmf"/><Relationship Id="rId10" Type="http://schemas.openxmlformats.org/officeDocument/2006/relationships/image" Target="../media/image137.wmf"/><Relationship Id="rId4" Type="http://schemas.openxmlformats.org/officeDocument/2006/relationships/image" Target="../media/image134.wmf"/><Relationship Id="rId9" Type="http://schemas.openxmlformats.org/officeDocument/2006/relationships/oleObject" Target="../embeddings/oleObject64.bin"/><Relationship Id="rId14" Type="http://schemas.openxmlformats.org/officeDocument/2006/relationships/oleObject" Target="../embeddings/oleObject67.bin"/></Relationships>
</file>

<file path=ppt/slides/_rels/slide61.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6.wmf"/><Relationship Id="rId7" Type="http://schemas.openxmlformats.org/officeDocument/2006/relationships/image" Target="../media/image142.wmf"/><Relationship Id="rId2" Type="http://schemas.openxmlformats.org/officeDocument/2006/relationships/oleObject" Target="../embeddings/oleObject70.bin"/><Relationship Id="rId1" Type="http://schemas.openxmlformats.org/officeDocument/2006/relationships/slideLayout" Target="../slideLayouts/slideLayout2.xml"/><Relationship Id="rId6" Type="http://schemas.openxmlformats.org/officeDocument/2006/relationships/oleObject" Target="../embeddings/oleObject72.bin"/><Relationship Id="rId5" Type="http://schemas.openxmlformats.org/officeDocument/2006/relationships/image" Target="../media/image141.wmf"/><Relationship Id="rId4" Type="http://schemas.openxmlformats.org/officeDocument/2006/relationships/oleObject" Target="../embeddings/oleObject71.bin"/></Relationships>
</file>

<file path=ppt/slides/_rels/slide62.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73.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45.wmf"/><Relationship Id="rId5" Type="http://schemas.openxmlformats.org/officeDocument/2006/relationships/oleObject" Target="../embeddings/oleObject75.bin"/><Relationship Id="rId4" Type="http://schemas.openxmlformats.org/officeDocument/2006/relationships/image" Target="../media/image144.wmf"/></Relationships>
</file>

<file path=ppt/slides/_rels/slide64.x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oleObject" Target="../embeddings/oleObject77.bin"/><Relationship Id="rId1" Type="http://schemas.openxmlformats.org/officeDocument/2006/relationships/slideLayout" Target="../slideLayouts/slideLayout7.xml"/><Relationship Id="rId5" Type="http://schemas.openxmlformats.org/officeDocument/2006/relationships/image" Target="../media/image147.wmf"/><Relationship Id="rId4" Type="http://schemas.openxmlformats.org/officeDocument/2006/relationships/oleObject" Target="../embeddings/oleObject78.bin"/></Relationships>
</file>

<file path=ppt/slides/_rels/slide65.xml.rels><?xml version="1.0" encoding="UTF-8" standalone="yes"?>
<Relationships xmlns="http://schemas.openxmlformats.org/package/2006/relationships"><Relationship Id="rId2" Type="http://schemas.openxmlformats.org/officeDocument/2006/relationships/hyperlink" Target="&#32531;&#20914;&#28342;&#28082;.flv"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image" Target="../media/image116.wmf"/><Relationship Id="rId7" Type="http://schemas.openxmlformats.org/officeDocument/2006/relationships/image" Target="../media/image118.wmf"/><Relationship Id="rId2" Type="http://schemas.openxmlformats.org/officeDocument/2006/relationships/oleObject" Target="../embeddings/oleObject79.bin"/><Relationship Id="rId1" Type="http://schemas.openxmlformats.org/officeDocument/2006/relationships/slideLayout" Target="../slideLayouts/slideLayout7.xml"/><Relationship Id="rId6" Type="http://schemas.openxmlformats.org/officeDocument/2006/relationships/oleObject" Target="../embeddings/oleObject81.bin"/><Relationship Id="rId11" Type="http://schemas.openxmlformats.org/officeDocument/2006/relationships/image" Target="../media/image124.wmf"/><Relationship Id="rId5" Type="http://schemas.openxmlformats.org/officeDocument/2006/relationships/image" Target="../media/image117.wmf"/><Relationship Id="rId10" Type="http://schemas.openxmlformats.org/officeDocument/2006/relationships/oleObject" Target="../embeddings/oleObject83.bin"/><Relationship Id="rId4" Type="http://schemas.openxmlformats.org/officeDocument/2006/relationships/oleObject" Target="../embeddings/oleObject80.bin"/><Relationship Id="rId9" Type="http://schemas.openxmlformats.org/officeDocument/2006/relationships/image" Target="../media/image123.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oleObject" Target="../embeddings/oleObject84.bin"/><Relationship Id="rId1" Type="http://schemas.openxmlformats.org/officeDocument/2006/relationships/slideLayout" Target="../slideLayouts/slideLayout7.xml"/><Relationship Id="rId5" Type="http://schemas.openxmlformats.org/officeDocument/2006/relationships/image" Target="../media/image149.wmf"/><Relationship Id="rId4" Type="http://schemas.openxmlformats.org/officeDocument/2006/relationships/oleObject" Target="../embeddings/oleObject85.bin"/></Relationships>
</file>

<file path=ppt/slides/_rels/slide7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image" Target="../media/image151.wmf"/><Relationship Id="rId7" Type="http://schemas.openxmlformats.org/officeDocument/2006/relationships/image" Target="../media/image152.wmf"/><Relationship Id="rId2" Type="http://schemas.openxmlformats.org/officeDocument/2006/relationships/oleObject" Target="../embeddings/oleObject86.bin"/><Relationship Id="rId1" Type="http://schemas.openxmlformats.org/officeDocument/2006/relationships/slideLayout" Target="../slideLayouts/slideLayout2.xml"/><Relationship Id="rId6" Type="http://schemas.openxmlformats.org/officeDocument/2006/relationships/oleObject" Target="../embeddings/oleObject88.bin"/><Relationship Id="rId5" Type="http://schemas.openxmlformats.org/officeDocument/2006/relationships/image" Target="../media/image103.wmf"/><Relationship Id="rId4" Type="http://schemas.openxmlformats.org/officeDocument/2006/relationships/oleObject" Target="../embeddings/oleObject87.bin"/><Relationship Id="rId9" Type="http://schemas.openxmlformats.org/officeDocument/2006/relationships/image" Target="../media/image153.wmf"/></Relationships>
</file>

<file path=ppt/slides/_rels/slide74.x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image" Target="../media/image103.wmf"/><Relationship Id="rId7" Type="http://schemas.openxmlformats.org/officeDocument/2006/relationships/oleObject" Target="../embeddings/oleObject93.bin"/><Relationship Id="rId12" Type="http://schemas.openxmlformats.org/officeDocument/2006/relationships/image" Target="../media/image156.wmf"/><Relationship Id="rId2" Type="http://schemas.openxmlformats.org/officeDocument/2006/relationships/oleObject" Target="../embeddings/oleObject90.bin"/><Relationship Id="rId1" Type="http://schemas.openxmlformats.org/officeDocument/2006/relationships/slideLayout" Target="../slideLayouts/slideLayout2.xml"/><Relationship Id="rId6" Type="http://schemas.openxmlformats.org/officeDocument/2006/relationships/oleObject" Target="../embeddings/oleObject92.bin"/><Relationship Id="rId11" Type="http://schemas.openxmlformats.org/officeDocument/2006/relationships/oleObject" Target="../embeddings/oleObject96.bin"/><Relationship Id="rId5" Type="http://schemas.openxmlformats.org/officeDocument/2006/relationships/image" Target="../media/image154.wmf"/><Relationship Id="rId10" Type="http://schemas.openxmlformats.org/officeDocument/2006/relationships/oleObject" Target="../embeddings/oleObject95.bin"/><Relationship Id="rId4" Type="http://schemas.openxmlformats.org/officeDocument/2006/relationships/oleObject" Target="../embeddings/oleObject91.bin"/><Relationship Id="rId9" Type="http://schemas.openxmlformats.org/officeDocument/2006/relationships/oleObject" Target="../embeddings/oleObject94.bin"/></Relationships>
</file>

<file path=ppt/slides/_rels/slide75.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oleObject" Target="../embeddings/oleObject97.bin"/><Relationship Id="rId7" Type="http://schemas.openxmlformats.org/officeDocument/2006/relationships/oleObject" Target="../embeddings/oleObject99.bin"/><Relationship Id="rId12" Type="http://schemas.openxmlformats.org/officeDocument/2006/relationships/image" Target="../media/image161.wmf"/><Relationship Id="rId2" Type="http://schemas.openxmlformats.org/officeDocument/2006/relationships/image" Target="../media/image157.png"/><Relationship Id="rId1" Type="http://schemas.openxmlformats.org/officeDocument/2006/relationships/slideLayout" Target="../slideLayouts/slideLayout2.xml"/><Relationship Id="rId6" Type="http://schemas.openxmlformats.org/officeDocument/2006/relationships/image" Target="../media/image159.wmf"/><Relationship Id="rId11" Type="http://schemas.openxmlformats.org/officeDocument/2006/relationships/oleObject" Target="../embeddings/oleObject101.bin"/><Relationship Id="rId5" Type="http://schemas.openxmlformats.org/officeDocument/2006/relationships/oleObject" Target="../embeddings/oleObject98.bin"/><Relationship Id="rId10" Type="http://schemas.openxmlformats.org/officeDocument/2006/relationships/image" Target="../media/image160.wmf"/><Relationship Id="rId4" Type="http://schemas.openxmlformats.org/officeDocument/2006/relationships/image" Target="../media/image158.wmf"/><Relationship Id="rId9" Type="http://schemas.openxmlformats.org/officeDocument/2006/relationships/oleObject" Target="../embeddings/oleObject100.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oleObject" Target="../embeddings/oleObject102.bin"/><Relationship Id="rId1"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slide" Target="slide91.xml"/></Relationships>
</file>

<file path=ppt/slides/_rels/slide78.x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oleObject" Target="../embeddings/oleObject103.bin"/><Relationship Id="rId1" Type="http://schemas.openxmlformats.org/officeDocument/2006/relationships/slideLayout" Target="../slideLayouts/slideLayout2.xml"/><Relationship Id="rId4" Type="http://schemas.openxmlformats.org/officeDocument/2006/relationships/oleObject" Target="../embeddings/oleObject104.bin"/></Relationships>
</file>

<file path=ppt/slides/_rels/slide79.x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oleObject" Target="../embeddings/oleObject105.bin"/><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106.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62.wmf"/><Relationship Id="rId7" Type="http://schemas.openxmlformats.org/officeDocument/2006/relationships/oleObject" Target="../embeddings/oleObject110.bin"/><Relationship Id="rId2" Type="http://schemas.openxmlformats.org/officeDocument/2006/relationships/oleObject" Target="../embeddings/oleObject107.bin"/><Relationship Id="rId1" Type="http://schemas.openxmlformats.org/officeDocument/2006/relationships/slideLayout" Target="../slideLayouts/slideLayout7.xml"/><Relationship Id="rId6" Type="http://schemas.openxmlformats.org/officeDocument/2006/relationships/oleObject" Target="../embeddings/oleObject109.bin"/><Relationship Id="rId5" Type="http://schemas.openxmlformats.org/officeDocument/2006/relationships/image" Target="../media/image103.wmf"/><Relationship Id="rId4" Type="http://schemas.openxmlformats.org/officeDocument/2006/relationships/oleObject" Target="../embeddings/oleObject108.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8" Type="http://schemas.openxmlformats.org/officeDocument/2006/relationships/image" Target="../media/image162.wmf"/><Relationship Id="rId13" Type="http://schemas.openxmlformats.org/officeDocument/2006/relationships/image" Target="../media/image168.wmf"/><Relationship Id="rId3" Type="http://schemas.openxmlformats.org/officeDocument/2006/relationships/oleObject" Target="../embeddings/oleObject111.bin"/><Relationship Id="rId7" Type="http://schemas.openxmlformats.org/officeDocument/2006/relationships/oleObject" Target="../embeddings/oleObject113.bin"/><Relationship Id="rId12" Type="http://schemas.openxmlformats.org/officeDocument/2006/relationships/oleObject" Target="../embeddings/oleObject116.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6.wmf"/><Relationship Id="rId11" Type="http://schemas.openxmlformats.org/officeDocument/2006/relationships/image" Target="../media/image167.wmf"/><Relationship Id="rId5" Type="http://schemas.openxmlformats.org/officeDocument/2006/relationships/oleObject" Target="../embeddings/oleObject112.bin"/><Relationship Id="rId10" Type="http://schemas.openxmlformats.org/officeDocument/2006/relationships/oleObject" Target="../embeddings/oleObject115.bin"/><Relationship Id="rId4" Type="http://schemas.openxmlformats.org/officeDocument/2006/relationships/image" Target="../media/image165.wmf"/><Relationship Id="rId9" Type="http://schemas.openxmlformats.org/officeDocument/2006/relationships/oleObject" Target="../embeddings/oleObject114.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121.bin"/><Relationship Id="rId3" Type="http://schemas.openxmlformats.org/officeDocument/2006/relationships/image" Target="../media/image162.wmf"/><Relationship Id="rId7" Type="http://schemas.openxmlformats.org/officeDocument/2006/relationships/image" Target="../media/image169.wmf"/><Relationship Id="rId2" Type="http://schemas.openxmlformats.org/officeDocument/2006/relationships/oleObject" Target="../embeddings/oleObject117.bin"/><Relationship Id="rId1" Type="http://schemas.openxmlformats.org/officeDocument/2006/relationships/slideLayout" Target="../slideLayouts/slideLayout2.xml"/><Relationship Id="rId6" Type="http://schemas.openxmlformats.org/officeDocument/2006/relationships/oleObject" Target="../embeddings/oleObject120.bin"/><Relationship Id="rId5" Type="http://schemas.openxmlformats.org/officeDocument/2006/relationships/oleObject" Target="../embeddings/oleObject119.bin"/><Relationship Id="rId4" Type="http://schemas.openxmlformats.org/officeDocument/2006/relationships/oleObject" Target="../embeddings/oleObject118.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22.bin"/><Relationship Id="rId2" Type="http://schemas.openxmlformats.org/officeDocument/2006/relationships/hyperlink" Target="&#27785;&#28096;&#30340;&#28342;&#35299;.flv" TargetMode="External"/><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slide" Target="slide91.xml"/><Relationship Id="rId4" Type="http://schemas.openxmlformats.org/officeDocument/2006/relationships/image" Target="../media/image103.wmf"/></Relationships>
</file>

<file path=ppt/slides/_rels/slide88.x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oleObject" Target="../embeddings/oleObject123.bin"/><Relationship Id="rId1" Type="http://schemas.openxmlformats.org/officeDocument/2006/relationships/slideLayout" Target="../slideLayouts/slideLayout7.xml"/><Relationship Id="rId5" Type="http://schemas.openxmlformats.org/officeDocument/2006/relationships/image" Target="../media/image103.wmf"/><Relationship Id="rId4" Type="http://schemas.openxmlformats.org/officeDocument/2006/relationships/oleObject" Target="../embeddings/oleObject124.bin"/></Relationships>
</file>

<file path=ppt/slides/_rels/slide89.x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oleObject" Target="../embeddings/oleObject125.bin"/><Relationship Id="rId1" Type="http://schemas.openxmlformats.org/officeDocument/2006/relationships/slideLayout" Target="../slideLayouts/slideLayout7.xml"/><Relationship Id="rId5" Type="http://schemas.openxmlformats.org/officeDocument/2006/relationships/image" Target="../media/image103.wmf"/><Relationship Id="rId4" Type="http://schemas.openxmlformats.org/officeDocument/2006/relationships/oleObject" Target="../embeddings/oleObject126.bin"/></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27.bin"/><Relationship Id="rId2" Type="http://schemas.openxmlformats.org/officeDocument/2006/relationships/hyperlink" Target="&#27785;&#28096;&#30340;&#36716;&#21270;.flv" TargetMode="External"/><Relationship Id="rId1" Type="http://schemas.openxmlformats.org/officeDocument/2006/relationships/slideLayout" Target="../slideLayouts/slideLayout7.xml"/><Relationship Id="rId4" Type="http://schemas.openxmlformats.org/officeDocument/2006/relationships/image" Target="../media/image103.wmf"/></Relationships>
</file>

<file path=ppt/slides/_rels/slide9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Wjhx2003/CAI1/FUXI_1/PHW.FRM"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8" Type="http://schemas.openxmlformats.org/officeDocument/2006/relationships/image" Target="../media/image177.wmf"/><Relationship Id="rId13" Type="http://schemas.openxmlformats.org/officeDocument/2006/relationships/image" Target="../media/image179.wmf"/><Relationship Id="rId18" Type="http://schemas.openxmlformats.org/officeDocument/2006/relationships/oleObject" Target="../embeddings/oleObject138.bin"/><Relationship Id="rId3" Type="http://schemas.openxmlformats.org/officeDocument/2006/relationships/image" Target="../media/image103.wmf"/><Relationship Id="rId21" Type="http://schemas.openxmlformats.org/officeDocument/2006/relationships/oleObject" Target="../embeddings/oleObject141.bin"/><Relationship Id="rId7" Type="http://schemas.openxmlformats.org/officeDocument/2006/relationships/oleObject" Target="../embeddings/oleObject131.bin"/><Relationship Id="rId12" Type="http://schemas.openxmlformats.org/officeDocument/2006/relationships/oleObject" Target="../embeddings/oleObject134.bin"/><Relationship Id="rId17" Type="http://schemas.openxmlformats.org/officeDocument/2006/relationships/oleObject" Target="../embeddings/oleObject137.bin"/><Relationship Id="rId2" Type="http://schemas.openxmlformats.org/officeDocument/2006/relationships/oleObject" Target="../embeddings/oleObject128.bin"/><Relationship Id="rId16" Type="http://schemas.openxmlformats.org/officeDocument/2006/relationships/oleObject" Target="../embeddings/oleObject136.bin"/><Relationship Id="rId20" Type="http://schemas.openxmlformats.org/officeDocument/2006/relationships/oleObject" Target="../embeddings/oleObject140.bin"/><Relationship Id="rId1" Type="http://schemas.openxmlformats.org/officeDocument/2006/relationships/slideLayout" Target="../slideLayouts/slideLayout2.xml"/><Relationship Id="rId6" Type="http://schemas.openxmlformats.org/officeDocument/2006/relationships/image" Target="../media/image176.wmf"/><Relationship Id="rId11" Type="http://schemas.openxmlformats.org/officeDocument/2006/relationships/oleObject" Target="../embeddings/oleObject133.bin"/><Relationship Id="rId5" Type="http://schemas.openxmlformats.org/officeDocument/2006/relationships/oleObject" Target="../embeddings/oleObject130.bin"/><Relationship Id="rId15" Type="http://schemas.openxmlformats.org/officeDocument/2006/relationships/image" Target="../media/image180.wmf"/><Relationship Id="rId10" Type="http://schemas.openxmlformats.org/officeDocument/2006/relationships/image" Target="../media/image178.wmf"/><Relationship Id="rId19" Type="http://schemas.openxmlformats.org/officeDocument/2006/relationships/oleObject" Target="../embeddings/oleObject139.bin"/><Relationship Id="rId4" Type="http://schemas.openxmlformats.org/officeDocument/2006/relationships/oleObject" Target="../embeddings/oleObject129.bin"/><Relationship Id="rId9" Type="http://schemas.openxmlformats.org/officeDocument/2006/relationships/oleObject" Target="../embeddings/oleObject132.bin"/><Relationship Id="rId14" Type="http://schemas.openxmlformats.org/officeDocument/2006/relationships/oleObject" Target="../embeddings/oleObject135.bin"/><Relationship Id="rId22" Type="http://schemas.openxmlformats.org/officeDocument/2006/relationships/oleObject" Target="../embeddings/oleObject142.bin"/></Relationships>
</file>

<file path=ppt/slides/_rels/slide110.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143.bin"/><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144.bin"/><Relationship Id="rId1" Type="http://schemas.openxmlformats.org/officeDocument/2006/relationships/slideLayout" Target="../slideLayouts/slideLayout7.xml"/><Relationship Id="rId5" Type="http://schemas.openxmlformats.org/officeDocument/2006/relationships/image" Target="../media/image181.wmf"/><Relationship Id="rId4" Type="http://schemas.openxmlformats.org/officeDocument/2006/relationships/oleObject" Target="../embeddings/oleObject145.bin"/></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slide" Target="slide91.xml"/><Relationship Id="rId4" Type="http://schemas.openxmlformats.org/officeDocument/2006/relationships/image" Target="../media/image103.wmf"/></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150.bin"/><Relationship Id="rId13" Type="http://schemas.openxmlformats.org/officeDocument/2006/relationships/image" Target="../media/image185.wmf"/><Relationship Id="rId3" Type="http://schemas.openxmlformats.org/officeDocument/2006/relationships/image" Target="../media/image162.wmf"/><Relationship Id="rId7" Type="http://schemas.openxmlformats.org/officeDocument/2006/relationships/image" Target="../media/image182.wmf"/><Relationship Id="rId12" Type="http://schemas.openxmlformats.org/officeDocument/2006/relationships/oleObject" Target="../embeddings/oleObject152.bin"/><Relationship Id="rId2" Type="http://schemas.openxmlformats.org/officeDocument/2006/relationships/oleObject" Target="../embeddings/oleObject147.bin"/><Relationship Id="rId1" Type="http://schemas.openxmlformats.org/officeDocument/2006/relationships/slideLayout" Target="../slideLayouts/slideLayout7.xml"/><Relationship Id="rId6" Type="http://schemas.openxmlformats.org/officeDocument/2006/relationships/oleObject" Target="../embeddings/oleObject149.bin"/><Relationship Id="rId11" Type="http://schemas.openxmlformats.org/officeDocument/2006/relationships/image" Target="../media/image184.wmf"/><Relationship Id="rId5" Type="http://schemas.openxmlformats.org/officeDocument/2006/relationships/image" Target="../media/image177.wmf"/><Relationship Id="rId15" Type="http://schemas.openxmlformats.org/officeDocument/2006/relationships/image" Target="../media/image103.wmf"/><Relationship Id="rId10" Type="http://schemas.openxmlformats.org/officeDocument/2006/relationships/oleObject" Target="../embeddings/oleObject151.bin"/><Relationship Id="rId4" Type="http://schemas.openxmlformats.org/officeDocument/2006/relationships/oleObject" Target="../embeddings/oleObject148.bin"/><Relationship Id="rId9" Type="http://schemas.openxmlformats.org/officeDocument/2006/relationships/image" Target="../media/image183.wmf"/><Relationship Id="rId14" Type="http://schemas.openxmlformats.org/officeDocument/2006/relationships/oleObject" Target="../embeddings/oleObject153.bin"/></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158.bin"/><Relationship Id="rId13" Type="http://schemas.openxmlformats.org/officeDocument/2006/relationships/image" Target="../media/image186.wmf"/><Relationship Id="rId3" Type="http://schemas.openxmlformats.org/officeDocument/2006/relationships/image" Target="../media/image162.wmf"/><Relationship Id="rId7" Type="http://schemas.openxmlformats.org/officeDocument/2006/relationships/oleObject" Target="../embeddings/oleObject157.bin"/><Relationship Id="rId12" Type="http://schemas.openxmlformats.org/officeDocument/2006/relationships/oleObject" Target="../embeddings/oleObject160.bin"/><Relationship Id="rId2" Type="http://schemas.openxmlformats.org/officeDocument/2006/relationships/oleObject" Target="../embeddings/oleObject154.bin"/><Relationship Id="rId16" Type="http://schemas.openxmlformats.org/officeDocument/2006/relationships/image" Target="../media/image103.wmf"/><Relationship Id="rId1" Type="http://schemas.openxmlformats.org/officeDocument/2006/relationships/slideLayout" Target="../slideLayouts/slideLayout7.xml"/><Relationship Id="rId6" Type="http://schemas.openxmlformats.org/officeDocument/2006/relationships/oleObject" Target="../embeddings/oleObject156.bin"/><Relationship Id="rId11" Type="http://schemas.openxmlformats.org/officeDocument/2006/relationships/image" Target="../media/image185.wmf"/><Relationship Id="rId5" Type="http://schemas.openxmlformats.org/officeDocument/2006/relationships/image" Target="../media/image177.wmf"/><Relationship Id="rId15" Type="http://schemas.openxmlformats.org/officeDocument/2006/relationships/oleObject" Target="../embeddings/oleObject162.bin"/><Relationship Id="rId10" Type="http://schemas.openxmlformats.org/officeDocument/2006/relationships/oleObject" Target="../embeddings/oleObject159.bin"/><Relationship Id="rId4" Type="http://schemas.openxmlformats.org/officeDocument/2006/relationships/oleObject" Target="../embeddings/oleObject155.bin"/><Relationship Id="rId9" Type="http://schemas.openxmlformats.org/officeDocument/2006/relationships/image" Target="../media/image181.wmf"/><Relationship Id="rId14" Type="http://schemas.openxmlformats.org/officeDocument/2006/relationships/oleObject" Target="../embeddings/oleObject161.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187.jpe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WordArt 3"/>
          <p:cNvSpPr>
            <a:spLocks noTextEdit="1"/>
          </p:cNvSpPr>
          <p:nvPr/>
        </p:nvSpPr>
        <p:spPr>
          <a:xfrm>
            <a:off x="1979619" y="1654178"/>
            <a:ext cx="5329237" cy="1349375"/>
          </a:xfrm>
          <a:prstGeom prst="rect">
            <a:avLst/>
          </a:prstGeom>
        </p:spPr>
        <p:txBody>
          <a:bodyPr wrap="none" fromWordArt="1">
            <a:prstTxWarp prst="textWave1">
              <a:avLst>
                <a:gd name="adj1" fmla="val 13005"/>
                <a:gd name="adj2" fmla="val 0"/>
              </a:avLst>
            </a:prstTxWarp>
            <a:normAutofit/>
          </a:bodyPr>
          <a:lstStyle/>
          <a:p>
            <a:pPr algn="ctr"/>
            <a:r>
              <a:rPr lang="zh-CN" altLang="en-US" sz="3600" b="1">
                <a:ln w="19050" cap="flat" cmpd="sng">
                  <a:solidFill>
                    <a:srgbClr val="3366FF"/>
                  </a:solidFill>
                  <a:prstDash val="solid"/>
                  <a:round/>
                  <a:headEnd type="none" w="med" len="med"/>
                  <a:tailEnd type="none" w="med" len="med"/>
                </a:ln>
                <a:solidFill>
                  <a:srgbClr val="800000"/>
                </a:solidFill>
                <a:effectLst>
                  <a:outerShdw dist="35921" dir="2699999" algn="ctr" rotWithShape="0">
                    <a:srgbClr val="990000"/>
                  </a:outerShdw>
                </a:effectLst>
                <a:latin typeface="宋体" panose="02010600030101010101" pitchFamily="2" charset="-122"/>
                <a:ea typeface="宋体" panose="02010600030101010101" pitchFamily="2" charset="-122"/>
              </a:rPr>
              <a:t>第3章  溶液中的化学平衡</a:t>
            </a:r>
          </a:p>
        </p:txBody>
      </p:sp>
      <p:pic>
        <p:nvPicPr>
          <p:cNvPr id="16387" name="Picture 6" descr="http://pic.baike.soso.com/p/20140221/20140221005448-1020861927.jpg"/>
          <p:cNvPicPr>
            <a:picLocks noChangeAspect="1"/>
          </p:cNvPicPr>
          <p:nvPr/>
        </p:nvPicPr>
        <p:blipFill>
          <a:blip r:embed="rId2"/>
          <a:stretch>
            <a:fillRect/>
          </a:stretch>
        </p:blipFill>
        <p:spPr>
          <a:xfrm>
            <a:off x="7143750" y="3228977"/>
            <a:ext cx="2000250" cy="1914525"/>
          </a:xfrm>
          <a:prstGeom prst="rect">
            <a:avLst/>
          </a:prstGeom>
          <a:noFill/>
          <a:ln w="9525">
            <a:noFill/>
          </a:ln>
        </p:spPr>
      </p:pic>
      <p:pic>
        <p:nvPicPr>
          <p:cNvPr id="9" name="图片 8" descr="C:/Users/ADMINI~1/AppData/Local/Temp/kaimatting_20201202165246/output_20201202165250..pngoutput_20201202165250."/>
          <p:cNvPicPr>
            <a:picLocks noChangeAspect="1"/>
          </p:cNvPicPr>
          <p:nvPr/>
        </p:nvPicPr>
        <p:blipFill>
          <a:blip r:embed="rId3" cstate="print"/>
          <a:srcRect l="13834" t="7589" r="7589" b="12461"/>
          <a:stretch>
            <a:fillRect/>
          </a:stretch>
        </p:blipFill>
        <p:spPr>
          <a:xfrm>
            <a:off x="107315" y="3435986"/>
            <a:ext cx="1781810" cy="1781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randomBar dir="vert"/>
      </p:transition>
    </mc:Choice>
    <mc:Fallback xmlns="">
      <p:transition spd="slow">
        <p:randomBar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9" name="Group 3"/>
          <p:cNvGrpSpPr/>
          <p:nvPr/>
        </p:nvGrpSpPr>
        <p:grpSpPr>
          <a:xfrm>
            <a:off x="2195519" y="141288"/>
            <a:ext cx="4752975" cy="595312"/>
            <a:chOff x="1380" y="279"/>
            <a:chExt cx="2858" cy="499"/>
          </a:xfrm>
        </p:grpSpPr>
        <p:sp>
          <p:nvSpPr>
            <p:cNvPr id="17410" name="AutoShape 4"/>
            <p:cNvSpPr/>
            <p:nvPr/>
          </p:nvSpPr>
          <p:spPr>
            <a:xfrm>
              <a:off x="1380" y="279"/>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17411" name="Rectangle 5"/>
            <p:cNvSpPr/>
            <p:nvPr/>
          </p:nvSpPr>
          <p:spPr>
            <a:xfrm>
              <a:off x="2011" y="287"/>
              <a:ext cx="1597" cy="490"/>
            </a:xfrm>
            <a:prstGeom prst="rect">
              <a:avLst/>
            </a:prstGeom>
            <a:noFill/>
            <a:ln w="9525">
              <a:noFill/>
            </a:ln>
          </p:spPr>
          <p:txBody>
            <a:bodyPr wrap="none" anchor="t" anchorCtr="0">
              <a:spAutoFit/>
            </a:bodyPr>
            <a:lstStyle/>
            <a:p>
              <a:pPr>
                <a:buClrTx/>
                <a:buFontTx/>
              </a:pPr>
              <a:r>
                <a:rPr lang="zh-CN" altLang="en-US" sz="3200" dirty="0">
                  <a:solidFill>
                    <a:schemeClr val="bg1"/>
                  </a:solidFill>
                  <a:latin typeface="Arial" panose="020B0604020202020204" pitchFamily="34" charset="0"/>
                  <a:ea typeface="楷体_GB2312" pitchFamily="49" charset="-122"/>
                </a:rPr>
                <a:t>本章学习要点</a:t>
              </a:r>
            </a:p>
          </p:txBody>
        </p:sp>
      </p:grpSp>
      <p:graphicFrame>
        <p:nvGraphicFramePr>
          <p:cNvPr id="175368" name="Group 264"/>
          <p:cNvGraphicFramePr>
            <a:graphicFrameLocks noGrp="1"/>
          </p:cNvGraphicFramePr>
          <p:nvPr>
            <p:custDataLst>
              <p:tags r:id="rId1"/>
            </p:custDataLst>
            <p:extLst>
              <p:ext uri="{D42A27DB-BD31-4B8C-83A1-F6EECF244321}">
                <p14:modId xmlns:p14="http://schemas.microsoft.com/office/powerpoint/2010/main" val="840525836"/>
              </p:ext>
            </p:extLst>
          </p:nvPr>
        </p:nvGraphicFramePr>
        <p:xfrm>
          <a:off x="250825" y="929878"/>
          <a:ext cx="8642350" cy="3700686"/>
        </p:xfrm>
        <a:graphic>
          <a:graphicData uri="http://schemas.openxmlformats.org/drawingml/2006/table">
            <a:tbl>
              <a:tblPr/>
              <a:tblGrid>
                <a:gridCol w="1584871">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gridCol w="3601095">
                  <a:extLst>
                    <a:ext uri="{9D8B030D-6E8A-4147-A177-3AD203B41FA5}">
                      <a16:colId xmlns:a16="http://schemas.microsoft.com/office/drawing/2014/main" val="20002"/>
                    </a:ext>
                  </a:extLst>
                </a:gridCol>
              </a:tblGrid>
              <a:tr h="29259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知识要点</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掌握程度</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相关知识</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95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水的性质和稀溶液的依数性</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了解水的性质、稀溶液性质的原理及应用。</a:t>
                      </a:r>
                    </a:p>
                  </a:txBody>
                  <a:tcPr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水的性质和应用，稀溶液蒸汽压下降、沸点上升、凝固点下降和渗透压。</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915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酸碱理论</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掌握酸碱质子理论、酸碱电子理论，理解共轭酸碱概念及其关系。</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酸碱质子理论、酸碱电子理论，共轭酸碱对。</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930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弱电解质离解平衡</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明确弱酸（碱）离解平衡和缓冲溶液的概念，掌握化学平衡和缓冲溶液的有关计算。</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水的离解平衡、一元弱酸（弱碱）溶液中浓度计算、同离子效应、缓冲溶液</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261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难溶电解质的沉淀溶解平衡</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掌握溶度积和溶解度的基本计算，了解溶度积规则及其应用。</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溶度积、溶解度及其相互转换，溶度积规则，分步沉淀，沉淀溶解与转化</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8542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配合物和配离子的离解平衡</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了解配合物的组成，学会配合物的基本命名和书写方法，了解配合物的离解平衡及平衡移动等。</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配合物解离平衡移动，配合物的应用等。</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5" marB="342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3" name="Group 2"/>
          <p:cNvGrpSpPr/>
          <p:nvPr/>
        </p:nvGrpSpPr>
        <p:grpSpPr>
          <a:xfrm>
            <a:off x="1763719" y="141290"/>
            <a:ext cx="5113337" cy="639763"/>
            <a:chOff x="1338" y="300"/>
            <a:chExt cx="2858" cy="537"/>
          </a:xfrm>
        </p:grpSpPr>
        <p:sp>
          <p:nvSpPr>
            <p:cNvPr id="18434" name="AutoShape 3"/>
            <p:cNvSpPr/>
            <p:nvPr/>
          </p:nvSpPr>
          <p:spPr>
            <a:xfrm>
              <a:off x="1338" y="30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18435" name="Rectangle 4"/>
            <p:cNvSpPr/>
            <p:nvPr/>
          </p:nvSpPr>
          <p:spPr>
            <a:xfrm>
              <a:off x="2018" y="346"/>
              <a:ext cx="1577" cy="491"/>
            </a:xfrm>
            <a:prstGeom prst="rect">
              <a:avLst/>
            </a:prstGeom>
            <a:noFill/>
            <a:ln w="9525">
              <a:noFill/>
            </a:ln>
          </p:spPr>
          <p:txBody>
            <a:bodyPr anchor="t" anchorCtr="0">
              <a:spAutoFit/>
            </a:bodyPr>
            <a:lstStyle/>
            <a:p>
              <a:pPr>
                <a:buClrTx/>
                <a:buFontTx/>
              </a:pPr>
              <a:r>
                <a:rPr lang="zh-CN" altLang="en-US" sz="3200" dirty="0">
                  <a:solidFill>
                    <a:schemeClr val="bg1"/>
                  </a:solidFill>
                  <a:latin typeface="Arial" panose="020B0604020202020204" pitchFamily="34" charset="0"/>
                  <a:ea typeface="楷体_GB2312" pitchFamily="49" charset="-122"/>
                </a:rPr>
                <a:t>本章主要内容</a:t>
              </a:r>
            </a:p>
          </p:txBody>
        </p:sp>
      </p:grpSp>
      <p:sp>
        <p:nvSpPr>
          <p:cNvPr id="18436" name="Rectangle 5"/>
          <p:cNvSpPr/>
          <p:nvPr/>
        </p:nvSpPr>
        <p:spPr>
          <a:xfrm>
            <a:off x="827094" y="2405775"/>
            <a:ext cx="3671887" cy="446252"/>
          </a:xfrm>
          <a:prstGeom prst="rect">
            <a:avLst/>
          </a:prstGeom>
          <a:noFill/>
          <a:ln w="9525">
            <a:noFill/>
          </a:ln>
        </p:spPr>
        <p:txBody>
          <a:bodyPr tIns="76176" bIns="0" anchor="ctr" anchorCtr="0">
            <a:spAutoFit/>
          </a:bodyPr>
          <a:lstStyle/>
          <a:p>
            <a:pPr>
              <a:buClrTx/>
              <a:buFontTx/>
            </a:pPr>
            <a:r>
              <a:rPr lang="en-US" altLang="zh-CN"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8437" name="Rectangle 6"/>
          <p:cNvSpPr/>
          <p:nvPr/>
        </p:nvSpPr>
        <p:spPr>
          <a:xfrm>
            <a:off x="827091" y="3486069"/>
            <a:ext cx="3457575" cy="446252"/>
          </a:xfrm>
          <a:prstGeom prst="rect">
            <a:avLst/>
          </a:prstGeom>
          <a:noFill/>
          <a:ln w="9525">
            <a:noFill/>
          </a:ln>
        </p:spPr>
        <p:txBody>
          <a:bodyPr tIns="76176" bIns="0" anchor="ctr" anchorCtr="0">
            <a:spAutoFit/>
          </a:bodyPr>
          <a:lstStyle/>
          <a:p>
            <a:pPr>
              <a:buClrTx/>
              <a:buFontTx/>
            </a:pPr>
            <a:r>
              <a:rPr lang="en-US" altLang="zh-CN"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78183" name="AutoShape 7"/>
          <p:cNvSpPr/>
          <p:nvPr/>
        </p:nvSpPr>
        <p:spPr>
          <a:xfrm>
            <a:off x="755650" y="1924052"/>
            <a:ext cx="6121400" cy="485775"/>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pPr>
              <a:buClrTx/>
              <a:buFontTx/>
            </a:pPr>
            <a:r>
              <a:rPr lang="en-US" altLang="zh-CN" dirty="0">
                <a:latin typeface="Times New Roman" panose="02020603050405020304" pitchFamily="18" charset="0"/>
                <a:ea typeface="宋体" panose="02010600030101010101" pitchFamily="2" charset="-122"/>
              </a:rPr>
              <a:t>§3</a:t>
            </a:r>
            <a:r>
              <a:rPr lang="en-US" altLang="en-US"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幼圆" pitchFamily="49" charset="-122"/>
              </a:rPr>
              <a:t>酸碱理论 </a:t>
            </a:r>
          </a:p>
        </p:txBody>
      </p:sp>
      <p:sp>
        <p:nvSpPr>
          <p:cNvPr id="178184" name="AutoShape 8"/>
          <p:cNvSpPr/>
          <p:nvPr/>
        </p:nvSpPr>
        <p:spPr>
          <a:xfrm>
            <a:off x="827088" y="1222377"/>
            <a:ext cx="6121400" cy="43180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pPr>
              <a:buClrTx/>
              <a:buFontTx/>
            </a:pPr>
            <a:r>
              <a:rPr lang="en-US" altLang="zh-CN" dirty="0">
                <a:latin typeface="Times New Roman" panose="02020603050405020304" pitchFamily="18" charset="0"/>
                <a:ea typeface="宋体" panose="02010600030101010101" pitchFamily="2" charset="-122"/>
              </a:rPr>
              <a:t>§3</a:t>
            </a:r>
            <a:r>
              <a:rPr lang="en-US" altLang="en-US"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幼圆" pitchFamily="49" charset="-122"/>
              </a:rPr>
              <a:t>水的性质和稀溶液的依数性 </a:t>
            </a:r>
          </a:p>
        </p:txBody>
      </p:sp>
      <p:sp>
        <p:nvSpPr>
          <p:cNvPr id="178185" name="AutoShape 9"/>
          <p:cNvSpPr/>
          <p:nvPr/>
        </p:nvSpPr>
        <p:spPr>
          <a:xfrm>
            <a:off x="755650" y="3327401"/>
            <a:ext cx="6192838" cy="379413"/>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pPr>
              <a:buClrTx/>
              <a:buFontTx/>
            </a:pPr>
            <a:r>
              <a:rPr lang="en-US" altLang="zh-CN" dirty="0">
                <a:latin typeface="Times New Roman" panose="02020603050405020304" pitchFamily="18" charset="0"/>
                <a:ea typeface="宋体" panose="02010600030101010101" pitchFamily="2" charset="-122"/>
              </a:rPr>
              <a:t>§3</a:t>
            </a:r>
            <a:r>
              <a:rPr lang="en-US" altLang="en-US"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幼圆" pitchFamily="49" charset="-122"/>
              </a:rPr>
              <a:t>难溶电解质的沉淀溶解平衡 </a:t>
            </a:r>
          </a:p>
        </p:txBody>
      </p:sp>
      <p:sp>
        <p:nvSpPr>
          <p:cNvPr id="178186" name="AutoShape 10"/>
          <p:cNvSpPr/>
          <p:nvPr/>
        </p:nvSpPr>
        <p:spPr>
          <a:xfrm>
            <a:off x="755650" y="4084638"/>
            <a:ext cx="6192838" cy="43180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pPr>
              <a:buClrTx/>
              <a:buFontTx/>
            </a:pPr>
            <a:r>
              <a:rPr lang="en-US" altLang="zh-CN" dirty="0">
                <a:latin typeface="Times New Roman" panose="02020603050405020304" pitchFamily="18" charset="0"/>
                <a:ea typeface="宋体" panose="02010600030101010101" pitchFamily="2" charset="-122"/>
              </a:rPr>
              <a:t>§3</a:t>
            </a:r>
            <a:r>
              <a:rPr lang="en-US" altLang="en-US" dirty="0">
                <a:latin typeface="Times New Roman" panose="02020603050405020304" pitchFamily="18" charset="0"/>
                <a:ea typeface="宋体" panose="02010600030101010101" pitchFamily="2" charset="-122"/>
              </a:rPr>
              <a:t>.5</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幼圆" pitchFamily="49" charset="-122"/>
              </a:rPr>
              <a:t>配位化合物和配离子的离解平衡 </a:t>
            </a:r>
          </a:p>
        </p:txBody>
      </p:sp>
      <p:sp>
        <p:nvSpPr>
          <p:cNvPr id="178187" name="AutoShape 11"/>
          <p:cNvSpPr/>
          <p:nvPr/>
        </p:nvSpPr>
        <p:spPr>
          <a:xfrm>
            <a:off x="755650" y="2625726"/>
            <a:ext cx="6121400" cy="431800"/>
          </a:xfrm>
          <a:prstGeom prst="roundRect">
            <a:avLst>
              <a:gd name="adj" fmla="val 16667"/>
            </a:avLst>
          </a:prstGeom>
          <a:solidFill>
            <a:srgbClr val="FFFF99"/>
          </a:solidFill>
          <a:ln w="9525" cap="flat" cmpd="sng">
            <a:solidFill>
              <a:schemeClr val="tx1"/>
            </a:solidFill>
            <a:prstDash val="solid"/>
            <a:round/>
            <a:headEnd type="none" w="med" len="med"/>
            <a:tailEnd type="none" w="med" len="med"/>
          </a:ln>
        </p:spPr>
        <p:txBody>
          <a:bodyPr wrap="none" anchor="ctr" anchorCtr="0"/>
          <a:lstStyle/>
          <a:p>
            <a:pPr>
              <a:buClrTx/>
              <a:buFontTx/>
            </a:pPr>
            <a:r>
              <a:rPr lang="en-US"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en-US" altLang="en-US"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幼圆" pitchFamily="49" charset="-122"/>
              </a:rPr>
              <a:t>弱电解质的离解平衡 </a:t>
            </a:r>
          </a:p>
        </p:txBody>
      </p:sp>
      <p:pic>
        <p:nvPicPr>
          <p:cNvPr id="36" name="图片 35"/>
          <p:cNvPicPr>
            <a:picLocks noChangeAspect="1"/>
          </p:cNvPicPr>
          <p:nvPr/>
        </p:nvPicPr>
        <p:blipFill>
          <a:blip r:embed="rId2" cstate="print"/>
          <a:srcRect t="23573" r="5916" b="13360"/>
          <a:stretch>
            <a:fillRect/>
          </a:stretch>
        </p:blipFill>
        <p:spPr>
          <a:xfrm>
            <a:off x="7524750" y="3220085"/>
            <a:ext cx="1557020" cy="1842135"/>
          </a:xfrm>
          <a:prstGeom prst="rect">
            <a:avLst/>
          </a:prstGeom>
          <a:effectLst>
            <a:outerShdw blurRad="50800" dist="50800" dir="600000" algn="ctr" rotWithShape="0">
              <a:srgbClr val="000000">
                <a:alpha val="0"/>
              </a:srgbClr>
            </a:outerShdw>
          </a:effectLst>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84"/>
                                        </p:tgtEl>
                                        <p:attrNameLst>
                                          <p:attrName>style.visibility</p:attrName>
                                        </p:attrNameLst>
                                      </p:cBhvr>
                                      <p:to>
                                        <p:strVal val="visible"/>
                                      </p:to>
                                    </p:set>
                                    <p:animEffect transition="in" filter="wipe(left)">
                                      <p:cBhvr>
                                        <p:cTn id="7" dur="500"/>
                                        <p:tgtEl>
                                          <p:spTgt spid="1781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183"/>
                                        </p:tgtEl>
                                        <p:attrNameLst>
                                          <p:attrName>style.visibility</p:attrName>
                                        </p:attrNameLst>
                                      </p:cBhvr>
                                      <p:to>
                                        <p:strVal val="visible"/>
                                      </p:to>
                                    </p:set>
                                    <p:animEffect transition="in" filter="wipe(left)">
                                      <p:cBhvr>
                                        <p:cTn id="12" dur="500"/>
                                        <p:tgtEl>
                                          <p:spTgt spid="1781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8187"/>
                                        </p:tgtEl>
                                        <p:attrNameLst>
                                          <p:attrName>style.visibility</p:attrName>
                                        </p:attrNameLst>
                                      </p:cBhvr>
                                      <p:to>
                                        <p:strVal val="visible"/>
                                      </p:to>
                                    </p:set>
                                    <p:animEffect transition="in" filter="wipe(left)">
                                      <p:cBhvr>
                                        <p:cTn id="17" dur="500"/>
                                        <p:tgtEl>
                                          <p:spTgt spid="1781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8185"/>
                                        </p:tgtEl>
                                        <p:attrNameLst>
                                          <p:attrName>style.visibility</p:attrName>
                                        </p:attrNameLst>
                                      </p:cBhvr>
                                      <p:to>
                                        <p:strVal val="visible"/>
                                      </p:to>
                                    </p:set>
                                    <p:animEffect transition="in" filter="wipe(left)">
                                      <p:cBhvr>
                                        <p:cTn id="22" dur="500"/>
                                        <p:tgtEl>
                                          <p:spTgt spid="1781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8186"/>
                                        </p:tgtEl>
                                        <p:attrNameLst>
                                          <p:attrName>style.visibility</p:attrName>
                                        </p:attrNameLst>
                                      </p:cBhvr>
                                      <p:to>
                                        <p:strVal val="visible"/>
                                      </p:to>
                                    </p:set>
                                    <p:animEffect transition="in" filter="wipe(left)">
                                      <p:cBhvr>
                                        <p:cTn id="27" dur="500"/>
                                        <p:tgtEl>
                                          <p:spTgt spid="178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3" grpId="0" animBg="1"/>
      <p:bldP spid="178184" grpId="0" animBg="1"/>
      <p:bldP spid="178185" grpId="0" animBg="1"/>
      <p:bldP spid="178186" grpId="0" animBg="1"/>
      <p:bldP spid="17818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10475C6-0CF4-63F3-9722-37884203D330}"/>
              </a:ext>
            </a:extLst>
          </p:cNvPr>
          <p:cNvPicPr>
            <a:picLocks noChangeAspect="1"/>
          </p:cNvPicPr>
          <p:nvPr/>
        </p:nvPicPr>
        <p:blipFill>
          <a:blip r:embed="rId2"/>
          <a:stretch>
            <a:fillRect/>
          </a:stretch>
        </p:blipFill>
        <p:spPr>
          <a:xfrm>
            <a:off x="4427984" y="1779662"/>
            <a:ext cx="3927906" cy="3096344"/>
          </a:xfrm>
          <a:prstGeom prst="rect">
            <a:avLst/>
          </a:prstGeom>
        </p:spPr>
      </p:pic>
      <p:sp>
        <p:nvSpPr>
          <p:cNvPr id="4" name="文本框 3">
            <a:extLst>
              <a:ext uri="{FF2B5EF4-FFF2-40B4-BE49-F238E27FC236}">
                <a16:creationId xmlns:a16="http://schemas.microsoft.com/office/drawing/2014/main" id="{FE6CE1CE-9099-6148-3705-8CF4F07A10BA}"/>
              </a:ext>
            </a:extLst>
          </p:cNvPr>
          <p:cNvSpPr txBox="1"/>
          <p:nvPr/>
        </p:nvSpPr>
        <p:spPr>
          <a:xfrm>
            <a:off x="323528" y="339502"/>
            <a:ext cx="1988045" cy="523220"/>
          </a:xfrm>
          <a:prstGeom prst="rect">
            <a:avLst/>
          </a:prstGeom>
          <a:noFill/>
        </p:spPr>
        <p:txBody>
          <a:bodyPr wrap="none" rtlCol="0">
            <a:spAutoFit/>
          </a:bodyPr>
          <a:lstStyle/>
          <a:p>
            <a:r>
              <a:rPr lang="zh-CN" altLang="en-US" dirty="0"/>
              <a:t>吉布斯相律</a:t>
            </a:r>
          </a:p>
        </p:txBody>
      </p:sp>
      <p:sp>
        <p:nvSpPr>
          <p:cNvPr id="7" name="文本框 6">
            <a:extLst>
              <a:ext uri="{FF2B5EF4-FFF2-40B4-BE49-F238E27FC236}">
                <a16:creationId xmlns:a16="http://schemas.microsoft.com/office/drawing/2014/main" id="{6E5122D2-0592-E63A-9D40-AF97E6F790A2}"/>
              </a:ext>
            </a:extLst>
          </p:cNvPr>
          <p:cNvSpPr txBox="1"/>
          <p:nvPr/>
        </p:nvSpPr>
        <p:spPr>
          <a:xfrm>
            <a:off x="323528" y="987574"/>
            <a:ext cx="6304931" cy="523220"/>
          </a:xfrm>
          <a:prstGeom prst="rect">
            <a:avLst/>
          </a:prstGeom>
          <a:noFill/>
        </p:spPr>
        <p:txBody>
          <a:bodyPr wrap="none" rtlCol="0">
            <a:spAutoFit/>
          </a:bodyPr>
          <a:lstStyle/>
          <a:p>
            <a:r>
              <a:rPr lang="zh-CN" altLang="en-US" dirty="0"/>
              <a:t>自由度</a:t>
            </a:r>
            <a:r>
              <a:rPr lang="en-US" altLang="zh-CN" dirty="0"/>
              <a:t>=</a:t>
            </a:r>
            <a:r>
              <a:rPr lang="zh-CN" altLang="en-US" dirty="0"/>
              <a:t>组分数</a:t>
            </a:r>
            <a:r>
              <a:rPr lang="en-US" altLang="zh-CN" dirty="0"/>
              <a:t>-</a:t>
            </a:r>
            <a:r>
              <a:rPr lang="zh-CN" altLang="en-US" dirty="0"/>
              <a:t>相数</a:t>
            </a:r>
            <a:r>
              <a:rPr lang="en-US" altLang="zh-CN" dirty="0"/>
              <a:t>+2</a:t>
            </a:r>
            <a:r>
              <a:rPr lang="zh-CN" altLang="en-US" dirty="0"/>
              <a:t>（温度、压力）</a:t>
            </a:r>
          </a:p>
        </p:txBody>
      </p:sp>
      <p:sp>
        <p:nvSpPr>
          <p:cNvPr id="8" name="文本框 7">
            <a:extLst>
              <a:ext uri="{FF2B5EF4-FFF2-40B4-BE49-F238E27FC236}">
                <a16:creationId xmlns:a16="http://schemas.microsoft.com/office/drawing/2014/main" id="{455B8EE2-D6BD-5A5E-45A3-8D7F8C6890A1}"/>
              </a:ext>
            </a:extLst>
          </p:cNvPr>
          <p:cNvSpPr txBox="1"/>
          <p:nvPr/>
        </p:nvSpPr>
        <p:spPr>
          <a:xfrm>
            <a:off x="107504" y="1923678"/>
            <a:ext cx="4873450" cy="523220"/>
          </a:xfrm>
          <a:prstGeom prst="rect">
            <a:avLst/>
          </a:prstGeom>
          <a:noFill/>
        </p:spPr>
        <p:txBody>
          <a:bodyPr wrap="none" rtlCol="0">
            <a:spAutoFit/>
          </a:bodyPr>
          <a:lstStyle/>
          <a:p>
            <a:r>
              <a:rPr lang="zh-CN" altLang="en-US" dirty="0"/>
              <a:t>思考题：单组份最多几个相？</a:t>
            </a:r>
          </a:p>
        </p:txBody>
      </p:sp>
    </p:spTree>
    <p:extLst>
      <p:ext uri="{BB962C8B-B14F-4D97-AF65-F5344CB8AC3E}">
        <p14:creationId xmlns:p14="http://schemas.microsoft.com/office/powerpoint/2010/main" val="1645204375"/>
      </p:ext>
    </p:extLst>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0C630C8-166C-C2B9-B8D8-50749DCC5AC6}"/>
              </a:ext>
            </a:extLst>
          </p:cNvPr>
          <p:cNvSpPr txBox="1"/>
          <p:nvPr/>
        </p:nvSpPr>
        <p:spPr>
          <a:xfrm>
            <a:off x="107504" y="195486"/>
            <a:ext cx="8640960" cy="707886"/>
          </a:xfrm>
          <a:prstGeom prst="rect">
            <a:avLst/>
          </a:prstGeom>
          <a:noFill/>
        </p:spPr>
        <p:txBody>
          <a:bodyPr wrap="square" rtlCol="0">
            <a:spAutoFit/>
          </a:bodyPr>
          <a:lstStyle/>
          <a:p>
            <a:pPr algn="just"/>
            <a:r>
              <a:rPr lang="zh-CN" altLang="en-US" sz="2000" dirty="0"/>
              <a:t>液体结构重要概念：粒子分布得到的密度修正函数 </a:t>
            </a:r>
            <a:r>
              <a:rPr lang="en-US" altLang="zh-CN" sz="2000" dirty="0"/>
              <a:t>g</a:t>
            </a:r>
          </a:p>
          <a:p>
            <a:pPr algn="just"/>
            <a:r>
              <a:rPr lang="zh-CN" altLang="en-US" sz="2000" dirty="0"/>
              <a:t>也叫做关联函数、概率密度函数</a:t>
            </a:r>
          </a:p>
        </p:txBody>
      </p:sp>
      <p:pic>
        <p:nvPicPr>
          <p:cNvPr id="4" name="图片 3">
            <a:extLst>
              <a:ext uri="{FF2B5EF4-FFF2-40B4-BE49-F238E27FC236}">
                <a16:creationId xmlns:a16="http://schemas.microsoft.com/office/drawing/2014/main" id="{4AB9BE9B-7D9C-D9D8-558E-16321FA9AF1D}"/>
              </a:ext>
            </a:extLst>
          </p:cNvPr>
          <p:cNvPicPr>
            <a:picLocks noChangeAspect="1"/>
          </p:cNvPicPr>
          <p:nvPr/>
        </p:nvPicPr>
        <p:blipFill>
          <a:blip r:embed="rId2"/>
          <a:stretch>
            <a:fillRect/>
          </a:stretch>
        </p:blipFill>
        <p:spPr>
          <a:xfrm>
            <a:off x="1475656" y="909917"/>
            <a:ext cx="4134427" cy="743054"/>
          </a:xfrm>
          <a:prstGeom prst="rect">
            <a:avLst/>
          </a:prstGeom>
        </p:spPr>
      </p:pic>
      <p:sp>
        <p:nvSpPr>
          <p:cNvPr id="5" name="文本框 4">
            <a:extLst>
              <a:ext uri="{FF2B5EF4-FFF2-40B4-BE49-F238E27FC236}">
                <a16:creationId xmlns:a16="http://schemas.microsoft.com/office/drawing/2014/main" id="{AFDEA7A8-E8EB-0107-EDA8-C7C90F114A96}"/>
              </a:ext>
            </a:extLst>
          </p:cNvPr>
          <p:cNvSpPr txBox="1"/>
          <p:nvPr/>
        </p:nvSpPr>
        <p:spPr>
          <a:xfrm>
            <a:off x="250222" y="1645821"/>
            <a:ext cx="5892960" cy="707886"/>
          </a:xfrm>
          <a:prstGeom prst="rect">
            <a:avLst/>
          </a:prstGeom>
          <a:noFill/>
        </p:spPr>
        <p:txBody>
          <a:bodyPr wrap="none" rtlCol="0">
            <a:spAutoFit/>
          </a:bodyPr>
          <a:lstStyle/>
          <a:p>
            <a:r>
              <a:rPr lang="zh-CN" altLang="en-US" sz="2000" dirty="0"/>
              <a:t>双粒子之间的密度修正函数可由光散射实验测定</a:t>
            </a:r>
            <a:endParaRPr lang="en-US" altLang="zh-CN" sz="2000" dirty="0"/>
          </a:p>
          <a:p>
            <a:r>
              <a:rPr lang="zh-CN" altLang="en-US" sz="2000" dirty="0"/>
              <a:t>也叫径向分布函数 </a:t>
            </a:r>
            <a:r>
              <a:rPr lang="en-US" altLang="zh-CN" sz="2000" dirty="0"/>
              <a:t>radial distribution function RDF</a:t>
            </a:r>
            <a:endParaRPr lang="zh-CN" altLang="en-US" sz="2000" dirty="0"/>
          </a:p>
        </p:txBody>
      </p:sp>
      <p:pic>
        <p:nvPicPr>
          <p:cNvPr id="7" name="图片 6">
            <a:extLst>
              <a:ext uri="{FF2B5EF4-FFF2-40B4-BE49-F238E27FC236}">
                <a16:creationId xmlns:a16="http://schemas.microsoft.com/office/drawing/2014/main" id="{2B330D32-AD95-B34A-7B54-FBAE8EE51FC5}"/>
              </a:ext>
            </a:extLst>
          </p:cNvPr>
          <p:cNvPicPr>
            <a:picLocks noChangeAspect="1"/>
          </p:cNvPicPr>
          <p:nvPr/>
        </p:nvPicPr>
        <p:blipFill>
          <a:blip r:embed="rId3"/>
          <a:stretch>
            <a:fillRect/>
          </a:stretch>
        </p:blipFill>
        <p:spPr>
          <a:xfrm>
            <a:off x="348009" y="2427734"/>
            <a:ext cx="4078287" cy="1852760"/>
          </a:xfrm>
          <a:prstGeom prst="rect">
            <a:avLst/>
          </a:prstGeom>
        </p:spPr>
      </p:pic>
      <p:pic>
        <p:nvPicPr>
          <p:cNvPr id="9" name="图片 8">
            <a:extLst>
              <a:ext uri="{FF2B5EF4-FFF2-40B4-BE49-F238E27FC236}">
                <a16:creationId xmlns:a16="http://schemas.microsoft.com/office/drawing/2014/main" id="{2FFB002C-FC83-0C20-9F18-4192168AA716}"/>
              </a:ext>
            </a:extLst>
          </p:cNvPr>
          <p:cNvPicPr>
            <a:picLocks noChangeAspect="1"/>
          </p:cNvPicPr>
          <p:nvPr/>
        </p:nvPicPr>
        <p:blipFill>
          <a:blip r:embed="rId4"/>
          <a:stretch>
            <a:fillRect/>
          </a:stretch>
        </p:blipFill>
        <p:spPr>
          <a:xfrm>
            <a:off x="4470993" y="3093809"/>
            <a:ext cx="4572000" cy="1980127"/>
          </a:xfrm>
          <a:prstGeom prst="rect">
            <a:avLst/>
          </a:prstGeom>
        </p:spPr>
      </p:pic>
      <p:sp>
        <p:nvSpPr>
          <p:cNvPr id="3" name="文本框 2">
            <a:extLst>
              <a:ext uri="{FF2B5EF4-FFF2-40B4-BE49-F238E27FC236}">
                <a16:creationId xmlns:a16="http://schemas.microsoft.com/office/drawing/2014/main" id="{FBCA5B12-9781-A8B4-13A3-BCB40098B2C0}"/>
              </a:ext>
            </a:extLst>
          </p:cNvPr>
          <p:cNvSpPr txBox="1"/>
          <p:nvPr/>
        </p:nvSpPr>
        <p:spPr>
          <a:xfrm>
            <a:off x="5724128" y="2353707"/>
            <a:ext cx="2709396" cy="523220"/>
          </a:xfrm>
          <a:prstGeom prst="rect">
            <a:avLst/>
          </a:prstGeom>
          <a:noFill/>
        </p:spPr>
        <p:txBody>
          <a:bodyPr wrap="none" rtlCol="0">
            <a:spAutoFit/>
          </a:bodyPr>
          <a:lstStyle/>
          <a:p>
            <a:r>
              <a:rPr lang="zh-CN" altLang="en-US" dirty="0">
                <a:solidFill>
                  <a:srgbClr val="FF0000"/>
                </a:solidFill>
              </a:rPr>
              <a:t>液体：壳层结构</a:t>
            </a:r>
          </a:p>
        </p:txBody>
      </p:sp>
      <p:sp>
        <p:nvSpPr>
          <p:cNvPr id="8" name="文本框 7">
            <a:extLst>
              <a:ext uri="{FF2B5EF4-FFF2-40B4-BE49-F238E27FC236}">
                <a16:creationId xmlns:a16="http://schemas.microsoft.com/office/drawing/2014/main" id="{2C3A7A3B-6AE4-1F06-196C-125738E5BB02}"/>
              </a:ext>
            </a:extLst>
          </p:cNvPr>
          <p:cNvSpPr txBox="1"/>
          <p:nvPr/>
        </p:nvSpPr>
        <p:spPr>
          <a:xfrm>
            <a:off x="467544" y="4305279"/>
            <a:ext cx="2507418" cy="707886"/>
          </a:xfrm>
          <a:prstGeom prst="rect">
            <a:avLst/>
          </a:prstGeom>
          <a:noFill/>
        </p:spPr>
        <p:txBody>
          <a:bodyPr wrap="none" rtlCol="0">
            <a:spAutoFit/>
          </a:bodyPr>
          <a:lstStyle/>
          <a:p>
            <a:r>
              <a:rPr lang="zh-CN" altLang="en-US" sz="2000" dirty="0">
                <a:solidFill>
                  <a:srgbClr val="FF0000"/>
                </a:solidFill>
              </a:rPr>
              <a:t>固体：晶格、玻璃态</a:t>
            </a:r>
            <a:endParaRPr lang="en-US" altLang="zh-CN" sz="2000" dirty="0">
              <a:solidFill>
                <a:srgbClr val="FF0000"/>
              </a:solidFill>
            </a:endParaRPr>
          </a:p>
          <a:p>
            <a:r>
              <a:rPr lang="zh-CN" altLang="en-US" sz="2000" dirty="0">
                <a:solidFill>
                  <a:srgbClr val="FF0000"/>
                </a:solidFill>
              </a:rPr>
              <a:t>声子、热容</a:t>
            </a:r>
          </a:p>
        </p:txBody>
      </p:sp>
    </p:spTree>
    <p:extLst>
      <p:ext uri="{BB962C8B-B14F-4D97-AF65-F5344CB8AC3E}">
        <p14:creationId xmlns:p14="http://schemas.microsoft.com/office/powerpoint/2010/main" val="1773733808"/>
      </p:ext>
    </p:extLst>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1D16907-F201-C0C0-9A44-CBD332F6D8D2}"/>
              </a:ext>
            </a:extLst>
          </p:cNvPr>
          <p:cNvSpPr txBox="1"/>
          <p:nvPr/>
        </p:nvSpPr>
        <p:spPr>
          <a:xfrm>
            <a:off x="467544" y="483518"/>
            <a:ext cx="1266693" cy="523220"/>
          </a:xfrm>
          <a:prstGeom prst="rect">
            <a:avLst/>
          </a:prstGeom>
          <a:noFill/>
        </p:spPr>
        <p:txBody>
          <a:bodyPr wrap="none" rtlCol="0">
            <a:spAutoFit/>
          </a:bodyPr>
          <a:lstStyle/>
          <a:p>
            <a:r>
              <a:rPr lang="zh-CN" altLang="en-US" dirty="0"/>
              <a:t>蒸汽压</a:t>
            </a:r>
          </a:p>
        </p:txBody>
      </p:sp>
      <p:pic>
        <p:nvPicPr>
          <p:cNvPr id="5" name="图片 4" descr="图表, 折线图&#10;&#10;AI 生成的内容可能不正确。">
            <a:extLst>
              <a:ext uri="{FF2B5EF4-FFF2-40B4-BE49-F238E27FC236}">
                <a16:creationId xmlns:a16="http://schemas.microsoft.com/office/drawing/2014/main" id="{08537456-4213-6A06-423C-1003F64EF6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699542"/>
            <a:ext cx="6906913" cy="4116893"/>
          </a:xfrm>
          <a:prstGeom prst="rect">
            <a:avLst/>
          </a:prstGeom>
        </p:spPr>
      </p:pic>
    </p:spTree>
    <p:extLst>
      <p:ext uri="{BB962C8B-B14F-4D97-AF65-F5344CB8AC3E}">
        <p14:creationId xmlns:p14="http://schemas.microsoft.com/office/powerpoint/2010/main" val="3643933190"/>
      </p:ext>
    </p:extLst>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文本, 信件&#10;&#10;AI 生成的内容可能不正确。">
            <a:extLst>
              <a:ext uri="{FF2B5EF4-FFF2-40B4-BE49-F238E27FC236}">
                <a16:creationId xmlns:a16="http://schemas.microsoft.com/office/drawing/2014/main" id="{92A5296B-6AD0-D7DE-E2D6-5D3EF2C92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878082"/>
            <a:ext cx="6333333" cy="4114286"/>
          </a:xfrm>
          <a:prstGeom prst="rect">
            <a:avLst/>
          </a:prstGeom>
        </p:spPr>
      </p:pic>
      <p:pic>
        <p:nvPicPr>
          <p:cNvPr id="4" name="图片 3" descr="图表, 折线图&#10;&#10;AI 生成的内容可能不正确。">
            <a:extLst>
              <a:ext uri="{FF2B5EF4-FFF2-40B4-BE49-F238E27FC236}">
                <a16:creationId xmlns:a16="http://schemas.microsoft.com/office/drawing/2014/main" id="{9D754ED4-0497-9623-7085-035EBBDA17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3529" y="123479"/>
            <a:ext cx="2778579" cy="1656183"/>
          </a:xfrm>
          <a:prstGeom prst="rect">
            <a:avLst/>
          </a:prstGeom>
        </p:spPr>
      </p:pic>
    </p:spTree>
    <p:extLst>
      <p:ext uri="{BB962C8B-B14F-4D97-AF65-F5344CB8AC3E}">
        <p14:creationId xmlns:p14="http://schemas.microsoft.com/office/powerpoint/2010/main" val="3549972555"/>
      </p:ext>
    </p:extLst>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CCDFC9C-B610-79AD-BD0F-74CFFAC77B14}"/>
              </a:ext>
            </a:extLst>
          </p:cNvPr>
          <p:cNvPicPr>
            <a:picLocks noChangeAspect="1"/>
          </p:cNvPicPr>
          <p:nvPr/>
        </p:nvPicPr>
        <p:blipFill>
          <a:blip r:embed="rId2"/>
          <a:stretch>
            <a:fillRect/>
          </a:stretch>
        </p:blipFill>
        <p:spPr>
          <a:xfrm>
            <a:off x="88636" y="771550"/>
            <a:ext cx="2257489" cy="2388834"/>
          </a:xfrm>
          <a:prstGeom prst="rect">
            <a:avLst/>
          </a:prstGeom>
        </p:spPr>
      </p:pic>
      <p:pic>
        <p:nvPicPr>
          <p:cNvPr id="5" name="图片 4">
            <a:extLst>
              <a:ext uri="{FF2B5EF4-FFF2-40B4-BE49-F238E27FC236}">
                <a16:creationId xmlns:a16="http://schemas.microsoft.com/office/drawing/2014/main" id="{EE684C59-2974-319E-854C-93D0F3AEAE4E}"/>
              </a:ext>
            </a:extLst>
          </p:cNvPr>
          <p:cNvPicPr>
            <a:picLocks noChangeAspect="1"/>
          </p:cNvPicPr>
          <p:nvPr/>
        </p:nvPicPr>
        <p:blipFill>
          <a:blip r:embed="rId3"/>
          <a:stretch>
            <a:fillRect/>
          </a:stretch>
        </p:blipFill>
        <p:spPr>
          <a:xfrm>
            <a:off x="2716420" y="1539090"/>
            <a:ext cx="6427580" cy="3242587"/>
          </a:xfrm>
          <a:prstGeom prst="rect">
            <a:avLst/>
          </a:prstGeom>
        </p:spPr>
      </p:pic>
      <p:sp>
        <p:nvSpPr>
          <p:cNvPr id="6" name="文本框 5">
            <a:extLst>
              <a:ext uri="{FF2B5EF4-FFF2-40B4-BE49-F238E27FC236}">
                <a16:creationId xmlns:a16="http://schemas.microsoft.com/office/drawing/2014/main" id="{D1111DDC-990B-45B1-38BF-910C7D6720E5}"/>
              </a:ext>
            </a:extLst>
          </p:cNvPr>
          <p:cNvSpPr txBox="1"/>
          <p:nvPr/>
        </p:nvSpPr>
        <p:spPr>
          <a:xfrm>
            <a:off x="247883" y="122845"/>
            <a:ext cx="4469493" cy="523220"/>
          </a:xfrm>
          <a:prstGeom prst="rect">
            <a:avLst/>
          </a:prstGeom>
          <a:noFill/>
        </p:spPr>
        <p:txBody>
          <a:bodyPr wrap="none" rtlCol="0">
            <a:spAutoFit/>
          </a:bodyPr>
          <a:lstStyle/>
          <a:p>
            <a:r>
              <a:rPr lang="zh-CN" altLang="en-US" dirty="0"/>
              <a:t>水的凝固点随压力上升下降</a:t>
            </a:r>
          </a:p>
        </p:txBody>
      </p:sp>
      <p:pic>
        <p:nvPicPr>
          <p:cNvPr id="8" name="图片 7">
            <a:extLst>
              <a:ext uri="{FF2B5EF4-FFF2-40B4-BE49-F238E27FC236}">
                <a16:creationId xmlns:a16="http://schemas.microsoft.com/office/drawing/2014/main" id="{99159B59-112D-6205-2EDE-2444BBDC6069}"/>
              </a:ext>
            </a:extLst>
          </p:cNvPr>
          <p:cNvPicPr>
            <a:picLocks noChangeAspect="1"/>
          </p:cNvPicPr>
          <p:nvPr/>
        </p:nvPicPr>
        <p:blipFill>
          <a:blip r:embed="rId4"/>
          <a:stretch>
            <a:fillRect/>
          </a:stretch>
        </p:blipFill>
        <p:spPr>
          <a:xfrm>
            <a:off x="502082" y="3579862"/>
            <a:ext cx="1886213" cy="1114581"/>
          </a:xfrm>
          <a:prstGeom prst="rect">
            <a:avLst/>
          </a:prstGeom>
        </p:spPr>
      </p:pic>
    </p:spTree>
    <p:extLst>
      <p:ext uri="{BB962C8B-B14F-4D97-AF65-F5344CB8AC3E}">
        <p14:creationId xmlns:p14="http://schemas.microsoft.com/office/powerpoint/2010/main" val="1518562742"/>
      </p:ext>
    </p:extLst>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BDBAD01-CA94-54FC-8822-21957DBC104A}"/>
              </a:ext>
            </a:extLst>
          </p:cNvPr>
          <p:cNvPicPr>
            <a:picLocks noChangeAspect="1"/>
          </p:cNvPicPr>
          <p:nvPr/>
        </p:nvPicPr>
        <p:blipFill>
          <a:blip r:embed="rId2"/>
          <a:stretch>
            <a:fillRect/>
          </a:stretch>
        </p:blipFill>
        <p:spPr>
          <a:xfrm>
            <a:off x="611559" y="1059582"/>
            <a:ext cx="2199843" cy="936104"/>
          </a:xfrm>
          <a:prstGeom prst="rect">
            <a:avLst/>
          </a:prstGeom>
        </p:spPr>
      </p:pic>
      <p:sp>
        <p:nvSpPr>
          <p:cNvPr id="4" name="文本框 3">
            <a:extLst>
              <a:ext uri="{FF2B5EF4-FFF2-40B4-BE49-F238E27FC236}">
                <a16:creationId xmlns:a16="http://schemas.microsoft.com/office/drawing/2014/main" id="{0E66D959-FE82-C91D-ABA2-D34528F4A76B}"/>
              </a:ext>
            </a:extLst>
          </p:cNvPr>
          <p:cNvSpPr txBox="1"/>
          <p:nvPr/>
        </p:nvSpPr>
        <p:spPr>
          <a:xfrm>
            <a:off x="467544" y="267494"/>
            <a:ext cx="3430747" cy="523220"/>
          </a:xfrm>
          <a:prstGeom prst="rect">
            <a:avLst/>
          </a:prstGeom>
          <a:noFill/>
        </p:spPr>
        <p:txBody>
          <a:bodyPr wrap="none" rtlCol="0">
            <a:spAutoFit/>
          </a:bodyPr>
          <a:lstStyle/>
          <a:p>
            <a:r>
              <a:rPr lang="zh-CN" altLang="en-US" dirty="0"/>
              <a:t>加压对蒸汽压的影响</a:t>
            </a:r>
          </a:p>
        </p:txBody>
      </p:sp>
    </p:spTree>
    <p:extLst>
      <p:ext uri="{BB962C8B-B14F-4D97-AF65-F5344CB8AC3E}">
        <p14:creationId xmlns:p14="http://schemas.microsoft.com/office/powerpoint/2010/main" val="787452174"/>
      </p:ext>
    </p:extLst>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E0C01B5-B990-CE79-8993-516B54D648EA}"/>
              </a:ext>
            </a:extLst>
          </p:cNvPr>
          <p:cNvPicPr>
            <a:picLocks noChangeAspect="1"/>
          </p:cNvPicPr>
          <p:nvPr/>
        </p:nvPicPr>
        <p:blipFill>
          <a:blip r:embed="rId2"/>
          <a:stretch>
            <a:fillRect/>
          </a:stretch>
        </p:blipFill>
        <p:spPr>
          <a:xfrm>
            <a:off x="611560" y="915566"/>
            <a:ext cx="1066949" cy="638264"/>
          </a:xfrm>
          <a:prstGeom prst="rect">
            <a:avLst/>
          </a:prstGeom>
        </p:spPr>
      </p:pic>
      <p:sp>
        <p:nvSpPr>
          <p:cNvPr id="5" name="文本框 4">
            <a:extLst>
              <a:ext uri="{FF2B5EF4-FFF2-40B4-BE49-F238E27FC236}">
                <a16:creationId xmlns:a16="http://schemas.microsoft.com/office/drawing/2014/main" id="{2C5D0CFA-FEBB-3B72-E842-9EC90BA68A93}"/>
              </a:ext>
            </a:extLst>
          </p:cNvPr>
          <p:cNvSpPr txBox="1"/>
          <p:nvPr/>
        </p:nvSpPr>
        <p:spPr>
          <a:xfrm>
            <a:off x="395536" y="267494"/>
            <a:ext cx="1988045" cy="523220"/>
          </a:xfrm>
          <a:prstGeom prst="rect">
            <a:avLst/>
          </a:prstGeom>
          <a:noFill/>
        </p:spPr>
        <p:txBody>
          <a:bodyPr wrap="none" rtlCol="0">
            <a:spAutoFit/>
          </a:bodyPr>
          <a:lstStyle/>
          <a:p>
            <a:r>
              <a:rPr lang="zh-CN" altLang="en-US" dirty="0"/>
              <a:t>温度的影响</a:t>
            </a:r>
          </a:p>
        </p:txBody>
      </p:sp>
      <p:pic>
        <p:nvPicPr>
          <p:cNvPr id="7" name="图片 6">
            <a:extLst>
              <a:ext uri="{FF2B5EF4-FFF2-40B4-BE49-F238E27FC236}">
                <a16:creationId xmlns:a16="http://schemas.microsoft.com/office/drawing/2014/main" id="{4F31F04B-9722-0DCB-3DC5-40CC8AD33A6B}"/>
              </a:ext>
            </a:extLst>
          </p:cNvPr>
          <p:cNvPicPr>
            <a:picLocks noChangeAspect="1"/>
          </p:cNvPicPr>
          <p:nvPr/>
        </p:nvPicPr>
        <p:blipFill>
          <a:blip r:embed="rId2"/>
          <a:stretch>
            <a:fillRect/>
          </a:stretch>
        </p:blipFill>
        <p:spPr>
          <a:xfrm>
            <a:off x="3505051" y="2238328"/>
            <a:ext cx="1066949" cy="638264"/>
          </a:xfrm>
          <a:prstGeom prst="rect">
            <a:avLst/>
          </a:prstGeom>
        </p:spPr>
      </p:pic>
      <p:pic>
        <p:nvPicPr>
          <p:cNvPr id="9" name="图片 8">
            <a:extLst>
              <a:ext uri="{FF2B5EF4-FFF2-40B4-BE49-F238E27FC236}">
                <a16:creationId xmlns:a16="http://schemas.microsoft.com/office/drawing/2014/main" id="{4482FAE8-9276-E3E4-1D17-7A1192ACFAF8}"/>
              </a:ext>
            </a:extLst>
          </p:cNvPr>
          <p:cNvPicPr>
            <a:picLocks noChangeAspect="1"/>
          </p:cNvPicPr>
          <p:nvPr/>
        </p:nvPicPr>
        <p:blipFill>
          <a:blip r:embed="rId3"/>
          <a:stretch>
            <a:fillRect/>
          </a:stretch>
        </p:blipFill>
        <p:spPr>
          <a:xfrm>
            <a:off x="5076056" y="2238328"/>
            <a:ext cx="2038635" cy="666843"/>
          </a:xfrm>
          <a:prstGeom prst="rect">
            <a:avLst/>
          </a:prstGeom>
        </p:spPr>
      </p:pic>
      <p:sp>
        <p:nvSpPr>
          <p:cNvPr id="10" name="文本框 9">
            <a:extLst>
              <a:ext uri="{FF2B5EF4-FFF2-40B4-BE49-F238E27FC236}">
                <a16:creationId xmlns:a16="http://schemas.microsoft.com/office/drawing/2014/main" id="{C36C8AE2-0918-BE60-4493-8F902D33269B}"/>
              </a:ext>
            </a:extLst>
          </p:cNvPr>
          <p:cNvSpPr txBox="1"/>
          <p:nvPr/>
        </p:nvSpPr>
        <p:spPr>
          <a:xfrm>
            <a:off x="611560" y="2355726"/>
            <a:ext cx="1266693" cy="523220"/>
          </a:xfrm>
          <a:prstGeom prst="rect">
            <a:avLst/>
          </a:prstGeom>
          <a:noFill/>
        </p:spPr>
        <p:txBody>
          <a:bodyPr wrap="none" rtlCol="0">
            <a:spAutoFit/>
          </a:bodyPr>
          <a:lstStyle/>
          <a:p>
            <a:r>
              <a:rPr lang="zh-CN" altLang="en-US" dirty="0"/>
              <a:t>固液：</a:t>
            </a:r>
          </a:p>
        </p:txBody>
      </p:sp>
      <p:pic>
        <p:nvPicPr>
          <p:cNvPr id="12" name="图片 11">
            <a:extLst>
              <a:ext uri="{FF2B5EF4-FFF2-40B4-BE49-F238E27FC236}">
                <a16:creationId xmlns:a16="http://schemas.microsoft.com/office/drawing/2014/main" id="{39ECE3F2-1762-1739-2037-E936D3E92EC6}"/>
              </a:ext>
            </a:extLst>
          </p:cNvPr>
          <p:cNvPicPr>
            <a:picLocks noChangeAspect="1"/>
          </p:cNvPicPr>
          <p:nvPr/>
        </p:nvPicPr>
        <p:blipFill>
          <a:blip r:embed="rId4"/>
          <a:stretch>
            <a:fillRect/>
          </a:stretch>
        </p:blipFill>
        <p:spPr>
          <a:xfrm>
            <a:off x="1810812" y="1707654"/>
            <a:ext cx="1284057" cy="1461168"/>
          </a:xfrm>
          <a:prstGeom prst="rect">
            <a:avLst/>
          </a:prstGeom>
        </p:spPr>
      </p:pic>
      <p:sp>
        <p:nvSpPr>
          <p:cNvPr id="13" name="文本框 12">
            <a:extLst>
              <a:ext uri="{FF2B5EF4-FFF2-40B4-BE49-F238E27FC236}">
                <a16:creationId xmlns:a16="http://schemas.microsoft.com/office/drawing/2014/main" id="{6956DA63-F35D-804B-0822-AF00B0362C08}"/>
              </a:ext>
            </a:extLst>
          </p:cNvPr>
          <p:cNvSpPr txBox="1"/>
          <p:nvPr/>
        </p:nvSpPr>
        <p:spPr>
          <a:xfrm>
            <a:off x="539552" y="3795886"/>
            <a:ext cx="922047" cy="523220"/>
          </a:xfrm>
          <a:prstGeom prst="rect">
            <a:avLst/>
          </a:prstGeom>
          <a:noFill/>
        </p:spPr>
        <p:txBody>
          <a:bodyPr wrap="none" rtlCol="0">
            <a:spAutoFit/>
          </a:bodyPr>
          <a:lstStyle/>
          <a:p>
            <a:r>
              <a:rPr lang="zh-CN" altLang="en-US" dirty="0"/>
              <a:t>气液</a:t>
            </a:r>
          </a:p>
        </p:txBody>
      </p:sp>
      <p:pic>
        <p:nvPicPr>
          <p:cNvPr id="15" name="图片 14">
            <a:extLst>
              <a:ext uri="{FF2B5EF4-FFF2-40B4-BE49-F238E27FC236}">
                <a16:creationId xmlns:a16="http://schemas.microsoft.com/office/drawing/2014/main" id="{7A9289E7-1451-14CE-C62F-D3EE6A5000D0}"/>
              </a:ext>
            </a:extLst>
          </p:cNvPr>
          <p:cNvPicPr>
            <a:picLocks noChangeAspect="1"/>
          </p:cNvPicPr>
          <p:nvPr/>
        </p:nvPicPr>
        <p:blipFill>
          <a:blip r:embed="rId5"/>
          <a:stretch>
            <a:fillRect/>
          </a:stretch>
        </p:blipFill>
        <p:spPr>
          <a:xfrm>
            <a:off x="1741033" y="3368797"/>
            <a:ext cx="1355217" cy="1365037"/>
          </a:xfrm>
          <a:prstGeom prst="rect">
            <a:avLst/>
          </a:prstGeom>
        </p:spPr>
      </p:pic>
      <p:pic>
        <p:nvPicPr>
          <p:cNvPr id="17" name="图片 16">
            <a:extLst>
              <a:ext uri="{FF2B5EF4-FFF2-40B4-BE49-F238E27FC236}">
                <a16:creationId xmlns:a16="http://schemas.microsoft.com/office/drawing/2014/main" id="{313E229D-5693-803E-06A5-43AE06300793}"/>
              </a:ext>
            </a:extLst>
          </p:cNvPr>
          <p:cNvPicPr>
            <a:picLocks noChangeAspect="1"/>
          </p:cNvPicPr>
          <p:nvPr/>
        </p:nvPicPr>
        <p:blipFill>
          <a:blip r:embed="rId6"/>
          <a:stretch>
            <a:fillRect/>
          </a:stretch>
        </p:blipFill>
        <p:spPr>
          <a:xfrm>
            <a:off x="3409787" y="3651870"/>
            <a:ext cx="1257475" cy="571580"/>
          </a:xfrm>
          <a:prstGeom prst="rect">
            <a:avLst/>
          </a:prstGeom>
        </p:spPr>
      </p:pic>
      <p:pic>
        <p:nvPicPr>
          <p:cNvPr id="19" name="图片 18">
            <a:extLst>
              <a:ext uri="{FF2B5EF4-FFF2-40B4-BE49-F238E27FC236}">
                <a16:creationId xmlns:a16="http://schemas.microsoft.com/office/drawing/2014/main" id="{026F92FE-7297-B849-16E3-4869F424127A}"/>
              </a:ext>
            </a:extLst>
          </p:cNvPr>
          <p:cNvPicPr>
            <a:picLocks noChangeAspect="1"/>
          </p:cNvPicPr>
          <p:nvPr/>
        </p:nvPicPr>
        <p:blipFill>
          <a:blip r:embed="rId7"/>
          <a:stretch>
            <a:fillRect/>
          </a:stretch>
        </p:blipFill>
        <p:spPr>
          <a:xfrm>
            <a:off x="5220072" y="3651870"/>
            <a:ext cx="1476581" cy="571580"/>
          </a:xfrm>
          <a:prstGeom prst="rect">
            <a:avLst/>
          </a:prstGeom>
        </p:spPr>
      </p:pic>
    </p:spTree>
    <p:extLst>
      <p:ext uri="{BB962C8B-B14F-4D97-AF65-F5344CB8AC3E}">
        <p14:creationId xmlns:p14="http://schemas.microsoft.com/office/powerpoint/2010/main" val="2316660808"/>
      </p:ext>
    </p:extLst>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Text Box 9"/>
          <p:cNvSpPr txBox="1"/>
          <p:nvPr/>
        </p:nvSpPr>
        <p:spPr>
          <a:xfrm>
            <a:off x="6" y="911225"/>
            <a:ext cx="4126865" cy="523220"/>
          </a:xfrm>
          <a:prstGeom prst="rect">
            <a:avLst/>
          </a:prstGeom>
          <a:solidFill>
            <a:schemeClr val="accent1"/>
          </a:solidFill>
          <a:ln w="9525">
            <a:noFill/>
          </a:ln>
          <a:effectLst>
            <a:prstShdw prst="shdw17" dist="17961" dir="13499999">
              <a:srgbClr val="5C5C99"/>
            </a:prstShdw>
          </a:effectLst>
        </p:spPr>
        <p:txBody>
          <a:bodyPr wrap="square" anchor="t" anchorCtr="0">
            <a:spAutoFit/>
          </a:bodyPr>
          <a:lstStyle/>
          <a:p>
            <a:pPr>
              <a:spcBef>
                <a:spcPct val="50000"/>
              </a:spcBef>
              <a:buClrTx/>
              <a:buFontTx/>
            </a:pPr>
            <a:r>
              <a:rPr lang="en-US" altLang="zh-CN" dirty="0">
                <a:latin typeface="华文新魏" pitchFamily="2" charset="-122"/>
                <a:ea typeface="华文新魏" pitchFamily="2" charset="-122"/>
              </a:rPr>
              <a:t>3.1.1 </a:t>
            </a:r>
            <a:r>
              <a:rPr lang="zh-CN" altLang="en-US" dirty="0">
                <a:latin typeface="华文新魏" pitchFamily="2" charset="-122"/>
                <a:ea typeface="华文新魏" pitchFamily="2" charset="-122"/>
              </a:rPr>
              <a:t>水的性质和应用</a:t>
            </a:r>
            <a:r>
              <a:rPr lang="zh-CN" altLang="en-US" b="0" dirty="0">
                <a:latin typeface="Arial" panose="020B0604020202020204" pitchFamily="34" charset="0"/>
                <a:ea typeface="宋体" panose="02010600030101010101" pitchFamily="2" charset="-122"/>
              </a:rPr>
              <a:t> </a:t>
            </a:r>
          </a:p>
        </p:txBody>
      </p:sp>
      <p:sp>
        <p:nvSpPr>
          <p:cNvPr id="27658" name="Text Box 10"/>
          <p:cNvSpPr txBox="1"/>
          <p:nvPr/>
        </p:nvSpPr>
        <p:spPr>
          <a:xfrm>
            <a:off x="250827" y="1978028"/>
            <a:ext cx="2735263" cy="584775"/>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3200" b="0" dirty="0">
                <a:solidFill>
                  <a:srgbClr val="0000FF"/>
                </a:solidFill>
                <a:latin typeface="华文新魏" pitchFamily="2" charset="-122"/>
                <a:ea typeface="华文新魏" pitchFamily="2" charset="-122"/>
              </a:rPr>
              <a:t>水的团簇结构 </a:t>
            </a:r>
          </a:p>
        </p:txBody>
      </p:sp>
      <p:pic>
        <p:nvPicPr>
          <p:cNvPr id="27660" name="Picture 12" descr="1"/>
          <p:cNvPicPr>
            <a:picLocks noChangeAspect="1"/>
          </p:cNvPicPr>
          <p:nvPr/>
        </p:nvPicPr>
        <p:blipFill>
          <a:blip r:embed="rId2"/>
          <a:stretch>
            <a:fillRect/>
          </a:stretch>
        </p:blipFill>
        <p:spPr>
          <a:xfrm>
            <a:off x="1331919" y="2519366"/>
            <a:ext cx="2808287" cy="2052637"/>
          </a:xfrm>
          <a:prstGeom prst="rect">
            <a:avLst/>
          </a:prstGeom>
          <a:noFill/>
          <a:ln w="9525">
            <a:noFill/>
          </a:ln>
        </p:spPr>
      </p:pic>
      <p:pic>
        <p:nvPicPr>
          <p:cNvPr id="27659" name="Picture 11" descr="2"/>
          <p:cNvPicPr>
            <a:picLocks noChangeAspect="1"/>
          </p:cNvPicPr>
          <p:nvPr/>
        </p:nvPicPr>
        <p:blipFill>
          <a:blip r:embed="rId3"/>
          <a:stretch>
            <a:fillRect/>
          </a:stretch>
        </p:blipFill>
        <p:spPr>
          <a:xfrm>
            <a:off x="5076825" y="2463800"/>
            <a:ext cx="2952750" cy="1998663"/>
          </a:xfrm>
          <a:prstGeom prst="rect">
            <a:avLst/>
          </a:prstGeom>
          <a:noFill/>
          <a:ln w="9525">
            <a:noFill/>
          </a:ln>
        </p:spPr>
      </p:pic>
      <p:sp>
        <p:nvSpPr>
          <p:cNvPr id="27662" name="Rectangle 14"/>
          <p:cNvSpPr>
            <a:spLocks noChangeArrowheads="1"/>
          </p:cNvSpPr>
          <p:nvPr/>
        </p:nvSpPr>
        <p:spPr bwMode="auto">
          <a:xfrm>
            <a:off x="4351428" y="2396256"/>
            <a:ext cx="441146" cy="246221"/>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3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663" name="Rectangle 15"/>
          <p:cNvSpPr>
            <a:spLocks noChangeArrowheads="1"/>
          </p:cNvSpPr>
          <p:nvPr/>
        </p:nvSpPr>
        <p:spPr bwMode="auto">
          <a:xfrm>
            <a:off x="1331913" y="4573558"/>
            <a:ext cx="6192838" cy="400110"/>
          </a:xfrm>
          <a:prstGeom prst="rect">
            <a:avLst/>
          </a:prstGeom>
          <a:noFill/>
          <a:ln>
            <a:noFill/>
          </a:ln>
          <a:effectLst>
            <a:prstShdw prst="shdw18" dist="17961" dir="13500000">
              <a:schemeClr val="accent1">
                <a:gamma/>
                <a:shade val="60000"/>
                <a:invGamma/>
              </a:schemeClr>
            </a:prstShdw>
          </a:effec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水团簇的稳定结构                                   </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冰的结构</a:t>
            </a:r>
            <a:endParaRPr kumimoji="0" lang="zh-CN" altLang="en-US"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665" name="Rectangle 17"/>
          <p:cNvSpPr/>
          <p:nvPr/>
        </p:nvSpPr>
        <p:spPr>
          <a:xfrm>
            <a:off x="755656" y="1425110"/>
            <a:ext cx="1717137" cy="523220"/>
          </a:xfrm>
          <a:prstGeom prst="rect">
            <a:avLst/>
          </a:prstGeom>
          <a:noFill/>
          <a:ln w="9525">
            <a:noFill/>
          </a:ln>
        </p:spPr>
        <p:txBody>
          <a:bodyPr wrap="none" anchor="ctr" anchorCtr="0">
            <a:spAutoFit/>
          </a:bodyPr>
          <a:lstStyle/>
          <a:p>
            <a:pPr eaLnBrk="0" hangingPunct="0">
              <a:buClrTx/>
              <a:buFontTx/>
            </a:pPr>
            <a:r>
              <a:rPr lang="zh-CN" altLang="en-US" dirty="0">
                <a:latin typeface="Times New Roman" panose="02020603050405020304" pitchFamily="18" charset="0"/>
                <a:ea typeface="幼圆" pitchFamily="49" charset="-122"/>
              </a:rPr>
              <a:t>廉价溶剂 </a:t>
            </a:r>
          </a:p>
        </p:txBody>
      </p:sp>
      <p:sp>
        <p:nvSpPr>
          <p:cNvPr id="27666" name="Rectangle 18"/>
          <p:cNvSpPr/>
          <p:nvPr/>
        </p:nvSpPr>
        <p:spPr>
          <a:xfrm>
            <a:off x="2771776" y="1425110"/>
            <a:ext cx="2799164" cy="523220"/>
          </a:xfrm>
          <a:prstGeom prst="rect">
            <a:avLst/>
          </a:prstGeom>
          <a:noFill/>
          <a:ln w="9525">
            <a:noFill/>
          </a:ln>
        </p:spPr>
        <p:txBody>
          <a:bodyPr wrap="none" anchor="ctr" anchorCtr="0">
            <a:spAutoFit/>
          </a:bodyPr>
          <a:lstStyle/>
          <a:p>
            <a:pPr eaLnBrk="0" hangingPunct="0">
              <a:buClrTx/>
              <a:buFontTx/>
            </a:pPr>
            <a:r>
              <a:rPr lang="zh-CN" altLang="en-US" dirty="0">
                <a:latin typeface="Times New Roman" panose="02020603050405020304" pitchFamily="18" charset="0"/>
                <a:ea typeface="幼圆" pitchFamily="49" charset="-122"/>
                <a:hlinkClick r:id="rId4" action="ppaction://hlinkfile"/>
              </a:rPr>
              <a:t>氢键</a:t>
            </a:r>
            <a:r>
              <a:rPr lang="zh-CN" altLang="en-US" dirty="0">
                <a:latin typeface="Times New Roman" panose="02020603050405020304" pitchFamily="18" charset="0"/>
                <a:ea typeface="幼圆" pitchFamily="49" charset="-122"/>
              </a:rPr>
              <a:t>而发生缔合 </a:t>
            </a:r>
          </a:p>
        </p:txBody>
      </p:sp>
      <p:sp>
        <p:nvSpPr>
          <p:cNvPr id="27667" name="Rectangle 19"/>
          <p:cNvSpPr/>
          <p:nvPr/>
        </p:nvSpPr>
        <p:spPr>
          <a:xfrm>
            <a:off x="5724525" y="1425110"/>
            <a:ext cx="2618024" cy="523220"/>
          </a:xfrm>
          <a:prstGeom prst="rect">
            <a:avLst/>
          </a:prstGeom>
          <a:noFill/>
          <a:ln w="9525">
            <a:noFill/>
          </a:ln>
        </p:spPr>
        <p:txBody>
          <a:bodyPr wrap="none" anchor="ctr" anchorCtr="0">
            <a:spAutoFit/>
          </a:bodyPr>
          <a:lstStyle/>
          <a:p>
            <a:pPr eaLnBrk="0" hangingPunct="0">
              <a:buClrTx/>
              <a:buFontTx/>
            </a:pPr>
            <a:r>
              <a:rPr lang="en-US" altLang="zh-CN" dirty="0">
                <a:latin typeface="Times New Roman" panose="02020603050405020304" pitchFamily="18" charset="0"/>
                <a:ea typeface="幼圆" pitchFamily="49" charset="-122"/>
              </a:rPr>
              <a:t>4℃</a:t>
            </a:r>
            <a:r>
              <a:rPr lang="zh-CN" altLang="en-US" dirty="0">
                <a:latin typeface="Times New Roman" panose="02020603050405020304" pitchFamily="18" charset="0"/>
                <a:ea typeface="幼圆" pitchFamily="49" charset="-122"/>
              </a:rPr>
              <a:t>时密度最大 </a:t>
            </a:r>
          </a:p>
        </p:txBody>
      </p:sp>
      <p:sp>
        <p:nvSpPr>
          <p:cNvPr id="12" name="Rectangle 2"/>
          <p:cNvSpPr>
            <a:spLocks noChangeArrowheads="1"/>
          </p:cNvSpPr>
          <p:nvPr/>
        </p:nvSpPr>
        <p:spPr bwMode="auto">
          <a:xfrm>
            <a:off x="9525" y="190500"/>
            <a:ext cx="9144000" cy="541338"/>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0" fontAlgn="base" latinLnBrk="0" hangingPunct="0">
              <a:lnSpc>
                <a:spcPct val="115000"/>
              </a:lnSpc>
              <a:spcBef>
                <a:spcPct val="0"/>
              </a:spcBef>
              <a:spcAft>
                <a:spcPct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rPr>
              <a:t>§</a:t>
            </a:r>
            <a:r>
              <a:rPr kumimoji="0" lang="en-US" altLang="zh-CN" sz="36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 3.1 </a:t>
            </a:r>
            <a:r>
              <a:rPr kumimoji="0" lang="zh-CN" altLang="en-US" sz="36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水的性质和稀溶液的依数性</a:t>
            </a:r>
            <a:endParaRPr kumimoji="0" lang="zh-CN" altLang="en-US" sz="3600" b="1" i="0" u="none" strike="noStrike" kern="1200" cap="none" spc="0" normalizeH="0" baseline="0" noProof="0" dirty="0">
              <a:ln>
                <a:noFill/>
              </a:ln>
              <a:solidFill>
                <a:schemeClr val="bg1"/>
              </a:solidFill>
              <a:effectLst/>
              <a:uLnTx/>
              <a:uFillTx/>
              <a:latin typeface="Times New Roman" panose="02020603050405020304" pitchFamily="18" charset="0"/>
              <a:ea typeface="幼圆"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2"/>
                                        </p:tgtEl>
                                        <p:attrNameLst>
                                          <p:attrName>ppt_y</p:attrName>
                                        </p:attrNameLst>
                                      </p:cBhvr>
                                      <p:tavLst>
                                        <p:tav tm="0">
                                          <p:val>
                                            <p:strVal val="#ppt_y"/>
                                          </p:val>
                                        </p:tav>
                                        <p:tav tm="100000">
                                          <p:val>
                                            <p:strVal val="#ppt_y"/>
                                          </p:val>
                                        </p:tav>
                                      </p:tavLst>
                                    </p:anim>
                                    <p:anim calcmode="lin" valueType="num">
                                      <p:cBhvr>
                                        <p:cTn id="9"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7657"/>
                                        </p:tgtEl>
                                        <p:attrNameLst>
                                          <p:attrName>style.visibility</p:attrName>
                                        </p:attrNameLst>
                                      </p:cBhvr>
                                      <p:to>
                                        <p:strVal val="visible"/>
                                      </p:to>
                                    </p:set>
                                    <p:animEffect transition="in" filter="box(in)">
                                      <p:cBhvr>
                                        <p:cTn id="16" dur="500"/>
                                        <p:tgtEl>
                                          <p:spTgt spid="2765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7665"/>
                                        </p:tgtEl>
                                        <p:attrNameLst>
                                          <p:attrName>style.visibility</p:attrName>
                                        </p:attrNameLst>
                                      </p:cBhvr>
                                      <p:to>
                                        <p:strVal val="visible"/>
                                      </p:to>
                                    </p:set>
                                    <p:animEffect transition="in" filter="wipe(left)">
                                      <p:cBhvr>
                                        <p:cTn id="21" dur="500"/>
                                        <p:tgtEl>
                                          <p:spTgt spid="2766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7666"/>
                                        </p:tgtEl>
                                        <p:attrNameLst>
                                          <p:attrName>style.visibility</p:attrName>
                                        </p:attrNameLst>
                                      </p:cBhvr>
                                      <p:to>
                                        <p:strVal val="visible"/>
                                      </p:to>
                                    </p:set>
                                    <p:animEffect transition="in" filter="wipe(left)">
                                      <p:cBhvr>
                                        <p:cTn id="26" dur="500"/>
                                        <p:tgtEl>
                                          <p:spTgt spid="27666"/>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27658"/>
                                        </p:tgtEl>
                                        <p:attrNameLst>
                                          <p:attrName>style.visibility</p:attrName>
                                        </p:attrNameLst>
                                      </p:cBhvr>
                                      <p:to>
                                        <p:strVal val="visible"/>
                                      </p:to>
                                    </p:set>
                                    <p:animEffect transition="in" filter="diamond(in)">
                                      <p:cBhvr>
                                        <p:cTn id="31" dur="2000"/>
                                        <p:tgtEl>
                                          <p:spTgt spid="27658"/>
                                        </p:tgtEl>
                                      </p:cBhvr>
                                    </p:animEffect>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nodeType="clickEffect">
                                  <p:stCondLst>
                                    <p:cond delay="0"/>
                                  </p:stCondLst>
                                  <p:childTnLst>
                                    <p:set>
                                      <p:cBhvr>
                                        <p:cTn id="35" dur="1" fill="hold">
                                          <p:stCondLst>
                                            <p:cond delay="0"/>
                                          </p:stCondLst>
                                        </p:cTn>
                                        <p:tgtEl>
                                          <p:spTgt spid="27660"/>
                                        </p:tgtEl>
                                        <p:attrNameLst>
                                          <p:attrName>style.visibility</p:attrName>
                                        </p:attrNameLst>
                                      </p:cBhvr>
                                      <p:to>
                                        <p:strVal val="visible"/>
                                      </p:to>
                                    </p:set>
                                    <p:animEffect transition="in" filter="diamond(in)">
                                      <p:cBhvr>
                                        <p:cTn id="36" dur="2000"/>
                                        <p:tgtEl>
                                          <p:spTgt spid="27660"/>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ntr" presetSubtype="16" fill="hold" nodeType="clickEffect">
                                  <p:stCondLst>
                                    <p:cond delay="0"/>
                                  </p:stCondLst>
                                  <p:childTnLst>
                                    <p:set>
                                      <p:cBhvr>
                                        <p:cTn id="40" dur="1" fill="hold">
                                          <p:stCondLst>
                                            <p:cond delay="0"/>
                                          </p:stCondLst>
                                        </p:cTn>
                                        <p:tgtEl>
                                          <p:spTgt spid="27659"/>
                                        </p:tgtEl>
                                        <p:attrNameLst>
                                          <p:attrName>style.visibility</p:attrName>
                                        </p:attrNameLst>
                                      </p:cBhvr>
                                      <p:to>
                                        <p:strVal val="visible"/>
                                      </p:to>
                                    </p:set>
                                    <p:animEffect transition="in" filter="diamond(in)">
                                      <p:cBhvr>
                                        <p:cTn id="41" dur="2000"/>
                                        <p:tgtEl>
                                          <p:spTgt spid="27659"/>
                                        </p:tgtEl>
                                      </p:cBhvr>
                                    </p:animEffect>
                                  </p:childTnLst>
                                </p:cTn>
                              </p:par>
                            </p:childTnLst>
                          </p:cTn>
                        </p:par>
                      </p:childTnLst>
                    </p:cTn>
                  </p:par>
                  <p:par>
                    <p:cTn id="42" fill="hold">
                      <p:stCondLst>
                        <p:cond delay="indefinite"/>
                      </p:stCondLst>
                      <p:childTnLst>
                        <p:par>
                          <p:cTn id="43" fill="hold">
                            <p:stCondLst>
                              <p:cond delay="0"/>
                            </p:stCondLst>
                            <p:childTnLst>
                              <p:par>
                                <p:cTn id="44" presetID="8" presetClass="entr" presetSubtype="16" fill="hold" grpId="0" nodeType="clickEffect">
                                  <p:stCondLst>
                                    <p:cond delay="0"/>
                                  </p:stCondLst>
                                  <p:childTnLst>
                                    <p:set>
                                      <p:cBhvr>
                                        <p:cTn id="45" dur="1" fill="hold">
                                          <p:stCondLst>
                                            <p:cond delay="0"/>
                                          </p:stCondLst>
                                        </p:cTn>
                                        <p:tgtEl>
                                          <p:spTgt spid="27663"/>
                                        </p:tgtEl>
                                        <p:attrNameLst>
                                          <p:attrName>style.visibility</p:attrName>
                                        </p:attrNameLst>
                                      </p:cBhvr>
                                      <p:to>
                                        <p:strVal val="visible"/>
                                      </p:to>
                                    </p:set>
                                    <p:animEffect transition="in" filter="diamond(in)">
                                      <p:cBhvr>
                                        <p:cTn id="46" dur="2000"/>
                                        <p:tgtEl>
                                          <p:spTgt spid="2766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7667"/>
                                        </p:tgtEl>
                                        <p:attrNameLst>
                                          <p:attrName>style.visibility</p:attrName>
                                        </p:attrNameLst>
                                      </p:cBhvr>
                                      <p:to>
                                        <p:strVal val="visible"/>
                                      </p:to>
                                    </p:set>
                                    <p:animEffect transition="in" filter="wipe(left)">
                                      <p:cBhvr>
                                        <p:cTn id="51" dur="500"/>
                                        <p:tgtEl>
                                          <p:spTgt spid="27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bldLvl="0" animBg="1"/>
      <p:bldP spid="27658" grpId="0"/>
      <p:bldP spid="27663" grpId="0"/>
      <p:bldP spid="27665" grpId="0"/>
      <p:bldP spid="27666" grpId="0"/>
      <p:bldP spid="2766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9" name="Rectangle 31"/>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2" name="Group 38"/>
          <p:cNvGrpSpPr/>
          <p:nvPr/>
        </p:nvGrpSpPr>
        <p:grpSpPr>
          <a:xfrm>
            <a:off x="684219" y="841373"/>
            <a:ext cx="7056437" cy="584595"/>
            <a:chOff x="204" y="1159"/>
            <a:chExt cx="4445" cy="490"/>
          </a:xfrm>
        </p:grpSpPr>
        <p:sp>
          <p:nvSpPr>
            <p:cNvPr id="20483" name="Text Box 29"/>
            <p:cNvSpPr txBox="1"/>
            <p:nvPr/>
          </p:nvSpPr>
          <p:spPr>
            <a:xfrm>
              <a:off x="204" y="1159"/>
              <a:ext cx="4445" cy="490"/>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en-US" altLang="zh-CN" sz="3200" dirty="0">
                  <a:latin typeface="Arial" panose="020B0604020202020204" pitchFamily="34" charset="0"/>
                  <a:ea typeface="宋体" panose="02010600030101010101" pitchFamily="2" charset="-122"/>
                </a:rPr>
                <a:t>                   </a:t>
              </a:r>
              <a:r>
                <a:rPr lang="en-US" altLang="zh-CN" sz="3200" dirty="0">
                  <a:latin typeface="Times New Roman" panose="02020603050405020304" pitchFamily="18" charset="0"/>
                  <a:ea typeface="宋体" panose="02010600030101010101" pitchFamily="2" charset="-122"/>
                </a:rPr>
                <a:t>H</a:t>
              </a:r>
              <a:r>
                <a:rPr lang="en-US" altLang="zh-CN" sz="3200" baseline="-25000" dirty="0">
                  <a:latin typeface="Times New Roman" panose="02020603050405020304" pitchFamily="18" charset="0"/>
                  <a:ea typeface="宋体" panose="02010600030101010101" pitchFamily="2" charset="-122"/>
                </a:rPr>
                <a:t>2</a:t>
              </a:r>
              <a:r>
                <a:rPr lang="en-US" altLang="zh-CN" sz="3200" dirty="0">
                  <a:latin typeface="Times New Roman" panose="02020603050405020304" pitchFamily="18" charset="0"/>
                  <a:ea typeface="宋体" panose="02010600030101010101" pitchFamily="2" charset="-122"/>
                </a:rPr>
                <a:t>O         H</a:t>
              </a:r>
              <a:r>
                <a:rPr lang="en-US" altLang="zh-CN" sz="3200" baseline="30000"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rPr>
                <a:t> + OH</a:t>
              </a:r>
              <a:r>
                <a:rPr lang="en-US" altLang="zh-CN" sz="3200" baseline="30000" dirty="0">
                  <a:latin typeface="Times New Roman" panose="02020603050405020304" pitchFamily="18" charset="0"/>
                  <a:ea typeface="宋体" panose="02010600030101010101" pitchFamily="2" charset="-122"/>
                </a:rPr>
                <a:t>-</a:t>
              </a:r>
              <a:endParaRPr lang="zh-CN" altLang="en-US" sz="3200" baseline="30000" dirty="0">
                <a:latin typeface="Times New Roman" panose="02020603050405020304" pitchFamily="18" charset="0"/>
                <a:ea typeface="宋体" panose="02010600030101010101" pitchFamily="2" charset="-122"/>
              </a:endParaRPr>
            </a:p>
          </p:txBody>
        </p:sp>
        <p:graphicFrame>
          <p:nvGraphicFramePr>
            <p:cNvPr id="20484" name="Object 34"/>
            <p:cNvGraphicFramePr>
              <a:graphicFrameLocks noChangeAspect="1"/>
            </p:cNvGraphicFramePr>
            <p:nvPr/>
          </p:nvGraphicFramePr>
          <p:xfrm>
            <a:off x="2154" y="1327"/>
            <a:ext cx="408" cy="106"/>
          </p:xfrm>
          <a:graphic>
            <a:graphicData uri="http://schemas.openxmlformats.org/presentationml/2006/ole">
              <mc:AlternateContent xmlns:mc="http://schemas.openxmlformats.org/markup-compatibility/2006">
                <mc:Choice xmlns:v="urn:schemas-microsoft-com:vml" Requires="v">
                  <p:oleObj r:id="rId2" imgW="1087120" imgH="200660" progId="ChemDraw.Document.4.5">
                    <p:embed/>
                  </p:oleObj>
                </mc:Choice>
                <mc:Fallback>
                  <p:oleObj r:id="rId2" imgW="1087120" imgH="200660" progId="ChemDraw.Document.4.5">
                    <p:embed/>
                    <p:pic>
                      <p:nvPicPr>
                        <p:cNvPr id="0" name="图片 3075"/>
                        <p:cNvPicPr/>
                        <p:nvPr/>
                      </p:nvPicPr>
                      <p:blipFill>
                        <a:blip r:embed="rId3"/>
                        <a:stretch>
                          <a:fillRect/>
                        </a:stretch>
                      </p:blipFill>
                      <p:spPr>
                        <a:xfrm>
                          <a:off x="2154" y="1327"/>
                          <a:ext cx="408" cy="106"/>
                        </a:xfrm>
                        <a:prstGeom prst="rect">
                          <a:avLst/>
                        </a:prstGeom>
                        <a:noFill/>
                        <a:ln w="38100">
                          <a:noFill/>
                          <a:miter/>
                        </a:ln>
                      </p:spPr>
                    </p:pic>
                  </p:oleObj>
                </mc:Fallback>
              </mc:AlternateContent>
            </a:graphicData>
          </a:graphic>
        </p:graphicFrame>
      </p:grpSp>
      <p:sp>
        <p:nvSpPr>
          <p:cNvPr id="20485" name="Text Box 39"/>
          <p:cNvSpPr txBox="1"/>
          <p:nvPr/>
        </p:nvSpPr>
        <p:spPr>
          <a:xfrm>
            <a:off x="323850" y="303216"/>
            <a:ext cx="2160588" cy="584775"/>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3200" b="0" dirty="0">
                <a:solidFill>
                  <a:srgbClr val="0000FF"/>
                </a:solidFill>
                <a:latin typeface="Arial" panose="020B0604020202020204" pitchFamily="34" charset="0"/>
                <a:ea typeface="华文新魏" pitchFamily="2" charset="-122"/>
              </a:rPr>
              <a:t>微弱解离</a:t>
            </a:r>
          </a:p>
        </p:txBody>
      </p:sp>
      <p:sp>
        <p:nvSpPr>
          <p:cNvPr id="2091" name="Text Box 43"/>
          <p:cNvSpPr txBox="1"/>
          <p:nvPr/>
        </p:nvSpPr>
        <p:spPr>
          <a:xfrm>
            <a:off x="250831" y="1928816"/>
            <a:ext cx="3529013" cy="584775"/>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3200" b="0" dirty="0">
                <a:solidFill>
                  <a:srgbClr val="0000FF"/>
                </a:solidFill>
                <a:latin typeface="Arial" panose="020B0604020202020204" pitchFamily="34" charset="0"/>
                <a:ea typeface="华文新魏" pitchFamily="2" charset="-122"/>
              </a:rPr>
              <a:t>水的三相变化</a:t>
            </a:r>
          </a:p>
        </p:txBody>
      </p:sp>
      <p:grpSp>
        <p:nvGrpSpPr>
          <p:cNvPr id="3" name="Group 62"/>
          <p:cNvGrpSpPr/>
          <p:nvPr/>
        </p:nvGrpSpPr>
        <p:grpSpPr>
          <a:xfrm>
            <a:off x="323850" y="2608266"/>
            <a:ext cx="7488238" cy="2439592"/>
            <a:chOff x="204" y="1888"/>
            <a:chExt cx="4717" cy="2050"/>
          </a:xfrm>
        </p:grpSpPr>
        <p:grpSp>
          <p:nvGrpSpPr>
            <p:cNvPr id="20488" name="Group 60"/>
            <p:cNvGrpSpPr/>
            <p:nvPr/>
          </p:nvGrpSpPr>
          <p:grpSpPr>
            <a:xfrm>
              <a:off x="204" y="1888"/>
              <a:ext cx="4717" cy="2050"/>
              <a:chOff x="204" y="1888"/>
              <a:chExt cx="4717" cy="2050"/>
            </a:xfrm>
          </p:grpSpPr>
          <p:sp>
            <p:nvSpPr>
              <p:cNvPr id="20489" name="Text Box 44"/>
              <p:cNvSpPr txBox="1"/>
              <p:nvPr/>
            </p:nvSpPr>
            <p:spPr>
              <a:xfrm>
                <a:off x="204" y="2205"/>
                <a:ext cx="4717" cy="1733"/>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3200" b="0" dirty="0">
                    <a:latin typeface="Arial" panose="020B0604020202020204" pitchFamily="34" charset="0"/>
                    <a:ea typeface="宋体" panose="02010600030101010101" pitchFamily="2" charset="-122"/>
                  </a:rPr>
                  <a:t>    </a:t>
                </a:r>
              </a:p>
              <a:p>
                <a:pPr>
                  <a:spcBef>
                    <a:spcPct val="50000"/>
                  </a:spcBef>
                  <a:buClrTx/>
                  <a:buFontTx/>
                </a:pPr>
                <a:r>
                  <a:rPr lang="zh-CN" altLang="en-US" sz="3200" b="0" dirty="0">
                    <a:latin typeface="Arial" panose="020B0604020202020204" pitchFamily="34" charset="0"/>
                    <a:ea typeface="宋体" panose="02010600030101010101" pitchFamily="2" charset="-122"/>
                  </a:rPr>
                  <a:t>     </a:t>
                </a:r>
                <a:r>
                  <a:rPr lang="zh-CN" altLang="en-US" sz="3200" dirty="0">
                    <a:latin typeface="Arial" panose="020B0604020202020204" pitchFamily="34" charset="0"/>
                    <a:ea typeface="宋体" panose="02010600030101010101" pitchFamily="2" charset="-122"/>
                  </a:rPr>
                  <a:t>水</a:t>
                </a:r>
                <a:r>
                  <a:rPr lang="en-US" altLang="zh-CN" sz="3200" dirty="0">
                    <a:latin typeface="Times New Roman" panose="02020603050405020304" pitchFamily="18" charset="0"/>
                    <a:ea typeface="宋体" panose="02010600030101010101" pitchFamily="2" charset="-122"/>
                  </a:rPr>
                  <a:t>(g)</a:t>
                </a:r>
                <a:r>
                  <a:rPr lang="en-US" altLang="zh-CN" sz="3200" dirty="0">
                    <a:latin typeface="Arial" panose="020B0604020202020204" pitchFamily="34" charset="0"/>
                    <a:ea typeface="宋体" panose="02010600030101010101" pitchFamily="2" charset="-122"/>
                  </a:rPr>
                  <a:t>                 </a:t>
                </a:r>
                <a:r>
                  <a:rPr lang="zh-CN" altLang="en-US" sz="3200" dirty="0">
                    <a:latin typeface="Arial" panose="020B0604020202020204" pitchFamily="34" charset="0"/>
                    <a:ea typeface="宋体" panose="02010600030101010101" pitchFamily="2" charset="-122"/>
                  </a:rPr>
                  <a:t>水</a:t>
                </a:r>
                <a:r>
                  <a:rPr lang="en-US" altLang="zh-CN" sz="3200" dirty="0">
                    <a:latin typeface="Times New Roman" panose="02020603050405020304" pitchFamily="18" charset="0"/>
                    <a:ea typeface="宋体" panose="02010600030101010101" pitchFamily="2" charset="-122"/>
                  </a:rPr>
                  <a:t>(l)</a:t>
                </a:r>
                <a:r>
                  <a:rPr lang="en-US" altLang="zh-CN" sz="3200" dirty="0">
                    <a:latin typeface="Arial" panose="020B0604020202020204" pitchFamily="34" charset="0"/>
                    <a:ea typeface="宋体" panose="02010600030101010101" pitchFamily="2" charset="-122"/>
                  </a:rPr>
                  <a:t>                  </a:t>
                </a:r>
                <a:r>
                  <a:rPr lang="zh-CN" altLang="en-US" sz="3200" dirty="0">
                    <a:latin typeface="Arial" panose="020B0604020202020204" pitchFamily="34" charset="0"/>
                    <a:ea typeface="宋体" panose="02010600030101010101" pitchFamily="2" charset="-122"/>
                  </a:rPr>
                  <a:t>冰</a:t>
                </a:r>
                <a:r>
                  <a:rPr lang="en-US" altLang="zh-CN" sz="3200" dirty="0">
                    <a:latin typeface="Times New Roman" panose="02020603050405020304" pitchFamily="18" charset="0"/>
                    <a:ea typeface="宋体" panose="02010600030101010101" pitchFamily="2" charset="-122"/>
                  </a:rPr>
                  <a:t>(s)</a:t>
                </a:r>
              </a:p>
              <a:p>
                <a:pPr>
                  <a:spcBef>
                    <a:spcPct val="50000"/>
                  </a:spcBef>
                  <a:buClrTx/>
                  <a:buFontTx/>
                </a:pPr>
                <a:endParaRPr lang="zh-CN" altLang="en-US" sz="3200" dirty="0">
                  <a:latin typeface="Arial" panose="020B0604020202020204" pitchFamily="34" charset="0"/>
                  <a:ea typeface="宋体" panose="02010600030101010101" pitchFamily="2" charset="-122"/>
                </a:endParaRPr>
              </a:p>
            </p:txBody>
          </p:sp>
          <p:grpSp>
            <p:nvGrpSpPr>
              <p:cNvPr id="20490" name="Group 52"/>
              <p:cNvGrpSpPr/>
              <p:nvPr/>
            </p:nvGrpSpPr>
            <p:grpSpPr>
              <a:xfrm>
                <a:off x="1474" y="2478"/>
                <a:ext cx="725" cy="796"/>
                <a:chOff x="1474" y="2478"/>
                <a:chExt cx="725" cy="796"/>
              </a:xfrm>
            </p:grpSpPr>
            <p:grpSp>
              <p:nvGrpSpPr>
                <p:cNvPr id="20491" name="Group 50"/>
                <p:cNvGrpSpPr/>
                <p:nvPr/>
              </p:nvGrpSpPr>
              <p:grpSpPr>
                <a:xfrm>
                  <a:off x="1474" y="2478"/>
                  <a:ext cx="725" cy="423"/>
                  <a:chOff x="1474" y="2478"/>
                  <a:chExt cx="725" cy="423"/>
                </a:xfrm>
              </p:grpSpPr>
              <p:graphicFrame>
                <p:nvGraphicFramePr>
                  <p:cNvPr id="20492" name="Object 47"/>
                  <p:cNvGraphicFramePr>
                    <a:graphicFrameLocks noChangeAspect="1"/>
                  </p:cNvGraphicFramePr>
                  <p:nvPr/>
                </p:nvGraphicFramePr>
                <p:xfrm>
                  <a:off x="1474" y="2750"/>
                  <a:ext cx="725" cy="151"/>
                </p:xfrm>
                <a:graphic>
                  <a:graphicData uri="http://schemas.openxmlformats.org/presentationml/2006/ole">
                    <mc:AlternateContent xmlns:mc="http://schemas.openxmlformats.org/markup-compatibility/2006">
                      <mc:Choice xmlns:v="urn:schemas-microsoft-com:vml" Requires="v">
                        <p:oleObj r:id="rId4" imgW="960120" imgH="200660" progId="ChemDraw.Document.4.5">
                          <p:embed/>
                        </p:oleObj>
                      </mc:Choice>
                      <mc:Fallback>
                        <p:oleObj r:id="rId4" imgW="960120" imgH="200660" progId="ChemDraw.Document.4.5">
                          <p:embed/>
                          <p:pic>
                            <p:nvPicPr>
                              <p:cNvPr id="0" name="图片 3076"/>
                              <p:cNvPicPr/>
                              <p:nvPr/>
                            </p:nvPicPr>
                            <p:blipFill>
                              <a:blip r:embed="rId5"/>
                              <a:stretch>
                                <a:fillRect/>
                              </a:stretch>
                            </p:blipFill>
                            <p:spPr>
                              <a:xfrm>
                                <a:off x="1474" y="2750"/>
                                <a:ext cx="725" cy="151"/>
                              </a:xfrm>
                              <a:prstGeom prst="rect">
                                <a:avLst/>
                              </a:prstGeom>
                              <a:noFill/>
                              <a:ln w="38100">
                                <a:noFill/>
                                <a:miter/>
                              </a:ln>
                            </p:spPr>
                          </p:pic>
                        </p:oleObj>
                      </mc:Fallback>
                    </mc:AlternateContent>
                  </a:graphicData>
                </a:graphic>
              </p:graphicFrame>
              <p:sp>
                <p:nvSpPr>
                  <p:cNvPr id="20493" name="Text Box 48"/>
                  <p:cNvSpPr txBox="1"/>
                  <p:nvPr/>
                </p:nvSpPr>
                <p:spPr>
                  <a:xfrm>
                    <a:off x="1565" y="2478"/>
                    <a:ext cx="506" cy="388"/>
                  </a:xfrm>
                  <a:prstGeom prst="rect">
                    <a:avLst/>
                  </a:prstGeom>
                  <a:noFill/>
                  <a:ln w="9525">
                    <a:noFill/>
                  </a:ln>
                </p:spPr>
                <p:txBody>
                  <a:bodyPr wrap="none"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凝聚</a:t>
                    </a:r>
                  </a:p>
                </p:txBody>
              </p:sp>
            </p:grpSp>
            <p:sp>
              <p:nvSpPr>
                <p:cNvPr id="20494" name="Text Box 49"/>
                <p:cNvSpPr txBox="1"/>
                <p:nvPr/>
              </p:nvSpPr>
              <p:spPr>
                <a:xfrm>
                  <a:off x="1565" y="2886"/>
                  <a:ext cx="506" cy="388"/>
                </a:xfrm>
                <a:prstGeom prst="rect">
                  <a:avLst/>
                </a:prstGeom>
                <a:noFill/>
                <a:ln w="9525">
                  <a:noFill/>
                </a:ln>
              </p:spPr>
              <p:txBody>
                <a:bodyPr wrap="none"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蒸发</a:t>
                  </a:r>
                </a:p>
              </p:txBody>
            </p:sp>
          </p:grpSp>
          <p:grpSp>
            <p:nvGrpSpPr>
              <p:cNvPr id="20495" name="Group 53"/>
              <p:cNvGrpSpPr/>
              <p:nvPr/>
            </p:nvGrpSpPr>
            <p:grpSpPr>
              <a:xfrm>
                <a:off x="3198" y="2478"/>
                <a:ext cx="725" cy="796"/>
                <a:chOff x="1474" y="2478"/>
                <a:chExt cx="725" cy="796"/>
              </a:xfrm>
            </p:grpSpPr>
            <p:grpSp>
              <p:nvGrpSpPr>
                <p:cNvPr id="20496" name="Group 54"/>
                <p:cNvGrpSpPr/>
                <p:nvPr/>
              </p:nvGrpSpPr>
              <p:grpSpPr>
                <a:xfrm>
                  <a:off x="1474" y="2478"/>
                  <a:ext cx="725" cy="423"/>
                  <a:chOff x="1474" y="2478"/>
                  <a:chExt cx="725" cy="423"/>
                </a:xfrm>
              </p:grpSpPr>
              <p:graphicFrame>
                <p:nvGraphicFramePr>
                  <p:cNvPr id="20497" name="Object 55"/>
                  <p:cNvGraphicFramePr>
                    <a:graphicFrameLocks noChangeAspect="1"/>
                  </p:cNvGraphicFramePr>
                  <p:nvPr/>
                </p:nvGraphicFramePr>
                <p:xfrm>
                  <a:off x="1474" y="2750"/>
                  <a:ext cx="725" cy="151"/>
                </p:xfrm>
                <a:graphic>
                  <a:graphicData uri="http://schemas.openxmlformats.org/presentationml/2006/ole">
                    <mc:AlternateContent xmlns:mc="http://schemas.openxmlformats.org/markup-compatibility/2006">
                      <mc:Choice xmlns:v="urn:schemas-microsoft-com:vml" Requires="v">
                        <p:oleObj r:id="rId6" imgW="960120" imgH="200660" progId="ChemDraw.Document.4.5">
                          <p:embed/>
                        </p:oleObj>
                      </mc:Choice>
                      <mc:Fallback>
                        <p:oleObj r:id="rId6" imgW="960120" imgH="200660" progId="ChemDraw.Document.4.5">
                          <p:embed/>
                          <p:pic>
                            <p:nvPicPr>
                              <p:cNvPr id="0" name="图片 3077"/>
                              <p:cNvPicPr/>
                              <p:nvPr/>
                            </p:nvPicPr>
                            <p:blipFill>
                              <a:blip r:embed="rId5"/>
                              <a:stretch>
                                <a:fillRect/>
                              </a:stretch>
                            </p:blipFill>
                            <p:spPr>
                              <a:xfrm>
                                <a:off x="1474" y="2750"/>
                                <a:ext cx="725" cy="151"/>
                              </a:xfrm>
                              <a:prstGeom prst="rect">
                                <a:avLst/>
                              </a:prstGeom>
                              <a:noFill/>
                              <a:ln w="38100">
                                <a:noFill/>
                                <a:miter/>
                              </a:ln>
                            </p:spPr>
                          </p:pic>
                        </p:oleObj>
                      </mc:Fallback>
                    </mc:AlternateContent>
                  </a:graphicData>
                </a:graphic>
              </p:graphicFrame>
              <p:sp>
                <p:nvSpPr>
                  <p:cNvPr id="20498" name="Text Box 56"/>
                  <p:cNvSpPr txBox="1"/>
                  <p:nvPr/>
                </p:nvSpPr>
                <p:spPr>
                  <a:xfrm>
                    <a:off x="1565" y="2478"/>
                    <a:ext cx="506" cy="388"/>
                  </a:xfrm>
                  <a:prstGeom prst="rect">
                    <a:avLst/>
                  </a:prstGeom>
                  <a:noFill/>
                  <a:ln w="9525">
                    <a:noFill/>
                  </a:ln>
                </p:spPr>
                <p:txBody>
                  <a:bodyPr wrap="none"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凝固</a:t>
                    </a:r>
                  </a:p>
                </p:txBody>
              </p:sp>
            </p:grpSp>
            <p:sp>
              <p:nvSpPr>
                <p:cNvPr id="20499" name="Text Box 57"/>
                <p:cNvSpPr txBox="1"/>
                <p:nvPr/>
              </p:nvSpPr>
              <p:spPr>
                <a:xfrm>
                  <a:off x="1565" y="2886"/>
                  <a:ext cx="506" cy="388"/>
                </a:xfrm>
                <a:prstGeom prst="rect">
                  <a:avLst/>
                </a:prstGeom>
                <a:noFill/>
                <a:ln w="9525">
                  <a:noFill/>
                </a:ln>
              </p:spPr>
              <p:txBody>
                <a:bodyPr wrap="none"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熔解</a:t>
                  </a:r>
                </a:p>
              </p:txBody>
            </p:sp>
          </p:grpSp>
          <p:pic>
            <p:nvPicPr>
              <p:cNvPr id="20500" name="Picture 59"/>
              <p:cNvPicPr>
                <a:picLocks noChangeAspect="1"/>
              </p:cNvPicPr>
              <p:nvPr/>
            </p:nvPicPr>
            <p:blipFill>
              <a:blip r:embed="rId7"/>
              <a:stretch>
                <a:fillRect/>
              </a:stretch>
            </p:blipFill>
            <p:spPr>
              <a:xfrm>
                <a:off x="748" y="1888"/>
                <a:ext cx="4038" cy="648"/>
              </a:xfrm>
              <a:prstGeom prst="rect">
                <a:avLst/>
              </a:prstGeom>
              <a:noFill/>
              <a:ln w="9525">
                <a:noFill/>
              </a:ln>
            </p:spPr>
          </p:pic>
        </p:grpSp>
        <p:sp>
          <p:nvSpPr>
            <p:cNvPr id="20501" name="Text Box 61"/>
            <p:cNvSpPr txBox="1"/>
            <p:nvPr/>
          </p:nvSpPr>
          <p:spPr>
            <a:xfrm>
              <a:off x="1519" y="3294"/>
              <a:ext cx="2813" cy="388"/>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2400" dirty="0">
                  <a:solidFill>
                    <a:srgbClr val="9900CC"/>
                  </a:solidFill>
                  <a:latin typeface="Arial" panose="020B0604020202020204" pitchFamily="34" charset="0"/>
                  <a:ea typeface="宋体" panose="02010600030101010101" pitchFamily="2" charset="-122"/>
                </a:rPr>
                <a:t>沸点                          凝固点</a:t>
              </a:r>
            </a:p>
          </p:txBody>
        </p:sp>
      </p:grpSp>
      <p:grpSp>
        <p:nvGrpSpPr>
          <p:cNvPr id="9" name="Group 65"/>
          <p:cNvGrpSpPr/>
          <p:nvPr/>
        </p:nvGrpSpPr>
        <p:grpSpPr>
          <a:xfrm>
            <a:off x="466731" y="1371603"/>
            <a:ext cx="7993063" cy="577851"/>
            <a:chOff x="165" y="1071"/>
            <a:chExt cx="5035" cy="485"/>
          </a:xfrm>
        </p:grpSpPr>
        <p:sp>
          <p:nvSpPr>
            <p:cNvPr id="20503" name="Text Box 40"/>
            <p:cNvSpPr txBox="1"/>
            <p:nvPr/>
          </p:nvSpPr>
          <p:spPr>
            <a:xfrm>
              <a:off x="165" y="1117"/>
              <a:ext cx="5035" cy="439"/>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en-US" altLang="zh-CN" dirty="0">
                  <a:latin typeface="Times New Roman" panose="02020603050405020304" pitchFamily="18" charset="0"/>
                  <a:ea typeface="宋体" panose="02010600030101010101" pitchFamily="2" charset="-122"/>
                </a:rPr>
                <a:t>298.15K</a:t>
              </a:r>
              <a:r>
                <a:rPr lang="zh-CN" altLang="en-US" dirty="0">
                  <a:latin typeface="Times New Roman" panose="02020603050405020304" pitchFamily="18" charset="0"/>
                  <a:ea typeface="宋体" panose="02010600030101010101" pitchFamily="2" charset="-122"/>
                </a:rPr>
                <a:t>时，</a:t>
              </a:r>
              <a:r>
                <a:rPr lang="en-US" altLang="zh-CN" i="1" dirty="0">
                  <a:latin typeface="Times New Roman" panose="02020603050405020304" pitchFamily="18" charset="0"/>
                  <a:ea typeface="宋体" panose="02010600030101010101" pitchFamily="2" charset="-122"/>
                </a:rPr>
                <a:t>K</a:t>
              </a:r>
              <a:r>
                <a:rPr lang="en-US" altLang="zh-CN" baseline="-25000"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(H</a:t>
              </a:r>
              <a:r>
                <a:rPr lang="en-US" altLang="zh-CN" baseline="300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 }{</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(OH</a:t>
              </a:r>
              <a:r>
                <a:rPr lang="en-US" altLang="zh-CN" baseline="300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/c }=1.0×10</a:t>
              </a:r>
              <a:r>
                <a:rPr lang="en-US" altLang="zh-CN" baseline="30000" dirty="0">
                  <a:latin typeface="Times New Roman" panose="02020603050405020304" pitchFamily="18" charset="0"/>
                  <a:ea typeface="宋体" panose="02010600030101010101" pitchFamily="2" charset="-122"/>
                </a:rPr>
                <a:t>-14</a:t>
              </a:r>
              <a:r>
                <a:rPr lang="zh-CN" altLang="en-US" dirty="0">
                  <a:latin typeface="Times New Roman" panose="02020603050405020304" pitchFamily="18" charset="0"/>
                  <a:ea typeface="宋体" panose="02010600030101010101" pitchFamily="2" charset="-122"/>
                </a:rPr>
                <a:t>  </a:t>
              </a:r>
            </a:p>
          </p:txBody>
        </p:sp>
        <p:sp>
          <p:nvSpPr>
            <p:cNvPr id="20504" name="Rectangle 41"/>
            <p:cNvSpPr/>
            <p:nvPr/>
          </p:nvSpPr>
          <p:spPr>
            <a:xfrm>
              <a:off x="1519" y="1071"/>
              <a:ext cx="182" cy="336"/>
            </a:xfrm>
            <a:prstGeom prst="rect">
              <a:avLst/>
            </a:prstGeom>
            <a:noFill/>
            <a:ln w="9525">
              <a:noFill/>
            </a:ln>
          </p:spPr>
          <p:txBody>
            <a:bodyPr anchor="t" anchorCtr="0">
              <a:spAutoFit/>
            </a:bodyPr>
            <a:lstStyle/>
            <a:p>
              <a:pPr>
                <a:buClrTx/>
                <a:buFontTx/>
              </a:pPr>
              <a:r>
                <a:rPr lang="zh-CN" altLang="en-US" sz="2000" b="0" dirty="0">
                  <a:latin typeface="Arial" panose="020B0604020202020204" pitchFamily="34" charset="0"/>
                  <a:ea typeface="宋体" panose="02010600030101010101" pitchFamily="2" charset="-122"/>
                  <a:sym typeface="Symbol" panose="05050102010706020507" pitchFamily="18" charset="2"/>
                </a:rPr>
                <a:t></a:t>
              </a:r>
            </a:p>
          </p:txBody>
        </p:sp>
        <p:sp>
          <p:nvSpPr>
            <p:cNvPr id="20505" name="Rectangle 63"/>
            <p:cNvSpPr/>
            <p:nvPr/>
          </p:nvSpPr>
          <p:spPr>
            <a:xfrm>
              <a:off x="3651" y="1094"/>
              <a:ext cx="182" cy="336"/>
            </a:xfrm>
            <a:prstGeom prst="rect">
              <a:avLst/>
            </a:prstGeom>
            <a:noFill/>
            <a:ln w="9525">
              <a:noFill/>
            </a:ln>
          </p:spPr>
          <p:txBody>
            <a:bodyPr anchor="t" anchorCtr="0">
              <a:spAutoFit/>
            </a:bodyPr>
            <a:lstStyle/>
            <a:p>
              <a:pPr>
                <a:buClrTx/>
                <a:buFontTx/>
              </a:pPr>
              <a:r>
                <a:rPr lang="zh-CN" altLang="en-US" sz="2000" b="0" dirty="0">
                  <a:latin typeface="Arial" panose="020B0604020202020204" pitchFamily="34" charset="0"/>
                  <a:ea typeface="宋体" panose="02010600030101010101" pitchFamily="2" charset="-122"/>
                  <a:sym typeface="Symbol" panose="05050102010706020507" pitchFamily="18" charset="2"/>
                </a:rPr>
                <a:t></a:t>
              </a:r>
            </a:p>
          </p:txBody>
        </p:sp>
        <p:sp>
          <p:nvSpPr>
            <p:cNvPr id="20506" name="Rectangle 64"/>
            <p:cNvSpPr/>
            <p:nvPr/>
          </p:nvSpPr>
          <p:spPr>
            <a:xfrm>
              <a:off x="2562" y="1094"/>
              <a:ext cx="182" cy="336"/>
            </a:xfrm>
            <a:prstGeom prst="rect">
              <a:avLst/>
            </a:prstGeom>
            <a:noFill/>
            <a:ln w="9525">
              <a:noFill/>
            </a:ln>
          </p:spPr>
          <p:txBody>
            <a:bodyPr anchor="t" anchorCtr="0">
              <a:spAutoFit/>
            </a:bodyPr>
            <a:lstStyle/>
            <a:p>
              <a:pPr>
                <a:buClrTx/>
                <a:buFontTx/>
              </a:pPr>
              <a:r>
                <a:rPr lang="zh-CN" altLang="en-US" sz="2000" b="0" dirty="0">
                  <a:latin typeface="Arial" panose="020B0604020202020204" pitchFamily="34" charset="0"/>
                  <a:ea typeface="宋体" panose="02010600030101010101" pitchFamily="2" charset="-122"/>
                  <a:sym typeface="Symbol" panose="05050102010706020507" pitchFamily="18" charset="2"/>
                </a:rPr>
                <a:t></a:t>
              </a:r>
            </a:p>
          </p:txBody>
        </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091"/>
                                        </p:tgtEl>
                                        <p:attrNameLst>
                                          <p:attrName>style.visibility</p:attrName>
                                        </p:attrNameLst>
                                      </p:cBhvr>
                                      <p:to>
                                        <p:strVal val="visible"/>
                                      </p:to>
                                    </p:set>
                                    <p:anim calcmode="lin" valueType="num">
                                      <p:cBhvr additive="base">
                                        <p:cTn id="18" dur="500" fill="hold"/>
                                        <p:tgtEl>
                                          <p:spTgt spid="2091"/>
                                        </p:tgtEl>
                                        <p:attrNameLst>
                                          <p:attrName>ppt_x</p:attrName>
                                        </p:attrNameLst>
                                      </p:cBhvr>
                                      <p:tavLst>
                                        <p:tav tm="0">
                                          <p:val>
                                            <p:strVal val="#ppt_x"/>
                                          </p:val>
                                        </p:tav>
                                        <p:tav tm="100000">
                                          <p:val>
                                            <p:strVal val="#ppt_x"/>
                                          </p:val>
                                        </p:tav>
                                      </p:tavLst>
                                    </p:anim>
                                    <p:anim calcmode="lin" valueType="num">
                                      <p:cBhvr additive="base">
                                        <p:cTn id="19" dur="500" fill="hold"/>
                                        <p:tgtEl>
                                          <p:spTgt spid="209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1"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4" name="Rectangle 4"/>
          <p:cNvSpPr/>
          <p:nvPr/>
        </p:nvSpPr>
        <p:spPr>
          <a:xfrm>
            <a:off x="4067175" y="1168400"/>
            <a:ext cx="4826000" cy="2123658"/>
          </a:xfrm>
          <a:prstGeom prst="rect">
            <a:avLst/>
          </a:prstGeom>
          <a:noFill/>
          <a:ln w="9525">
            <a:noFill/>
          </a:ln>
        </p:spPr>
        <p:txBody>
          <a:bodyPr anchor="t" anchorCtr="0">
            <a:spAutoFit/>
          </a:bodyPr>
          <a:lstStyle/>
          <a:p>
            <a:pPr>
              <a:spcBef>
                <a:spcPct val="50000"/>
              </a:spcBef>
              <a:buClrTx/>
              <a:buFontTx/>
            </a:pPr>
            <a:r>
              <a:rPr lang="zh-CN" altLang="en-US" sz="2400" dirty="0">
                <a:latin typeface="宋体" panose="02010600030101010101" pitchFamily="2" charset="-122"/>
                <a:ea typeface="宋体" panose="02010600030101010101" pitchFamily="2" charset="-122"/>
              </a:rPr>
              <a:t> 在</a:t>
            </a:r>
            <a:r>
              <a:rPr lang="zh-CN" altLang="en-US" sz="2400" u="sng" dirty="0">
                <a:latin typeface="宋体" panose="02010600030101010101" pitchFamily="2" charset="-122"/>
                <a:ea typeface="宋体" panose="02010600030101010101" pitchFamily="2" charset="-122"/>
              </a:rPr>
              <a:t>气液平衡时</a:t>
            </a:r>
            <a:r>
              <a:rPr lang="zh-CN" altLang="en-US" sz="2400" dirty="0">
                <a:latin typeface="宋体" panose="02010600030101010101" pitchFamily="2" charset="-122"/>
                <a:ea typeface="宋体" panose="02010600030101010101" pitchFamily="2" charset="-122"/>
              </a:rPr>
              <a:t>：</a:t>
            </a:r>
          </a:p>
          <a:p>
            <a:pPr>
              <a:spcBef>
                <a:spcPct val="50000"/>
              </a:spcBef>
              <a:buClrTx/>
              <a:buFontTx/>
            </a:pPr>
            <a:r>
              <a:rPr lang="zh-CN" altLang="en-US" sz="2400" dirty="0">
                <a:latin typeface="宋体" panose="02010600030101010101" pitchFamily="2" charset="-122"/>
                <a:ea typeface="宋体" panose="02010600030101010101" pitchFamily="2" charset="-122"/>
              </a:rPr>
              <a:t>气体称为</a:t>
            </a:r>
            <a:r>
              <a:rPr lang="zh-CN" altLang="en-US" sz="2400" u="sng" dirty="0">
                <a:solidFill>
                  <a:srgbClr val="9900CC"/>
                </a:solidFill>
                <a:latin typeface="宋体" panose="02010600030101010101" pitchFamily="2" charset="-122"/>
                <a:ea typeface="宋体" panose="02010600030101010101" pitchFamily="2" charset="-122"/>
                <a:hlinkClick r:id="rId3" action="ppaction://hlinkfile"/>
              </a:rPr>
              <a:t>饱和</a:t>
            </a:r>
            <a:r>
              <a:rPr lang="zh-CN" altLang="en-US" sz="2400" u="sng" dirty="0">
                <a:solidFill>
                  <a:srgbClr val="9900CC"/>
                </a:solidFill>
                <a:latin typeface="宋体" panose="02010600030101010101" pitchFamily="2" charset="-122"/>
                <a:ea typeface="宋体" panose="02010600030101010101" pitchFamily="2" charset="-122"/>
              </a:rPr>
              <a:t>蒸气</a:t>
            </a:r>
            <a:r>
              <a:rPr lang="zh-CN" altLang="en-US" sz="2400" dirty="0">
                <a:latin typeface="宋体" panose="02010600030101010101" pitchFamily="2" charset="-122"/>
                <a:ea typeface="宋体" panose="02010600030101010101" pitchFamily="2" charset="-122"/>
              </a:rPr>
              <a:t>；</a:t>
            </a:r>
          </a:p>
          <a:p>
            <a:pPr>
              <a:spcBef>
                <a:spcPct val="50000"/>
              </a:spcBef>
              <a:buClrTx/>
              <a:buFontTx/>
            </a:pPr>
            <a:r>
              <a:rPr lang="zh-CN" altLang="en-US" sz="2400" dirty="0">
                <a:latin typeface="宋体" panose="02010600030101010101" pitchFamily="2" charset="-122"/>
                <a:ea typeface="宋体" panose="02010600030101010101" pitchFamily="2" charset="-122"/>
              </a:rPr>
              <a:t>液体称为</a:t>
            </a:r>
            <a:r>
              <a:rPr lang="zh-CN" altLang="en-US" sz="2400" u="sng" dirty="0">
                <a:solidFill>
                  <a:srgbClr val="9900CC"/>
                </a:solidFill>
                <a:latin typeface="宋体" panose="02010600030101010101" pitchFamily="2" charset="-122"/>
                <a:ea typeface="宋体" panose="02010600030101010101" pitchFamily="2" charset="-122"/>
              </a:rPr>
              <a:t>饱和液体</a:t>
            </a:r>
            <a:r>
              <a:rPr lang="zh-CN" altLang="en-US" sz="2400" dirty="0">
                <a:latin typeface="宋体" panose="02010600030101010101" pitchFamily="2" charset="-122"/>
                <a:ea typeface="宋体" panose="02010600030101010101" pitchFamily="2" charset="-122"/>
              </a:rPr>
              <a:t>；</a:t>
            </a:r>
          </a:p>
          <a:p>
            <a:pPr>
              <a:spcBef>
                <a:spcPct val="50000"/>
              </a:spcBef>
              <a:buClrTx/>
              <a:buFontTx/>
            </a:pPr>
            <a:r>
              <a:rPr lang="zh-CN" altLang="en-US" sz="2400" dirty="0">
                <a:solidFill>
                  <a:srgbClr val="000000"/>
                </a:solidFill>
                <a:latin typeface="宋体" panose="02010600030101010101" pitchFamily="2" charset="-122"/>
                <a:ea typeface="宋体" panose="02010600030101010101" pitchFamily="2" charset="-122"/>
              </a:rPr>
              <a:t>饱和蒸气的</a:t>
            </a:r>
            <a:r>
              <a:rPr lang="zh-CN" altLang="en-US" sz="2400" dirty="0">
                <a:latin typeface="宋体" panose="02010600030101010101" pitchFamily="2" charset="-122"/>
                <a:ea typeface="宋体" panose="02010600030101010101" pitchFamily="2" charset="-122"/>
              </a:rPr>
              <a:t>压力称为</a:t>
            </a:r>
            <a:r>
              <a:rPr lang="zh-CN" altLang="en-US" sz="2400" u="sng" dirty="0">
                <a:solidFill>
                  <a:srgbClr val="9900CC"/>
                </a:solidFill>
                <a:latin typeface="宋体" panose="02010600030101010101" pitchFamily="2" charset="-122"/>
                <a:ea typeface="宋体" panose="02010600030101010101" pitchFamily="2" charset="-122"/>
              </a:rPr>
              <a:t>饱和蒸气压</a:t>
            </a:r>
            <a:r>
              <a:rPr lang="zh-CN" altLang="en-US" sz="2400" dirty="0">
                <a:solidFill>
                  <a:schemeClr val="accent2"/>
                </a:solidFill>
                <a:latin typeface="宋体" panose="02010600030101010101" pitchFamily="2" charset="-122"/>
                <a:ea typeface="宋体" panose="02010600030101010101" pitchFamily="2" charset="-122"/>
              </a:rPr>
              <a:t>。</a:t>
            </a:r>
          </a:p>
        </p:txBody>
      </p:sp>
      <p:grpSp>
        <p:nvGrpSpPr>
          <p:cNvPr id="2" name="Group 6"/>
          <p:cNvGrpSpPr/>
          <p:nvPr/>
        </p:nvGrpSpPr>
        <p:grpSpPr>
          <a:xfrm>
            <a:off x="409575" y="307975"/>
            <a:ext cx="3657600" cy="2800350"/>
            <a:chOff x="288" y="1680"/>
            <a:chExt cx="2304" cy="2352"/>
          </a:xfrm>
        </p:grpSpPr>
        <p:sp>
          <p:nvSpPr>
            <p:cNvPr id="21507" name="Oval 7"/>
            <p:cNvSpPr/>
            <p:nvPr/>
          </p:nvSpPr>
          <p:spPr>
            <a:xfrm>
              <a:off x="1104" y="2064"/>
              <a:ext cx="96" cy="96"/>
            </a:xfrm>
            <a:prstGeom prst="ellipse">
              <a:avLst/>
            </a:prstGeom>
            <a:no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nvGrpSpPr>
            <p:cNvPr id="21508" name="Group 8"/>
            <p:cNvGrpSpPr/>
            <p:nvPr/>
          </p:nvGrpSpPr>
          <p:grpSpPr>
            <a:xfrm>
              <a:off x="288" y="1680"/>
              <a:ext cx="2304" cy="2352"/>
              <a:chOff x="336" y="1824"/>
              <a:chExt cx="2304" cy="2352"/>
            </a:xfrm>
          </p:grpSpPr>
          <p:sp>
            <p:nvSpPr>
              <p:cNvPr id="21509" name="Rectangle 9"/>
              <p:cNvSpPr/>
              <p:nvPr/>
            </p:nvSpPr>
            <p:spPr>
              <a:xfrm>
                <a:off x="336" y="1824"/>
                <a:ext cx="2304" cy="2352"/>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nvGrpSpPr>
              <p:cNvPr id="21510" name="Group 10"/>
              <p:cNvGrpSpPr/>
              <p:nvPr/>
            </p:nvGrpSpPr>
            <p:grpSpPr>
              <a:xfrm>
                <a:off x="576" y="1968"/>
                <a:ext cx="1872" cy="2112"/>
                <a:chOff x="480" y="1776"/>
                <a:chExt cx="1872" cy="2160"/>
              </a:xfrm>
            </p:grpSpPr>
            <p:sp>
              <p:nvSpPr>
                <p:cNvPr id="21511" name="AutoShape 11"/>
                <p:cNvSpPr/>
                <p:nvPr/>
              </p:nvSpPr>
              <p:spPr>
                <a:xfrm>
                  <a:off x="1152" y="2592"/>
                  <a:ext cx="57" cy="480"/>
                </a:xfrm>
                <a:prstGeom prst="upArrow">
                  <a:avLst>
                    <a:gd name="adj1" fmla="val 50000"/>
                    <a:gd name="adj2" fmla="val 210448"/>
                  </a:avLst>
                </a:prstGeom>
                <a:noFill/>
                <a:ln w="9525">
                  <a:noFill/>
                </a:ln>
              </p:spPr>
              <p:txBody>
                <a:bodyPr vert="eaVert"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12" name="AutoShape 12"/>
                <p:cNvSpPr/>
                <p:nvPr/>
              </p:nvSpPr>
              <p:spPr>
                <a:xfrm rot="10800000">
                  <a:off x="1237" y="2604"/>
                  <a:ext cx="57" cy="480"/>
                </a:xfrm>
                <a:prstGeom prst="upArrow">
                  <a:avLst>
                    <a:gd name="adj1" fmla="val 50000"/>
                    <a:gd name="adj2" fmla="val 210448"/>
                  </a:avLst>
                </a:prstGeom>
                <a:noFill/>
                <a:ln w="9525">
                  <a:noFill/>
                </a:ln>
              </p:spPr>
              <p:txBody>
                <a:bodyPr vert="eaVert" wrap="none" anchor="ctr" anchorCtr="0"/>
                <a:lstStyle/>
                <a:p>
                  <a:pPr>
                    <a:buClrTx/>
                    <a:buFontTx/>
                  </a:pPr>
                  <a:endParaRPr lang="zh-CN" altLang="en-US" dirty="0">
                    <a:latin typeface="Times New Roman" panose="02020603050405020304" pitchFamily="18" charset="0"/>
                    <a:ea typeface="幼圆" pitchFamily="49" charset="-122"/>
                  </a:endParaRPr>
                </a:p>
              </p:txBody>
            </p:sp>
            <p:grpSp>
              <p:nvGrpSpPr>
                <p:cNvPr id="21513" name="Group 13"/>
                <p:cNvGrpSpPr/>
                <p:nvPr/>
              </p:nvGrpSpPr>
              <p:grpSpPr>
                <a:xfrm>
                  <a:off x="480" y="1776"/>
                  <a:ext cx="1872" cy="2160"/>
                  <a:chOff x="480" y="1776"/>
                  <a:chExt cx="1872" cy="2160"/>
                </a:xfrm>
              </p:grpSpPr>
              <p:sp>
                <p:nvSpPr>
                  <p:cNvPr id="21514" name="Rectangle 14"/>
                  <p:cNvSpPr/>
                  <p:nvPr/>
                </p:nvSpPr>
                <p:spPr>
                  <a:xfrm>
                    <a:off x="480" y="1776"/>
                    <a:ext cx="1872" cy="2160"/>
                  </a:xfrm>
                  <a:prstGeom prst="rect">
                    <a:avLst/>
                  </a:prstGeom>
                  <a:no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15" name="Line 15"/>
                  <p:cNvSpPr/>
                  <p:nvPr/>
                </p:nvSpPr>
                <p:spPr>
                  <a:xfrm>
                    <a:off x="480" y="2880"/>
                    <a:ext cx="1872" cy="0"/>
                  </a:xfrm>
                  <a:prstGeom prst="line">
                    <a:avLst/>
                  </a:prstGeom>
                  <a:ln w="9525" cap="flat" cmpd="sng">
                    <a:solidFill>
                      <a:schemeClr val="tx1"/>
                    </a:solidFill>
                    <a:prstDash val="solid"/>
                    <a:round/>
                    <a:headEnd type="none" w="med" len="med"/>
                    <a:tailEnd type="none" w="med" len="med"/>
                  </a:ln>
                </p:spPr>
              </p:sp>
              <p:sp>
                <p:nvSpPr>
                  <p:cNvPr id="21516" name="Oval 16"/>
                  <p:cNvSpPr/>
                  <p:nvPr/>
                </p:nvSpPr>
                <p:spPr>
                  <a:xfrm>
                    <a:off x="1104" y="2064"/>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17" name="Oval 17"/>
                  <p:cNvSpPr/>
                  <p:nvPr/>
                </p:nvSpPr>
                <p:spPr>
                  <a:xfrm>
                    <a:off x="912" y="3264"/>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18" name="Oval 18"/>
                  <p:cNvSpPr/>
                  <p:nvPr/>
                </p:nvSpPr>
                <p:spPr>
                  <a:xfrm>
                    <a:off x="816" y="2400"/>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19" name="Oval 19"/>
                  <p:cNvSpPr/>
                  <p:nvPr/>
                </p:nvSpPr>
                <p:spPr>
                  <a:xfrm>
                    <a:off x="1632" y="2976"/>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0" name="Oval 20"/>
                  <p:cNvSpPr/>
                  <p:nvPr/>
                </p:nvSpPr>
                <p:spPr>
                  <a:xfrm>
                    <a:off x="1536" y="3408"/>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1" name="Oval 21"/>
                  <p:cNvSpPr/>
                  <p:nvPr/>
                </p:nvSpPr>
                <p:spPr>
                  <a:xfrm>
                    <a:off x="1968" y="2064"/>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2" name="Oval 22"/>
                  <p:cNvSpPr/>
                  <p:nvPr/>
                </p:nvSpPr>
                <p:spPr>
                  <a:xfrm>
                    <a:off x="1776" y="3312"/>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3" name="Oval 23"/>
                  <p:cNvSpPr/>
                  <p:nvPr/>
                </p:nvSpPr>
                <p:spPr>
                  <a:xfrm>
                    <a:off x="2160" y="3216"/>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4" name="Oval 24"/>
                  <p:cNvSpPr/>
                  <p:nvPr/>
                </p:nvSpPr>
                <p:spPr>
                  <a:xfrm>
                    <a:off x="720" y="3744"/>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5" name="Oval 25"/>
                  <p:cNvSpPr/>
                  <p:nvPr/>
                </p:nvSpPr>
                <p:spPr>
                  <a:xfrm>
                    <a:off x="1200" y="3360"/>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6" name="Oval 26"/>
                  <p:cNvSpPr/>
                  <p:nvPr/>
                </p:nvSpPr>
                <p:spPr>
                  <a:xfrm>
                    <a:off x="1200" y="3648"/>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7" name="Oval 27"/>
                  <p:cNvSpPr/>
                  <p:nvPr/>
                </p:nvSpPr>
                <p:spPr>
                  <a:xfrm>
                    <a:off x="1440" y="2448"/>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8" name="Oval 28"/>
                  <p:cNvSpPr/>
                  <p:nvPr/>
                </p:nvSpPr>
                <p:spPr>
                  <a:xfrm>
                    <a:off x="672" y="3024"/>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29" name="Oval 29"/>
                  <p:cNvSpPr/>
                  <p:nvPr/>
                </p:nvSpPr>
                <p:spPr>
                  <a:xfrm>
                    <a:off x="1872" y="3552"/>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0" name="Oval 30"/>
                  <p:cNvSpPr/>
                  <p:nvPr/>
                </p:nvSpPr>
                <p:spPr>
                  <a:xfrm>
                    <a:off x="1920" y="3024"/>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1" name="Oval 31"/>
                  <p:cNvSpPr/>
                  <p:nvPr/>
                </p:nvSpPr>
                <p:spPr>
                  <a:xfrm>
                    <a:off x="1104" y="3072"/>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2" name="Oval 32"/>
                  <p:cNvSpPr/>
                  <p:nvPr/>
                </p:nvSpPr>
                <p:spPr>
                  <a:xfrm>
                    <a:off x="1968" y="2592"/>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3" name="Oval 33"/>
                  <p:cNvSpPr/>
                  <p:nvPr/>
                </p:nvSpPr>
                <p:spPr>
                  <a:xfrm>
                    <a:off x="1440" y="3120"/>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4" name="Oval 34"/>
                  <p:cNvSpPr/>
                  <p:nvPr/>
                </p:nvSpPr>
                <p:spPr>
                  <a:xfrm>
                    <a:off x="672" y="3360"/>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5" name="Oval 35"/>
                  <p:cNvSpPr/>
                  <p:nvPr/>
                </p:nvSpPr>
                <p:spPr>
                  <a:xfrm>
                    <a:off x="1488" y="3744"/>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6" name="Oval 36"/>
                  <p:cNvSpPr/>
                  <p:nvPr/>
                </p:nvSpPr>
                <p:spPr>
                  <a:xfrm>
                    <a:off x="1776" y="3744"/>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7" name="Oval 37"/>
                  <p:cNvSpPr/>
                  <p:nvPr/>
                </p:nvSpPr>
                <p:spPr>
                  <a:xfrm>
                    <a:off x="2112" y="3696"/>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8" name="AutoShape 38"/>
                  <p:cNvSpPr/>
                  <p:nvPr/>
                </p:nvSpPr>
                <p:spPr>
                  <a:xfrm>
                    <a:off x="1152" y="2592"/>
                    <a:ext cx="57" cy="480"/>
                  </a:xfrm>
                  <a:prstGeom prst="upArrow">
                    <a:avLst>
                      <a:gd name="adj1" fmla="val 50000"/>
                      <a:gd name="adj2" fmla="val 210448"/>
                    </a:avLst>
                  </a:prstGeom>
                  <a:solidFill>
                    <a:srgbClr val="FF99FF"/>
                  </a:solidFill>
                  <a:ln w="9525">
                    <a:noFill/>
                  </a:ln>
                </p:spPr>
                <p:txBody>
                  <a:bodyPr vert="eaVert"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39" name="AutoShape 39"/>
                  <p:cNvSpPr/>
                  <p:nvPr/>
                </p:nvSpPr>
                <p:spPr>
                  <a:xfrm rot="10800000">
                    <a:off x="1237" y="2604"/>
                    <a:ext cx="57" cy="480"/>
                  </a:xfrm>
                  <a:prstGeom prst="upArrow">
                    <a:avLst>
                      <a:gd name="adj1" fmla="val 50000"/>
                      <a:gd name="adj2" fmla="val 210448"/>
                    </a:avLst>
                  </a:prstGeom>
                  <a:solidFill>
                    <a:srgbClr val="FF99FF"/>
                  </a:solidFill>
                  <a:ln w="9525">
                    <a:noFill/>
                  </a:ln>
                </p:spPr>
                <p:txBody>
                  <a:bodyPr vert="eaVert"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40" name="Oval 40"/>
                  <p:cNvSpPr/>
                  <p:nvPr/>
                </p:nvSpPr>
                <p:spPr>
                  <a:xfrm>
                    <a:off x="912" y="3552"/>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41" name="Oval 41"/>
                  <p:cNvSpPr/>
                  <p:nvPr/>
                </p:nvSpPr>
                <p:spPr>
                  <a:xfrm>
                    <a:off x="2208" y="2976"/>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42" name="Oval 42"/>
                  <p:cNvSpPr/>
                  <p:nvPr/>
                </p:nvSpPr>
                <p:spPr>
                  <a:xfrm>
                    <a:off x="2208" y="3456"/>
                    <a:ext cx="96" cy="96"/>
                  </a:xfrm>
                  <a:prstGeom prst="ellipse">
                    <a:avLst/>
                  </a:prstGeom>
                  <a:solidFill>
                    <a:srgbClr val="FFFF99"/>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1543" name="Text Box 43"/>
                  <p:cNvSpPr txBox="1"/>
                  <p:nvPr/>
                </p:nvSpPr>
                <p:spPr>
                  <a:xfrm>
                    <a:off x="1488" y="1968"/>
                    <a:ext cx="480" cy="449"/>
                  </a:xfrm>
                  <a:prstGeom prst="rect">
                    <a:avLst/>
                  </a:prstGeom>
                  <a:noFill/>
                  <a:ln w="9525">
                    <a:noFill/>
                  </a:ln>
                </p:spPr>
                <p:txBody>
                  <a:bodyPr anchor="t" anchorCtr="0">
                    <a:spAutoFit/>
                  </a:bodyPr>
                  <a:lstStyle/>
                  <a:p>
                    <a:pPr>
                      <a:spcBef>
                        <a:spcPct val="50000"/>
                      </a:spcBef>
                      <a:buClrTx/>
                      <a:buFontTx/>
                    </a:pPr>
                    <a:r>
                      <a:rPr lang="zh-CN" altLang="en-US" b="0" dirty="0">
                        <a:solidFill>
                          <a:schemeClr val="bg1"/>
                        </a:solidFill>
                        <a:latin typeface="Times New Roman" panose="02020603050405020304" pitchFamily="18" charset="0"/>
                        <a:ea typeface="楷体_GB2312" pitchFamily="49" charset="-122"/>
                      </a:rPr>
                      <a:t>气</a:t>
                    </a:r>
                  </a:p>
                </p:txBody>
              </p:sp>
              <p:sp>
                <p:nvSpPr>
                  <p:cNvPr id="21544" name="Text Box 44"/>
                  <p:cNvSpPr txBox="1"/>
                  <p:nvPr/>
                </p:nvSpPr>
                <p:spPr>
                  <a:xfrm>
                    <a:off x="1488" y="3072"/>
                    <a:ext cx="336" cy="449"/>
                  </a:xfrm>
                  <a:prstGeom prst="rect">
                    <a:avLst/>
                  </a:prstGeom>
                  <a:noFill/>
                  <a:ln w="9525">
                    <a:noFill/>
                  </a:ln>
                </p:spPr>
                <p:txBody>
                  <a:bodyPr anchor="t" anchorCtr="0">
                    <a:spAutoFit/>
                  </a:bodyPr>
                  <a:lstStyle/>
                  <a:p>
                    <a:pPr>
                      <a:spcBef>
                        <a:spcPct val="50000"/>
                      </a:spcBef>
                      <a:buClrTx/>
                      <a:buFontTx/>
                    </a:pPr>
                    <a:r>
                      <a:rPr lang="zh-CN" altLang="en-US" b="0" dirty="0">
                        <a:solidFill>
                          <a:schemeClr val="bg1"/>
                        </a:solidFill>
                        <a:latin typeface="Times New Roman" panose="02020603050405020304" pitchFamily="18" charset="0"/>
                        <a:ea typeface="楷体_GB2312" pitchFamily="49" charset="-122"/>
                      </a:rPr>
                      <a:t>液</a:t>
                    </a:r>
                  </a:p>
                </p:txBody>
              </p:sp>
              <p:sp>
                <p:nvSpPr>
                  <p:cNvPr id="21545" name="Text Box 45"/>
                  <p:cNvSpPr txBox="1"/>
                  <p:nvPr/>
                </p:nvSpPr>
                <p:spPr>
                  <a:xfrm>
                    <a:off x="672" y="1920"/>
                    <a:ext cx="384" cy="449"/>
                  </a:xfrm>
                  <a:prstGeom prst="rect">
                    <a:avLst/>
                  </a:prstGeom>
                  <a:noFill/>
                  <a:ln w="9525">
                    <a:noFill/>
                  </a:ln>
                </p:spPr>
                <p:txBody>
                  <a:bodyPr anchor="t" anchorCtr="0">
                    <a:spAutoFit/>
                  </a:bodyPr>
                  <a:lstStyle/>
                  <a:p>
                    <a:pPr>
                      <a:spcBef>
                        <a:spcPct val="50000"/>
                      </a:spcBef>
                      <a:buClrTx/>
                      <a:buFontTx/>
                    </a:pPr>
                    <a:r>
                      <a:rPr lang="en-US" altLang="zh-CN" b="0" i="1" dirty="0">
                        <a:solidFill>
                          <a:schemeClr val="bg1"/>
                        </a:solidFill>
                        <a:latin typeface="Times New Roman" panose="02020603050405020304" pitchFamily="18" charset="0"/>
                        <a:ea typeface="楷体_GB2312" pitchFamily="49" charset="-122"/>
                      </a:rPr>
                      <a:t>p</a:t>
                    </a:r>
                    <a:r>
                      <a:rPr lang="en-US" altLang="zh-CN" b="0" i="1" baseline="30000" dirty="0">
                        <a:solidFill>
                          <a:schemeClr val="bg1"/>
                        </a:solidFill>
                        <a:latin typeface="Times New Roman" panose="02020603050405020304" pitchFamily="18" charset="0"/>
                        <a:ea typeface="楷体_GB2312" pitchFamily="49" charset="-122"/>
                      </a:rPr>
                      <a:t>*</a:t>
                    </a:r>
                    <a:endParaRPr lang="en-US" altLang="zh-CN" b="0" i="1" dirty="0">
                      <a:solidFill>
                        <a:schemeClr val="bg1"/>
                      </a:solidFill>
                      <a:latin typeface="Times New Roman" panose="02020603050405020304" pitchFamily="18" charset="0"/>
                      <a:ea typeface="楷体_GB2312" pitchFamily="49" charset="-122"/>
                    </a:endParaRPr>
                  </a:p>
                </p:txBody>
              </p:sp>
            </p:grpSp>
          </p:grpSp>
        </p:grpSp>
      </p:grpSp>
      <p:sp>
        <p:nvSpPr>
          <p:cNvPr id="179246" name="Text Box 46"/>
          <p:cNvSpPr txBox="1"/>
          <p:nvPr/>
        </p:nvSpPr>
        <p:spPr>
          <a:xfrm>
            <a:off x="669928" y="3435350"/>
            <a:ext cx="8208963" cy="1366528"/>
          </a:xfrm>
          <a:prstGeom prst="rect">
            <a:avLst/>
          </a:prstGeom>
          <a:solidFill>
            <a:srgbClr val="FFFFCC"/>
          </a:solidFill>
          <a:ln w="9525">
            <a:noFill/>
          </a:ln>
        </p:spPr>
        <p:txBody>
          <a:bodyPr anchor="t" anchorCtr="0">
            <a:spAutoFit/>
          </a:bodyPr>
          <a:lstStyle/>
          <a:p>
            <a:pPr>
              <a:lnSpc>
                <a:spcPct val="115000"/>
              </a:lnSpc>
              <a:spcBef>
                <a:spcPct val="50000"/>
              </a:spcBef>
              <a:buClrTx/>
              <a:buFontTx/>
            </a:pPr>
            <a:r>
              <a:rPr lang="zh-CN" altLang="en-US" sz="2400" dirty="0">
                <a:latin typeface="宋体" panose="02010600030101010101" pitchFamily="2" charset="-122"/>
                <a:ea typeface="宋体" panose="02010600030101010101" pitchFamily="2" charset="-122"/>
              </a:rPr>
              <a:t>   饱和蒸气压 ＝ 外压时，液体沸腾，此时的的温度称为</a:t>
            </a:r>
            <a:r>
              <a:rPr lang="zh-CN" altLang="en-US" sz="2400" u="sng" dirty="0">
                <a:solidFill>
                  <a:srgbClr val="FF00FF"/>
                </a:solidFill>
                <a:latin typeface="宋体" panose="02010600030101010101" pitchFamily="2" charset="-122"/>
                <a:ea typeface="宋体" panose="02010600030101010101" pitchFamily="2" charset="-122"/>
              </a:rPr>
              <a:t>沸点</a:t>
            </a:r>
            <a:r>
              <a:rPr lang="zh-CN" altLang="en-US" sz="2400" dirty="0">
                <a:solidFill>
                  <a:schemeClr val="tx2"/>
                </a:solidFill>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饱和蒸气压 ＝ </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个大气压时的沸点称为</a:t>
            </a:r>
            <a:r>
              <a:rPr lang="zh-CN" altLang="en-US" sz="2400" u="sng" dirty="0">
                <a:solidFill>
                  <a:srgbClr val="FF00FF"/>
                </a:solidFill>
                <a:latin typeface="宋体" panose="02010600030101010101" pitchFamily="2" charset="-122"/>
                <a:ea typeface="宋体" panose="02010600030101010101" pitchFamily="2" charset="-122"/>
              </a:rPr>
              <a:t>正常沸点</a:t>
            </a:r>
            <a:r>
              <a:rPr lang="zh-CN" altLang="en-US" sz="2400" dirty="0">
                <a:solidFill>
                  <a:schemeClr val="tx2"/>
                </a:solidFill>
                <a:latin typeface="宋体" panose="02010600030101010101" pitchFamily="2" charset="-122"/>
                <a:ea typeface="宋体" panose="02010600030101010101" pitchFamily="2" charset="-122"/>
              </a:rPr>
              <a:t>。在沸腾时，液体表面及内部分子同时汽化。</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4" fill="hold" grpId="0" nodeType="clickEffect">
                                  <p:stCondLst>
                                    <p:cond delay="0"/>
                                  </p:stCondLst>
                                  <p:childTnLst>
                                    <p:set>
                                      <p:cBhvr>
                                        <p:cTn id="12" dur="1" fill="hold">
                                          <p:stCondLst>
                                            <p:cond delay="0"/>
                                          </p:stCondLst>
                                        </p:cTn>
                                        <p:tgtEl>
                                          <p:spTgt spid="179204"/>
                                        </p:tgtEl>
                                        <p:attrNameLst>
                                          <p:attrName>style.visibility</p:attrName>
                                        </p:attrNameLst>
                                      </p:cBhvr>
                                      <p:to>
                                        <p:strVal val="visible"/>
                                      </p:to>
                                    </p:set>
                                    <p:animEffect transition="in" filter="wheel(4)">
                                      <p:cBhvr>
                                        <p:cTn id="13" dur="2000"/>
                                        <p:tgtEl>
                                          <p:spTgt spid="17920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179246"/>
                                        </p:tgtEl>
                                        <p:attrNameLst>
                                          <p:attrName>style.visibility</p:attrName>
                                        </p:attrNameLst>
                                      </p:cBhvr>
                                      <p:to>
                                        <p:strVal val="visible"/>
                                      </p:to>
                                    </p:set>
                                    <p:animEffect transition="in" filter="blinds(vertical)">
                                      <p:cBhvr>
                                        <p:cTn id="18" dur="1000"/>
                                        <p:tgtEl>
                                          <p:spTgt spid="179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p:bldP spid="17924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2"/>
          <p:cNvSpPr txBox="1"/>
          <p:nvPr/>
        </p:nvSpPr>
        <p:spPr>
          <a:xfrm>
            <a:off x="611188" y="266702"/>
            <a:ext cx="7620000" cy="830997"/>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      饱和蒸气压首先由物质的本性决定。对于同一种物质，它是</a:t>
            </a:r>
            <a:r>
              <a:rPr lang="zh-CN" altLang="en-US" sz="2400" dirty="0">
                <a:solidFill>
                  <a:srgbClr val="CC00FF"/>
                </a:solidFill>
                <a:latin typeface="Times New Roman" panose="02020603050405020304" pitchFamily="18" charset="0"/>
                <a:ea typeface="宋体" panose="02010600030101010101" pitchFamily="2" charset="-122"/>
              </a:rPr>
              <a:t>温度</a:t>
            </a:r>
            <a:r>
              <a:rPr lang="zh-CN" altLang="en-US" sz="2400" dirty="0">
                <a:latin typeface="Times New Roman" panose="02020603050405020304" pitchFamily="18" charset="0"/>
                <a:ea typeface="宋体" panose="02010600030101010101" pitchFamily="2" charset="-122"/>
              </a:rPr>
              <a:t>的函数，随温度升高而增大。</a:t>
            </a:r>
          </a:p>
        </p:txBody>
      </p:sp>
      <p:grpSp>
        <p:nvGrpSpPr>
          <p:cNvPr id="2" name="Group 3"/>
          <p:cNvGrpSpPr/>
          <p:nvPr/>
        </p:nvGrpSpPr>
        <p:grpSpPr>
          <a:xfrm>
            <a:off x="506413" y="1020766"/>
            <a:ext cx="8229600" cy="3646487"/>
            <a:chOff x="384" y="1296"/>
            <a:chExt cx="5184" cy="3063"/>
          </a:xfrm>
        </p:grpSpPr>
        <p:sp>
          <p:nvSpPr>
            <p:cNvPr id="23555" name="Text Box 4"/>
            <p:cNvSpPr txBox="1"/>
            <p:nvPr/>
          </p:nvSpPr>
          <p:spPr>
            <a:xfrm>
              <a:off x="672" y="1296"/>
              <a:ext cx="4524" cy="388"/>
            </a:xfrm>
            <a:prstGeom prst="rect">
              <a:avLst/>
            </a:prstGeom>
            <a:solidFill>
              <a:schemeClr val="bg1"/>
            </a:solidFill>
            <a:ln w="9525" cap="flat" cmpd="sng">
              <a:solidFill>
                <a:srgbClr val="FF9966"/>
              </a:solidFill>
              <a:prstDash val="solid"/>
              <a:miter/>
              <a:headEnd type="none" w="med" len="med"/>
              <a:tailEnd type="none" w="med" len="med"/>
            </a:ln>
          </p:spPr>
          <p:txBody>
            <a:bodyPr anchor="t" anchorCtr="0">
              <a:spAutoFit/>
            </a:bodyPr>
            <a:lstStyle/>
            <a:p>
              <a:pPr algn="just" eaLnBrk="0" hangingPunct="0">
                <a:buClrTx/>
                <a:buFontTx/>
              </a:pPr>
              <a:r>
                <a:rPr lang="zh-CN" altLang="en-US" sz="2400" dirty="0">
                  <a:latin typeface="宋体" panose="02010600030101010101" pitchFamily="2" charset="-122"/>
                  <a:ea typeface="宋体" panose="02010600030101010101" pitchFamily="2" charset="-122"/>
                </a:rPr>
                <a:t>表 </a:t>
              </a:r>
              <a:r>
                <a:rPr lang="en-US" altLang="zh-CN" sz="2400" dirty="0">
                  <a:latin typeface="Times New Roman" panose="02020603050405020304" pitchFamily="18" charset="0"/>
                  <a:ea typeface="宋体" panose="02010600030101010101" pitchFamily="2" charset="-122"/>
                </a:rPr>
                <a:t>3.1</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水、乙醇和苯在不同温度下的饱和蒸气压</a:t>
              </a:r>
            </a:p>
          </p:txBody>
        </p:sp>
        <p:grpSp>
          <p:nvGrpSpPr>
            <p:cNvPr id="23556" name="Group 5"/>
            <p:cNvGrpSpPr/>
            <p:nvPr/>
          </p:nvGrpSpPr>
          <p:grpSpPr>
            <a:xfrm>
              <a:off x="384" y="1680"/>
              <a:ext cx="5184" cy="2679"/>
              <a:chOff x="384" y="1680"/>
              <a:chExt cx="5184" cy="2679"/>
            </a:xfrm>
          </p:grpSpPr>
          <p:grpSp>
            <p:nvGrpSpPr>
              <p:cNvPr id="23557" name="Group 6"/>
              <p:cNvGrpSpPr/>
              <p:nvPr/>
            </p:nvGrpSpPr>
            <p:grpSpPr>
              <a:xfrm>
                <a:off x="384" y="1680"/>
                <a:ext cx="5184" cy="2679"/>
                <a:chOff x="384" y="1680"/>
                <a:chExt cx="5184" cy="2679"/>
              </a:xfrm>
            </p:grpSpPr>
            <p:grpSp>
              <p:nvGrpSpPr>
                <p:cNvPr id="23558" name="Group 7"/>
                <p:cNvGrpSpPr/>
                <p:nvPr/>
              </p:nvGrpSpPr>
              <p:grpSpPr>
                <a:xfrm>
                  <a:off x="384" y="1680"/>
                  <a:ext cx="5184" cy="2679"/>
                  <a:chOff x="384" y="1680"/>
                  <a:chExt cx="5184" cy="2679"/>
                </a:xfrm>
              </p:grpSpPr>
              <p:grpSp>
                <p:nvGrpSpPr>
                  <p:cNvPr id="23559" name="Group 8"/>
                  <p:cNvGrpSpPr/>
                  <p:nvPr/>
                </p:nvGrpSpPr>
                <p:grpSpPr>
                  <a:xfrm>
                    <a:off x="384" y="1680"/>
                    <a:ext cx="5184" cy="2679"/>
                    <a:chOff x="384" y="1680"/>
                    <a:chExt cx="5184" cy="2679"/>
                  </a:xfrm>
                </p:grpSpPr>
                <p:grpSp>
                  <p:nvGrpSpPr>
                    <p:cNvPr id="23560" name="Group 9"/>
                    <p:cNvGrpSpPr/>
                    <p:nvPr/>
                  </p:nvGrpSpPr>
                  <p:grpSpPr>
                    <a:xfrm>
                      <a:off x="384" y="1680"/>
                      <a:ext cx="1776" cy="2679"/>
                      <a:chOff x="384" y="1680"/>
                      <a:chExt cx="1776" cy="2679"/>
                    </a:xfrm>
                  </p:grpSpPr>
                  <p:grpSp>
                    <p:nvGrpSpPr>
                      <p:cNvPr id="23561" name="Group 10"/>
                      <p:cNvGrpSpPr/>
                      <p:nvPr/>
                    </p:nvGrpSpPr>
                    <p:grpSpPr>
                      <a:xfrm>
                        <a:off x="384" y="1680"/>
                        <a:ext cx="1776" cy="2679"/>
                        <a:chOff x="384" y="1680"/>
                        <a:chExt cx="5081" cy="2679"/>
                      </a:xfrm>
                    </p:grpSpPr>
                    <p:sp>
                      <p:nvSpPr>
                        <p:cNvPr id="23562" name="Rectangle 11"/>
                        <p:cNvSpPr/>
                        <p:nvPr/>
                      </p:nvSpPr>
                      <p:spPr>
                        <a:xfrm>
                          <a:off x="384" y="1680"/>
                          <a:ext cx="5081" cy="2679"/>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3563" name="Line 12"/>
                        <p:cNvSpPr/>
                        <p:nvPr/>
                      </p:nvSpPr>
                      <p:spPr>
                        <a:xfrm>
                          <a:off x="384" y="2016"/>
                          <a:ext cx="4944" cy="0"/>
                        </a:xfrm>
                        <a:prstGeom prst="line">
                          <a:avLst/>
                        </a:prstGeom>
                        <a:ln w="19050" cap="flat" cmpd="sng">
                          <a:solidFill>
                            <a:schemeClr val="tx1"/>
                          </a:solidFill>
                          <a:prstDash val="solid"/>
                          <a:round/>
                          <a:headEnd type="none" w="med" len="med"/>
                          <a:tailEnd type="none" w="med" len="med"/>
                        </a:ln>
                      </p:spPr>
                    </p:sp>
                    <p:sp>
                      <p:nvSpPr>
                        <p:cNvPr id="23564" name="Line 13"/>
                        <p:cNvSpPr/>
                        <p:nvPr/>
                      </p:nvSpPr>
                      <p:spPr>
                        <a:xfrm>
                          <a:off x="384" y="2304"/>
                          <a:ext cx="4944" cy="0"/>
                        </a:xfrm>
                        <a:prstGeom prst="line">
                          <a:avLst/>
                        </a:prstGeom>
                        <a:ln w="19050" cap="flat" cmpd="sng">
                          <a:solidFill>
                            <a:schemeClr val="tx1"/>
                          </a:solidFill>
                          <a:prstDash val="solid"/>
                          <a:round/>
                          <a:headEnd type="none" w="med" len="med"/>
                          <a:tailEnd type="none" w="med" len="med"/>
                        </a:ln>
                      </p:spPr>
                    </p:sp>
                  </p:grpSp>
                  <p:sp>
                    <p:nvSpPr>
                      <p:cNvPr id="23565" name="Line 14"/>
                      <p:cNvSpPr/>
                      <p:nvPr/>
                    </p:nvSpPr>
                    <p:spPr>
                      <a:xfrm>
                        <a:off x="1248" y="2016"/>
                        <a:ext cx="0" cy="1824"/>
                      </a:xfrm>
                      <a:prstGeom prst="line">
                        <a:avLst/>
                      </a:prstGeom>
                      <a:ln w="9525" cap="flat" cmpd="sng">
                        <a:solidFill>
                          <a:schemeClr val="tx1"/>
                        </a:solidFill>
                        <a:prstDash val="solid"/>
                        <a:round/>
                        <a:headEnd type="none" w="med" len="med"/>
                        <a:tailEnd type="none" w="med" len="med"/>
                      </a:ln>
                    </p:spPr>
                  </p:sp>
                </p:grpSp>
                <p:grpSp>
                  <p:nvGrpSpPr>
                    <p:cNvPr id="23566" name="Group 15"/>
                    <p:cNvGrpSpPr/>
                    <p:nvPr/>
                  </p:nvGrpSpPr>
                  <p:grpSpPr>
                    <a:xfrm>
                      <a:off x="2112" y="1680"/>
                      <a:ext cx="1728" cy="2679"/>
                      <a:chOff x="384" y="1680"/>
                      <a:chExt cx="1728" cy="2679"/>
                    </a:xfrm>
                  </p:grpSpPr>
                  <p:grpSp>
                    <p:nvGrpSpPr>
                      <p:cNvPr id="23567" name="Group 16"/>
                      <p:cNvGrpSpPr/>
                      <p:nvPr/>
                    </p:nvGrpSpPr>
                    <p:grpSpPr>
                      <a:xfrm>
                        <a:off x="384" y="1680"/>
                        <a:ext cx="1728" cy="2679"/>
                        <a:chOff x="384" y="1680"/>
                        <a:chExt cx="4944" cy="2679"/>
                      </a:xfrm>
                    </p:grpSpPr>
                    <p:sp>
                      <p:nvSpPr>
                        <p:cNvPr id="23568" name="Rectangle 17"/>
                        <p:cNvSpPr/>
                        <p:nvPr/>
                      </p:nvSpPr>
                      <p:spPr>
                        <a:xfrm>
                          <a:off x="521" y="1680"/>
                          <a:ext cx="4807" cy="2679"/>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3569" name="Line 18"/>
                        <p:cNvSpPr/>
                        <p:nvPr/>
                      </p:nvSpPr>
                      <p:spPr>
                        <a:xfrm>
                          <a:off x="384" y="2016"/>
                          <a:ext cx="4944" cy="0"/>
                        </a:xfrm>
                        <a:prstGeom prst="line">
                          <a:avLst/>
                        </a:prstGeom>
                        <a:ln w="19050" cap="flat" cmpd="sng">
                          <a:solidFill>
                            <a:schemeClr val="tx1"/>
                          </a:solidFill>
                          <a:prstDash val="solid"/>
                          <a:round/>
                          <a:headEnd type="none" w="med" len="med"/>
                          <a:tailEnd type="none" w="med" len="med"/>
                        </a:ln>
                      </p:spPr>
                    </p:sp>
                    <p:sp>
                      <p:nvSpPr>
                        <p:cNvPr id="23570" name="Line 19"/>
                        <p:cNvSpPr/>
                        <p:nvPr/>
                      </p:nvSpPr>
                      <p:spPr>
                        <a:xfrm>
                          <a:off x="384" y="2304"/>
                          <a:ext cx="4944" cy="0"/>
                        </a:xfrm>
                        <a:prstGeom prst="line">
                          <a:avLst/>
                        </a:prstGeom>
                        <a:ln w="19050" cap="flat" cmpd="sng">
                          <a:solidFill>
                            <a:schemeClr val="tx1"/>
                          </a:solidFill>
                          <a:prstDash val="solid"/>
                          <a:round/>
                          <a:headEnd type="none" w="med" len="med"/>
                          <a:tailEnd type="none" w="med" len="med"/>
                        </a:ln>
                      </p:spPr>
                    </p:sp>
                  </p:grpSp>
                  <p:sp>
                    <p:nvSpPr>
                      <p:cNvPr id="23571" name="Line 20"/>
                      <p:cNvSpPr/>
                      <p:nvPr/>
                    </p:nvSpPr>
                    <p:spPr>
                      <a:xfrm>
                        <a:off x="1248" y="2016"/>
                        <a:ext cx="0" cy="1824"/>
                      </a:xfrm>
                      <a:prstGeom prst="line">
                        <a:avLst/>
                      </a:prstGeom>
                      <a:ln w="9525" cap="flat" cmpd="sng">
                        <a:solidFill>
                          <a:schemeClr val="tx1"/>
                        </a:solidFill>
                        <a:prstDash val="solid"/>
                        <a:round/>
                        <a:headEnd type="none" w="med" len="med"/>
                        <a:tailEnd type="none" w="med" len="med"/>
                      </a:ln>
                    </p:spPr>
                  </p:sp>
                </p:grpSp>
                <p:grpSp>
                  <p:nvGrpSpPr>
                    <p:cNvPr id="23572" name="Group 21"/>
                    <p:cNvGrpSpPr/>
                    <p:nvPr/>
                  </p:nvGrpSpPr>
                  <p:grpSpPr>
                    <a:xfrm>
                      <a:off x="3840" y="1680"/>
                      <a:ext cx="1728" cy="2679"/>
                      <a:chOff x="384" y="1680"/>
                      <a:chExt cx="1728" cy="2679"/>
                    </a:xfrm>
                  </p:grpSpPr>
                  <p:grpSp>
                    <p:nvGrpSpPr>
                      <p:cNvPr id="23573" name="Group 22"/>
                      <p:cNvGrpSpPr/>
                      <p:nvPr/>
                    </p:nvGrpSpPr>
                    <p:grpSpPr>
                      <a:xfrm>
                        <a:off x="384" y="1680"/>
                        <a:ext cx="1728" cy="2679"/>
                        <a:chOff x="384" y="1680"/>
                        <a:chExt cx="4944" cy="2679"/>
                      </a:xfrm>
                    </p:grpSpPr>
                    <p:sp>
                      <p:nvSpPr>
                        <p:cNvPr id="23574" name="Rectangle 23"/>
                        <p:cNvSpPr/>
                        <p:nvPr/>
                      </p:nvSpPr>
                      <p:spPr>
                        <a:xfrm>
                          <a:off x="384" y="1680"/>
                          <a:ext cx="4943" cy="2679"/>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3575" name="Line 24"/>
                        <p:cNvSpPr/>
                        <p:nvPr/>
                      </p:nvSpPr>
                      <p:spPr>
                        <a:xfrm>
                          <a:off x="384" y="2016"/>
                          <a:ext cx="4944" cy="0"/>
                        </a:xfrm>
                        <a:prstGeom prst="line">
                          <a:avLst/>
                        </a:prstGeom>
                        <a:ln w="19050" cap="flat" cmpd="sng">
                          <a:solidFill>
                            <a:schemeClr val="tx1"/>
                          </a:solidFill>
                          <a:prstDash val="solid"/>
                          <a:round/>
                          <a:headEnd type="none" w="med" len="med"/>
                          <a:tailEnd type="none" w="med" len="med"/>
                        </a:ln>
                      </p:spPr>
                    </p:sp>
                    <p:sp>
                      <p:nvSpPr>
                        <p:cNvPr id="23576" name="Line 25"/>
                        <p:cNvSpPr/>
                        <p:nvPr/>
                      </p:nvSpPr>
                      <p:spPr>
                        <a:xfrm>
                          <a:off x="384" y="2304"/>
                          <a:ext cx="4944" cy="0"/>
                        </a:xfrm>
                        <a:prstGeom prst="line">
                          <a:avLst/>
                        </a:prstGeom>
                        <a:ln w="19050" cap="flat" cmpd="sng">
                          <a:solidFill>
                            <a:schemeClr val="tx1"/>
                          </a:solidFill>
                          <a:prstDash val="solid"/>
                          <a:round/>
                          <a:headEnd type="none" w="med" len="med"/>
                          <a:tailEnd type="none" w="med" len="med"/>
                        </a:ln>
                      </p:spPr>
                    </p:sp>
                  </p:grpSp>
                  <p:sp>
                    <p:nvSpPr>
                      <p:cNvPr id="23577" name="Line 26"/>
                      <p:cNvSpPr/>
                      <p:nvPr/>
                    </p:nvSpPr>
                    <p:spPr>
                      <a:xfrm>
                        <a:off x="1248" y="2016"/>
                        <a:ext cx="0" cy="1824"/>
                      </a:xfrm>
                      <a:prstGeom prst="line">
                        <a:avLst/>
                      </a:prstGeom>
                      <a:ln w="9525" cap="flat" cmpd="sng">
                        <a:solidFill>
                          <a:schemeClr val="tx1"/>
                        </a:solidFill>
                        <a:prstDash val="solid"/>
                        <a:round/>
                        <a:headEnd type="none" w="med" len="med"/>
                        <a:tailEnd type="none" w="med" len="med"/>
                      </a:ln>
                    </p:spPr>
                  </p:sp>
                </p:grpSp>
              </p:grpSp>
              <p:sp>
                <p:nvSpPr>
                  <p:cNvPr id="23578" name="Text Box 27"/>
                  <p:cNvSpPr txBox="1"/>
                  <p:nvPr/>
                </p:nvSpPr>
                <p:spPr>
                  <a:xfrm>
                    <a:off x="1056" y="1728"/>
                    <a:ext cx="4080" cy="336"/>
                  </a:xfrm>
                  <a:prstGeom prst="rect">
                    <a:avLst/>
                  </a:prstGeom>
                  <a:noFill/>
                  <a:ln w="9525">
                    <a:noFill/>
                  </a:ln>
                </p:spPr>
                <p:txBody>
                  <a:bodyPr anchor="t" anchorCtr="0">
                    <a:spAutoFit/>
                  </a:bodyPr>
                  <a:lstStyle/>
                  <a:p>
                    <a:pPr>
                      <a:spcBef>
                        <a:spcPct val="50000"/>
                      </a:spcBef>
                      <a:buClrTx/>
                      <a:buFontTx/>
                    </a:pPr>
                    <a:r>
                      <a:rPr lang="zh-CN" altLang="en-US" sz="2000" dirty="0">
                        <a:latin typeface="Times New Roman" panose="02020603050405020304" pitchFamily="18" charset="0"/>
                        <a:ea typeface="宋体" panose="02010600030101010101" pitchFamily="2" charset="-122"/>
                      </a:rPr>
                      <a:t>水                                   乙      醇                                   苯</a:t>
                    </a:r>
                  </a:p>
                </p:txBody>
              </p:sp>
            </p:grpSp>
            <p:sp>
              <p:nvSpPr>
                <p:cNvPr id="23579" name="Text Box 28"/>
                <p:cNvSpPr txBox="1"/>
                <p:nvPr/>
              </p:nvSpPr>
              <p:spPr>
                <a:xfrm>
                  <a:off x="528" y="2044"/>
                  <a:ext cx="1536" cy="310"/>
                </a:xfrm>
                <a:prstGeom prst="rect">
                  <a:avLst/>
                </a:prstGeom>
                <a:noFill/>
                <a:ln w="9525">
                  <a:noFill/>
                </a:ln>
              </p:spPr>
              <p:txBody>
                <a:bodyPr anchor="t" anchorCtr="0">
                  <a:spAutoFit/>
                </a:bodyPr>
                <a:lstStyle/>
                <a:p>
                  <a:pPr>
                    <a:spcBef>
                      <a:spcPct val="50000"/>
                    </a:spcBef>
                    <a:buClrTx/>
                    <a:buFontTx/>
                  </a:pPr>
                  <a:r>
                    <a:rPr lang="zh-CN" altLang="en-US" sz="1800" b="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t</a:t>
                  </a:r>
                  <a:r>
                    <a:rPr lang="en-US" altLang="zh-CN" sz="1800" dirty="0">
                      <a:latin typeface="Times New Roman" panose="02020603050405020304" pitchFamily="18" charset="0"/>
                      <a:ea typeface="宋体" panose="02010600030101010101" pitchFamily="2" charset="-122"/>
                    </a:rPr>
                    <a:t> / ºC            </a:t>
                  </a:r>
                  <a:r>
                    <a:rPr lang="en-US" altLang="zh-CN" sz="1800" i="1" dirty="0">
                      <a:latin typeface="Times New Roman" panose="02020603050405020304" pitchFamily="18" charset="0"/>
                      <a:ea typeface="宋体" panose="02010600030101010101" pitchFamily="2" charset="-122"/>
                    </a:rPr>
                    <a:t>p</a:t>
                  </a:r>
                  <a:r>
                    <a:rPr lang="en-US" altLang="zh-CN" sz="1800"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1800" dirty="0">
                      <a:latin typeface="Times New Roman" panose="02020603050405020304" pitchFamily="18" charset="0"/>
                      <a:ea typeface="宋体" panose="02010600030101010101" pitchFamily="2" charset="-122"/>
                    </a:rPr>
                    <a:t> / kPa</a:t>
                  </a:r>
                </a:p>
              </p:txBody>
            </p:sp>
            <p:sp>
              <p:nvSpPr>
                <p:cNvPr id="23580" name="Text Box 29"/>
                <p:cNvSpPr txBox="1"/>
                <p:nvPr/>
              </p:nvSpPr>
              <p:spPr>
                <a:xfrm>
                  <a:off x="2160" y="2044"/>
                  <a:ext cx="1584" cy="310"/>
                </a:xfrm>
                <a:prstGeom prst="rect">
                  <a:avLst/>
                </a:prstGeom>
                <a:noFill/>
                <a:ln w="9525">
                  <a:noFill/>
                </a:ln>
              </p:spPr>
              <p:txBody>
                <a:bodyPr anchor="t" anchorCtr="0">
                  <a:spAutoFit/>
                </a:bodyPr>
                <a:lstStyle/>
                <a:p>
                  <a:pPr>
                    <a:spcBef>
                      <a:spcPct val="50000"/>
                    </a:spcBef>
                    <a:buClrTx/>
                    <a:buFontTx/>
                  </a:pPr>
                  <a:r>
                    <a:rPr lang="zh-CN" altLang="en-US" sz="1800" b="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t</a:t>
                  </a:r>
                  <a:r>
                    <a:rPr lang="en-US" altLang="zh-CN" sz="1800" dirty="0">
                      <a:latin typeface="Times New Roman" panose="02020603050405020304" pitchFamily="18" charset="0"/>
                      <a:ea typeface="宋体" panose="02010600030101010101" pitchFamily="2" charset="-122"/>
                    </a:rPr>
                    <a:t> / ºC            </a:t>
                  </a:r>
                  <a:r>
                    <a:rPr lang="en-US" altLang="zh-CN" sz="1800" i="1" dirty="0">
                      <a:latin typeface="Times New Roman" panose="02020603050405020304" pitchFamily="18" charset="0"/>
                      <a:ea typeface="宋体" panose="02010600030101010101" pitchFamily="2" charset="-122"/>
                    </a:rPr>
                    <a:t>p</a:t>
                  </a:r>
                  <a:r>
                    <a:rPr lang="en-US" altLang="zh-CN" sz="1800"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1800" dirty="0">
                      <a:latin typeface="Times New Roman" panose="02020603050405020304" pitchFamily="18" charset="0"/>
                      <a:ea typeface="宋体" panose="02010600030101010101" pitchFamily="2" charset="-122"/>
                    </a:rPr>
                    <a:t> / kPa</a:t>
                  </a:r>
                </a:p>
              </p:txBody>
            </p:sp>
            <p:sp>
              <p:nvSpPr>
                <p:cNvPr id="23581" name="Text Box 30"/>
                <p:cNvSpPr txBox="1"/>
                <p:nvPr/>
              </p:nvSpPr>
              <p:spPr>
                <a:xfrm>
                  <a:off x="3840" y="2044"/>
                  <a:ext cx="1680" cy="310"/>
                </a:xfrm>
                <a:prstGeom prst="rect">
                  <a:avLst/>
                </a:prstGeom>
                <a:noFill/>
                <a:ln w="9525">
                  <a:noFill/>
                </a:ln>
              </p:spPr>
              <p:txBody>
                <a:bodyPr anchor="t" anchorCtr="0">
                  <a:spAutoFit/>
                </a:bodyPr>
                <a:lstStyle/>
                <a:p>
                  <a:pPr>
                    <a:spcBef>
                      <a:spcPct val="50000"/>
                    </a:spcBef>
                    <a:buClrTx/>
                    <a:buFontTx/>
                  </a:pPr>
                  <a:r>
                    <a:rPr lang="zh-CN" altLang="en-US" sz="1800" b="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t</a:t>
                  </a:r>
                  <a:r>
                    <a:rPr lang="en-US" altLang="zh-CN" sz="1800" dirty="0">
                      <a:latin typeface="Times New Roman" panose="02020603050405020304" pitchFamily="18" charset="0"/>
                      <a:ea typeface="宋体" panose="02010600030101010101" pitchFamily="2" charset="-122"/>
                    </a:rPr>
                    <a:t> / ºC            </a:t>
                  </a:r>
                  <a:r>
                    <a:rPr lang="en-US" altLang="zh-CN" sz="1800" i="1" dirty="0">
                      <a:latin typeface="Times New Roman" panose="02020603050405020304" pitchFamily="18" charset="0"/>
                      <a:ea typeface="宋体" panose="02010600030101010101" pitchFamily="2" charset="-122"/>
                    </a:rPr>
                    <a:t>p</a:t>
                  </a:r>
                  <a:r>
                    <a:rPr lang="en-US" altLang="zh-CN" sz="1800"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1800" dirty="0">
                      <a:latin typeface="Times New Roman" panose="02020603050405020304" pitchFamily="18" charset="0"/>
                      <a:ea typeface="宋体" panose="02010600030101010101" pitchFamily="2" charset="-122"/>
                    </a:rPr>
                    <a:t> / kPa</a:t>
                  </a:r>
                </a:p>
              </p:txBody>
            </p:sp>
          </p:grpSp>
          <p:sp>
            <p:nvSpPr>
              <p:cNvPr id="23582" name="Text Box 31"/>
              <p:cNvSpPr txBox="1"/>
              <p:nvPr/>
            </p:nvSpPr>
            <p:spPr>
              <a:xfrm>
                <a:off x="480" y="2304"/>
                <a:ext cx="5040" cy="2055"/>
              </a:xfrm>
              <a:prstGeom prst="rect">
                <a:avLst/>
              </a:prstGeom>
              <a:noFill/>
              <a:ln w="9525">
                <a:noFill/>
              </a:ln>
            </p:spPr>
            <p:txBody>
              <a:bodyPr anchor="t" anchorCtr="0">
                <a:spAutoFit/>
              </a:bodyPr>
              <a:lstStyle/>
              <a:p>
                <a:pPr>
                  <a:spcBef>
                    <a:spcPct val="50000"/>
                  </a:spcBef>
                  <a:buClrTx/>
                  <a:buFontTx/>
                </a:pPr>
                <a:r>
                  <a:rPr lang="zh-CN" altLang="en-US" sz="1800" dirty="0">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20                    2.338                   20                 5.671                  20                  9.9712</a:t>
                </a:r>
              </a:p>
              <a:p>
                <a:pPr>
                  <a:spcBef>
                    <a:spcPct val="50000"/>
                  </a:spcBef>
                  <a:buClrTx/>
                  <a:buFontTx/>
                </a:pPr>
                <a:r>
                  <a:rPr lang="en-US" altLang="zh-CN" sz="1800" dirty="0">
                    <a:latin typeface="Times New Roman" panose="02020603050405020304" pitchFamily="18" charset="0"/>
                    <a:ea typeface="宋体" panose="02010600030101010101" pitchFamily="2" charset="-122"/>
                  </a:rPr>
                  <a:t>   40                    7.376                   40               17.395                  40                24.411</a:t>
                </a:r>
              </a:p>
              <a:p>
                <a:pPr>
                  <a:spcBef>
                    <a:spcPct val="50000"/>
                  </a:spcBef>
                  <a:buClrTx/>
                  <a:buFontTx/>
                </a:pPr>
                <a:r>
                  <a:rPr lang="en-US" altLang="zh-CN" sz="1800" dirty="0">
                    <a:latin typeface="Times New Roman" panose="02020603050405020304" pitchFamily="18" charset="0"/>
                    <a:ea typeface="宋体" panose="02010600030101010101" pitchFamily="2" charset="-122"/>
                  </a:rPr>
                  <a:t>   60                  19.916                   60               46.008                  60                51.993</a:t>
                </a:r>
              </a:p>
              <a:p>
                <a:pPr>
                  <a:spcBef>
                    <a:spcPct val="50000"/>
                  </a:spcBef>
                  <a:buClrTx/>
                  <a:buFontTx/>
                </a:pPr>
                <a:r>
                  <a:rPr lang="en-US" altLang="zh-CN" sz="1800" dirty="0">
                    <a:latin typeface="Times New Roman" panose="02020603050405020304" pitchFamily="18" charset="0"/>
                    <a:ea typeface="宋体" panose="02010600030101010101" pitchFamily="2" charset="-122"/>
                  </a:rPr>
                  <a:t>   80                  47.343                   </a:t>
                </a:r>
                <a:r>
                  <a:rPr lang="en-US" altLang="zh-CN" sz="1800" dirty="0">
                    <a:solidFill>
                      <a:srgbClr val="FF0000"/>
                    </a:solidFill>
                    <a:latin typeface="Times New Roman" panose="02020603050405020304" pitchFamily="18" charset="0"/>
                    <a:ea typeface="宋体" panose="02010600030101010101" pitchFamily="2" charset="-122"/>
                  </a:rPr>
                  <a:t>78.4          101.325                  80.1           101.325</a:t>
                </a:r>
              </a:p>
              <a:p>
                <a:pPr>
                  <a:spcBef>
                    <a:spcPct val="50000"/>
                  </a:spcBef>
                  <a:buClrTx/>
                  <a:buFontTx/>
                </a:pPr>
                <a:r>
                  <a:rPr lang="en-US" altLang="zh-CN" sz="1800" dirty="0">
                    <a:latin typeface="Times New Roman" panose="02020603050405020304" pitchFamily="18" charset="0"/>
                    <a:ea typeface="宋体" panose="02010600030101010101" pitchFamily="2" charset="-122"/>
                  </a:rPr>
                  <a:t> 100                </a:t>
                </a:r>
                <a:r>
                  <a:rPr lang="en-US" altLang="zh-CN" sz="1800" dirty="0">
                    <a:solidFill>
                      <a:srgbClr val="FF0000"/>
                    </a:solidFill>
                    <a:latin typeface="Times New Roman" panose="02020603050405020304" pitchFamily="18" charset="0"/>
                    <a:ea typeface="宋体" panose="02010600030101010101" pitchFamily="2" charset="-122"/>
                  </a:rPr>
                  <a:t>101.325                 </a:t>
                </a:r>
                <a:r>
                  <a:rPr lang="en-US" altLang="zh-CN" sz="1800" dirty="0">
                    <a:latin typeface="Times New Roman" panose="02020603050405020304" pitchFamily="18" charset="0"/>
                    <a:ea typeface="宋体" panose="02010600030101010101" pitchFamily="2" charset="-122"/>
                  </a:rPr>
                  <a:t>100             222.48                  100              181.44</a:t>
                </a:r>
              </a:p>
              <a:p>
                <a:pPr>
                  <a:spcBef>
                    <a:spcPct val="50000"/>
                  </a:spcBef>
                  <a:buClrTx/>
                  <a:buFontTx/>
                </a:pPr>
                <a:r>
                  <a:rPr lang="en-US" altLang="zh-CN" sz="1800" dirty="0">
                    <a:latin typeface="Times New Roman" panose="02020603050405020304" pitchFamily="18" charset="0"/>
                    <a:ea typeface="宋体" panose="02010600030101010101" pitchFamily="2" charset="-122"/>
                  </a:rPr>
                  <a:t> 120                198.54                    120            422.35                  120              308.11</a:t>
                </a:r>
              </a:p>
            </p:txBody>
          </p:sp>
        </p:gr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82274"/>
                                        </p:tgtEl>
                                        <p:attrNameLst>
                                          <p:attrName>style.visibility</p:attrName>
                                        </p:attrNameLst>
                                      </p:cBhvr>
                                      <p:to>
                                        <p:strVal val="visible"/>
                                      </p:to>
                                    </p:set>
                                    <p:animEffect transition="in" filter="blinds(vertical)">
                                      <p:cBhvr>
                                        <p:cTn id="7" dur="500"/>
                                        <p:tgtEl>
                                          <p:spTgt spid="1822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文本框 1"/>
          <p:cNvSpPr txBox="1"/>
          <p:nvPr/>
        </p:nvSpPr>
        <p:spPr>
          <a:xfrm>
            <a:off x="1691646" y="987429"/>
            <a:ext cx="5071745" cy="1615827"/>
          </a:xfrm>
          <a:prstGeom prst="rect">
            <a:avLst/>
          </a:prstGeom>
          <a:noFill/>
          <a:ln w="9525">
            <a:noFill/>
          </a:ln>
        </p:spPr>
        <p:txBody>
          <a:bodyPr wrap="square">
            <a:spAutoFit/>
          </a:bodyPr>
          <a:lstStyle/>
          <a:p>
            <a:pPr algn="ctr">
              <a:lnSpc>
                <a:spcPct val="150000"/>
              </a:lnSpc>
            </a:pPr>
            <a:r>
              <a:rPr lang="zh-CN" altLang="en-US" sz="3300" b="0" dirty="0">
                <a:latin typeface="微软雅黑" panose="020B0503020204020204" pitchFamily="34" charset="-122"/>
                <a:ea typeface="微软雅黑" panose="020B0503020204020204" pitchFamily="34" charset="-122"/>
                <a:cs typeface="微软雅黑" panose="020B0503020204020204" pitchFamily="34" charset="-122"/>
              </a:rPr>
              <a:t>为什么糖水比纯水</a:t>
            </a:r>
            <a:endParaRPr lang="en-US" altLang="zh-CN" sz="3300" b="0" dirty="0">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lang="en-US" altLang="zh-CN" sz="3300"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300" b="0" dirty="0">
                <a:latin typeface="微软雅黑" panose="020B0503020204020204" pitchFamily="34" charset="-122"/>
                <a:ea typeface="微软雅黑" panose="020B0503020204020204" pitchFamily="34" charset="-122"/>
                <a:cs typeface="微软雅黑" panose="020B0503020204020204" pitchFamily="34" charset="-122"/>
              </a:rPr>
              <a:t>蒸发的慢？</a:t>
            </a:r>
          </a:p>
        </p:txBody>
      </p:sp>
      <p:pic>
        <p:nvPicPr>
          <p:cNvPr id="17410" name="Picture 2"/>
          <p:cNvPicPr>
            <a:picLocks noChangeAspect="1" noChangeArrowheads="1"/>
          </p:cNvPicPr>
          <p:nvPr/>
        </p:nvPicPr>
        <p:blipFill>
          <a:blip r:embed="rId2"/>
          <a:srcRect r="3571"/>
          <a:stretch>
            <a:fillRect/>
          </a:stretch>
        </p:blipFill>
        <p:spPr bwMode="auto">
          <a:xfrm>
            <a:off x="3563620" y="3002918"/>
            <a:ext cx="1915160" cy="2012315"/>
          </a:xfrm>
          <a:prstGeom prst="rect">
            <a:avLst/>
          </a:prstGeom>
          <a:ln>
            <a:noFill/>
          </a:ln>
          <a:effectLst>
            <a:outerShdw blurRad="292100" dist="139700" dir="2700000" algn="tl" rotWithShape="0">
              <a:srgbClr val="333333">
                <a:alpha val="65000"/>
              </a:srgbClr>
            </a:outerShdw>
          </a:effectLst>
        </p:spPr>
      </p:pic>
      <p:pic>
        <p:nvPicPr>
          <p:cNvPr id="17412" name="Picture 4" descr="http://dingyue.nosdn.127.net/cT2Pyy7Pgqs4iRQslmKJFRrGCe9hWKFwenq3x6LJDM5Mg1491614898580compressflag.png"/>
          <p:cNvPicPr>
            <a:picLocks noChangeAspect="1" noChangeArrowheads="1"/>
          </p:cNvPicPr>
          <p:nvPr/>
        </p:nvPicPr>
        <p:blipFill>
          <a:blip r:embed="rId3"/>
          <a:srcRect/>
          <a:stretch>
            <a:fillRect/>
          </a:stretch>
        </p:blipFill>
        <p:spPr bwMode="auto">
          <a:xfrm>
            <a:off x="291465" y="2967990"/>
            <a:ext cx="2708910" cy="2047240"/>
          </a:xfrm>
          <a:prstGeom prst="rect">
            <a:avLst/>
          </a:prstGeom>
          <a:ln>
            <a:noFill/>
          </a:ln>
          <a:effectLst>
            <a:outerShdw blurRad="292100" dist="139700" dir="2700000" algn="tl" rotWithShape="0">
              <a:srgbClr val="333333">
                <a:alpha val="65000"/>
              </a:srgbClr>
            </a:outerShdw>
          </a:effectLst>
        </p:spPr>
      </p:pic>
      <p:pic>
        <p:nvPicPr>
          <p:cNvPr id="17414" name="Picture 6" descr="https://icweiliimg1.pstatp.com/weili/bl/389451837613539348.jpg"/>
          <p:cNvPicPr>
            <a:picLocks noChangeAspect="1" noChangeArrowheads="1"/>
          </p:cNvPicPr>
          <p:nvPr/>
        </p:nvPicPr>
        <p:blipFill>
          <a:blip r:embed="rId4"/>
          <a:srcRect l="9881" r="3657" b="7407"/>
          <a:stretch>
            <a:fillRect/>
          </a:stretch>
        </p:blipFill>
        <p:spPr bwMode="auto">
          <a:xfrm>
            <a:off x="6084576" y="3071498"/>
            <a:ext cx="2712085" cy="1936115"/>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checkerboard(across)">
                                      <p:cBhvr>
                                        <p:cTn id="7"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7"/>
          <p:cNvSpPr txBox="1"/>
          <p:nvPr/>
        </p:nvSpPr>
        <p:spPr>
          <a:xfrm>
            <a:off x="35566" y="411483"/>
            <a:ext cx="4996815" cy="584775"/>
          </a:xfrm>
          <a:prstGeom prst="rect">
            <a:avLst/>
          </a:prstGeom>
          <a:solidFill>
            <a:srgbClr val="B2B2FF"/>
          </a:solidFill>
          <a:ln w="9525">
            <a:noFill/>
          </a:ln>
          <a:effectLst>
            <a:prstShdw prst="shdw17" dist="17961" dir="13499999">
              <a:srgbClr val="5C5C99"/>
            </a:prstShdw>
          </a:effectLst>
        </p:spPr>
        <p:txBody>
          <a:bodyPr wrap="square" anchor="t" anchorCtr="0">
            <a:spAutoFit/>
          </a:bodyPr>
          <a:lstStyle/>
          <a:p>
            <a:pPr>
              <a:spcBef>
                <a:spcPct val="50000"/>
              </a:spcBef>
              <a:buClrTx/>
              <a:buFontTx/>
            </a:pPr>
            <a:r>
              <a:rPr lang="en-US" altLang="zh-CN" dirty="0">
                <a:latin typeface="华文新魏" pitchFamily="2" charset="-122"/>
                <a:ea typeface="华文新魏" pitchFamily="2" charset="-122"/>
              </a:rPr>
              <a:t>3.1.2 </a:t>
            </a:r>
            <a:r>
              <a:rPr lang="zh-CN" altLang="en-US" dirty="0">
                <a:latin typeface="华文新魏" pitchFamily="2" charset="-122"/>
                <a:ea typeface="华文新魏" pitchFamily="2" charset="-122"/>
              </a:rPr>
              <a:t>溶液的蒸汽压下降</a:t>
            </a:r>
            <a:r>
              <a:rPr lang="zh-CN" altLang="en-US" sz="3200" b="0" dirty="0">
                <a:latin typeface="华文新魏" pitchFamily="2" charset="-122"/>
                <a:ea typeface="华文新魏" pitchFamily="2" charset="-122"/>
              </a:rPr>
              <a:t> </a:t>
            </a:r>
          </a:p>
        </p:txBody>
      </p:sp>
      <p:sp>
        <p:nvSpPr>
          <p:cNvPr id="1035" name="Rectangle 11"/>
          <p:cNvSpPr>
            <a:spLocks noChangeArrowheads="1"/>
          </p:cNvSpPr>
          <p:nvPr/>
        </p:nvSpPr>
        <p:spPr bwMode="auto">
          <a:xfrm>
            <a:off x="5" y="106474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25604" name="Text Box 8"/>
          <p:cNvSpPr txBox="1"/>
          <p:nvPr/>
        </p:nvSpPr>
        <p:spPr>
          <a:xfrm>
            <a:off x="230505" y="1059183"/>
            <a:ext cx="8642350" cy="830997"/>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2400" b="0" dirty="0">
                <a:latin typeface="Arial" panose="020B0604020202020204" pitchFamily="34" charset="0"/>
                <a:ea typeface="宋体" panose="02010600030101010101" pitchFamily="2" charset="-122"/>
              </a:rPr>
              <a:t>       </a:t>
            </a:r>
            <a:r>
              <a:rPr lang="zh-CN" altLang="en-US" sz="2400" dirty="0">
                <a:latin typeface="Times New Roman" panose="02020603050405020304" pitchFamily="18" charset="0"/>
                <a:ea typeface="幼圆" pitchFamily="49" charset="-122"/>
              </a:rPr>
              <a:t>溶液蒸汽压小于同一温度下纯溶剂蒸汽压的现象叫做溶液的蒸汽压下降。</a:t>
            </a:r>
            <a:r>
              <a:rPr lang="zh-CN" altLang="en-US" sz="2400" b="0" dirty="0">
                <a:latin typeface="Arial" panose="020B0604020202020204" pitchFamily="34" charset="0"/>
                <a:ea typeface="宋体" panose="02010600030101010101" pitchFamily="2" charset="-122"/>
              </a:rPr>
              <a:t> </a:t>
            </a:r>
          </a:p>
        </p:txBody>
      </p:sp>
      <p:pic>
        <p:nvPicPr>
          <p:cNvPr id="25605" name="Picture 10"/>
          <p:cNvPicPr>
            <a:picLocks noChangeAspect="1"/>
          </p:cNvPicPr>
          <p:nvPr/>
        </p:nvPicPr>
        <p:blipFill>
          <a:blip r:embed="rId2"/>
          <a:stretch>
            <a:fillRect/>
          </a:stretch>
        </p:blipFill>
        <p:spPr>
          <a:xfrm>
            <a:off x="2628271" y="1779905"/>
            <a:ext cx="3311525" cy="1457325"/>
          </a:xfrm>
          <a:prstGeom prst="rect">
            <a:avLst/>
          </a:prstGeom>
          <a:noFill/>
          <a:ln w="9525">
            <a:noFill/>
          </a:ln>
        </p:spPr>
      </p:pic>
      <p:sp>
        <p:nvSpPr>
          <p:cNvPr id="2060" name="Rectangle 13"/>
          <p:cNvSpPr>
            <a:spLocks noChangeArrowheads="1"/>
          </p:cNvSpPr>
          <p:nvPr/>
        </p:nvSpPr>
        <p:spPr bwMode="auto">
          <a:xfrm>
            <a:off x="1692275" y="3320366"/>
            <a:ext cx="4589780" cy="338554"/>
          </a:xfrm>
          <a:prstGeom prst="rect">
            <a:avLst/>
          </a:prstGeom>
          <a:noFill/>
          <a:ln>
            <a:noFill/>
          </a:ln>
          <a:effectLst>
            <a:prstShdw prst="shdw17" dist="17961" dir="13500000">
              <a:srgbClr val="5C5C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400050"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40005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纯溶剂</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溶液                        </a:t>
            </a:r>
            <a:r>
              <a:rPr kumimoji="0" lang="zh-CN" altLang="en-US" sz="1400" b="1" i="0" u="none" strike="noStrike" kern="1200" cap="none" spc="0" normalizeH="0" baseline="30000" noProof="0" dirty="0">
                <a:ln>
                  <a:noFill/>
                </a:ln>
                <a:solidFill>
                  <a:srgbClr val="FF0000"/>
                </a:solidFill>
                <a:effectLst/>
                <a:uLnTx/>
                <a:uFillTx/>
                <a:latin typeface="黑体" panose="02010609060101010101" pitchFamily="49" charset="-122"/>
                <a:ea typeface="黑体" panose="02010609060101010101" pitchFamily="49" charset="-122"/>
                <a:cs typeface="+mn-cs"/>
              </a:rPr>
              <a:t>                                                                             </a:t>
            </a:r>
          </a:p>
        </p:txBody>
      </p:sp>
      <p:sp>
        <p:nvSpPr>
          <p:cNvPr id="1040" name="Rectangle 16"/>
          <p:cNvSpPr>
            <a:spLocks noChangeArrowheads="1"/>
          </p:cNvSpPr>
          <p:nvPr/>
        </p:nvSpPr>
        <p:spPr bwMode="auto">
          <a:xfrm>
            <a:off x="5" y="225616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25610" name="Text Box 14"/>
          <p:cNvSpPr txBox="1"/>
          <p:nvPr/>
        </p:nvSpPr>
        <p:spPr>
          <a:xfrm>
            <a:off x="252095" y="4300220"/>
            <a:ext cx="8749030" cy="523220"/>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幼圆" pitchFamily="49" charset="-122"/>
              </a:rPr>
              <a:t>式中，</a:t>
            </a:r>
            <a:r>
              <a:rPr lang="zh-CN" altLang="en-US" sz="2400" i="1" dirty="0">
                <a:latin typeface="Times New Roman" panose="02020603050405020304" pitchFamily="18" charset="0"/>
                <a:ea typeface="幼圆" pitchFamily="49" charset="-122"/>
              </a:rPr>
              <a:t> </a:t>
            </a:r>
            <a:r>
              <a:rPr lang="en-US" altLang="zh-CN" sz="2400" i="1" dirty="0">
                <a:solidFill>
                  <a:srgbClr val="FF0000"/>
                </a:solidFill>
                <a:latin typeface="Times New Roman" panose="02020603050405020304" pitchFamily="18" charset="0"/>
                <a:ea typeface="幼圆" pitchFamily="49" charset="-122"/>
              </a:rPr>
              <a:t>x</a:t>
            </a:r>
            <a:r>
              <a:rPr lang="en-US" altLang="zh-CN" sz="2400" baseline="-25000" dirty="0">
                <a:solidFill>
                  <a:srgbClr val="FF0000"/>
                </a:solidFill>
                <a:latin typeface="Times New Roman" panose="02020603050405020304" pitchFamily="18" charset="0"/>
                <a:ea typeface="幼圆" pitchFamily="49" charset="-122"/>
              </a:rPr>
              <a:t>B</a:t>
            </a:r>
            <a:r>
              <a:rPr lang="en-US" altLang="zh-CN" sz="24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溶质</a:t>
            </a:r>
            <a:r>
              <a:rPr lang="en-US" altLang="zh-CN" sz="2400" dirty="0">
                <a:latin typeface="Times New Roman" panose="02020603050405020304" pitchFamily="18" charset="0"/>
                <a:ea typeface="幼圆" pitchFamily="49" charset="-122"/>
              </a:rPr>
              <a:t>B</a:t>
            </a:r>
            <a:r>
              <a:rPr lang="zh-CN" altLang="en-US" sz="2400" dirty="0">
                <a:latin typeface="Times New Roman" panose="02020603050405020304" pitchFamily="18" charset="0"/>
                <a:ea typeface="幼圆" pitchFamily="49" charset="-122"/>
              </a:rPr>
              <a:t>的摩尔分数，</a:t>
            </a:r>
            <a:r>
              <a:rPr lang="en-US" altLang="zh-CN" sz="2400" dirty="0">
                <a:solidFill>
                  <a:srgbClr val="FF0000"/>
                </a:solidFill>
                <a:latin typeface="Times New Roman" panose="02020603050405020304" pitchFamily="18" charset="0"/>
                <a:ea typeface="幼圆" pitchFamily="49" charset="-122"/>
              </a:rPr>
              <a:t> </a:t>
            </a:r>
            <a:r>
              <a:rPr lang="en-US" altLang="zh-CN" sz="2400" i="1" dirty="0">
                <a:solidFill>
                  <a:srgbClr val="FF0000"/>
                </a:solidFill>
                <a:latin typeface="Times New Roman" panose="02020603050405020304" pitchFamily="18" charset="0"/>
                <a:ea typeface="幼圆" pitchFamily="49" charset="-122"/>
              </a:rPr>
              <a:t>p</a:t>
            </a:r>
            <a:r>
              <a:rPr lang="en-US" altLang="zh-CN" sz="2400" i="1" baseline="-25000" dirty="0">
                <a:solidFill>
                  <a:srgbClr val="FF0000"/>
                </a:solidFill>
                <a:latin typeface="Times New Roman" panose="02020603050405020304" pitchFamily="18" charset="0"/>
                <a:ea typeface="幼圆" pitchFamily="49" charset="-122"/>
              </a:rPr>
              <a:t>A</a:t>
            </a:r>
            <a:r>
              <a:rPr lang="zh-CN" altLang="en-US" sz="2400" baseline="30000" dirty="0">
                <a:solidFill>
                  <a:srgbClr val="FF0000"/>
                </a:solidFill>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纯溶剂的蒸汽压</a:t>
            </a:r>
          </a:p>
        </p:txBody>
      </p:sp>
      <p:graphicFrame>
        <p:nvGraphicFramePr>
          <p:cNvPr id="5122" name="对象 7">
            <a:hlinkClick r:id="" action="ppaction://ole?verb=0"/>
          </p:cNvPr>
          <p:cNvGraphicFramePr>
            <a:graphicFrameLocks noChangeAspect="1"/>
          </p:cNvGraphicFramePr>
          <p:nvPr/>
        </p:nvGraphicFramePr>
        <p:xfrm>
          <a:off x="755656" y="3723643"/>
          <a:ext cx="6645275" cy="511175"/>
        </p:xfrm>
        <a:graphic>
          <a:graphicData uri="http://schemas.openxmlformats.org/presentationml/2006/ole">
            <mc:AlternateContent xmlns:mc="http://schemas.openxmlformats.org/markup-compatibility/2006">
              <mc:Choice xmlns:v="urn:schemas-microsoft-com:vml" Requires="v">
                <p:oleObj name="Equation" r:id="rId3" imgW="2946400" imgH="228600" progId="Equation.DSMT4">
                  <p:embed/>
                </p:oleObj>
              </mc:Choice>
              <mc:Fallback>
                <p:oleObj name="Equation" r:id="rId3" imgW="2946400" imgH="228600" progId="Equation.DSMT4">
                  <p:embed/>
                  <p:pic>
                    <p:nvPicPr>
                      <p:cNvPr id="0" name="图片 3078"/>
                      <p:cNvPicPr/>
                      <p:nvPr/>
                    </p:nvPicPr>
                    <p:blipFill>
                      <a:blip r:embed="rId4"/>
                      <a:stretch>
                        <a:fillRect/>
                      </a:stretch>
                    </p:blipFill>
                    <p:spPr>
                      <a:xfrm>
                        <a:off x="755656" y="3723643"/>
                        <a:ext cx="6645275" cy="51117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left)">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10"/>
                                        </p:tgtEl>
                                        <p:attrNameLst>
                                          <p:attrName>style.visibility</p:attrName>
                                        </p:attrNameLst>
                                      </p:cBhvr>
                                      <p:to>
                                        <p:strVal val="visible"/>
                                      </p:to>
                                    </p:set>
                                    <p:animEffect transition="in" filter="wipe(left)">
                                      <p:cBhvr>
                                        <p:cTn id="12" dur="500"/>
                                        <p:tgtEl>
                                          <p:spTgt spid="25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0" grpId="0" animBg="1"/>
      <p:bldP spid="25610"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文本框 3"/>
          <p:cNvSpPr txBox="1"/>
          <p:nvPr/>
        </p:nvSpPr>
        <p:spPr>
          <a:xfrm>
            <a:off x="323856" y="3507743"/>
            <a:ext cx="8176895" cy="1061829"/>
          </a:xfrm>
          <a:prstGeom prst="rect">
            <a:avLst/>
          </a:prstGeom>
          <a:noFill/>
          <a:ln w="9525">
            <a:noFill/>
          </a:ln>
        </p:spPr>
        <p:txBody>
          <a:bodyPr wrap="square">
            <a:spAutoFit/>
          </a:bodyPr>
          <a:lstStyle/>
          <a:p>
            <a:r>
              <a:rPr lang="en-US" altLang="zh-CN" sz="2100" dirty="0">
                <a:latin typeface="方正姚体" charset="-122"/>
                <a:ea typeface="方正姚体" charset="-122"/>
              </a:rPr>
              <a:t>   </a:t>
            </a:r>
            <a:r>
              <a:rPr lang="zh-CN" altLang="en-US" sz="2100" dirty="0">
                <a:latin typeface="方正姚体" charset="-122"/>
                <a:ea typeface="方正姚体" charset="-122"/>
              </a:rPr>
              <a:t>这是因为这些物质具有强吸水性，能使其表面形成的溶液的蒸气压显著下降，当低于空气中水蒸气的分压时，空气中的水蒸气可不断凝聚进入溶液，即这些物质可不断的吸收水蒸气。</a:t>
            </a:r>
          </a:p>
        </p:txBody>
      </p:sp>
      <p:grpSp>
        <p:nvGrpSpPr>
          <p:cNvPr id="2" name="组合 7"/>
          <p:cNvGrpSpPr/>
          <p:nvPr/>
        </p:nvGrpSpPr>
        <p:grpSpPr>
          <a:xfrm>
            <a:off x="971556" y="483237"/>
            <a:ext cx="6758305" cy="493872"/>
            <a:chOff x="2235" y="1403"/>
            <a:chExt cx="9930" cy="1037"/>
          </a:xfrm>
        </p:grpSpPr>
        <p:sp>
          <p:nvSpPr>
            <p:cNvPr id="4106" name="文本框 1"/>
            <p:cNvSpPr txBox="1"/>
            <p:nvPr/>
          </p:nvSpPr>
          <p:spPr>
            <a:xfrm>
              <a:off x="2235" y="1403"/>
              <a:ext cx="9930" cy="872"/>
            </a:xfrm>
            <a:prstGeom prst="rect">
              <a:avLst/>
            </a:prstGeom>
            <a:noFill/>
            <a:ln w="9525">
              <a:noFill/>
            </a:ln>
          </p:spPr>
          <p:txBody>
            <a:bodyPr>
              <a:spAutoFit/>
            </a:bodyPr>
            <a:lstStyle/>
            <a:p>
              <a:r>
                <a:rPr lang="zh-CN" altLang="en-US" sz="2100" dirty="0">
                  <a:latin typeface="方正姚体" charset="-122"/>
                  <a:ea typeface="方正姚体" charset="-122"/>
                </a:rPr>
                <a:t>氯化钙（          ），五氧化二磷（      ）干燥剂原理</a:t>
              </a:r>
            </a:p>
          </p:txBody>
        </p:sp>
        <p:graphicFrame>
          <p:nvGraphicFramePr>
            <p:cNvPr id="4098" name="对象 1">
              <a:hlinkClick r:id="" action="ppaction://ole?verb=0"/>
            </p:cNvPr>
            <p:cNvGraphicFramePr>
              <a:graphicFrameLocks noChangeAspect="1"/>
            </p:cNvGraphicFramePr>
            <p:nvPr/>
          </p:nvGraphicFramePr>
          <p:xfrm>
            <a:off x="3928" y="1406"/>
            <a:ext cx="1147" cy="884"/>
          </p:xfrm>
          <a:graphic>
            <a:graphicData uri="http://schemas.openxmlformats.org/presentationml/2006/ole">
              <mc:AlternateContent xmlns:mc="http://schemas.openxmlformats.org/markup-compatibility/2006">
                <mc:Choice xmlns:v="urn:schemas-microsoft-com:vml" Requires="v">
                  <p:oleObj r:id="rId2" imgW="419100" imgH="215900" progId="Equation.KSEE3">
                    <p:embed/>
                  </p:oleObj>
                </mc:Choice>
                <mc:Fallback>
                  <p:oleObj r:id="rId2" imgW="419100" imgH="215900" progId="Equation.KSEE3">
                    <p:embed/>
                    <p:pic>
                      <p:nvPicPr>
                        <p:cNvPr id="0" name="图片 3087"/>
                        <p:cNvPicPr/>
                        <p:nvPr/>
                      </p:nvPicPr>
                      <p:blipFill>
                        <a:blip r:embed="rId3"/>
                        <a:stretch>
                          <a:fillRect/>
                        </a:stretch>
                      </p:blipFill>
                      <p:spPr>
                        <a:xfrm>
                          <a:off x="3928" y="1406"/>
                          <a:ext cx="1147" cy="884"/>
                        </a:xfrm>
                        <a:prstGeom prst="rect">
                          <a:avLst/>
                        </a:prstGeom>
                        <a:noFill/>
                        <a:ln w="38100">
                          <a:noFill/>
                          <a:miter/>
                        </a:ln>
                      </p:spPr>
                    </p:pic>
                  </p:oleObj>
                </mc:Fallback>
              </mc:AlternateContent>
            </a:graphicData>
          </a:graphic>
        </p:graphicFrame>
        <p:graphicFrame>
          <p:nvGraphicFramePr>
            <p:cNvPr id="4099" name="对象 5">
              <a:hlinkClick r:id="" action="ppaction://ole?verb=0"/>
            </p:cNvPr>
            <p:cNvGraphicFramePr>
              <a:graphicFrameLocks noChangeAspect="1"/>
            </p:cNvGraphicFramePr>
            <p:nvPr>
              <p:extLst>
                <p:ext uri="{D42A27DB-BD31-4B8C-83A1-F6EECF244321}">
                  <p14:modId xmlns:p14="http://schemas.microsoft.com/office/powerpoint/2010/main" val="3800172060"/>
                </p:ext>
              </p:extLst>
            </p:nvPr>
          </p:nvGraphicFramePr>
          <p:xfrm>
            <a:off x="7948" y="1555"/>
            <a:ext cx="1224" cy="885"/>
          </p:xfrm>
          <a:graphic>
            <a:graphicData uri="http://schemas.openxmlformats.org/presentationml/2006/ole">
              <mc:AlternateContent xmlns:mc="http://schemas.openxmlformats.org/markup-compatibility/2006">
                <mc:Choice xmlns:v="urn:schemas-microsoft-com:vml" Requires="v">
                  <p:oleObj r:id="rId4" imgW="316865" imgH="228600" progId="Equation.KSEE3">
                    <p:embed/>
                  </p:oleObj>
                </mc:Choice>
                <mc:Fallback>
                  <p:oleObj r:id="rId4" imgW="316865" imgH="228600" progId="Equation.KSEE3">
                    <p:embed/>
                    <p:pic>
                      <p:nvPicPr>
                        <p:cNvPr id="0" name="图片 3088"/>
                        <p:cNvPicPr/>
                        <p:nvPr/>
                      </p:nvPicPr>
                      <p:blipFill>
                        <a:blip r:embed="rId5"/>
                        <a:stretch>
                          <a:fillRect/>
                        </a:stretch>
                      </p:blipFill>
                      <p:spPr>
                        <a:xfrm>
                          <a:off x="7948" y="1555"/>
                          <a:ext cx="1224" cy="885"/>
                        </a:xfrm>
                        <a:prstGeom prst="rect">
                          <a:avLst/>
                        </a:prstGeom>
                        <a:noFill/>
                        <a:ln w="38100">
                          <a:noFill/>
                          <a:miter/>
                        </a:ln>
                      </p:spPr>
                    </p:pic>
                  </p:oleObj>
                </mc:Fallback>
              </mc:AlternateContent>
            </a:graphicData>
          </a:graphic>
        </p:graphicFrame>
      </p:grpSp>
      <p:grpSp>
        <p:nvGrpSpPr>
          <p:cNvPr id="3" name="组合 4"/>
          <p:cNvGrpSpPr/>
          <p:nvPr/>
        </p:nvGrpSpPr>
        <p:grpSpPr>
          <a:xfrm>
            <a:off x="1769275" y="1131731"/>
            <a:ext cx="4999435" cy="2143125"/>
            <a:chOff x="2234" y="2675"/>
            <a:chExt cx="10498" cy="4500"/>
          </a:xfrm>
        </p:grpSpPr>
        <p:pic>
          <p:nvPicPr>
            <p:cNvPr id="4104" name="图片 2"/>
            <p:cNvPicPr>
              <a:picLocks noChangeAspect="1"/>
            </p:cNvPicPr>
            <p:nvPr/>
          </p:nvPicPr>
          <p:blipFill>
            <a:blip r:embed="rId6"/>
            <a:stretch>
              <a:fillRect/>
            </a:stretch>
          </p:blipFill>
          <p:spPr>
            <a:xfrm>
              <a:off x="7816" y="2675"/>
              <a:ext cx="4917" cy="4426"/>
            </a:xfrm>
            <a:prstGeom prst="rect">
              <a:avLst/>
            </a:prstGeom>
            <a:noFill/>
            <a:ln w="9525">
              <a:noFill/>
            </a:ln>
          </p:spPr>
        </p:pic>
        <p:pic>
          <p:nvPicPr>
            <p:cNvPr id="4105" name="图片 3"/>
            <p:cNvPicPr>
              <a:picLocks noChangeAspect="1"/>
            </p:cNvPicPr>
            <p:nvPr/>
          </p:nvPicPr>
          <p:blipFill>
            <a:blip r:embed="rId7"/>
            <a:stretch>
              <a:fillRect/>
            </a:stretch>
          </p:blipFill>
          <p:spPr>
            <a:xfrm>
              <a:off x="2234" y="2675"/>
              <a:ext cx="4695" cy="4500"/>
            </a:xfrm>
            <a:prstGeom prst="rect">
              <a:avLst/>
            </a:prstGeom>
            <a:noFill/>
            <a:ln w="9525">
              <a:noFill/>
            </a:ln>
          </p:spPr>
        </p:pic>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1268"/>
                                        </p:tgtEl>
                                        <p:attrNameLst>
                                          <p:attrName>style.visibility</p:attrName>
                                        </p:attrNameLst>
                                      </p:cBhvr>
                                      <p:to>
                                        <p:strVal val="visible"/>
                                      </p:to>
                                    </p:set>
                                    <p:anim to="" calcmode="lin" valueType="num">
                                      <p:cBhvr>
                                        <p:cTn id="17" dur="1" fill="hold"/>
                                        <p:tgtEl>
                                          <p:spTgt spid="1126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11268"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框 2"/>
          <p:cNvSpPr txBox="1"/>
          <p:nvPr/>
        </p:nvSpPr>
        <p:spPr>
          <a:xfrm>
            <a:off x="709930" y="1140464"/>
            <a:ext cx="7749540" cy="2585323"/>
          </a:xfrm>
          <a:prstGeom prst="rect">
            <a:avLst/>
          </a:prstGeom>
          <a:noFill/>
          <a:ln w="9525">
            <a:noFill/>
          </a:ln>
        </p:spPr>
        <p:txBody>
          <a:bodyPr wrap="square">
            <a:spAutoFit/>
          </a:bodyPr>
          <a:lstStyle/>
          <a:p>
            <a:pPr>
              <a:lnSpc>
                <a:spcPct val="150000"/>
              </a:lnSpc>
            </a:pPr>
            <a:r>
              <a:rPr lang="zh-CN" altLang="en-US" sz="2400" dirty="0">
                <a:solidFill>
                  <a:srgbClr val="FF0000"/>
                </a:solidFill>
                <a:latin typeface="方正姚体" charset="-122"/>
                <a:ea typeface="方正姚体" charset="-122"/>
              </a:rPr>
              <a:t>判断题</a:t>
            </a:r>
          </a:p>
          <a:p>
            <a:pPr>
              <a:lnSpc>
                <a:spcPct val="150000"/>
              </a:lnSpc>
            </a:pPr>
            <a:r>
              <a:rPr lang="en-US" altLang="zh-CN" sz="2100" dirty="0">
                <a:latin typeface="方正姚体" charset="-122"/>
                <a:ea typeface="方正姚体" charset="-122"/>
              </a:rPr>
              <a:t>1.</a:t>
            </a:r>
            <a:r>
              <a:rPr lang="zh-CN" altLang="en-US" sz="2100" dirty="0">
                <a:latin typeface="方正姚体" charset="-122"/>
                <a:ea typeface="方正姚体" charset="-122"/>
              </a:rPr>
              <a:t>水的蒸气压就是水在标况下的蒸气压。（   ）</a:t>
            </a:r>
          </a:p>
          <a:p>
            <a:pPr>
              <a:lnSpc>
                <a:spcPct val="150000"/>
              </a:lnSpc>
            </a:pPr>
            <a:r>
              <a:rPr lang="en-US" altLang="zh-CN" sz="2100" dirty="0">
                <a:latin typeface="方正姚体" charset="-122"/>
                <a:ea typeface="方正姚体" charset="-122"/>
              </a:rPr>
              <a:t>2.</a:t>
            </a:r>
            <a:r>
              <a:rPr lang="zh-CN" altLang="en-US" sz="2100" dirty="0">
                <a:latin typeface="方正姚体" charset="-122"/>
                <a:ea typeface="方正姚体" charset="-122"/>
              </a:rPr>
              <a:t>相同温度下，纯溶剂的蒸气压大于溶液蒸气压</a:t>
            </a:r>
            <a:r>
              <a:rPr lang="zh-CN" altLang="en-US" sz="2100" dirty="0">
                <a:latin typeface="方正姚体" charset="-122"/>
                <a:ea typeface="方正姚体" charset="-122"/>
                <a:sym typeface="+mn-ea"/>
              </a:rPr>
              <a:t>（   ）</a:t>
            </a:r>
            <a:r>
              <a:rPr lang="zh-CN" altLang="en-US" sz="2100" dirty="0">
                <a:latin typeface="方正姚体" charset="-122"/>
                <a:ea typeface="方正姚体" charset="-122"/>
              </a:rPr>
              <a:t>。                                                           </a:t>
            </a:r>
          </a:p>
          <a:p>
            <a:pPr>
              <a:lnSpc>
                <a:spcPct val="150000"/>
              </a:lnSpc>
            </a:pPr>
            <a:r>
              <a:rPr lang="en-US" altLang="zh-CN" sz="2100" dirty="0">
                <a:latin typeface="方正姚体" charset="-122"/>
                <a:ea typeface="方正姚体" charset="-122"/>
              </a:rPr>
              <a:t>3.</a:t>
            </a:r>
            <a:r>
              <a:rPr lang="zh-CN" altLang="en-US" sz="2100" dirty="0">
                <a:latin typeface="方正姚体" charset="-122"/>
                <a:ea typeface="方正姚体" charset="-122"/>
              </a:rPr>
              <a:t>水的蒸气压的实质是水的蒸汽分子和其液体分子平衡状态的</a:t>
            </a:r>
          </a:p>
          <a:p>
            <a:pPr>
              <a:lnSpc>
                <a:spcPct val="150000"/>
              </a:lnSpc>
            </a:pPr>
            <a:r>
              <a:rPr lang="zh-CN" altLang="en-US" sz="2100" dirty="0">
                <a:latin typeface="方正姚体" charset="-122"/>
                <a:ea typeface="方正姚体" charset="-122"/>
              </a:rPr>
              <a:t> </a:t>
            </a:r>
            <a:r>
              <a:rPr lang="en-US" altLang="zh-CN" sz="2100" dirty="0">
                <a:latin typeface="方正姚体" charset="-122"/>
                <a:ea typeface="方正姚体" charset="-122"/>
              </a:rPr>
              <a:t> </a:t>
            </a:r>
            <a:r>
              <a:rPr lang="zh-CN" altLang="en-US" sz="2100" dirty="0">
                <a:latin typeface="方正姚体" charset="-122"/>
                <a:ea typeface="方正姚体" charset="-122"/>
              </a:rPr>
              <a:t>气压。                        （   ）</a:t>
            </a:r>
          </a:p>
        </p:txBody>
      </p:sp>
      <p:sp>
        <p:nvSpPr>
          <p:cNvPr id="4" name="文本框 3"/>
          <p:cNvSpPr txBox="1"/>
          <p:nvPr/>
        </p:nvSpPr>
        <p:spPr>
          <a:xfrm>
            <a:off x="5867718" y="1707198"/>
            <a:ext cx="455574" cy="415498"/>
          </a:xfrm>
          <a:prstGeom prst="rect">
            <a:avLst/>
          </a:prstGeom>
          <a:noFill/>
          <a:ln w="9525">
            <a:noFill/>
          </a:ln>
        </p:spPr>
        <p:txBody>
          <a:bodyPr wrap="none">
            <a:spAutoFit/>
          </a:bodyPr>
          <a:lstStyle/>
          <a:p>
            <a:r>
              <a:rPr lang="zh-CN" altLang="en-US" sz="2100" b="1" dirty="0">
                <a:latin typeface="Arial" panose="020B0604020202020204" pitchFamily="34" charset="0"/>
              </a:rPr>
              <a:t>×</a:t>
            </a:r>
          </a:p>
        </p:txBody>
      </p:sp>
      <p:sp>
        <p:nvSpPr>
          <p:cNvPr id="5" name="文本框 4"/>
          <p:cNvSpPr txBox="1"/>
          <p:nvPr/>
        </p:nvSpPr>
        <p:spPr>
          <a:xfrm>
            <a:off x="6660283" y="2284095"/>
            <a:ext cx="428625" cy="415498"/>
          </a:xfrm>
          <a:prstGeom prst="rect">
            <a:avLst/>
          </a:prstGeom>
          <a:noFill/>
          <a:ln w="9525">
            <a:noFill/>
          </a:ln>
        </p:spPr>
        <p:txBody>
          <a:bodyPr>
            <a:spAutoFit/>
          </a:bodyPr>
          <a:lstStyle/>
          <a:p>
            <a:r>
              <a:rPr lang="en-US" altLang="zh-CN" sz="2100" b="1" dirty="0">
                <a:latin typeface="幼圆" pitchFamily="49" charset="-122"/>
                <a:ea typeface="幼圆" pitchFamily="49" charset="-122"/>
              </a:rPr>
              <a:t>√</a:t>
            </a:r>
          </a:p>
        </p:txBody>
      </p:sp>
      <p:sp>
        <p:nvSpPr>
          <p:cNvPr id="6" name="文本框 5"/>
          <p:cNvSpPr txBox="1"/>
          <p:nvPr/>
        </p:nvSpPr>
        <p:spPr>
          <a:xfrm>
            <a:off x="3563888" y="3211992"/>
            <a:ext cx="427435" cy="415498"/>
          </a:xfrm>
          <a:prstGeom prst="rect">
            <a:avLst/>
          </a:prstGeom>
          <a:noFill/>
          <a:ln w="9525">
            <a:noFill/>
          </a:ln>
        </p:spPr>
        <p:txBody>
          <a:bodyPr>
            <a:spAutoFit/>
          </a:bodyPr>
          <a:lstStyle/>
          <a:p>
            <a:r>
              <a:rPr lang="en-US" altLang="zh-CN" sz="2100" b="1" dirty="0">
                <a:latin typeface="幼圆" pitchFamily="49" charset="-122"/>
                <a:ea typeface="幼圆"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1+#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1+#ppt_w/2"/>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ppt_x</p:attrName>
                                        </p:attrNameLst>
                                      </p:cBhvr>
                                      <p:tavLst>
                                        <p:tav tm="0">
                                          <p:val>
                                            <p:strVal val="1+#ppt_w/2"/>
                                          </p:val>
                                        </p:tav>
                                        <p:tav tm="100000">
                                          <p:val>
                                            <p:strVal val="#ppt_x"/>
                                          </p:val>
                                        </p:tav>
                                      </p:tavLst>
                                    </p:anim>
                                    <p:anim calcmode="lin" valueType="num">
                                      <p:cBhvr>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p:nvPr/>
        </p:nvSpPr>
        <p:spPr>
          <a:xfrm>
            <a:off x="4067175" y="2247901"/>
            <a:ext cx="4897438" cy="2123658"/>
          </a:xfrm>
          <a:prstGeom prst="rect">
            <a:avLst/>
          </a:prstGeom>
          <a:noFill/>
          <a:ln w="9525">
            <a:noFill/>
          </a:ln>
        </p:spPr>
        <p:txBody>
          <a:bodyPr anchor="t" anchorCtr="0">
            <a:spAutoFit/>
          </a:bodyPr>
          <a:lstStyle/>
          <a:p>
            <a:pPr>
              <a:lnSpc>
                <a:spcPct val="110000"/>
              </a:lnSpc>
              <a:spcBef>
                <a:spcPct val="50000"/>
              </a:spcBef>
              <a:buClrTx/>
              <a:buFontTx/>
            </a:pPr>
            <a:r>
              <a:rPr lang="zh-CN" altLang="en-US" sz="2400" dirty="0">
                <a:latin typeface="Times New Roman" panose="02020603050405020304" pitchFamily="18" charset="0"/>
                <a:ea typeface="宋体" panose="02010600030101010101" pitchFamily="2" charset="-122"/>
              </a:rPr>
              <a:t>       若在纯溶剂</a:t>
            </a:r>
            <a:r>
              <a:rPr lang="en-US" altLang="zh-CN" sz="2400" dirty="0">
                <a:latin typeface="Times New Roman" panose="02020603050405020304" pitchFamily="18" charset="0"/>
                <a:ea typeface="宋体" panose="02010600030101010101" pitchFamily="2" charset="-122"/>
              </a:rPr>
              <a:t>A</a:t>
            </a:r>
            <a:r>
              <a:rPr lang="zh-CN" altLang="en-US" sz="2400" dirty="0">
                <a:latin typeface="Times New Roman" panose="02020603050405020304" pitchFamily="18" charset="0"/>
                <a:ea typeface="宋体" panose="02010600030101010101" pitchFamily="2" charset="-122"/>
              </a:rPr>
              <a:t>中加入不挥发的溶质</a:t>
            </a:r>
            <a:r>
              <a:rPr lang="en-US" altLang="zh-CN" sz="2400" dirty="0">
                <a:latin typeface="Times New Roman" panose="02020603050405020304" pitchFamily="18" charset="0"/>
                <a:ea typeface="宋体" panose="02010600030101010101" pitchFamily="2" charset="-122"/>
              </a:rPr>
              <a:t>B</a:t>
            </a:r>
            <a:r>
              <a:rPr lang="zh-CN" altLang="en-US" sz="2400" dirty="0">
                <a:latin typeface="Times New Roman" panose="02020603050405020304" pitchFamily="18" charset="0"/>
                <a:ea typeface="宋体" panose="02010600030101010101" pitchFamily="2" charset="-122"/>
              </a:rPr>
              <a:t>，由于</a:t>
            </a:r>
            <a:r>
              <a:rPr lang="zh-CN" altLang="en-US" sz="2400" dirty="0">
                <a:solidFill>
                  <a:srgbClr val="0000FF"/>
                </a:solidFill>
                <a:latin typeface="Times New Roman" panose="02020603050405020304" pitchFamily="18" charset="0"/>
                <a:ea typeface="宋体" panose="02010600030101010101" pitchFamily="2" charset="-122"/>
              </a:rPr>
              <a:t>溶液的蒸气压</a:t>
            </a:r>
            <a:r>
              <a:rPr lang="en-US" altLang="zh-CN" sz="2400" dirty="0">
                <a:solidFill>
                  <a:srgbClr val="3333FF"/>
                </a:solidFill>
                <a:latin typeface="Times New Roman" panose="02020603050405020304" pitchFamily="18" charset="0"/>
                <a:ea typeface="宋体" panose="02010600030101010101" pitchFamily="2" charset="-122"/>
              </a:rPr>
              <a:t>&lt;</a:t>
            </a:r>
            <a:r>
              <a:rPr lang="zh-CN" altLang="en-US" sz="2400" dirty="0">
                <a:solidFill>
                  <a:srgbClr val="3333FF"/>
                </a:solidFill>
                <a:latin typeface="Times New Roman" panose="02020603050405020304" pitchFamily="18" charset="0"/>
                <a:ea typeface="宋体" panose="02010600030101010101" pitchFamily="2" charset="-122"/>
              </a:rPr>
              <a:t>纯溶剂 </a:t>
            </a:r>
            <a:r>
              <a:rPr lang="en-US" altLang="zh-CN" sz="2400" dirty="0">
                <a:solidFill>
                  <a:srgbClr val="3333FF"/>
                </a:solidFill>
                <a:latin typeface="Times New Roman" panose="02020603050405020304" pitchFamily="18" charset="0"/>
                <a:ea typeface="宋体" panose="02010600030101010101" pitchFamily="2" charset="-122"/>
              </a:rPr>
              <a:t>A </a:t>
            </a:r>
            <a:r>
              <a:rPr lang="zh-CN" altLang="en-US" sz="2400" dirty="0">
                <a:solidFill>
                  <a:srgbClr val="3333FF"/>
                </a:solidFill>
                <a:latin typeface="Times New Roman" panose="02020603050405020304" pitchFamily="18" charset="0"/>
                <a:ea typeface="宋体" panose="02010600030101010101" pitchFamily="2" charset="-122"/>
              </a:rPr>
              <a:t>在同温度的蒸气压</a:t>
            </a:r>
            <a:r>
              <a:rPr lang="zh-CN" altLang="en-US" sz="2400" dirty="0">
                <a:latin typeface="Times New Roman" panose="02020603050405020304" pitchFamily="18" charset="0"/>
                <a:ea typeface="宋体" panose="02010600030101010101" pitchFamily="2" charset="-122"/>
              </a:rPr>
              <a:t>。所以其蒸气压曲线 </a:t>
            </a:r>
            <a:r>
              <a:rPr lang="en-US" altLang="zh-CN" sz="2400" i="1" dirty="0">
                <a:latin typeface="Times New Roman" panose="02020603050405020304" pitchFamily="18" charset="0"/>
                <a:ea typeface="宋体" panose="02010600030101010101" pitchFamily="2" charset="-122"/>
              </a:rPr>
              <a:t>oc </a:t>
            </a:r>
            <a:r>
              <a:rPr lang="zh-CN" altLang="en-US" sz="2400" dirty="0">
                <a:latin typeface="Times New Roman" panose="02020603050405020304" pitchFamily="18" charset="0"/>
                <a:ea typeface="宋体" panose="02010600030101010101" pitchFamily="2" charset="-122"/>
              </a:rPr>
              <a:t>在纯 </a:t>
            </a:r>
            <a:r>
              <a:rPr lang="en-US" altLang="zh-CN" sz="2400" dirty="0">
                <a:latin typeface="Times New Roman" panose="02020603050405020304" pitchFamily="18" charset="0"/>
                <a:ea typeface="宋体" panose="02010600030101010101" pitchFamily="2" charset="-122"/>
              </a:rPr>
              <a:t>A </a:t>
            </a:r>
            <a:r>
              <a:rPr lang="zh-CN" altLang="en-US" sz="2400" dirty="0">
                <a:latin typeface="Times New Roman" panose="02020603050405020304" pitchFamily="18" charset="0"/>
                <a:ea typeface="宋体" panose="02010600030101010101" pitchFamily="2" charset="-122"/>
              </a:rPr>
              <a:t>蒸气压曲线 </a:t>
            </a:r>
            <a:r>
              <a:rPr lang="en-US" altLang="zh-CN" sz="2400" i="1" dirty="0">
                <a:latin typeface="Times New Roman" panose="02020603050405020304" pitchFamily="18" charset="0"/>
                <a:ea typeface="宋体" panose="02010600030101010101" pitchFamily="2" charset="-122"/>
              </a:rPr>
              <a:t>o</a:t>
            </a:r>
            <a:r>
              <a:rPr lang="en-US" altLang="zh-CN" sz="2400"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i="1" dirty="0">
                <a:latin typeface="Times New Roman" panose="02020603050405020304" pitchFamily="18" charset="0"/>
                <a:ea typeface="宋体" panose="02010600030101010101" pitchFamily="2" charset="-122"/>
              </a:rPr>
              <a:t>c</a:t>
            </a:r>
            <a:r>
              <a:rPr lang="en-US" altLang="zh-CN" sz="2400" baseline="30000" dirty="0">
                <a:latin typeface="Times New Roman" panose="02020603050405020304" pitchFamily="18" charset="0"/>
                <a:ea typeface="宋体" panose="02010600030101010101" pitchFamily="2" charset="-122"/>
                <a:sym typeface="Symbol" panose="05050102010706020507" pitchFamily="18" charset="2"/>
              </a:rPr>
              <a:t></a:t>
            </a:r>
            <a:r>
              <a:rPr lang="zh-CN" altLang="en-US" sz="2400" dirty="0">
                <a:latin typeface="Times New Roman" panose="02020603050405020304" pitchFamily="18" charset="0"/>
                <a:ea typeface="宋体" panose="02010600030101010101" pitchFamily="2" charset="-122"/>
              </a:rPr>
              <a:t>下方。</a:t>
            </a:r>
          </a:p>
        </p:txBody>
      </p:sp>
      <p:sp>
        <p:nvSpPr>
          <p:cNvPr id="164867" name="Text Box 3"/>
          <p:cNvSpPr txBox="1"/>
          <p:nvPr/>
        </p:nvSpPr>
        <p:spPr>
          <a:xfrm>
            <a:off x="3995738" y="4137028"/>
            <a:ext cx="5040312" cy="904863"/>
          </a:xfrm>
          <a:prstGeom prst="rect">
            <a:avLst/>
          </a:prstGeom>
          <a:noFill/>
          <a:ln w="9525">
            <a:noFill/>
          </a:ln>
        </p:spPr>
        <p:txBody>
          <a:bodyPr anchor="t" anchorCtr="0">
            <a:spAutoFit/>
          </a:bodyPr>
          <a:lstStyle/>
          <a:p>
            <a:pPr>
              <a:lnSpc>
                <a:spcPct val="110000"/>
              </a:lnSpc>
              <a:spcBef>
                <a:spcPct val="50000"/>
              </a:spcBef>
              <a:buClrTx/>
              <a:buFontTx/>
            </a:pPr>
            <a:r>
              <a:rPr lang="zh-CN" altLang="en-US" sz="2400" dirty="0">
                <a:latin typeface="Times New Roman" panose="02020603050405020304" pitchFamily="18" charset="0"/>
                <a:ea typeface="宋体" panose="02010600030101010101" pitchFamily="2" charset="-122"/>
              </a:rPr>
              <a:t>        在一定的外压下，纯液态沸腾的温度要低于溶液沸腾温度。</a:t>
            </a:r>
          </a:p>
        </p:txBody>
      </p:sp>
      <p:grpSp>
        <p:nvGrpSpPr>
          <p:cNvPr id="2" name="Group 4"/>
          <p:cNvGrpSpPr/>
          <p:nvPr/>
        </p:nvGrpSpPr>
        <p:grpSpPr>
          <a:xfrm>
            <a:off x="323850" y="2154238"/>
            <a:ext cx="3352800" cy="2857500"/>
            <a:chOff x="288" y="1728"/>
            <a:chExt cx="2112" cy="2400"/>
          </a:xfrm>
        </p:grpSpPr>
        <p:grpSp>
          <p:nvGrpSpPr>
            <p:cNvPr id="26628" name="Group 5"/>
            <p:cNvGrpSpPr/>
            <p:nvPr/>
          </p:nvGrpSpPr>
          <p:grpSpPr>
            <a:xfrm>
              <a:off x="288" y="1728"/>
              <a:ext cx="2112" cy="2400"/>
              <a:chOff x="288" y="1728"/>
              <a:chExt cx="2112" cy="2400"/>
            </a:xfrm>
          </p:grpSpPr>
          <p:grpSp>
            <p:nvGrpSpPr>
              <p:cNvPr id="26629" name="Group 6"/>
              <p:cNvGrpSpPr/>
              <p:nvPr/>
            </p:nvGrpSpPr>
            <p:grpSpPr>
              <a:xfrm>
                <a:off x="288" y="1728"/>
                <a:ext cx="2112" cy="2160"/>
                <a:chOff x="288" y="1824"/>
                <a:chExt cx="2112" cy="2160"/>
              </a:xfrm>
            </p:grpSpPr>
            <p:grpSp>
              <p:nvGrpSpPr>
                <p:cNvPr id="26630" name="Group 7"/>
                <p:cNvGrpSpPr/>
                <p:nvPr/>
              </p:nvGrpSpPr>
              <p:grpSpPr>
                <a:xfrm>
                  <a:off x="288" y="1968"/>
                  <a:ext cx="2112" cy="2016"/>
                  <a:chOff x="0" y="1968"/>
                  <a:chExt cx="2112" cy="2016"/>
                </a:xfrm>
              </p:grpSpPr>
              <p:sp>
                <p:nvSpPr>
                  <p:cNvPr id="26631" name="Rectangle 8"/>
                  <p:cNvSpPr/>
                  <p:nvPr/>
                </p:nvSpPr>
                <p:spPr>
                  <a:xfrm>
                    <a:off x="336" y="1968"/>
                    <a:ext cx="1776" cy="2016"/>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6632" name="Freeform 9"/>
                  <p:cNvSpPr/>
                  <p:nvPr/>
                </p:nvSpPr>
                <p:spPr>
                  <a:xfrm>
                    <a:off x="528" y="2496"/>
                    <a:ext cx="1056" cy="912"/>
                  </a:xfrm>
                  <a:custGeom>
                    <a:avLst/>
                    <a:gdLst/>
                    <a:ahLst/>
                    <a:cxnLst>
                      <a:cxn ang="0">
                        <a:pos x="0" y="912"/>
                      </a:cxn>
                      <a:cxn ang="0">
                        <a:pos x="528" y="528"/>
                      </a:cxn>
                      <a:cxn ang="0">
                        <a:pos x="1056" y="0"/>
                      </a:cxn>
                    </a:cxnLst>
                    <a:rect l="0" t="0" r="0" b="0"/>
                    <a:pathLst>
                      <a:path w="1056" h="912">
                        <a:moveTo>
                          <a:pt x="0" y="912"/>
                        </a:moveTo>
                        <a:cubicBezTo>
                          <a:pt x="176" y="796"/>
                          <a:pt x="352" y="680"/>
                          <a:pt x="528" y="528"/>
                        </a:cubicBezTo>
                        <a:cubicBezTo>
                          <a:pt x="704" y="376"/>
                          <a:pt x="880" y="188"/>
                          <a:pt x="1056" y="0"/>
                        </a:cubicBezTo>
                      </a:path>
                    </a:pathLst>
                  </a:custGeom>
                  <a:noFill/>
                  <a:ln w="28575" cap="flat" cmpd="sng">
                    <a:solidFill>
                      <a:srgbClr val="3366FF"/>
                    </a:solidFill>
                    <a:prstDash val="solid"/>
                    <a:round/>
                    <a:headEnd type="none" w="med" len="med"/>
                    <a:tailEnd type="none" w="med" len="med"/>
                  </a:ln>
                </p:spPr>
                <p:txBody>
                  <a:bodyPr/>
                  <a:lstStyle/>
                  <a:p>
                    <a:endParaRPr lang="zh-CN" altLang="en-US"/>
                  </a:p>
                </p:txBody>
              </p:sp>
              <p:sp>
                <p:nvSpPr>
                  <p:cNvPr id="26633" name="Freeform 10"/>
                  <p:cNvSpPr/>
                  <p:nvPr/>
                </p:nvSpPr>
                <p:spPr>
                  <a:xfrm>
                    <a:off x="624" y="2592"/>
                    <a:ext cx="1200" cy="1072"/>
                  </a:xfrm>
                  <a:custGeom>
                    <a:avLst/>
                    <a:gdLst/>
                    <a:ahLst/>
                    <a:cxnLst>
                      <a:cxn ang="0">
                        <a:pos x="48" y="1008"/>
                      </a:cxn>
                      <a:cxn ang="0">
                        <a:pos x="96" y="1008"/>
                      </a:cxn>
                      <a:cxn ang="0">
                        <a:pos x="624" y="624"/>
                      </a:cxn>
                      <a:cxn ang="0">
                        <a:pos x="1200" y="0"/>
                      </a:cxn>
                    </a:cxnLst>
                    <a:rect l="0" t="0" r="0" b="0"/>
                    <a:pathLst>
                      <a:path w="1200" h="1072">
                        <a:moveTo>
                          <a:pt x="48" y="1008"/>
                        </a:moveTo>
                        <a:cubicBezTo>
                          <a:pt x="24" y="1040"/>
                          <a:pt x="0" y="1072"/>
                          <a:pt x="96" y="1008"/>
                        </a:cubicBezTo>
                        <a:cubicBezTo>
                          <a:pt x="192" y="944"/>
                          <a:pt x="440" y="792"/>
                          <a:pt x="624" y="624"/>
                        </a:cubicBezTo>
                        <a:cubicBezTo>
                          <a:pt x="808" y="456"/>
                          <a:pt x="1004" y="228"/>
                          <a:pt x="1200" y="0"/>
                        </a:cubicBezTo>
                      </a:path>
                    </a:pathLst>
                  </a:custGeom>
                  <a:noFill/>
                  <a:ln w="28575" cap="flat" cmpd="sng">
                    <a:solidFill>
                      <a:srgbClr val="FF9900"/>
                    </a:solidFill>
                    <a:prstDash val="solid"/>
                    <a:round/>
                    <a:headEnd type="none" w="med" len="med"/>
                    <a:tailEnd type="none" w="med" len="med"/>
                  </a:ln>
                </p:spPr>
                <p:txBody>
                  <a:bodyPr/>
                  <a:lstStyle/>
                  <a:p>
                    <a:endParaRPr lang="zh-CN" altLang="en-US"/>
                  </a:p>
                </p:txBody>
              </p:sp>
              <p:sp>
                <p:nvSpPr>
                  <p:cNvPr id="26634" name="Line 11"/>
                  <p:cNvSpPr/>
                  <p:nvPr/>
                </p:nvSpPr>
                <p:spPr>
                  <a:xfrm>
                    <a:off x="336" y="2640"/>
                    <a:ext cx="1488" cy="0"/>
                  </a:xfrm>
                  <a:prstGeom prst="line">
                    <a:avLst/>
                  </a:prstGeom>
                  <a:ln w="28575" cap="flat" cmpd="sng">
                    <a:solidFill>
                      <a:schemeClr val="tx1"/>
                    </a:solidFill>
                    <a:prstDash val="dash"/>
                    <a:round/>
                    <a:headEnd type="none" w="med" len="med"/>
                    <a:tailEnd type="none" w="med" len="med"/>
                  </a:ln>
                </p:spPr>
              </p:sp>
              <p:sp>
                <p:nvSpPr>
                  <p:cNvPr id="26635" name="Line 12"/>
                  <p:cNvSpPr/>
                  <p:nvPr/>
                </p:nvSpPr>
                <p:spPr>
                  <a:xfrm>
                    <a:off x="1776" y="2640"/>
                    <a:ext cx="0" cy="1344"/>
                  </a:xfrm>
                  <a:prstGeom prst="line">
                    <a:avLst/>
                  </a:prstGeom>
                  <a:ln w="28575" cap="flat" cmpd="sng">
                    <a:solidFill>
                      <a:schemeClr val="tx1"/>
                    </a:solidFill>
                    <a:prstDash val="dash"/>
                    <a:round/>
                    <a:headEnd type="none" w="med" len="med"/>
                    <a:tailEnd type="none" w="med" len="med"/>
                  </a:ln>
                </p:spPr>
              </p:sp>
              <p:sp>
                <p:nvSpPr>
                  <p:cNvPr id="26636" name="Line 13"/>
                  <p:cNvSpPr/>
                  <p:nvPr/>
                </p:nvSpPr>
                <p:spPr>
                  <a:xfrm>
                    <a:off x="1440" y="2640"/>
                    <a:ext cx="0" cy="1344"/>
                  </a:xfrm>
                  <a:prstGeom prst="line">
                    <a:avLst/>
                  </a:prstGeom>
                  <a:ln w="28575" cap="flat" cmpd="sng">
                    <a:solidFill>
                      <a:schemeClr val="tx1"/>
                    </a:solidFill>
                    <a:prstDash val="dash"/>
                    <a:round/>
                    <a:headEnd type="none" w="med" len="med"/>
                    <a:tailEnd type="none" w="med" len="med"/>
                  </a:ln>
                </p:spPr>
              </p:sp>
              <p:sp>
                <p:nvSpPr>
                  <p:cNvPr id="26637" name="Text Box 14"/>
                  <p:cNvSpPr txBox="1"/>
                  <p:nvPr/>
                </p:nvSpPr>
                <p:spPr>
                  <a:xfrm>
                    <a:off x="816" y="2016"/>
                    <a:ext cx="864" cy="336"/>
                  </a:xfrm>
                  <a:prstGeom prst="rect">
                    <a:avLst/>
                  </a:prstGeom>
                  <a:noFill/>
                  <a:ln w="9525">
                    <a:noFill/>
                  </a:ln>
                </p:spPr>
                <p:txBody>
                  <a:bodyPr anchor="t" anchorCtr="0">
                    <a:spAutoFit/>
                  </a:bodyPr>
                  <a:lstStyle/>
                  <a:p>
                    <a:pPr>
                      <a:spcBef>
                        <a:spcPct val="50000"/>
                      </a:spcBef>
                      <a:buClrTx/>
                      <a:buFontTx/>
                    </a:pPr>
                    <a:r>
                      <a:rPr lang="en-US" altLang="zh-CN" sz="2000" i="1" dirty="0">
                        <a:latin typeface="Times New Roman" panose="02020603050405020304" pitchFamily="18" charset="0"/>
                        <a:ea typeface="宋体" panose="02010600030101010101" pitchFamily="2" charset="-122"/>
                      </a:rPr>
                      <a:t>p</a:t>
                    </a:r>
                    <a:r>
                      <a:rPr lang="zh-CN" altLang="en-US" sz="2000" baseline="-25000" dirty="0">
                        <a:latin typeface="Times New Roman" panose="02020603050405020304" pitchFamily="18" charset="0"/>
                        <a:ea typeface="宋体" panose="02010600030101010101" pitchFamily="2" charset="-122"/>
                      </a:rPr>
                      <a:t>外</a:t>
                    </a:r>
                    <a:r>
                      <a:rPr lang="zh-CN" altLang="en-US" sz="2000" dirty="0">
                        <a:latin typeface="Times New Roman" panose="02020603050405020304" pitchFamily="18" charset="0"/>
                        <a:ea typeface="宋体" panose="02010600030101010101" pitchFamily="2" charset="-122"/>
                      </a:rPr>
                      <a:t>恒定</a:t>
                    </a:r>
                  </a:p>
                </p:txBody>
              </p:sp>
              <p:sp>
                <p:nvSpPr>
                  <p:cNvPr id="26638" name="Rectangle 15"/>
                  <p:cNvSpPr/>
                  <p:nvPr/>
                </p:nvSpPr>
                <p:spPr>
                  <a:xfrm>
                    <a:off x="0" y="2496"/>
                    <a:ext cx="305" cy="336"/>
                  </a:xfrm>
                  <a:prstGeom prst="rect">
                    <a:avLst/>
                  </a:prstGeom>
                  <a:noFill/>
                  <a:ln w="9525">
                    <a:noFill/>
                  </a:ln>
                </p:spPr>
                <p:txBody>
                  <a:bodyPr wrap="none" anchor="t" anchorCtr="0">
                    <a:spAutoFit/>
                  </a:bodyPr>
                  <a:lstStyle/>
                  <a:p>
                    <a:pPr>
                      <a:buClrTx/>
                      <a:buFontTx/>
                    </a:pPr>
                    <a:r>
                      <a:rPr lang="en-US" altLang="zh-CN" sz="2000" i="1" dirty="0">
                        <a:latin typeface="Times New Roman" panose="02020603050405020304" pitchFamily="18" charset="0"/>
                        <a:ea typeface="宋体" panose="02010600030101010101" pitchFamily="2" charset="-122"/>
                      </a:rPr>
                      <a:t>p</a:t>
                    </a:r>
                    <a:r>
                      <a:rPr lang="zh-CN" altLang="en-US" sz="2000" baseline="-25000" dirty="0">
                        <a:latin typeface="Times New Roman" panose="02020603050405020304" pitchFamily="18" charset="0"/>
                        <a:ea typeface="宋体" panose="02010600030101010101" pitchFamily="2" charset="-122"/>
                      </a:rPr>
                      <a:t>外</a:t>
                    </a:r>
                  </a:p>
                </p:txBody>
              </p:sp>
            </p:grpSp>
            <p:sp>
              <p:nvSpPr>
                <p:cNvPr id="26639" name="Text Box 16"/>
                <p:cNvSpPr txBox="1"/>
                <p:nvPr/>
              </p:nvSpPr>
              <p:spPr>
                <a:xfrm>
                  <a:off x="336" y="1824"/>
                  <a:ext cx="384" cy="336"/>
                </a:xfrm>
                <a:prstGeom prst="rect">
                  <a:avLst/>
                </a:prstGeom>
                <a:noFill/>
                <a:ln w="9525">
                  <a:noFill/>
                </a:ln>
              </p:spPr>
              <p:txBody>
                <a:bodyPr anchor="t" anchorCtr="0">
                  <a:spAutoFit/>
                </a:bodyPr>
                <a:lstStyle/>
                <a:p>
                  <a:pPr>
                    <a:spcBef>
                      <a:spcPct val="50000"/>
                    </a:spcBef>
                    <a:buClrTx/>
                    <a:buFontTx/>
                  </a:pPr>
                  <a:r>
                    <a:rPr lang="en-US" altLang="zh-CN" sz="2000" i="1" dirty="0">
                      <a:latin typeface="Times New Roman" panose="02020603050405020304" pitchFamily="18" charset="0"/>
                      <a:ea typeface="宋体" panose="02010600030101010101" pitchFamily="2" charset="-122"/>
                    </a:rPr>
                    <a:t>p</a:t>
                  </a:r>
                  <a:r>
                    <a:rPr lang="en-US" altLang="zh-CN" sz="2000" baseline="-25000" dirty="0">
                      <a:latin typeface="Times New Roman" panose="02020603050405020304" pitchFamily="18" charset="0"/>
                      <a:ea typeface="宋体" panose="02010600030101010101" pitchFamily="2" charset="-122"/>
                    </a:rPr>
                    <a:t>A</a:t>
                  </a:r>
                </a:p>
              </p:txBody>
            </p:sp>
          </p:grpSp>
          <p:graphicFrame>
            <p:nvGraphicFramePr>
              <p:cNvPr id="26640" name="Object 17"/>
              <p:cNvGraphicFramePr>
                <a:graphicFrameLocks noChangeAspect="1"/>
              </p:cNvGraphicFramePr>
              <p:nvPr/>
            </p:nvGraphicFramePr>
            <p:xfrm>
              <a:off x="1968" y="3888"/>
              <a:ext cx="187" cy="240"/>
            </p:xfrm>
            <a:graphic>
              <a:graphicData uri="http://schemas.openxmlformats.org/presentationml/2006/ole">
                <mc:AlternateContent xmlns:mc="http://schemas.openxmlformats.org/markup-compatibility/2006">
                  <mc:Choice xmlns:v="urn:schemas-microsoft-com:vml" Requires="v">
                    <p:oleObj r:id="rId2" imgW="177800" imgH="228600" progId="Equation.3">
                      <p:embed/>
                    </p:oleObj>
                  </mc:Choice>
                  <mc:Fallback>
                    <p:oleObj r:id="rId2" imgW="177800" imgH="228600" progId="Equation.3">
                      <p:embed/>
                      <p:pic>
                        <p:nvPicPr>
                          <p:cNvPr id="0" name="图片 3079"/>
                          <p:cNvPicPr/>
                          <p:nvPr/>
                        </p:nvPicPr>
                        <p:blipFill>
                          <a:blip r:embed="rId3"/>
                          <a:stretch>
                            <a:fillRect/>
                          </a:stretch>
                        </p:blipFill>
                        <p:spPr>
                          <a:xfrm>
                            <a:off x="1968" y="3888"/>
                            <a:ext cx="187" cy="240"/>
                          </a:xfrm>
                          <a:prstGeom prst="rect">
                            <a:avLst/>
                          </a:prstGeom>
                          <a:noFill/>
                          <a:ln w="38100">
                            <a:noFill/>
                            <a:miter/>
                          </a:ln>
                        </p:spPr>
                      </p:pic>
                    </p:oleObj>
                  </mc:Fallback>
                </mc:AlternateContent>
              </a:graphicData>
            </a:graphic>
          </p:graphicFrame>
        </p:grpSp>
        <p:graphicFrame>
          <p:nvGraphicFramePr>
            <p:cNvPr id="26641" name="Object 18"/>
            <p:cNvGraphicFramePr>
              <a:graphicFrameLocks noChangeAspect="1"/>
            </p:cNvGraphicFramePr>
            <p:nvPr/>
          </p:nvGraphicFramePr>
          <p:xfrm>
            <a:off x="1632" y="3888"/>
            <a:ext cx="240" cy="240"/>
          </p:xfrm>
          <a:graphic>
            <a:graphicData uri="http://schemas.openxmlformats.org/presentationml/2006/ole">
              <mc:AlternateContent xmlns:mc="http://schemas.openxmlformats.org/markup-compatibility/2006">
                <mc:Choice xmlns:v="urn:schemas-microsoft-com:vml" Requires="v">
                  <p:oleObj r:id="rId4" imgW="190500" imgH="241300" progId="Equation.3">
                    <p:embed/>
                  </p:oleObj>
                </mc:Choice>
                <mc:Fallback>
                  <p:oleObj r:id="rId4" imgW="190500" imgH="241300" progId="Equation.3">
                    <p:embed/>
                    <p:pic>
                      <p:nvPicPr>
                        <p:cNvPr id="0" name="图片 3080"/>
                        <p:cNvPicPr/>
                        <p:nvPr/>
                      </p:nvPicPr>
                      <p:blipFill>
                        <a:blip r:embed="rId5"/>
                        <a:stretch>
                          <a:fillRect/>
                        </a:stretch>
                      </p:blipFill>
                      <p:spPr>
                        <a:xfrm>
                          <a:off x="1632" y="3888"/>
                          <a:ext cx="240" cy="240"/>
                        </a:xfrm>
                        <a:prstGeom prst="rect">
                          <a:avLst/>
                        </a:prstGeom>
                        <a:noFill/>
                        <a:ln w="38100">
                          <a:noFill/>
                          <a:miter/>
                        </a:ln>
                      </p:spPr>
                    </p:pic>
                  </p:oleObj>
                </mc:Fallback>
              </mc:AlternateContent>
            </a:graphicData>
          </a:graphic>
        </p:graphicFrame>
        <p:sp>
          <p:nvSpPr>
            <p:cNvPr id="3090" name="Rectangle 19"/>
            <p:cNvSpPr>
              <a:spLocks noChangeArrowheads="1"/>
            </p:cNvSpPr>
            <p:nvPr/>
          </p:nvSpPr>
          <p:spPr bwMode="auto">
            <a:xfrm rot="19200000">
              <a:off x="765" y="2789"/>
              <a:ext cx="721"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宋体" panose="02010600030101010101" pitchFamily="2" charset="-122"/>
                  <a:cs typeface="+mn-cs"/>
                </a:rPr>
                <a:t>纯液态</a:t>
              </a:r>
              <a:r>
                <a:rPr kumimoji="0" lang="en-US" altLang="zh-CN" sz="2000" b="1" i="0"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宋体" panose="02010600030101010101" pitchFamily="2" charset="-122"/>
                  <a:cs typeface="+mn-cs"/>
                </a:rPr>
                <a:t>A</a:t>
              </a:r>
            </a:p>
          </p:txBody>
        </p:sp>
        <p:sp>
          <p:nvSpPr>
            <p:cNvPr id="26643" name="Text Box 20"/>
            <p:cNvSpPr txBox="1"/>
            <p:nvPr/>
          </p:nvSpPr>
          <p:spPr>
            <a:xfrm rot="19200000">
              <a:off x="960" y="3221"/>
              <a:ext cx="864" cy="336"/>
            </a:xfrm>
            <a:prstGeom prst="rect">
              <a:avLst/>
            </a:prstGeom>
            <a:noFill/>
            <a:ln w="9525">
              <a:noFill/>
            </a:ln>
          </p:spPr>
          <p:txBody>
            <a:bodyPr anchor="t" anchorCtr="0">
              <a:spAutoFit/>
            </a:bodyPr>
            <a:lstStyle/>
            <a:p>
              <a:pPr>
                <a:spcBef>
                  <a:spcPct val="50000"/>
                </a:spcBef>
                <a:buClrTx/>
                <a:buFontTx/>
              </a:pPr>
              <a:r>
                <a:rPr lang="zh-CN" altLang="en-US" sz="2000" dirty="0">
                  <a:solidFill>
                    <a:srgbClr val="CC6600"/>
                  </a:solidFill>
                  <a:latin typeface="Times New Roman" panose="02020603050405020304" pitchFamily="18" charset="0"/>
                  <a:ea typeface="宋体" panose="02010600030101010101" pitchFamily="2" charset="-122"/>
                </a:rPr>
                <a:t>溶液中</a:t>
              </a:r>
              <a:r>
                <a:rPr lang="en-US" altLang="zh-CN" sz="2000" dirty="0">
                  <a:solidFill>
                    <a:srgbClr val="CC6600"/>
                  </a:solidFill>
                  <a:latin typeface="Times New Roman" panose="02020603050405020304" pitchFamily="18" charset="0"/>
                  <a:ea typeface="宋体" panose="02010600030101010101" pitchFamily="2" charset="-122"/>
                </a:rPr>
                <a:t>A</a:t>
              </a:r>
            </a:p>
          </p:txBody>
        </p:sp>
        <p:sp>
          <p:nvSpPr>
            <p:cNvPr id="26644" name="Text Box 21"/>
            <p:cNvSpPr txBox="1"/>
            <p:nvPr/>
          </p:nvSpPr>
          <p:spPr>
            <a:xfrm>
              <a:off x="1632" y="2256"/>
              <a:ext cx="672" cy="336"/>
            </a:xfrm>
            <a:prstGeom prst="rect">
              <a:avLst/>
            </a:prstGeom>
            <a:noFill/>
            <a:ln w="9525">
              <a:noFill/>
            </a:ln>
          </p:spPr>
          <p:txBody>
            <a:bodyPr anchor="t" anchorCtr="0">
              <a:spAutoFit/>
            </a:bodyPr>
            <a:lstStyle/>
            <a:p>
              <a:pPr>
                <a:spcBef>
                  <a:spcPct val="50000"/>
                </a:spcBef>
                <a:buClrTx/>
                <a:buFontTx/>
              </a:pPr>
              <a:r>
                <a:rPr lang="en-US" altLang="zh-CN" sz="2000" i="1" dirty="0">
                  <a:latin typeface="Times New Roman" panose="02020603050405020304" pitchFamily="18" charset="0"/>
                  <a:ea typeface="宋体" panose="02010600030101010101" pitchFamily="2" charset="-122"/>
                </a:rPr>
                <a:t>c</a:t>
              </a:r>
              <a:r>
                <a:rPr lang="en-US" altLang="zh-CN" sz="2000" baseline="30000" dirty="0">
                  <a:latin typeface="Times New Roman" panose="02020603050405020304" pitchFamily="18" charset="0"/>
                  <a:ea typeface="宋体" panose="02010600030101010101" pitchFamily="2" charset="-122"/>
                  <a:sym typeface="Symbol" panose="05050102010706020507" pitchFamily="18" charset="2"/>
                </a:rPr>
                <a:t></a:t>
              </a:r>
              <a:r>
                <a:rPr lang="en-US" altLang="zh-CN" sz="2000" i="1" baseline="30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c</a:t>
              </a:r>
            </a:p>
          </p:txBody>
        </p:sp>
        <p:sp>
          <p:nvSpPr>
            <p:cNvPr id="26645" name="Text Box 22"/>
            <p:cNvSpPr txBox="1"/>
            <p:nvPr/>
          </p:nvSpPr>
          <p:spPr>
            <a:xfrm>
              <a:off x="624" y="3168"/>
              <a:ext cx="384" cy="336"/>
            </a:xfrm>
            <a:prstGeom prst="rect">
              <a:avLst/>
            </a:prstGeom>
            <a:noFill/>
            <a:ln w="9525">
              <a:noFill/>
            </a:ln>
          </p:spPr>
          <p:txBody>
            <a:bodyPr anchor="t" anchorCtr="0">
              <a:spAutoFit/>
            </a:bodyPr>
            <a:lstStyle/>
            <a:p>
              <a:pPr>
                <a:spcBef>
                  <a:spcPct val="50000"/>
                </a:spcBef>
                <a:buClrTx/>
                <a:buFontTx/>
              </a:pPr>
              <a:r>
                <a:rPr lang="en-US" altLang="zh-CN" sz="2000" i="1" dirty="0">
                  <a:latin typeface="Times New Roman" panose="02020603050405020304" pitchFamily="18" charset="0"/>
                  <a:ea typeface="宋体" panose="02010600030101010101" pitchFamily="2" charset="-122"/>
                </a:rPr>
                <a:t>o</a:t>
              </a:r>
              <a:r>
                <a:rPr lang="en-US" altLang="zh-CN" sz="2000" baseline="30000" dirty="0">
                  <a:latin typeface="Times New Roman" panose="02020603050405020304" pitchFamily="18" charset="0"/>
                  <a:ea typeface="宋体" panose="02010600030101010101" pitchFamily="2" charset="-122"/>
                  <a:sym typeface="Symbol" panose="05050102010706020507" pitchFamily="18" charset="2"/>
                </a:rPr>
                <a:t></a:t>
              </a:r>
            </a:p>
          </p:txBody>
        </p:sp>
        <p:sp>
          <p:nvSpPr>
            <p:cNvPr id="26646" name="Rectangle 23"/>
            <p:cNvSpPr/>
            <p:nvPr/>
          </p:nvSpPr>
          <p:spPr>
            <a:xfrm>
              <a:off x="768" y="3504"/>
              <a:ext cx="192" cy="319"/>
            </a:xfrm>
            <a:prstGeom prst="rect">
              <a:avLst/>
            </a:prstGeom>
            <a:noFill/>
            <a:ln w="9525">
              <a:noFill/>
            </a:ln>
          </p:spPr>
          <p:txBody>
            <a:bodyPr wrap="none" anchor="t" anchorCtr="0">
              <a:spAutoFit/>
            </a:bodyPr>
            <a:lstStyle/>
            <a:p>
              <a:pPr>
                <a:buClrTx/>
                <a:buFontTx/>
              </a:pPr>
              <a:r>
                <a:rPr lang="en-US" altLang="zh-CN" i="1" baseline="30000" dirty="0">
                  <a:latin typeface="Times New Roman" panose="02020603050405020304" pitchFamily="18" charset="0"/>
                  <a:ea typeface="宋体" panose="02010600030101010101" pitchFamily="2" charset="-122"/>
                </a:rPr>
                <a:t>o</a:t>
              </a:r>
            </a:p>
          </p:txBody>
        </p:sp>
      </p:grpSp>
      <p:sp>
        <p:nvSpPr>
          <p:cNvPr id="164888" name="Rectangle 24"/>
          <p:cNvSpPr/>
          <p:nvPr/>
        </p:nvSpPr>
        <p:spPr>
          <a:xfrm>
            <a:off x="323850" y="1330328"/>
            <a:ext cx="6991016" cy="461665"/>
          </a:xfrm>
          <a:prstGeom prst="rect">
            <a:avLst/>
          </a:prstGeom>
          <a:noFill/>
          <a:ln w="9525">
            <a:noFill/>
          </a:ln>
        </p:spPr>
        <p:txBody>
          <a:bodyPr wrap="none" anchor="t" anchorCtr="0">
            <a:spAutoFit/>
          </a:bodyPr>
          <a:lstStyle/>
          <a:p>
            <a:pPr>
              <a:buClrTx/>
              <a:buFontTx/>
            </a:pPr>
            <a:r>
              <a:rPr lang="zh-CN"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定义：沸点为液体饱和蒸气压等于外压时的温度</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a:t>
            </a:r>
          </a:p>
        </p:txBody>
      </p:sp>
      <p:sp>
        <p:nvSpPr>
          <p:cNvPr id="164889" name="Rectangle 25"/>
          <p:cNvSpPr/>
          <p:nvPr/>
        </p:nvSpPr>
        <p:spPr>
          <a:xfrm>
            <a:off x="6" y="898528"/>
            <a:ext cx="2214563" cy="461665"/>
          </a:xfrm>
          <a:prstGeom prst="rect">
            <a:avLst/>
          </a:prstGeom>
          <a:solidFill>
            <a:srgbClr val="003300"/>
          </a:solidFill>
          <a:ln w="9525">
            <a:noFill/>
          </a:ln>
        </p:spPr>
        <p:txBody>
          <a:bodyPr anchor="t" anchorCtr="0">
            <a:spAutoFit/>
          </a:bodyPr>
          <a:lstStyle/>
          <a:p>
            <a:pPr>
              <a:buClrTx/>
              <a:buFontTx/>
            </a:pPr>
            <a:r>
              <a:rPr lang="zh-CN" altLang="en-US" sz="2400" dirty="0">
                <a:solidFill>
                  <a:schemeClr val="bg1"/>
                </a:solidFill>
                <a:latin typeface="楷体_GB2312" pitchFamily="49" charset="-122"/>
                <a:ea typeface="楷体_GB2312" pitchFamily="49" charset="-122"/>
                <a:sym typeface="Symbol" panose="05050102010706020507" pitchFamily="18" charset="2"/>
              </a:rPr>
              <a:t>1</a:t>
            </a:r>
            <a:r>
              <a:rPr lang="en-US" altLang="zh-CN" sz="2400" dirty="0">
                <a:solidFill>
                  <a:schemeClr val="bg1"/>
                </a:solidFill>
                <a:latin typeface="楷体_GB2312" pitchFamily="49" charset="-122"/>
                <a:ea typeface="楷体_GB2312" pitchFamily="49" charset="-122"/>
                <a:sym typeface="Symbol" panose="05050102010706020507" pitchFamily="18" charset="2"/>
              </a:rPr>
              <a:t>.</a:t>
            </a:r>
            <a:r>
              <a:rPr lang="zh-CN" altLang="zh-CN" sz="2400" dirty="0">
                <a:solidFill>
                  <a:schemeClr val="bg1"/>
                </a:solidFill>
                <a:latin typeface="楷体_GB2312" pitchFamily="49" charset="-122"/>
                <a:ea typeface="楷体_GB2312" pitchFamily="49" charset="-122"/>
                <a:sym typeface="Symbol" panose="05050102010706020507" pitchFamily="18" charset="2"/>
              </a:rPr>
              <a:t>沸点升高</a:t>
            </a:r>
            <a:endParaRPr lang="zh-CN" altLang="en-US" sz="2400" dirty="0">
              <a:solidFill>
                <a:schemeClr val="bg1"/>
              </a:solidFill>
              <a:latin typeface="楷体_GB2312" pitchFamily="49" charset="-122"/>
              <a:ea typeface="楷体_GB2312" pitchFamily="49" charset="-122"/>
              <a:sym typeface="Symbol" panose="05050102010706020507" pitchFamily="18" charset="2"/>
            </a:endParaRPr>
          </a:p>
        </p:txBody>
      </p:sp>
      <p:grpSp>
        <p:nvGrpSpPr>
          <p:cNvPr id="6" name="Group 26"/>
          <p:cNvGrpSpPr/>
          <p:nvPr/>
        </p:nvGrpSpPr>
        <p:grpSpPr>
          <a:xfrm>
            <a:off x="611188" y="1792293"/>
            <a:ext cx="7772400" cy="461963"/>
            <a:chOff x="249" y="1026"/>
            <a:chExt cx="4896" cy="388"/>
          </a:xfrm>
        </p:grpSpPr>
        <p:sp>
          <p:nvSpPr>
            <p:cNvPr id="26650" name="Rectangle 27"/>
            <p:cNvSpPr/>
            <p:nvPr/>
          </p:nvSpPr>
          <p:spPr>
            <a:xfrm>
              <a:off x="249" y="1026"/>
              <a:ext cx="4896" cy="388"/>
            </a:xfrm>
            <a:prstGeom prst="rect">
              <a:avLst/>
            </a:prstGeom>
            <a:noFill/>
            <a:ln w="9525">
              <a:noFill/>
            </a:ln>
          </p:spPr>
          <p:txBody>
            <a:bodyPr anchor="t" anchorCtr="0">
              <a:spAutoFit/>
            </a:bodyPr>
            <a:lstStyle/>
            <a:p>
              <a:pPr>
                <a:buClrTx/>
                <a:buFontTx/>
              </a:pPr>
              <a:r>
                <a:rPr lang="zh-CN"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在外压</a:t>
              </a:r>
              <a:r>
                <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rPr>
                <a:t>   </a:t>
              </a:r>
              <a:r>
                <a:rPr lang="zh-CN" altLang="en-US" sz="2400" baseline="30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zh-CN" altLang="zh-CN" sz="2400" dirty="0">
                  <a:solidFill>
                    <a:srgbClr val="000000"/>
                  </a:solidFill>
                  <a:latin typeface="Times New Roman" panose="02020603050405020304" pitchFamily="18" charset="0"/>
                  <a:ea typeface="宋体" panose="02010600030101010101" pitchFamily="2" charset="-122"/>
                  <a:sym typeface="Symbol" panose="05050102010706020507" pitchFamily="18" charset="2"/>
                </a:rPr>
                <a:t>(101.325kPa)</a:t>
              </a:r>
              <a:r>
                <a:rPr lang="zh-CN"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下的沸点为</a:t>
              </a:r>
              <a:r>
                <a:rPr lang="zh-CN" altLang="zh-CN" sz="2400" dirty="0">
                  <a:solidFill>
                    <a:srgbClr val="FF0000"/>
                  </a:solidFill>
                  <a:latin typeface="宋体" panose="02010600030101010101" pitchFamily="2" charset="-122"/>
                  <a:ea typeface="宋体" panose="02010600030101010101" pitchFamily="2" charset="-122"/>
                  <a:sym typeface="Symbol" panose="05050102010706020507" pitchFamily="18" charset="2"/>
                </a:rPr>
                <a:t>正常沸点</a:t>
              </a:r>
              <a:r>
                <a:rPr lang="zh-CN"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a:t>
              </a:r>
              <a:endParaRPr lang="zh-CN" altLang="en-US" sz="2400" dirty="0">
                <a:solidFill>
                  <a:srgbClr val="000000"/>
                </a:solidFill>
                <a:latin typeface="宋体" panose="02010600030101010101" pitchFamily="2" charset="-122"/>
                <a:ea typeface="宋体" panose="02010600030101010101" pitchFamily="2" charset="-122"/>
                <a:sym typeface="Symbol" panose="05050102010706020507" pitchFamily="18" charset="2"/>
              </a:endParaRPr>
            </a:p>
          </p:txBody>
        </p:sp>
        <p:grpSp>
          <p:nvGrpSpPr>
            <p:cNvPr id="26651" name="Group 28"/>
            <p:cNvGrpSpPr/>
            <p:nvPr/>
          </p:nvGrpSpPr>
          <p:grpSpPr>
            <a:xfrm>
              <a:off x="930" y="1026"/>
              <a:ext cx="275" cy="264"/>
              <a:chOff x="912" y="1440"/>
              <a:chExt cx="275" cy="264"/>
            </a:xfrm>
          </p:grpSpPr>
          <p:graphicFrame>
            <p:nvGraphicFramePr>
              <p:cNvPr id="26652" name="Object 29"/>
              <p:cNvGraphicFramePr>
                <a:graphicFrameLocks noChangeAspect="1"/>
              </p:cNvGraphicFramePr>
              <p:nvPr/>
            </p:nvGraphicFramePr>
            <p:xfrm>
              <a:off x="912" y="1440"/>
              <a:ext cx="275" cy="264"/>
            </p:xfrm>
            <a:graphic>
              <a:graphicData uri="http://schemas.openxmlformats.org/presentationml/2006/ole">
                <mc:AlternateContent xmlns:mc="http://schemas.openxmlformats.org/markup-compatibility/2006">
                  <mc:Choice xmlns:v="urn:schemas-microsoft-com:vml" Requires="v">
                    <p:oleObj r:id="rId6" imgW="190500" imgH="228600" progId="Equation.3">
                      <p:embed/>
                    </p:oleObj>
                  </mc:Choice>
                  <mc:Fallback>
                    <p:oleObj r:id="rId6" imgW="190500" imgH="228600" progId="Equation.3">
                      <p:embed/>
                      <p:pic>
                        <p:nvPicPr>
                          <p:cNvPr id="0" name="图片 3081"/>
                          <p:cNvPicPr/>
                          <p:nvPr/>
                        </p:nvPicPr>
                        <p:blipFill>
                          <a:blip r:embed="rId7"/>
                          <a:stretch>
                            <a:fillRect/>
                          </a:stretch>
                        </p:blipFill>
                        <p:spPr>
                          <a:xfrm>
                            <a:off x="912" y="1440"/>
                            <a:ext cx="275" cy="264"/>
                          </a:xfrm>
                          <a:prstGeom prst="rect">
                            <a:avLst/>
                          </a:prstGeom>
                          <a:noFill/>
                          <a:ln w="38100">
                            <a:noFill/>
                            <a:miter/>
                          </a:ln>
                        </p:spPr>
                      </p:pic>
                    </p:oleObj>
                  </mc:Fallback>
                </mc:AlternateContent>
              </a:graphicData>
            </a:graphic>
          </p:graphicFrame>
          <p:grpSp>
            <p:nvGrpSpPr>
              <p:cNvPr id="26653" name="Group 30"/>
              <p:cNvGrpSpPr/>
              <p:nvPr/>
            </p:nvGrpSpPr>
            <p:grpSpPr>
              <a:xfrm>
                <a:off x="1056" y="1488"/>
                <a:ext cx="64" cy="64"/>
                <a:chOff x="2132" y="230"/>
                <a:chExt cx="64" cy="64"/>
              </a:xfrm>
            </p:grpSpPr>
            <p:sp>
              <p:nvSpPr>
                <p:cNvPr id="26654" name="Oval 31"/>
                <p:cNvSpPr/>
                <p:nvPr/>
              </p:nvSpPr>
              <p:spPr>
                <a:xfrm>
                  <a:off x="2132" y="230"/>
                  <a:ext cx="64" cy="64"/>
                </a:xfrm>
                <a:prstGeom prst="ellipse">
                  <a:avLst/>
                </a:prstGeom>
                <a:solidFill>
                  <a:schemeClr val="bg1"/>
                </a:solidFill>
                <a:ln w="190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26655" name="Line 32"/>
                <p:cNvSpPr/>
                <p:nvPr/>
              </p:nvSpPr>
              <p:spPr>
                <a:xfrm>
                  <a:off x="2132" y="262"/>
                  <a:ext cx="64" cy="0"/>
                </a:xfrm>
                <a:prstGeom prst="line">
                  <a:avLst/>
                </a:prstGeom>
                <a:ln w="12700" cap="flat" cmpd="sng">
                  <a:solidFill>
                    <a:schemeClr val="tx1"/>
                  </a:solidFill>
                  <a:prstDash val="solid"/>
                  <a:round/>
                  <a:headEnd type="none" w="med" len="med"/>
                  <a:tailEnd type="none" w="med" len="med"/>
                </a:ln>
              </p:spPr>
            </p:sp>
          </p:grpSp>
        </p:grpSp>
      </p:grpSp>
      <p:sp>
        <p:nvSpPr>
          <p:cNvPr id="33794" name="Rectangle 2" descr="花束"/>
          <p:cNvSpPr>
            <a:spLocks noChangeArrowheads="1"/>
          </p:cNvSpPr>
          <p:nvPr/>
        </p:nvSpPr>
        <p:spPr bwMode="auto">
          <a:xfrm>
            <a:off x="6" y="214633"/>
            <a:ext cx="7287895" cy="555625"/>
          </a:xfrm>
          <a:prstGeom prst="rect">
            <a:avLst/>
          </a:prstGeom>
          <a:solidFill>
            <a:schemeClr val="bg2">
              <a:lumMod val="20000"/>
              <a:lumOff val="80000"/>
            </a:schemeClr>
          </a:solidFill>
          <a:ln w="9525">
            <a:noFill/>
            <a:miter lim="800000"/>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1" i="0" u="none" strike="noStrike" kern="1200" cap="none" spc="0" normalizeH="0" baseline="0" noProof="0" dirty="0">
                <a:ln>
                  <a:noFill/>
                </a:ln>
                <a:solidFill>
                  <a:schemeClr val="bg2"/>
                </a:solidFill>
                <a:effectLst/>
                <a:uLnTx/>
                <a:uFillTx/>
                <a:latin typeface="华文新魏" pitchFamily="2" charset="-122"/>
                <a:ea typeface="华文新魏" pitchFamily="2" charset="-122"/>
                <a:cs typeface="+mn-cs"/>
              </a:rPr>
              <a:t>  3.1.3 </a:t>
            </a:r>
            <a:r>
              <a:rPr kumimoji="0" lang="zh-CN" altLang="en-US" b="1" i="0" u="none" strike="noStrike" kern="1200" cap="none" spc="0" normalizeH="0" baseline="0" noProof="0" dirty="0">
                <a:ln>
                  <a:noFill/>
                </a:ln>
                <a:solidFill>
                  <a:schemeClr val="bg2"/>
                </a:solidFill>
                <a:effectLst/>
                <a:uLnTx/>
                <a:uFillTx/>
                <a:latin typeface="华文新魏" pitchFamily="2" charset="-122"/>
                <a:ea typeface="华文新魏" pitchFamily="2" charset="-122"/>
                <a:cs typeface="+mn-cs"/>
              </a:rPr>
              <a:t>溶液的沸点升高和凝固点下降</a:t>
            </a:r>
            <a:r>
              <a:rPr kumimoji="0" lang="zh-CN" altLang="en-US" sz="3200" b="0" i="0" u="none" strike="noStrike" kern="1200" cap="none" spc="0" normalizeH="0" baseline="0" noProof="0" dirty="0">
                <a:ln>
                  <a:noFill/>
                </a:ln>
                <a:solidFill>
                  <a:schemeClr val="tx1"/>
                </a:solidFill>
                <a:effectLst/>
                <a:uLnTx/>
                <a:uFillTx/>
                <a:latin typeface="华文新魏" pitchFamily="2" charset="-122"/>
                <a:ea typeface="华文新魏" pitchFamily="2" charset="-122"/>
                <a:cs typeface="+mn-cs"/>
              </a:rPr>
              <a:t> </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blinds(horizontal)">
                                      <p:cBhvr>
                                        <p:cTn id="7" dur="5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164889"/>
                                        </p:tgtEl>
                                        <p:attrNameLst>
                                          <p:attrName>style.visibility</p:attrName>
                                        </p:attrNameLst>
                                      </p:cBhvr>
                                      <p:to>
                                        <p:strVal val="visible"/>
                                      </p:to>
                                    </p:set>
                                    <p:anim calcmode="lin" valueType="num">
                                      <p:cBhvr>
                                        <p:cTn id="12" dur="500" fill="hold"/>
                                        <p:tgtEl>
                                          <p:spTgt spid="164889"/>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64889"/>
                                        </p:tgtEl>
                                        <p:attrNameLst>
                                          <p:attrName>ppt_y</p:attrName>
                                        </p:attrNameLst>
                                      </p:cBhvr>
                                      <p:tavLst>
                                        <p:tav tm="0">
                                          <p:val>
                                            <p:strVal val="#ppt_y"/>
                                          </p:val>
                                        </p:tav>
                                        <p:tav tm="100000">
                                          <p:val>
                                            <p:strVal val="#ppt_y"/>
                                          </p:val>
                                        </p:tav>
                                      </p:tavLst>
                                    </p:anim>
                                    <p:anim calcmode="lin" valueType="num">
                                      <p:cBhvr>
                                        <p:cTn id="14" dur="500" fill="hold"/>
                                        <p:tgtEl>
                                          <p:spTgt spid="164889"/>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64889"/>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6488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4888"/>
                                        </p:tgtEl>
                                        <p:attrNameLst>
                                          <p:attrName>style.visibility</p:attrName>
                                        </p:attrNameLst>
                                      </p:cBhvr>
                                      <p:to>
                                        <p:strVal val="visible"/>
                                      </p:to>
                                    </p:set>
                                    <p:animEffect transition="in" filter="wipe(left)">
                                      <p:cBhvr>
                                        <p:cTn id="21" dur="500"/>
                                        <p:tgtEl>
                                          <p:spTgt spid="16488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5"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vertic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5" fill="hold" grpId="0" nodeType="clickEffect">
                                  <p:stCondLst>
                                    <p:cond delay="0"/>
                                  </p:stCondLst>
                                  <p:childTnLst>
                                    <p:set>
                                      <p:cBhvr>
                                        <p:cTn id="35" dur="1" fill="hold">
                                          <p:stCondLst>
                                            <p:cond delay="0"/>
                                          </p:stCondLst>
                                        </p:cTn>
                                        <p:tgtEl>
                                          <p:spTgt spid="164866"/>
                                        </p:tgtEl>
                                        <p:attrNameLst>
                                          <p:attrName>style.visibility</p:attrName>
                                        </p:attrNameLst>
                                      </p:cBhvr>
                                      <p:to>
                                        <p:strVal val="visible"/>
                                      </p:to>
                                    </p:set>
                                    <p:animEffect transition="in" filter="blinds(vertical)">
                                      <p:cBhvr>
                                        <p:cTn id="36" dur="500"/>
                                        <p:tgtEl>
                                          <p:spTgt spid="164866"/>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5" fill="hold" grpId="0" nodeType="clickEffect">
                                  <p:stCondLst>
                                    <p:cond delay="0"/>
                                  </p:stCondLst>
                                  <p:childTnLst>
                                    <p:set>
                                      <p:cBhvr>
                                        <p:cTn id="40" dur="1" fill="hold">
                                          <p:stCondLst>
                                            <p:cond delay="0"/>
                                          </p:stCondLst>
                                        </p:cTn>
                                        <p:tgtEl>
                                          <p:spTgt spid="164867"/>
                                        </p:tgtEl>
                                        <p:attrNameLst>
                                          <p:attrName>style.visibility</p:attrName>
                                        </p:attrNameLst>
                                      </p:cBhvr>
                                      <p:to>
                                        <p:strVal val="visible"/>
                                      </p:to>
                                    </p:set>
                                    <p:animEffect transition="in" filter="blinds(vertical)">
                                      <p:cBhvr>
                                        <p:cTn id="41" dur="500"/>
                                        <p:tgtEl>
                                          <p:spTgt spid="164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p:bldP spid="164867" grpId="0"/>
      <p:bldP spid="164888" grpId="0"/>
      <p:bldP spid="164889" grpId="0" animBg="1"/>
      <p:bldP spid="33794"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35474" y="1131254"/>
            <a:ext cx="4929187" cy="461962"/>
            <a:chOff x="728" y="624"/>
            <a:chExt cx="3105" cy="388"/>
          </a:xfrm>
        </p:grpSpPr>
        <p:graphicFrame>
          <p:nvGraphicFramePr>
            <p:cNvPr id="27650" name="Object 3"/>
            <p:cNvGraphicFramePr>
              <a:graphicFrameLocks noChangeAspect="1"/>
            </p:cNvGraphicFramePr>
            <p:nvPr/>
          </p:nvGraphicFramePr>
          <p:xfrm>
            <a:off x="728" y="624"/>
            <a:ext cx="1453" cy="317"/>
          </p:xfrm>
          <a:graphic>
            <a:graphicData uri="http://schemas.openxmlformats.org/presentationml/2006/ole">
              <mc:AlternateContent xmlns:mc="http://schemas.openxmlformats.org/markup-compatibility/2006">
                <mc:Choice xmlns:v="urn:schemas-microsoft-com:vml" Requires="v">
                  <p:oleObj r:id="rId2" imgW="1104900" imgH="241300" progId="Equation.3">
                    <p:embed/>
                  </p:oleObj>
                </mc:Choice>
                <mc:Fallback>
                  <p:oleObj r:id="rId2" imgW="1104900" imgH="241300" progId="Equation.3">
                    <p:embed/>
                    <p:pic>
                      <p:nvPicPr>
                        <p:cNvPr id="0" name="图片 3083"/>
                        <p:cNvPicPr/>
                        <p:nvPr/>
                      </p:nvPicPr>
                      <p:blipFill>
                        <a:blip r:embed="rId3"/>
                        <a:stretch>
                          <a:fillRect/>
                        </a:stretch>
                      </p:blipFill>
                      <p:spPr>
                        <a:xfrm>
                          <a:off x="728" y="624"/>
                          <a:ext cx="1453" cy="317"/>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27651" name="Rectangle 4"/>
            <p:cNvSpPr/>
            <p:nvPr/>
          </p:nvSpPr>
          <p:spPr>
            <a:xfrm>
              <a:off x="2352" y="624"/>
              <a:ext cx="1481" cy="388"/>
            </a:xfrm>
            <a:prstGeom prst="rect">
              <a:avLst/>
            </a:prstGeom>
            <a:noFill/>
            <a:ln w="9525">
              <a:noFill/>
            </a:ln>
          </p:spPr>
          <p:txBody>
            <a:bodyPr wrap="none" anchor="t" anchorCtr="0">
              <a:spAutoFit/>
            </a:bodyPr>
            <a:lstStyle/>
            <a:p>
              <a:pPr>
                <a:spcBef>
                  <a:spcPct val="20000"/>
                </a:spcBef>
                <a:buClrTx/>
                <a:buFontTx/>
              </a:pPr>
              <a:r>
                <a:rPr lang="zh-CN"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称为沸点升高。</a:t>
              </a:r>
            </a:p>
          </p:txBody>
        </p:sp>
      </p:grpSp>
      <p:sp>
        <p:nvSpPr>
          <p:cNvPr id="165893" name="Text Box 5"/>
          <p:cNvSpPr txBox="1"/>
          <p:nvPr/>
        </p:nvSpPr>
        <p:spPr>
          <a:xfrm>
            <a:off x="180023" y="1779590"/>
            <a:ext cx="8458200" cy="1200329"/>
          </a:xfrm>
          <a:prstGeom prst="rect">
            <a:avLst/>
          </a:prstGeom>
          <a:noFill/>
          <a:ln w="9525">
            <a:noFill/>
          </a:ln>
        </p:spPr>
        <p:txBody>
          <a:bodyPr anchor="t" anchorCtr="0">
            <a:spAutoFit/>
          </a:bodyPr>
          <a:lstStyle/>
          <a:p>
            <a:pPr>
              <a:lnSpc>
                <a:spcPct val="150000"/>
              </a:lnSpc>
              <a:spcBef>
                <a:spcPts val="0"/>
              </a:spcBef>
              <a:buClrTx/>
              <a:buFontTx/>
            </a:pPr>
            <a:r>
              <a:rPr lang="zh-CN" altLang="en-US" sz="2400" dirty="0">
                <a:latin typeface="Times New Roman" panose="02020603050405020304" pitchFamily="18" charset="0"/>
                <a:ea typeface="宋体" panose="02010600030101010101" pitchFamily="2" charset="-122"/>
              </a:rPr>
              <a:t>        稀溶液的沸点升高值 </a:t>
            </a:r>
            <a:r>
              <a:rPr lang="zh-CN" altLang="en-US" sz="24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i="1" dirty="0">
                <a:latin typeface="Times New Roman" panose="02020603050405020304" pitchFamily="18" charset="0"/>
                <a:ea typeface="宋体" panose="02010600030101010101" pitchFamily="2" charset="-122"/>
                <a:sym typeface="Symbol" panose="05050102010706020507" pitchFamily="18" charset="2"/>
              </a:rPr>
              <a:t>T</a:t>
            </a:r>
            <a:r>
              <a:rPr lang="en-US" altLang="zh-CN" sz="2400" baseline="-25000" dirty="0">
                <a:latin typeface="Times New Roman" panose="02020603050405020304" pitchFamily="18" charset="0"/>
                <a:ea typeface="宋体" panose="02010600030101010101" pitchFamily="2" charset="-122"/>
                <a:sym typeface="Symbol" panose="05050102010706020507" pitchFamily="18" charset="2"/>
              </a:rPr>
              <a:t>b</a:t>
            </a:r>
            <a:r>
              <a:rPr lang="en-US" altLang="zh-CN" sz="2400" dirty="0">
                <a:latin typeface="Times New Roman" panose="02020603050405020304" pitchFamily="18" charset="0"/>
                <a:ea typeface="宋体" panose="02010600030101010101" pitchFamily="2" charset="-122"/>
                <a:sym typeface="Symbol" panose="05050102010706020507" pitchFamily="18" charset="2"/>
              </a:rPr>
              <a:t> </a:t>
            </a:r>
            <a:r>
              <a:rPr lang="zh-CN" altLang="en-US" sz="2400" dirty="0">
                <a:latin typeface="Times New Roman" panose="02020603050405020304" pitchFamily="18" charset="0"/>
                <a:ea typeface="宋体" panose="02010600030101010101" pitchFamily="2" charset="-122"/>
                <a:sym typeface="Symbol" panose="05050102010706020507" pitchFamily="18" charset="2"/>
              </a:rPr>
              <a:t>与溶液的组成 </a:t>
            </a:r>
            <a:r>
              <a:rPr lang="en-US" altLang="zh-CN" sz="2400" i="1" dirty="0">
                <a:latin typeface="Times New Roman" panose="02020603050405020304" pitchFamily="18" charset="0"/>
                <a:ea typeface="宋体" panose="02010600030101010101" pitchFamily="2" charset="-122"/>
                <a:sym typeface="Symbol" panose="05050102010706020507" pitchFamily="18" charset="2"/>
              </a:rPr>
              <a:t>b</a:t>
            </a:r>
            <a:r>
              <a:rPr lang="en-US" altLang="zh-CN" sz="2400" baseline="-25000" dirty="0">
                <a:latin typeface="Times New Roman" panose="02020603050405020304" pitchFamily="18" charset="0"/>
                <a:ea typeface="宋体" panose="02010600030101010101" pitchFamily="2" charset="-122"/>
                <a:sym typeface="Symbol" panose="05050102010706020507" pitchFamily="18" charset="2"/>
              </a:rPr>
              <a:t>B</a:t>
            </a:r>
            <a:r>
              <a:rPr lang="en-US" altLang="zh-CN" sz="2400" dirty="0">
                <a:latin typeface="Times New Roman" panose="02020603050405020304" pitchFamily="18" charset="0"/>
                <a:ea typeface="宋体" panose="02010600030101010101" pitchFamily="2" charset="-122"/>
                <a:sym typeface="Symbol" panose="05050102010706020507" pitchFamily="18" charset="2"/>
              </a:rPr>
              <a:t> </a:t>
            </a:r>
            <a:r>
              <a:rPr lang="zh-CN" altLang="en-US" sz="2400" dirty="0">
                <a:latin typeface="Times New Roman" panose="02020603050405020304" pitchFamily="18" charset="0"/>
                <a:ea typeface="宋体" panose="02010600030101010101" pitchFamily="2" charset="-122"/>
                <a:sym typeface="Symbol" panose="05050102010706020507" pitchFamily="18" charset="2"/>
              </a:rPr>
              <a:t>的关系式，可用热力学原理推导得出：</a:t>
            </a:r>
            <a:endParaRPr lang="zh-CN" altLang="en-US" sz="2400" baseline="-25000" dirty="0">
              <a:latin typeface="Times New Roman" panose="02020603050405020304" pitchFamily="18" charset="0"/>
              <a:ea typeface="宋体" panose="02010600030101010101" pitchFamily="2" charset="-122"/>
            </a:endParaRPr>
          </a:p>
        </p:txBody>
      </p:sp>
      <p:graphicFrame>
        <p:nvGraphicFramePr>
          <p:cNvPr id="165894" name="Object 6"/>
          <p:cNvGraphicFramePr>
            <a:graphicFrameLocks noChangeAspect="1"/>
          </p:cNvGraphicFramePr>
          <p:nvPr/>
        </p:nvGraphicFramePr>
        <p:xfrm>
          <a:off x="3402813" y="3075940"/>
          <a:ext cx="1993265" cy="381000"/>
        </p:xfrm>
        <a:graphic>
          <a:graphicData uri="http://schemas.openxmlformats.org/presentationml/2006/ole">
            <mc:AlternateContent xmlns:mc="http://schemas.openxmlformats.org/markup-compatibility/2006">
              <mc:Choice xmlns:v="urn:schemas-microsoft-com:vml" Requires="v">
                <p:oleObj r:id="rId4" imgW="762000" imgH="228600" progId="Equation.3">
                  <p:embed/>
                </p:oleObj>
              </mc:Choice>
              <mc:Fallback>
                <p:oleObj r:id="rId4" imgW="762000" imgH="228600" progId="Equation.3">
                  <p:embed/>
                  <p:pic>
                    <p:nvPicPr>
                      <p:cNvPr id="0" name="图片 3082"/>
                      <p:cNvPicPr/>
                      <p:nvPr/>
                    </p:nvPicPr>
                    <p:blipFill>
                      <a:blip r:embed="rId5"/>
                      <a:stretch>
                        <a:fillRect/>
                      </a:stretch>
                    </p:blipFill>
                    <p:spPr>
                      <a:xfrm>
                        <a:off x="3402813" y="3075940"/>
                        <a:ext cx="1993265" cy="381000"/>
                      </a:xfrm>
                      <a:prstGeom prst="rect">
                        <a:avLst/>
                      </a:prstGeom>
                      <a:noFill/>
                      <a:ln w="9525" cap="flat" cmpd="sng">
                        <a:solidFill>
                          <a:srgbClr val="000080"/>
                        </a:solidFill>
                        <a:prstDash val="solid"/>
                        <a:miter/>
                        <a:headEnd type="none" w="med" len="med"/>
                        <a:tailEnd type="none" w="med" len="med"/>
                      </a:ln>
                    </p:spPr>
                  </p:pic>
                </p:oleObj>
              </mc:Fallback>
            </mc:AlternateContent>
          </a:graphicData>
        </a:graphic>
      </p:graphicFrame>
      <p:sp>
        <p:nvSpPr>
          <p:cNvPr id="165895" name="Rectangle 7"/>
          <p:cNvSpPr/>
          <p:nvPr/>
        </p:nvSpPr>
        <p:spPr>
          <a:xfrm>
            <a:off x="683578" y="3723640"/>
            <a:ext cx="6913562" cy="285750"/>
          </a:xfrm>
          <a:prstGeom prst="rect">
            <a:avLst/>
          </a:prstGeom>
          <a:noFill/>
          <a:ln w="9525">
            <a:noFill/>
          </a:ln>
        </p:spPr>
        <p:txBody>
          <a:bodyPr anchor="t" anchorCtr="0"/>
          <a:lstStyle/>
          <a:p>
            <a:pPr marL="457200" indent="-457200" eaLnBrk="0" hangingPunct="0">
              <a:spcBef>
                <a:spcPct val="20000"/>
              </a:spcBef>
              <a:buClr>
                <a:schemeClr val="bg2"/>
              </a:buClr>
              <a:buSzPct val="75000"/>
              <a:buFont typeface="Wingdings" panose="05000000000000000000" pitchFamily="2" charset="2"/>
            </a:pPr>
            <a:r>
              <a:rPr lang="zh-CN" altLang="zh-CN" sz="2400" i="1" dirty="0">
                <a:solidFill>
                  <a:srgbClr val="000000"/>
                </a:solidFill>
                <a:latin typeface="Times New Roman" panose="02020603050405020304" pitchFamily="18" charset="0"/>
                <a:ea typeface="宋体" panose="02010600030101010101" pitchFamily="2" charset="-122"/>
                <a:sym typeface="Symbol" panose="05050102010706020507" pitchFamily="18" charset="2"/>
              </a:rPr>
              <a:t>K</a:t>
            </a:r>
            <a:r>
              <a:rPr lang="zh-CN" altLang="zh-CN" sz="2400" baseline="-25000" dirty="0">
                <a:solidFill>
                  <a:srgbClr val="000000"/>
                </a:solidFill>
                <a:latin typeface="Times New Roman" panose="02020603050405020304" pitchFamily="18" charset="0"/>
                <a:ea typeface="宋体" panose="02010600030101010101" pitchFamily="2" charset="-122"/>
                <a:sym typeface="Symbol" panose="05050102010706020507" pitchFamily="18" charset="2"/>
              </a:rPr>
              <a:t>b</a:t>
            </a:r>
            <a:r>
              <a:rPr lang="zh-CN" altLang="zh-CN" sz="2400" dirty="0">
                <a:solidFill>
                  <a:srgbClr val="000000"/>
                </a:solidFill>
                <a:latin typeface="Times New Roman" panose="02020603050405020304" pitchFamily="18" charset="0"/>
                <a:ea typeface="宋体" panose="02010600030101010101" pitchFamily="2" charset="-122"/>
                <a:sym typeface="Symbol" panose="05050102010706020507" pitchFamily="18" charset="2"/>
              </a:rPr>
              <a:t> </a:t>
            </a:r>
            <a:r>
              <a:rPr lang="zh-CN" altLang="zh-CN" sz="2400" dirty="0">
                <a:solidFill>
                  <a:srgbClr val="000000"/>
                </a:solidFill>
                <a:latin typeface="宋体" panose="02010600030101010101" pitchFamily="2" charset="-122"/>
                <a:ea typeface="宋体" panose="02010600030101010101" pitchFamily="2" charset="-122"/>
                <a:sym typeface="Symbol" panose="05050102010706020507" pitchFamily="18" charset="2"/>
              </a:rPr>
              <a:t>称为沸点升高系数</a:t>
            </a:r>
            <a:r>
              <a:rPr lang="zh-CN" altLang="en-US" sz="2400" b="0" dirty="0">
                <a:solidFill>
                  <a:srgbClr val="000000"/>
                </a:solidFill>
                <a:latin typeface="宋体" panose="02010600030101010101" pitchFamily="2" charset="-122"/>
                <a:ea typeface="宋体" panose="02010600030101010101" pitchFamily="2" charset="-122"/>
                <a:sym typeface="Symbol" panose="05050102010706020507" pitchFamily="18" charset="2"/>
              </a:rPr>
              <a:t>，</a:t>
            </a:r>
            <a:r>
              <a:rPr lang="zh-CN" altLang="en-US" sz="2400" dirty="0">
                <a:solidFill>
                  <a:srgbClr val="000000"/>
                </a:solidFill>
                <a:latin typeface="Times New Roman" panose="02020603050405020304" pitchFamily="18" charset="0"/>
                <a:ea typeface="宋体" panose="02010600030101010101" pitchFamily="2" charset="-122"/>
                <a:sym typeface="Symbol" panose="05050102010706020507" pitchFamily="18" charset="2"/>
              </a:rPr>
              <a:t>单位为</a:t>
            </a:r>
            <a:r>
              <a:rPr lang="en-US" altLang="zh-CN" sz="2400" dirty="0">
                <a:latin typeface="Times New Roman" panose="02020603050405020304" pitchFamily="18" charset="0"/>
                <a:ea typeface="宋体" panose="02010600030101010101" pitchFamily="2" charset="-122"/>
              </a:rPr>
              <a:t>K· mol </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 kg</a:t>
            </a:r>
            <a:endParaRPr lang="zh-CN" altLang="zh-CN" sz="240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65893"/>
                                        </p:tgtEl>
                                        <p:attrNameLst>
                                          <p:attrName>style.visibility</p:attrName>
                                        </p:attrNameLst>
                                      </p:cBhvr>
                                      <p:to>
                                        <p:strVal val="visible"/>
                                      </p:to>
                                    </p:set>
                                    <p:anim calcmode="lin" valueType="num">
                                      <p:cBhvr>
                                        <p:cTn id="12" dur="500" fill="hold"/>
                                        <p:tgtEl>
                                          <p:spTgt spid="165893"/>
                                        </p:tgtEl>
                                        <p:attrNameLst>
                                          <p:attrName>ppt_w</p:attrName>
                                        </p:attrNameLst>
                                      </p:cBhvr>
                                      <p:tavLst>
                                        <p:tav tm="0">
                                          <p:val>
                                            <p:fltVal val="0"/>
                                          </p:val>
                                        </p:tav>
                                        <p:tav tm="100000">
                                          <p:val>
                                            <p:strVal val="#ppt_w"/>
                                          </p:val>
                                        </p:tav>
                                      </p:tavLst>
                                    </p:anim>
                                    <p:anim calcmode="lin" valueType="num">
                                      <p:cBhvr>
                                        <p:cTn id="13" dur="500" fill="hold"/>
                                        <p:tgtEl>
                                          <p:spTgt spid="165893"/>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nodeType="clickEffect">
                                  <p:stCondLst>
                                    <p:cond delay="0"/>
                                  </p:stCondLst>
                                  <p:childTnLst>
                                    <p:set>
                                      <p:cBhvr>
                                        <p:cTn id="17" dur="1" fill="hold">
                                          <p:stCondLst>
                                            <p:cond delay="0"/>
                                          </p:stCondLst>
                                        </p:cTn>
                                        <p:tgtEl>
                                          <p:spTgt spid="165894"/>
                                        </p:tgtEl>
                                        <p:attrNameLst>
                                          <p:attrName>style.visibility</p:attrName>
                                        </p:attrNameLst>
                                      </p:cBhvr>
                                      <p:to>
                                        <p:strVal val="visible"/>
                                      </p:to>
                                    </p:set>
                                    <p:animEffect transition="in" filter="blinds(vertical)">
                                      <p:cBhvr>
                                        <p:cTn id="18" dur="500"/>
                                        <p:tgtEl>
                                          <p:spTgt spid="165894"/>
                                        </p:tgtEl>
                                      </p:cBhvr>
                                    </p:animEffect>
                                  </p:childTnLst>
                                </p:cTn>
                              </p:par>
                            </p:childTnLst>
                          </p:cTn>
                        </p:par>
                      </p:childTnLst>
                    </p:cTn>
                  </p:par>
                  <p:par>
                    <p:cTn id="19" fill="hold">
                      <p:stCondLst>
                        <p:cond delay="indefinite"/>
                      </p:stCondLst>
                      <p:childTnLst>
                        <p:par>
                          <p:cTn id="20" fill="hold">
                            <p:stCondLst>
                              <p:cond delay="0"/>
                            </p:stCondLst>
                            <p:childTnLst>
                              <p:par>
                                <p:cTn id="21" presetID="55" presetClass="entr" presetSubtype="0" fill="hold" grpId="0" nodeType="clickEffect">
                                  <p:stCondLst>
                                    <p:cond delay="0"/>
                                  </p:stCondLst>
                                  <p:childTnLst>
                                    <p:set>
                                      <p:cBhvr>
                                        <p:cTn id="22" dur="1" fill="hold">
                                          <p:stCondLst>
                                            <p:cond delay="0"/>
                                          </p:stCondLst>
                                        </p:cTn>
                                        <p:tgtEl>
                                          <p:spTgt spid="165895"/>
                                        </p:tgtEl>
                                        <p:attrNameLst>
                                          <p:attrName>style.visibility</p:attrName>
                                        </p:attrNameLst>
                                      </p:cBhvr>
                                      <p:to>
                                        <p:strVal val="visible"/>
                                      </p:to>
                                    </p:set>
                                    <p:anim calcmode="lin" valueType="num">
                                      <p:cBhvr>
                                        <p:cTn id="23" dur="1000" fill="hold"/>
                                        <p:tgtEl>
                                          <p:spTgt spid="165895"/>
                                        </p:tgtEl>
                                        <p:attrNameLst>
                                          <p:attrName>ppt_w</p:attrName>
                                        </p:attrNameLst>
                                      </p:cBhvr>
                                      <p:tavLst>
                                        <p:tav tm="0">
                                          <p:val>
                                            <p:strVal val="#ppt_w*0.70"/>
                                          </p:val>
                                        </p:tav>
                                        <p:tav tm="100000">
                                          <p:val>
                                            <p:strVal val="#ppt_w"/>
                                          </p:val>
                                        </p:tav>
                                      </p:tavLst>
                                    </p:anim>
                                    <p:anim calcmode="lin" valueType="num">
                                      <p:cBhvr>
                                        <p:cTn id="24" dur="1000" fill="hold"/>
                                        <p:tgtEl>
                                          <p:spTgt spid="165895"/>
                                        </p:tgtEl>
                                        <p:attrNameLst>
                                          <p:attrName>ppt_h</p:attrName>
                                        </p:attrNameLst>
                                      </p:cBhvr>
                                      <p:tavLst>
                                        <p:tav tm="0">
                                          <p:val>
                                            <p:strVal val="#ppt_h"/>
                                          </p:val>
                                        </p:tav>
                                        <p:tav tm="100000">
                                          <p:val>
                                            <p:strVal val="#ppt_h"/>
                                          </p:val>
                                        </p:tav>
                                      </p:tavLst>
                                    </p:anim>
                                    <p:animEffect transition="in" filter="fade">
                                      <p:cBhvr>
                                        <p:cTn id="25" dur="1000"/>
                                        <p:tgtEl>
                                          <p:spTgt spid="165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3" grpId="0"/>
      <p:bldP spid="16589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61620" y="-128270"/>
            <a:ext cx="9667875" cy="54006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247650" y="-92710"/>
            <a:ext cx="9639300" cy="5410200"/>
          </a:xfrm>
          <a:prstGeom prst="rect">
            <a:avLst/>
          </a:prstGeom>
        </p:spPr>
      </p:pic>
      <p:sp>
        <p:nvSpPr>
          <p:cNvPr id="160771" name="Rectangle 3"/>
          <p:cNvSpPr/>
          <p:nvPr/>
        </p:nvSpPr>
        <p:spPr>
          <a:xfrm>
            <a:off x="179711" y="1131571"/>
            <a:ext cx="8805545" cy="1421928"/>
          </a:xfrm>
          <a:prstGeom prst="rect">
            <a:avLst/>
          </a:prstGeom>
          <a:noFill/>
          <a:ln w="9525">
            <a:noFill/>
          </a:ln>
        </p:spPr>
        <p:txBody>
          <a:bodyPr wrap="square" anchor="t" anchorCtr="0">
            <a:spAutoFit/>
          </a:bodyPr>
          <a:lstStyle/>
          <a:p>
            <a:pPr>
              <a:lnSpc>
                <a:spcPct val="120000"/>
              </a:lnSpc>
              <a:spcBef>
                <a:spcPct val="50000"/>
              </a:spcBef>
              <a:buClr>
                <a:srgbClr val="A50021"/>
              </a:buClr>
              <a:buSzPct val="75000"/>
              <a:buFont typeface="Wingdings" panose="05000000000000000000" pitchFamily="2" charset="2"/>
            </a:pPr>
            <a:r>
              <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rPr>
              <a:t>    </a:t>
            </a:r>
            <a:r>
              <a:rPr lang="zh-CN" altLang="zh-CN" sz="2400" dirty="0">
                <a:solidFill>
                  <a:srgbClr val="020202"/>
                </a:solidFill>
                <a:latin typeface="宋体" panose="02010600030101010101" pitchFamily="2" charset="-122"/>
                <a:ea typeface="宋体" panose="02010600030101010101" pitchFamily="2" charset="-122"/>
                <a:sym typeface="Symbol" panose="05050102010706020507" pitchFamily="18" charset="2"/>
              </a:rPr>
              <a:t>凝固点定义：在一定外压下，液态物质被冷却而开始析出固体的平衡温度</a:t>
            </a:r>
            <a:r>
              <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rPr>
              <a:t>，</a:t>
            </a:r>
            <a:r>
              <a:rPr lang="zh-CN" altLang="zh-CN" sz="2400" dirty="0">
                <a:solidFill>
                  <a:srgbClr val="020202"/>
                </a:solidFill>
                <a:latin typeface="宋体" panose="02010600030101010101" pitchFamily="2" charset="-122"/>
                <a:ea typeface="宋体" panose="02010600030101010101" pitchFamily="2" charset="-122"/>
                <a:sym typeface="Symbol" panose="05050102010706020507" pitchFamily="18" charset="2"/>
              </a:rPr>
              <a:t>称为该液态物质的</a:t>
            </a:r>
            <a:r>
              <a:rPr lang="zh-CN" altLang="zh-CN" sz="2400" dirty="0">
                <a:solidFill>
                  <a:srgbClr val="FF0000"/>
                </a:solidFill>
                <a:latin typeface="宋体" panose="02010600030101010101" pitchFamily="2" charset="-122"/>
                <a:ea typeface="宋体" panose="02010600030101010101" pitchFamily="2" charset="-122"/>
                <a:sym typeface="Symbol" panose="05050102010706020507" pitchFamily="18" charset="2"/>
              </a:rPr>
              <a:t>凝固点</a:t>
            </a:r>
            <a:r>
              <a:rPr lang="zh-CN" altLang="zh-CN" sz="2400" dirty="0">
                <a:solidFill>
                  <a:srgbClr val="020202"/>
                </a:solidFill>
                <a:latin typeface="宋体" panose="02010600030101010101" pitchFamily="2" charset="-122"/>
                <a:ea typeface="宋体" panose="02010600030101010101" pitchFamily="2" charset="-122"/>
                <a:sym typeface="Symbol" panose="05050102010706020507" pitchFamily="18" charset="2"/>
              </a:rPr>
              <a:t>。若外压为标准压力，则该平衡温度为标准凝固点。</a:t>
            </a:r>
          </a:p>
        </p:txBody>
      </p:sp>
      <p:sp>
        <p:nvSpPr>
          <p:cNvPr id="160773" name="Rectangle 5"/>
          <p:cNvSpPr/>
          <p:nvPr/>
        </p:nvSpPr>
        <p:spPr>
          <a:xfrm>
            <a:off x="381000" y="2611758"/>
            <a:ext cx="8604250" cy="1054135"/>
          </a:xfrm>
          <a:prstGeom prst="rect">
            <a:avLst/>
          </a:prstGeom>
          <a:noFill/>
          <a:ln w="9525">
            <a:noFill/>
          </a:ln>
        </p:spPr>
        <p:txBody>
          <a:bodyPr wrap="square" anchor="t" anchorCtr="0">
            <a:spAutoFit/>
          </a:bodyPr>
          <a:lstStyle/>
          <a:p>
            <a:pPr>
              <a:lnSpc>
                <a:spcPct val="125000"/>
              </a:lnSpc>
              <a:spcBef>
                <a:spcPct val="50000"/>
              </a:spcBef>
              <a:buClr>
                <a:srgbClr val="A50021"/>
              </a:buClr>
              <a:buSzPct val="75000"/>
              <a:buFont typeface="Wingdings" panose="05000000000000000000" pitchFamily="2" charset="2"/>
            </a:pPr>
            <a:r>
              <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rPr>
              <a:t>   当溶剂</a:t>
            </a:r>
            <a:r>
              <a:rPr lang="en-US" altLang="zh-CN" sz="2400" dirty="0">
                <a:solidFill>
                  <a:srgbClr val="020202"/>
                </a:solidFill>
                <a:latin typeface="Times New Roman" panose="02020603050405020304" pitchFamily="18" charset="0"/>
                <a:ea typeface="宋体" panose="02010600030101010101" pitchFamily="2" charset="-122"/>
                <a:sym typeface="Symbol" panose="05050102010706020507" pitchFamily="18" charset="2"/>
              </a:rPr>
              <a:t>A </a:t>
            </a:r>
            <a:r>
              <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rPr>
              <a:t>中有少量溶质</a:t>
            </a:r>
            <a:r>
              <a:rPr lang="en-US" altLang="zh-CN" sz="2400" dirty="0">
                <a:solidFill>
                  <a:srgbClr val="020202"/>
                </a:solidFill>
                <a:latin typeface="宋体" panose="02010600030101010101" pitchFamily="2" charset="-122"/>
                <a:ea typeface="宋体" panose="02010600030101010101" pitchFamily="2" charset="-122"/>
                <a:sym typeface="Symbol" panose="05050102010706020507" pitchFamily="18" charset="2"/>
              </a:rPr>
              <a:t>B</a:t>
            </a:r>
            <a:r>
              <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rPr>
              <a:t>形成稀溶液，则溶液的凝固点，</a:t>
            </a:r>
            <a:r>
              <a:rPr lang="zh-CN" altLang="zh-CN" sz="2400" dirty="0">
                <a:solidFill>
                  <a:srgbClr val="020202"/>
                </a:solidFill>
                <a:latin typeface="宋体" panose="02010600030101010101" pitchFamily="2" charset="-122"/>
                <a:ea typeface="宋体" panose="02010600030101010101" pitchFamily="2" charset="-122"/>
                <a:sym typeface="Symbol" panose="05050102010706020507" pitchFamily="18" charset="2"/>
              </a:rPr>
              <a:t>低于纯</a:t>
            </a:r>
            <a:r>
              <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rPr>
              <a:t> </a:t>
            </a:r>
            <a:r>
              <a:rPr lang="zh-CN" altLang="zh-CN" sz="2400" dirty="0">
                <a:solidFill>
                  <a:srgbClr val="020202"/>
                </a:solidFill>
                <a:latin typeface="Times New Roman" panose="02020603050405020304" pitchFamily="18" charset="0"/>
                <a:ea typeface="宋体" panose="02010600030101010101" pitchFamily="2" charset="-122"/>
                <a:sym typeface="Symbol" panose="05050102010706020507" pitchFamily="18" charset="2"/>
              </a:rPr>
              <a:t>A</a:t>
            </a:r>
            <a:r>
              <a:rPr lang="en-US" altLang="zh-CN" sz="2400" dirty="0">
                <a:solidFill>
                  <a:srgbClr val="020202"/>
                </a:solidFill>
                <a:latin typeface="Times New Roman" panose="02020603050405020304" pitchFamily="18" charset="0"/>
                <a:ea typeface="宋体" panose="02010600030101010101" pitchFamily="2" charset="-122"/>
                <a:sym typeface="Symbol" panose="05050102010706020507" pitchFamily="18" charset="2"/>
              </a:rPr>
              <a:t> </a:t>
            </a:r>
            <a:r>
              <a:rPr lang="zh-CN" altLang="zh-CN" sz="2400" dirty="0">
                <a:solidFill>
                  <a:srgbClr val="020202"/>
                </a:solidFill>
                <a:latin typeface="宋体" panose="02010600030101010101" pitchFamily="2" charset="-122"/>
                <a:ea typeface="宋体" panose="02010600030101010101" pitchFamily="2" charset="-122"/>
                <a:sym typeface="Symbol" panose="05050102010706020507" pitchFamily="18" charset="2"/>
              </a:rPr>
              <a:t>在同外压下的凝固点</a:t>
            </a:r>
            <a:r>
              <a:rPr lang="zh-CN" altLang="zh-CN" sz="2400" dirty="0">
                <a:latin typeface="宋体" panose="02010600030101010101" pitchFamily="2" charset="-122"/>
                <a:ea typeface="宋体" panose="02010600030101010101" pitchFamily="2" charset="-122"/>
                <a:sym typeface="Symbol" panose="05050102010706020507" pitchFamily="18" charset="2"/>
              </a:rPr>
              <a:t>。此即凝固点下降现象</a:t>
            </a:r>
            <a:r>
              <a:rPr lang="zh-CN" altLang="en-US" sz="2400" dirty="0">
                <a:latin typeface="宋体" panose="02010600030101010101" pitchFamily="2" charset="-122"/>
                <a:ea typeface="宋体" panose="02010600030101010101" pitchFamily="2" charset="-122"/>
                <a:sym typeface="Symbol" panose="05050102010706020507" pitchFamily="18" charset="2"/>
              </a:rPr>
              <a:t>。</a:t>
            </a:r>
            <a:r>
              <a:rPr lang="zh-CN" altLang="en-US" sz="2600" b="0" dirty="0">
                <a:latin typeface="宋体" panose="02010600030101010101" pitchFamily="2" charset="-122"/>
                <a:ea typeface="宋体" panose="02010600030101010101" pitchFamily="2" charset="-122"/>
                <a:sym typeface="Symbol" panose="05050102010706020507" pitchFamily="18" charset="2"/>
              </a:rPr>
              <a:t>  </a:t>
            </a:r>
            <a:endParaRPr lang="zh-CN" altLang="zh-CN" sz="2600" b="0" dirty="0">
              <a:latin typeface="宋体" panose="02010600030101010101" pitchFamily="2" charset="-122"/>
              <a:ea typeface="宋体" panose="02010600030101010101" pitchFamily="2" charset="-122"/>
              <a:sym typeface="Symbol" panose="05050102010706020507" pitchFamily="18" charset="2"/>
            </a:endParaRPr>
          </a:p>
        </p:txBody>
      </p:sp>
      <p:graphicFrame>
        <p:nvGraphicFramePr>
          <p:cNvPr id="160774" name="Object 6"/>
          <p:cNvGraphicFramePr>
            <a:graphicFrameLocks noChangeAspect="1"/>
          </p:cNvGraphicFramePr>
          <p:nvPr/>
        </p:nvGraphicFramePr>
        <p:xfrm>
          <a:off x="3419475" y="4084638"/>
          <a:ext cx="1447800" cy="400050"/>
        </p:xfrm>
        <a:graphic>
          <a:graphicData uri="http://schemas.openxmlformats.org/presentationml/2006/ole">
            <mc:AlternateContent xmlns:mc="http://schemas.openxmlformats.org/markup-compatibility/2006">
              <mc:Choice xmlns:v="urn:schemas-microsoft-com:vml" Requires="v">
                <p:oleObj r:id="rId4" imgW="508000" imgH="228600" progId="Equation.3">
                  <p:embed/>
                </p:oleObj>
              </mc:Choice>
              <mc:Fallback>
                <p:oleObj r:id="rId4" imgW="508000" imgH="228600" progId="Equation.3">
                  <p:embed/>
                  <p:pic>
                    <p:nvPicPr>
                      <p:cNvPr id="0" name="图片 3076"/>
                      <p:cNvPicPr/>
                      <p:nvPr/>
                    </p:nvPicPr>
                    <p:blipFill>
                      <a:blip r:embed="rId5"/>
                      <a:stretch>
                        <a:fillRect/>
                      </a:stretch>
                    </p:blipFill>
                    <p:spPr>
                      <a:xfrm>
                        <a:off x="3419475" y="4084638"/>
                        <a:ext cx="1447800" cy="40005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7" name="Rectangle 25"/>
          <p:cNvSpPr/>
          <p:nvPr/>
        </p:nvSpPr>
        <p:spPr>
          <a:xfrm>
            <a:off x="35564" y="411164"/>
            <a:ext cx="3000375" cy="523220"/>
          </a:xfrm>
          <a:prstGeom prst="rect">
            <a:avLst/>
          </a:prstGeom>
          <a:solidFill>
            <a:srgbClr val="003300"/>
          </a:solidFill>
          <a:ln w="9525">
            <a:noFill/>
          </a:ln>
        </p:spPr>
        <p:txBody>
          <a:bodyPr anchor="t" anchorCtr="0">
            <a:spAutoFit/>
          </a:bodyPr>
          <a:lstStyle/>
          <a:p>
            <a:pPr>
              <a:buClrTx/>
              <a:buFontTx/>
            </a:pPr>
            <a:r>
              <a:rPr lang="en-US" altLang="zh-CN" dirty="0">
                <a:solidFill>
                  <a:schemeClr val="bg1"/>
                </a:solidFill>
                <a:latin typeface="楷体_GB2312" pitchFamily="49" charset="-122"/>
                <a:ea typeface="楷体_GB2312" pitchFamily="49" charset="-122"/>
                <a:sym typeface="Symbol" panose="05050102010706020507" pitchFamily="18" charset="2"/>
              </a:rPr>
              <a:t>2.</a:t>
            </a:r>
            <a:r>
              <a:rPr lang="zh-CN" altLang="en-US" dirty="0">
                <a:solidFill>
                  <a:schemeClr val="bg1"/>
                </a:solidFill>
                <a:latin typeface="楷体_GB2312" pitchFamily="49" charset="-122"/>
                <a:ea typeface="楷体_GB2312" pitchFamily="49" charset="-122"/>
                <a:sym typeface="Symbol" panose="05050102010706020507" pitchFamily="18" charset="2"/>
              </a:rPr>
              <a:t>凝固点下降</a:t>
            </a:r>
          </a:p>
        </p:txBody>
      </p:sp>
      <p:pic>
        <p:nvPicPr>
          <p:cNvPr id="4100" name="Picture 4" descr="https://bpic.588ku.com/element_origin_min_pic/19/04/10/b3aa9fde12854bc695e328db47638f7b.jpg"/>
          <p:cNvPicPr>
            <a:picLocks noChangeAspect="1" noChangeArrowheads="1"/>
          </p:cNvPicPr>
          <p:nvPr/>
        </p:nvPicPr>
        <p:blipFill>
          <a:blip r:embed="rId6" cstate="print"/>
          <a:srcRect l="15175" t="13274" r="15021" b="13999"/>
          <a:stretch>
            <a:fillRect/>
          </a:stretch>
        </p:blipFill>
        <p:spPr bwMode="auto">
          <a:xfrm>
            <a:off x="323779" y="3723672"/>
            <a:ext cx="1242355" cy="12963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5" fill="hold" grpId="0" nodeType="clickEffect">
                                  <p:stCondLst>
                                    <p:cond delay="0"/>
                                  </p:stCondLst>
                                  <p:childTnLst>
                                    <p:set>
                                      <p:cBhvr>
                                        <p:cTn id="15" dur="1" fill="hold">
                                          <p:stCondLst>
                                            <p:cond delay="0"/>
                                          </p:stCondLst>
                                        </p:cTn>
                                        <p:tgtEl>
                                          <p:spTgt spid="160771"/>
                                        </p:tgtEl>
                                        <p:attrNameLst>
                                          <p:attrName>style.visibility</p:attrName>
                                        </p:attrNameLst>
                                      </p:cBhvr>
                                      <p:to>
                                        <p:strVal val="visible"/>
                                      </p:to>
                                    </p:set>
                                    <p:animEffect transition="in" filter="blinds(vertical)">
                                      <p:cBhvr>
                                        <p:cTn id="16" dur="500"/>
                                        <p:tgtEl>
                                          <p:spTgt spid="160771"/>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4" fill="hold" grpId="0" nodeType="clickEffect">
                                  <p:stCondLst>
                                    <p:cond delay="0"/>
                                  </p:stCondLst>
                                  <p:childTnLst>
                                    <p:set>
                                      <p:cBhvr>
                                        <p:cTn id="20" dur="1" fill="hold">
                                          <p:stCondLst>
                                            <p:cond delay="0"/>
                                          </p:stCondLst>
                                        </p:cTn>
                                        <p:tgtEl>
                                          <p:spTgt spid="160773"/>
                                        </p:tgtEl>
                                        <p:attrNameLst>
                                          <p:attrName>style.visibility</p:attrName>
                                        </p:attrNameLst>
                                      </p:cBhvr>
                                      <p:to>
                                        <p:strVal val="visible"/>
                                      </p:to>
                                    </p:set>
                                    <p:animEffect transition="in" filter="wheel(4)">
                                      <p:cBhvr>
                                        <p:cTn id="21" dur="2000"/>
                                        <p:tgtEl>
                                          <p:spTgt spid="16077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60774"/>
                                        </p:tgtEl>
                                        <p:attrNameLst>
                                          <p:attrName>style.visibility</p:attrName>
                                        </p:attrNameLst>
                                      </p:cBhvr>
                                      <p:to>
                                        <p:strVal val="visible"/>
                                      </p:to>
                                    </p:set>
                                    <p:animEffect transition="in" filter="wipe(left)">
                                      <p:cBhvr>
                                        <p:cTn id="26" dur="500"/>
                                        <p:tgtEl>
                                          <p:spTgt spid="160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p:bldP spid="160773"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252730" y="-92710"/>
            <a:ext cx="9639300" cy="5410200"/>
          </a:xfrm>
          <a:prstGeom prst="rect">
            <a:avLst/>
          </a:prstGeom>
        </p:spPr>
      </p:pic>
      <p:grpSp>
        <p:nvGrpSpPr>
          <p:cNvPr id="2" name="Group 2"/>
          <p:cNvGrpSpPr/>
          <p:nvPr/>
        </p:nvGrpSpPr>
        <p:grpSpPr>
          <a:xfrm>
            <a:off x="3850958" y="555308"/>
            <a:ext cx="5256212" cy="1366041"/>
            <a:chOff x="2562" y="482"/>
            <a:chExt cx="3311" cy="1146"/>
          </a:xfrm>
        </p:grpSpPr>
        <p:sp>
          <p:nvSpPr>
            <p:cNvPr id="29698" name="Rectangle 3"/>
            <p:cNvSpPr/>
            <p:nvPr/>
          </p:nvSpPr>
          <p:spPr>
            <a:xfrm>
              <a:off x="2562" y="482"/>
              <a:ext cx="3311" cy="1146"/>
            </a:xfrm>
            <a:prstGeom prst="rect">
              <a:avLst/>
            </a:prstGeom>
            <a:noFill/>
            <a:ln w="9525">
              <a:noFill/>
            </a:ln>
          </p:spPr>
          <p:txBody>
            <a:bodyPr anchor="t" anchorCtr="0">
              <a:spAutoFit/>
            </a:bodyPr>
            <a:lstStyle/>
            <a:p>
              <a:pPr>
                <a:lnSpc>
                  <a:spcPct val="115000"/>
                </a:lnSpc>
                <a:buClrTx/>
                <a:buFontTx/>
              </a:pPr>
              <a:r>
                <a:rPr lang="zh-CN" altLang="en-US" sz="2400" dirty="0">
                  <a:solidFill>
                    <a:srgbClr val="FF0000"/>
                  </a:solidFill>
                  <a:latin typeface="Times New Roman" panose="02020603050405020304" pitchFamily="18" charset="0"/>
                  <a:ea typeface="宋体" panose="02010600030101010101" pitchFamily="2" charset="-122"/>
                </a:rPr>
                <a:t>      </a:t>
              </a:r>
              <a:r>
                <a:rPr lang="en-US" altLang="zh-CN" sz="2400" i="1" dirty="0">
                  <a:solidFill>
                    <a:srgbClr val="FF0000"/>
                  </a:solidFill>
                  <a:latin typeface="Times New Roman" panose="02020603050405020304" pitchFamily="18" charset="0"/>
                  <a:ea typeface="宋体" panose="02010600030101010101" pitchFamily="2" charset="-122"/>
                </a:rPr>
                <a:t>o</a:t>
              </a:r>
              <a:r>
                <a:rPr lang="en-US" altLang="zh-CN" sz="2400" baseline="30000" dirty="0">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zh-CN" altLang="en-US" sz="2400" dirty="0">
                  <a:latin typeface="Times New Roman" panose="02020603050405020304" pitchFamily="18" charset="0"/>
                  <a:ea typeface="宋体" panose="02010600030101010101" pitchFamily="2" charset="-122"/>
                </a:rPr>
                <a:t>为纯液体</a:t>
              </a:r>
              <a:r>
                <a:rPr lang="en-US" altLang="zh-CN" sz="2400" dirty="0">
                  <a:latin typeface="Times New Roman" panose="02020603050405020304" pitchFamily="18" charset="0"/>
                  <a:ea typeface="宋体" panose="02010600030101010101" pitchFamily="2" charset="-122"/>
                </a:rPr>
                <a:t>A </a:t>
              </a:r>
              <a:r>
                <a:rPr lang="zh-CN" altLang="en-US" sz="2400" dirty="0">
                  <a:latin typeface="Times New Roman" panose="02020603050405020304" pitchFamily="18" charset="0"/>
                  <a:ea typeface="宋体" panose="02010600030101010101" pitchFamily="2" charset="-122"/>
                </a:rPr>
                <a:t>、纯固态</a:t>
              </a:r>
              <a:r>
                <a:rPr lang="en-US" altLang="zh-CN" sz="2400" dirty="0">
                  <a:latin typeface="Times New Roman" panose="02020603050405020304" pitchFamily="18" charset="0"/>
                  <a:ea typeface="宋体" panose="02010600030101010101" pitchFamily="2" charset="-122"/>
                </a:rPr>
                <a:t>A</a:t>
              </a:r>
              <a:r>
                <a:rPr lang="zh-CN" altLang="en-US" sz="2400" dirty="0">
                  <a:latin typeface="Times New Roman" panose="02020603050405020304" pitchFamily="18" charset="0"/>
                  <a:ea typeface="宋体" panose="02010600030101010101" pitchFamily="2" charset="-122"/>
                </a:rPr>
                <a:t>蒸气压相等的温度与压力。</a:t>
              </a:r>
            </a:p>
            <a:p>
              <a:pPr>
                <a:lnSpc>
                  <a:spcPct val="115000"/>
                </a:lnSpc>
                <a:buClrTx/>
                <a:buFontTx/>
              </a:pPr>
              <a:r>
                <a:rPr lang="zh-CN" altLang="en-US" sz="2400" dirty="0">
                  <a:latin typeface="Times New Roman" panose="02020603050405020304" pitchFamily="18" charset="0"/>
                  <a:ea typeface="宋体" panose="02010600030101010101" pitchFamily="2" charset="-122"/>
                </a:rPr>
                <a:t>对应的温度      为纯溶剂的凝固点。</a:t>
              </a:r>
            </a:p>
          </p:txBody>
        </p:sp>
        <p:graphicFrame>
          <p:nvGraphicFramePr>
            <p:cNvPr id="29699" name="Object 4"/>
            <p:cNvGraphicFramePr>
              <a:graphicFrameLocks noChangeAspect="1"/>
            </p:cNvGraphicFramePr>
            <p:nvPr/>
          </p:nvGraphicFramePr>
          <p:xfrm>
            <a:off x="3606" y="1281"/>
            <a:ext cx="247" cy="302"/>
          </p:xfrm>
          <a:graphic>
            <a:graphicData uri="http://schemas.openxmlformats.org/presentationml/2006/ole">
              <mc:AlternateContent xmlns:mc="http://schemas.openxmlformats.org/markup-compatibility/2006">
                <mc:Choice xmlns:v="urn:schemas-microsoft-com:vml" Requires="v">
                  <p:oleObj r:id="rId4" imgW="190500" imgH="228600" progId="Equation.3">
                    <p:embed/>
                  </p:oleObj>
                </mc:Choice>
                <mc:Fallback>
                  <p:oleObj r:id="rId4" imgW="190500" imgH="228600" progId="Equation.3">
                    <p:embed/>
                    <p:pic>
                      <p:nvPicPr>
                        <p:cNvPr id="0" name="图片 3077"/>
                        <p:cNvPicPr/>
                        <p:nvPr/>
                      </p:nvPicPr>
                      <p:blipFill>
                        <a:blip r:embed="rId5"/>
                        <a:stretch>
                          <a:fillRect/>
                        </a:stretch>
                      </p:blipFill>
                      <p:spPr>
                        <a:xfrm>
                          <a:off x="3606" y="1281"/>
                          <a:ext cx="247" cy="302"/>
                        </a:xfrm>
                        <a:prstGeom prst="rect">
                          <a:avLst/>
                        </a:prstGeom>
                        <a:solidFill>
                          <a:srgbClr val="FFFFCC"/>
                        </a:solidFill>
                        <a:ln w="38100">
                          <a:noFill/>
                          <a:miter/>
                        </a:ln>
                      </p:spPr>
                    </p:pic>
                  </p:oleObj>
                </mc:Fallback>
              </mc:AlternateContent>
            </a:graphicData>
          </a:graphic>
        </p:graphicFrame>
      </p:grpSp>
      <p:sp>
        <p:nvSpPr>
          <p:cNvPr id="161797" name="Rectangle 5"/>
          <p:cNvSpPr/>
          <p:nvPr/>
        </p:nvSpPr>
        <p:spPr>
          <a:xfrm>
            <a:off x="3851915" y="2211706"/>
            <a:ext cx="4968875" cy="1477328"/>
          </a:xfrm>
          <a:prstGeom prst="rect">
            <a:avLst/>
          </a:prstGeom>
          <a:noFill/>
          <a:ln w="9525">
            <a:noFill/>
          </a:ln>
        </p:spPr>
        <p:txBody>
          <a:bodyPr anchor="t" anchorCtr="0">
            <a:spAutoFit/>
          </a:bodyPr>
          <a:lstStyle/>
          <a:p>
            <a:pPr>
              <a:lnSpc>
                <a:spcPct val="125000"/>
              </a:lnSpc>
              <a:buClrTx/>
              <a:buFontTx/>
            </a:pPr>
            <a:r>
              <a:rPr lang="zh-CN" altLang="en-US" sz="2400" dirty="0">
                <a:solidFill>
                  <a:srgbClr val="008000"/>
                </a:solidFill>
                <a:latin typeface="Times New Roman" panose="02020603050405020304" pitchFamily="18" charset="0"/>
                <a:ea typeface="宋体" panose="02010600030101010101" pitchFamily="2" charset="-122"/>
              </a:rPr>
              <a:t>      </a:t>
            </a:r>
            <a:r>
              <a:rPr lang="zh-CN" altLang="en-US" sz="2400" dirty="0">
                <a:solidFill>
                  <a:srgbClr val="0000FF"/>
                </a:solidFill>
                <a:latin typeface="Times New Roman" panose="02020603050405020304" pitchFamily="18" charset="0"/>
                <a:ea typeface="宋体" panose="02010600030101010101" pitchFamily="2" charset="-122"/>
              </a:rPr>
              <a:t> </a:t>
            </a:r>
            <a:r>
              <a:rPr lang="en-US" altLang="zh-CN" sz="2400" i="1" dirty="0">
                <a:solidFill>
                  <a:srgbClr val="0000FF"/>
                </a:solidFill>
                <a:latin typeface="Times New Roman" panose="02020603050405020304" pitchFamily="18" charset="0"/>
                <a:ea typeface="宋体" panose="02010600030101010101" pitchFamily="2" charset="-122"/>
              </a:rPr>
              <a:t>o</a:t>
            </a:r>
            <a:r>
              <a:rPr lang="en-US" altLang="zh-CN" sz="2400" baseline="300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对应于溶液中溶剂 </a:t>
            </a:r>
            <a:r>
              <a:rPr lang="en-US" altLang="zh-CN" sz="2400" dirty="0">
                <a:latin typeface="Times New Roman" panose="02020603050405020304" pitchFamily="18" charset="0"/>
                <a:ea typeface="宋体" panose="02010600030101010101" pitchFamily="2" charset="-122"/>
              </a:rPr>
              <a:t>A </a:t>
            </a:r>
            <a:r>
              <a:rPr lang="zh-CN" altLang="en-US" sz="2400" dirty="0">
                <a:latin typeface="Times New Roman" panose="02020603050405020304" pitchFamily="18" charset="0"/>
                <a:ea typeface="宋体" panose="02010600030101010101" pitchFamily="2" charset="-122"/>
              </a:rPr>
              <a:t>的蒸气压与固态蒸气压相等的温度与压力。对应的温度 </a:t>
            </a:r>
            <a:r>
              <a:rPr lang="en-US" altLang="zh-CN" sz="2400" i="1" dirty="0">
                <a:solidFill>
                  <a:srgbClr val="0000FF"/>
                </a:solidFill>
                <a:latin typeface="Times New Roman" panose="02020603050405020304" pitchFamily="18" charset="0"/>
                <a:ea typeface="宋体" panose="02010600030101010101" pitchFamily="2" charset="-122"/>
              </a:rPr>
              <a:t>T</a:t>
            </a:r>
            <a:r>
              <a:rPr lang="en-US" altLang="zh-CN" sz="2400" baseline="-25000" dirty="0">
                <a:solidFill>
                  <a:srgbClr val="0000FF"/>
                </a:solidFill>
                <a:latin typeface="Times New Roman" panose="02020603050405020304" pitchFamily="18" charset="0"/>
                <a:ea typeface="宋体" panose="02010600030101010101" pitchFamily="2" charset="-122"/>
              </a:rPr>
              <a:t>f</a:t>
            </a:r>
            <a:r>
              <a:rPr lang="en-US" altLang="zh-CN" sz="2400" dirty="0">
                <a:solidFill>
                  <a:srgbClr val="0000FF"/>
                </a:solidFill>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为溶液的凝固点。</a:t>
            </a:r>
          </a:p>
        </p:txBody>
      </p:sp>
      <p:grpSp>
        <p:nvGrpSpPr>
          <p:cNvPr id="5" name="Group 18"/>
          <p:cNvGrpSpPr/>
          <p:nvPr/>
        </p:nvGrpSpPr>
        <p:grpSpPr>
          <a:xfrm>
            <a:off x="518166" y="4084316"/>
            <a:ext cx="4746625" cy="526965"/>
            <a:chOff x="884" y="3067"/>
            <a:chExt cx="2938" cy="374"/>
          </a:xfrm>
        </p:grpSpPr>
        <p:sp>
          <p:nvSpPr>
            <p:cNvPr id="29714" name="Rectangle 19"/>
            <p:cNvSpPr/>
            <p:nvPr/>
          </p:nvSpPr>
          <p:spPr>
            <a:xfrm>
              <a:off x="884" y="3113"/>
              <a:ext cx="1091" cy="328"/>
            </a:xfrm>
            <a:prstGeom prst="rect">
              <a:avLst/>
            </a:prstGeom>
            <a:noFill/>
            <a:ln w="9525">
              <a:noFill/>
            </a:ln>
          </p:spPr>
          <p:txBody>
            <a:bodyPr wrap="square" anchor="t" anchorCtr="0">
              <a:spAutoFit/>
            </a:bodyPr>
            <a:lstStyle/>
            <a:p>
              <a:pPr>
                <a:buClrTx/>
                <a:buFontTx/>
              </a:pPr>
              <a:r>
                <a:rPr lang="zh-CN" altLang="en-US" sz="2400" dirty="0">
                  <a:solidFill>
                    <a:schemeClr val="tx2"/>
                  </a:solidFill>
                  <a:latin typeface="Times New Roman" panose="02020603050405020304" pitchFamily="18" charset="0"/>
                  <a:ea typeface="宋体" panose="02010600030101010101" pitchFamily="2" charset="-122"/>
                </a:rPr>
                <a:t>由图可见，</a:t>
              </a:r>
              <a:endParaRPr lang="zh-CN" altLang="en-US" sz="2400" dirty="0">
                <a:latin typeface="Times New Roman" panose="02020603050405020304" pitchFamily="18" charset="0"/>
                <a:ea typeface="宋体" panose="02010600030101010101" pitchFamily="2" charset="-122"/>
              </a:endParaRPr>
            </a:p>
          </p:txBody>
        </p:sp>
        <p:graphicFrame>
          <p:nvGraphicFramePr>
            <p:cNvPr id="29715" name="Object 20"/>
            <p:cNvGraphicFramePr>
              <a:graphicFrameLocks noChangeAspect="1"/>
            </p:cNvGraphicFramePr>
            <p:nvPr/>
          </p:nvGraphicFramePr>
          <p:xfrm>
            <a:off x="2245" y="3067"/>
            <a:ext cx="1577" cy="331"/>
          </p:xfrm>
          <a:graphic>
            <a:graphicData uri="http://schemas.openxmlformats.org/presentationml/2006/ole">
              <mc:AlternateContent xmlns:mc="http://schemas.openxmlformats.org/markup-compatibility/2006">
                <mc:Choice xmlns:v="urn:schemas-microsoft-com:vml" Requires="v">
                  <p:oleObj r:id="rId6" imgW="1091565" imgH="228600" progId="Equation.3">
                    <p:embed/>
                  </p:oleObj>
                </mc:Choice>
                <mc:Fallback>
                  <p:oleObj r:id="rId6" imgW="1091565" imgH="228600" progId="Equation.3">
                    <p:embed/>
                    <p:pic>
                      <p:nvPicPr>
                        <p:cNvPr id="0" name="图片 3085"/>
                        <p:cNvPicPr/>
                        <p:nvPr/>
                      </p:nvPicPr>
                      <p:blipFill>
                        <a:blip r:embed="rId7"/>
                        <a:stretch>
                          <a:fillRect/>
                        </a:stretch>
                      </p:blipFill>
                      <p:spPr>
                        <a:xfrm>
                          <a:off x="2245" y="3067"/>
                          <a:ext cx="1577" cy="331"/>
                        </a:xfrm>
                        <a:prstGeom prst="rect">
                          <a:avLst/>
                        </a:prstGeom>
                        <a:solidFill>
                          <a:srgbClr val="FFFF99"/>
                        </a:solidFill>
                        <a:ln w="9525" cap="flat" cmpd="sng">
                          <a:solidFill>
                            <a:srgbClr val="FF0000"/>
                          </a:solidFill>
                          <a:prstDash val="solid"/>
                          <a:miter/>
                          <a:headEnd type="none" w="med" len="med"/>
                          <a:tailEnd type="none" w="med" len="med"/>
                        </a:ln>
                      </p:spPr>
                    </p:pic>
                  </p:oleObj>
                </mc:Fallback>
              </mc:AlternateContent>
            </a:graphicData>
          </a:graphic>
        </p:graphicFrame>
      </p:grpSp>
      <p:sp>
        <p:nvSpPr>
          <p:cNvPr id="161813" name="Text Box 21"/>
          <p:cNvSpPr txBox="1"/>
          <p:nvPr/>
        </p:nvSpPr>
        <p:spPr>
          <a:xfrm>
            <a:off x="5507990" y="4137663"/>
            <a:ext cx="3168650" cy="461665"/>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稀溶液的</a:t>
            </a:r>
            <a:r>
              <a:rPr lang="zh-CN" altLang="en-US" sz="2400" dirty="0">
                <a:solidFill>
                  <a:srgbClr val="FF0000"/>
                </a:solidFill>
                <a:latin typeface="Times New Roman" panose="02020603050405020304" pitchFamily="18" charset="0"/>
                <a:ea typeface="宋体" panose="02010600030101010101" pitchFamily="2" charset="-122"/>
              </a:rPr>
              <a:t>凝固点降低</a:t>
            </a:r>
            <a:endParaRPr lang="zh-CN" altLang="en-US" sz="2400" dirty="0">
              <a:latin typeface="Times New Roman" panose="02020603050405020304" pitchFamily="18" charset="0"/>
              <a:ea typeface="宋体" panose="02010600030101010101" pitchFamily="2" charset="-122"/>
            </a:endParaRPr>
          </a:p>
        </p:txBody>
      </p:sp>
      <p:grpSp>
        <p:nvGrpSpPr>
          <p:cNvPr id="29701" name="Group 6"/>
          <p:cNvGrpSpPr/>
          <p:nvPr/>
        </p:nvGrpSpPr>
        <p:grpSpPr>
          <a:xfrm>
            <a:off x="230511" y="961073"/>
            <a:ext cx="3325813" cy="2324100"/>
            <a:chOff x="0" y="799"/>
            <a:chExt cx="2095" cy="1952"/>
          </a:xfrm>
        </p:grpSpPr>
        <p:grpSp>
          <p:nvGrpSpPr>
            <p:cNvPr id="29702" name="Group 7"/>
            <p:cNvGrpSpPr>
              <a:grpSpLocks noChangeAspect="1"/>
            </p:cNvGrpSpPr>
            <p:nvPr/>
          </p:nvGrpSpPr>
          <p:grpSpPr>
            <a:xfrm>
              <a:off x="323" y="995"/>
              <a:ext cx="1767" cy="1514"/>
              <a:chOff x="1510" y="817"/>
              <a:chExt cx="2925" cy="2504"/>
            </a:xfrm>
          </p:grpSpPr>
          <p:graphicFrame>
            <p:nvGraphicFramePr>
              <p:cNvPr id="29703" name="Object 8"/>
              <p:cNvGraphicFramePr>
                <a:graphicFrameLocks noChangeAspect="1"/>
              </p:cNvGraphicFramePr>
              <p:nvPr/>
            </p:nvGraphicFramePr>
            <p:xfrm>
              <a:off x="1510" y="3049"/>
              <a:ext cx="235" cy="272"/>
            </p:xfrm>
            <a:graphic>
              <a:graphicData uri="http://schemas.openxmlformats.org/presentationml/2006/ole">
                <mc:AlternateContent xmlns:mc="http://schemas.openxmlformats.org/markup-compatibility/2006">
                  <mc:Choice xmlns:v="urn:schemas-microsoft-com:vml" Requires="v">
                    <p:oleObj r:id="rId8" imgW="127000" imgH="139700" progId="Equation.DSMT4">
                      <p:embed/>
                    </p:oleObj>
                  </mc:Choice>
                  <mc:Fallback>
                    <p:oleObj r:id="rId8" imgW="127000" imgH="139700" progId="Equation.DSMT4">
                      <p:embed/>
                      <p:pic>
                        <p:nvPicPr>
                          <p:cNvPr id="0" name="图片 3078"/>
                          <p:cNvPicPr/>
                          <p:nvPr/>
                        </p:nvPicPr>
                        <p:blipFill>
                          <a:blip r:embed="rId9"/>
                          <a:stretch>
                            <a:fillRect/>
                          </a:stretch>
                        </p:blipFill>
                        <p:spPr>
                          <a:xfrm>
                            <a:off x="1510" y="3049"/>
                            <a:ext cx="235" cy="272"/>
                          </a:xfrm>
                          <a:prstGeom prst="rect">
                            <a:avLst/>
                          </a:prstGeom>
                          <a:noFill/>
                          <a:ln w="38100">
                            <a:noFill/>
                            <a:miter/>
                          </a:ln>
                        </p:spPr>
                      </p:pic>
                    </p:oleObj>
                  </mc:Fallback>
                </mc:AlternateContent>
              </a:graphicData>
            </a:graphic>
          </p:graphicFrame>
          <p:graphicFrame>
            <p:nvGraphicFramePr>
              <p:cNvPr id="29704" name="Object 9"/>
              <p:cNvGraphicFramePr>
                <a:graphicFrameLocks noChangeAspect="1"/>
              </p:cNvGraphicFramePr>
              <p:nvPr/>
            </p:nvGraphicFramePr>
            <p:xfrm>
              <a:off x="4209" y="1833"/>
              <a:ext cx="212" cy="273"/>
            </p:xfrm>
            <a:graphic>
              <a:graphicData uri="http://schemas.openxmlformats.org/presentationml/2006/ole">
                <mc:AlternateContent xmlns:mc="http://schemas.openxmlformats.org/markup-compatibility/2006">
                  <mc:Choice xmlns:v="urn:schemas-microsoft-com:vml" Requires="v">
                    <p:oleObj r:id="rId10" imgW="114300" imgH="139700" progId="Equation.DSMT4">
                      <p:embed/>
                    </p:oleObj>
                  </mc:Choice>
                  <mc:Fallback>
                    <p:oleObj r:id="rId10" imgW="114300" imgH="139700" progId="Equation.DSMT4">
                      <p:embed/>
                      <p:pic>
                        <p:nvPicPr>
                          <p:cNvPr id="0" name="图片 3079"/>
                          <p:cNvPicPr/>
                          <p:nvPr/>
                        </p:nvPicPr>
                        <p:blipFill>
                          <a:blip r:embed="rId11"/>
                          <a:stretch>
                            <a:fillRect/>
                          </a:stretch>
                        </p:blipFill>
                        <p:spPr>
                          <a:xfrm>
                            <a:off x="4209" y="1833"/>
                            <a:ext cx="212" cy="273"/>
                          </a:xfrm>
                          <a:prstGeom prst="rect">
                            <a:avLst/>
                          </a:prstGeom>
                          <a:noFill/>
                          <a:ln w="38100">
                            <a:noFill/>
                            <a:miter/>
                          </a:ln>
                        </p:spPr>
                      </p:pic>
                    </p:oleObj>
                  </mc:Fallback>
                </mc:AlternateContent>
              </a:graphicData>
            </a:graphic>
          </p:graphicFrame>
          <p:graphicFrame>
            <p:nvGraphicFramePr>
              <p:cNvPr id="29705" name="Object 10"/>
              <p:cNvGraphicFramePr>
                <a:graphicFrameLocks noChangeAspect="1"/>
              </p:cNvGraphicFramePr>
              <p:nvPr/>
            </p:nvGraphicFramePr>
            <p:xfrm>
              <a:off x="4177" y="1072"/>
              <a:ext cx="258" cy="363"/>
            </p:xfrm>
            <a:graphic>
              <a:graphicData uri="http://schemas.openxmlformats.org/presentationml/2006/ole">
                <mc:AlternateContent xmlns:mc="http://schemas.openxmlformats.org/markup-compatibility/2006">
                  <mc:Choice xmlns:v="urn:schemas-microsoft-com:vml" Requires="v">
                    <p:oleObj r:id="rId12" imgW="152400" imgH="203200" progId="Equation.DSMT4">
                      <p:embed/>
                    </p:oleObj>
                  </mc:Choice>
                  <mc:Fallback>
                    <p:oleObj r:id="rId12" imgW="152400" imgH="203200" progId="Equation.DSMT4">
                      <p:embed/>
                      <p:pic>
                        <p:nvPicPr>
                          <p:cNvPr id="0" name="图片 3080"/>
                          <p:cNvPicPr/>
                          <p:nvPr/>
                        </p:nvPicPr>
                        <p:blipFill>
                          <a:blip r:embed="rId13"/>
                          <a:stretch>
                            <a:fillRect/>
                          </a:stretch>
                        </p:blipFill>
                        <p:spPr>
                          <a:xfrm>
                            <a:off x="4177" y="1072"/>
                            <a:ext cx="258" cy="363"/>
                          </a:xfrm>
                          <a:prstGeom prst="rect">
                            <a:avLst/>
                          </a:prstGeom>
                          <a:noFill/>
                          <a:ln w="38100">
                            <a:noFill/>
                            <a:miter/>
                          </a:ln>
                        </p:spPr>
                      </p:pic>
                    </p:oleObj>
                  </mc:Fallback>
                </mc:AlternateContent>
              </a:graphicData>
            </a:graphic>
          </p:graphicFrame>
          <p:graphicFrame>
            <p:nvGraphicFramePr>
              <p:cNvPr id="29706" name="Object 11"/>
              <p:cNvGraphicFramePr>
                <a:graphicFrameLocks noChangeAspect="1"/>
              </p:cNvGraphicFramePr>
              <p:nvPr/>
            </p:nvGraphicFramePr>
            <p:xfrm>
              <a:off x="2426" y="817"/>
              <a:ext cx="326" cy="363"/>
            </p:xfrm>
            <a:graphic>
              <a:graphicData uri="http://schemas.openxmlformats.org/presentationml/2006/ole">
                <mc:AlternateContent xmlns:mc="http://schemas.openxmlformats.org/markup-compatibility/2006">
                  <mc:Choice xmlns:v="urn:schemas-microsoft-com:vml" Requires="v">
                    <p:oleObj r:id="rId14" imgW="228600" imgH="241300" progId="Equation.DSMT4">
                      <p:embed/>
                    </p:oleObj>
                  </mc:Choice>
                  <mc:Fallback>
                    <p:oleObj r:id="rId14" imgW="228600" imgH="241300" progId="Equation.DSMT4">
                      <p:embed/>
                      <p:pic>
                        <p:nvPicPr>
                          <p:cNvPr id="0" name="图片 3081"/>
                          <p:cNvPicPr/>
                          <p:nvPr/>
                        </p:nvPicPr>
                        <p:blipFill>
                          <a:blip r:embed="rId15"/>
                          <a:stretch>
                            <a:fillRect/>
                          </a:stretch>
                        </p:blipFill>
                        <p:spPr>
                          <a:xfrm>
                            <a:off x="2426" y="817"/>
                            <a:ext cx="326" cy="363"/>
                          </a:xfrm>
                          <a:prstGeom prst="rect">
                            <a:avLst/>
                          </a:prstGeom>
                          <a:noFill/>
                          <a:ln w="38100">
                            <a:noFill/>
                            <a:miter/>
                          </a:ln>
                        </p:spPr>
                      </p:pic>
                    </p:oleObj>
                  </mc:Fallback>
                </mc:AlternateContent>
              </a:graphicData>
            </a:graphic>
          </p:graphicFrame>
        </p:grpSp>
        <p:sp>
          <p:nvSpPr>
            <p:cNvPr id="29707" name="Line 12"/>
            <p:cNvSpPr>
              <a:spLocks noChangeAspect="1"/>
            </p:cNvSpPr>
            <p:nvPr/>
          </p:nvSpPr>
          <p:spPr>
            <a:xfrm>
              <a:off x="744" y="2087"/>
              <a:ext cx="0" cy="466"/>
            </a:xfrm>
            <a:prstGeom prst="line">
              <a:avLst/>
            </a:prstGeom>
            <a:ln w="38100" cap="flat" cmpd="sng">
              <a:solidFill>
                <a:srgbClr val="003300"/>
              </a:solidFill>
              <a:prstDash val="dash"/>
              <a:round/>
              <a:headEnd type="none" w="med" len="med"/>
              <a:tailEnd type="none" w="med" len="med"/>
            </a:ln>
          </p:spPr>
        </p:sp>
        <p:sp>
          <p:nvSpPr>
            <p:cNvPr id="29708" name="Line 13"/>
            <p:cNvSpPr>
              <a:spLocks noChangeAspect="1"/>
            </p:cNvSpPr>
            <p:nvPr/>
          </p:nvSpPr>
          <p:spPr>
            <a:xfrm>
              <a:off x="937" y="1703"/>
              <a:ext cx="0" cy="850"/>
            </a:xfrm>
            <a:prstGeom prst="line">
              <a:avLst/>
            </a:prstGeom>
            <a:ln w="38100" cap="flat" cmpd="sng">
              <a:solidFill>
                <a:srgbClr val="003300"/>
              </a:solidFill>
              <a:prstDash val="dash"/>
              <a:round/>
              <a:headEnd type="none" w="med" len="med"/>
              <a:tailEnd type="none" w="med" len="med"/>
            </a:ln>
          </p:spPr>
        </p:sp>
        <p:graphicFrame>
          <p:nvGraphicFramePr>
            <p:cNvPr id="29709" name="Object 14"/>
            <p:cNvGraphicFramePr>
              <a:graphicFrameLocks noChangeAspect="1"/>
            </p:cNvGraphicFramePr>
            <p:nvPr/>
          </p:nvGraphicFramePr>
          <p:xfrm>
            <a:off x="673" y="2559"/>
            <a:ext cx="128" cy="192"/>
          </p:xfrm>
          <a:graphic>
            <a:graphicData uri="http://schemas.openxmlformats.org/presentationml/2006/ole">
              <mc:AlternateContent xmlns:mc="http://schemas.openxmlformats.org/markup-compatibility/2006">
                <mc:Choice xmlns:v="urn:schemas-microsoft-com:vml" Requires="v">
                  <p:oleObj r:id="rId16" imgW="152400" imgH="228600" progId="Equation.DSMT4">
                    <p:embed/>
                  </p:oleObj>
                </mc:Choice>
                <mc:Fallback>
                  <p:oleObj r:id="rId16" imgW="152400" imgH="228600" progId="Equation.DSMT4">
                    <p:embed/>
                    <p:pic>
                      <p:nvPicPr>
                        <p:cNvPr id="0" name="图片 3082"/>
                        <p:cNvPicPr/>
                        <p:nvPr/>
                      </p:nvPicPr>
                      <p:blipFill>
                        <a:blip r:embed="rId17"/>
                        <a:stretch>
                          <a:fillRect/>
                        </a:stretch>
                      </p:blipFill>
                      <p:spPr>
                        <a:xfrm>
                          <a:off x="673" y="2559"/>
                          <a:ext cx="128" cy="192"/>
                        </a:xfrm>
                        <a:prstGeom prst="rect">
                          <a:avLst/>
                        </a:prstGeom>
                        <a:noFill/>
                        <a:ln w="38100">
                          <a:noFill/>
                          <a:miter/>
                        </a:ln>
                      </p:spPr>
                    </p:pic>
                  </p:oleObj>
                </mc:Fallback>
              </mc:AlternateContent>
            </a:graphicData>
          </a:graphic>
        </p:graphicFrame>
        <p:graphicFrame>
          <p:nvGraphicFramePr>
            <p:cNvPr id="29710" name="Object 15"/>
            <p:cNvGraphicFramePr>
              <a:graphicFrameLocks noChangeAspect="1"/>
            </p:cNvGraphicFramePr>
            <p:nvPr/>
          </p:nvGraphicFramePr>
          <p:xfrm>
            <a:off x="882" y="2553"/>
            <a:ext cx="146" cy="198"/>
          </p:xfrm>
          <a:graphic>
            <a:graphicData uri="http://schemas.openxmlformats.org/presentationml/2006/ole">
              <mc:AlternateContent xmlns:mc="http://schemas.openxmlformats.org/markup-compatibility/2006">
                <mc:Choice xmlns:v="urn:schemas-microsoft-com:vml" Requires="v">
                  <p:oleObj r:id="rId18" imgW="177800" imgH="241300" progId="Equation.DSMT4">
                    <p:embed/>
                  </p:oleObj>
                </mc:Choice>
                <mc:Fallback>
                  <p:oleObj r:id="rId18" imgW="177800" imgH="241300" progId="Equation.DSMT4">
                    <p:embed/>
                    <p:pic>
                      <p:nvPicPr>
                        <p:cNvPr id="0" name="图片 3083"/>
                        <p:cNvPicPr/>
                        <p:nvPr/>
                      </p:nvPicPr>
                      <p:blipFill>
                        <a:blip r:embed="rId19"/>
                        <a:stretch>
                          <a:fillRect/>
                        </a:stretch>
                      </p:blipFill>
                      <p:spPr>
                        <a:xfrm>
                          <a:off x="882" y="2553"/>
                          <a:ext cx="146" cy="198"/>
                        </a:xfrm>
                        <a:prstGeom prst="rect">
                          <a:avLst/>
                        </a:prstGeom>
                        <a:noFill/>
                        <a:ln w="38100">
                          <a:noFill/>
                          <a:miter/>
                        </a:ln>
                      </p:spPr>
                    </p:pic>
                  </p:oleObj>
                </mc:Fallback>
              </mc:AlternateContent>
            </a:graphicData>
          </a:graphic>
        </p:graphicFrame>
        <p:graphicFrame>
          <p:nvGraphicFramePr>
            <p:cNvPr id="29711" name="Object 16"/>
            <p:cNvGraphicFramePr>
              <a:graphicFrameLocks noChangeAspect="1"/>
            </p:cNvGraphicFramePr>
            <p:nvPr/>
          </p:nvGraphicFramePr>
          <p:xfrm>
            <a:off x="1978" y="2608"/>
            <a:ext cx="117" cy="139"/>
          </p:xfrm>
          <a:graphic>
            <a:graphicData uri="http://schemas.openxmlformats.org/presentationml/2006/ole">
              <mc:AlternateContent xmlns:mc="http://schemas.openxmlformats.org/markup-compatibility/2006">
                <mc:Choice xmlns:v="urn:schemas-microsoft-com:vml" Requires="v">
                  <p:oleObj r:id="rId20" imgW="139700" imgH="165100" progId="Equation.DSMT4">
                    <p:embed/>
                  </p:oleObj>
                </mc:Choice>
                <mc:Fallback>
                  <p:oleObj r:id="rId20" imgW="139700" imgH="165100" progId="Equation.DSMT4">
                    <p:embed/>
                    <p:pic>
                      <p:nvPicPr>
                        <p:cNvPr id="0" name="图片 3075"/>
                        <p:cNvPicPr/>
                        <p:nvPr/>
                      </p:nvPicPr>
                      <p:blipFill>
                        <a:blip r:embed="rId21"/>
                        <a:stretch>
                          <a:fillRect/>
                        </a:stretch>
                      </p:blipFill>
                      <p:spPr>
                        <a:xfrm>
                          <a:off x="1978" y="2608"/>
                          <a:ext cx="117" cy="139"/>
                        </a:xfrm>
                        <a:prstGeom prst="rect">
                          <a:avLst/>
                        </a:prstGeom>
                        <a:noFill/>
                        <a:ln w="38100">
                          <a:noFill/>
                          <a:miter/>
                        </a:ln>
                      </p:spPr>
                    </p:pic>
                  </p:oleObj>
                </mc:Fallback>
              </mc:AlternateContent>
            </a:graphicData>
          </a:graphic>
        </p:graphicFrame>
        <p:graphicFrame>
          <p:nvGraphicFramePr>
            <p:cNvPr id="29712" name="Object 17"/>
            <p:cNvGraphicFramePr>
              <a:graphicFrameLocks noChangeAspect="1"/>
            </p:cNvGraphicFramePr>
            <p:nvPr/>
          </p:nvGraphicFramePr>
          <p:xfrm>
            <a:off x="0" y="799"/>
            <a:ext cx="181" cy="192"/>
          </p:xfrm>
          <a:graphic>
            <a:graphicData uri="http://schemas.openxmlformats.org/presentationml/2006/ole">
              <mc:AlternateContent xmlns:mc="http://schemas.openxmlformats.org/markup-compatibility/2006">
                <mc:Choice xmlns:v="urn:schemas-microsoft-com:vml" Requires="v">
                  <p:oleObj r:id="rId22" imgW="215900" imgH="228600" progId="Equation.DSMT4">
                    <p:embed/>
                  </p:oleObj>
                </mc:Choice>
                <mc:Fallback>
                  <p:oleObj r:id="rId22" imgW="215900" imgH="228600" progId="Equation.DSMT4">
                    <p:embed/>
                    <p:pic>
                      <p:nvPicPr>
                        <p:cNvPr id="0" name="图片 3084"/>
                        <p:cNvPicPr/>
                        <p:nvPr/>
                      </p:nvPicPr>
                      <p:blipFill>
                        <a:blip r:embed="rId23"/>
                        <a:stretch>
                          <a:fillRect/>
                        </a:stretch>
                      </p:blipFill>
                      <p:spPr>
                        <a:xfrm>
                          <a:off x="0" y="799"/>
                          <a:ext cx="181" cy="192"/>
                        </a:xfrm>
                        <a:prstGeom prst="rect">
                          <a:avLst/>
                        </a:prstGeom>
                        <a:noFill/>
                        <a:ln w="38100">
                          <a:noFill/>
                          <a:miter/>
                        </a:ln>
                      </p:spPr>
                    </p:pic>
                  </p:oleObj>
                </mc:Fallback>
              </mc:AlternateContent>
            </a:graphicData>
          </a:graphic>
        </p:graphicFrame>
      </p:grpSp>
      <p:grpSp>
        <p:nvGrpSpPr>
          <p:cNvPr id="4" name="Group 22"/>
          <p:cNvGrpSpPr/>
          <p:nvPr/>
        </p:nvGrpSpPr>
        <p:grpSpPr>
          <a:xfrm>
            <a:off x="517843" y="915671"/>
            <a:ext cx="3046412" cy="2606675"/>
            <a:chOff x="385" y="549"/>
            <a:chExt cx="1919" cy="2190"/>
          </a:xfrm>
        </p:grpSpPr>
        <p:sp>
          <p:nvSpPr>
            <p:cNvPr id="6" name="Freeform 23"/>
            <p:cNvSpPr>
              <a:spLocks noEditPoints="1"/>
            </p:cNvSpPr>
            <p:nvPr/>
          </p:nvSpPr>
          <p:spPr>
            <a:xfrm>
              <a:off x="1114" y="1022"/>
              <a:ext cx="1038" cy="393"/>
            </a:xfrm>
            <a:custGeom>
              <a:avLst/>
              <a:gdLst/>
              <a:ahLst/>
              <a:cxnLst>
                <a:cxn ang="0">
                  <a:pos x="0" y="377"/>
                </a:cxn>
                <a:cxn ang="0">
                  <a:pos x="69" y="365"/>
                </a:cxn>
                <a:cxn ang="0">
                  <a:pos x="138" y="351"/>
                </a:cxn>
                <a:cxn ang="0">
                  <a:pos x="207" y="335"/>
                </a:cxn>
                <a:cxn ang="0">
                  <a:pos x="276" y="318"/>
                </a:cxn>
                <a:cxn ang="0">
                  <a:pos x="345" y="300"/>
                </a:cxn>
                <a:cxn ang="0">
                  <a:pos x="413" y="279"/>
                </a:cxn>
                <a:cxn ang="0">
                  <a:pos x="481" y="258"/>
                </a:cxn>
                <a:cxn ang="0">
                  <a:pos x="548" y="233"/>
                </a:cxn>
                <a:cxn ang="0">
                  <a:pos x="554" y="249"/>
                </a:cxn>
                <a:cxn ang="0">
                  <a:pos x="486" y="272"/>
                </a:cxn>
                <a:cxn ang="0">
                  <a:pos x="418" y="295"/>
                </a:cxn>
                <a:cxn ang="0">
                  <a:pos x="350" y="316"/>
                </a:cxn>
                <a:cxn ang="0">
                  <a:pos x="281" y="334"/>
                </a:cxn>
                <a:cxn ang="0">
                  <a:pos x="211" y="351"/>
                </a:cxn>
                <a:cxn ang="0">
                  <a:pos x="141" y="367"/>
                </a:cxn>
                <a:cxn ang="0">
                  <a:pos x="72" y="380"/>
                </a:cxn>
                <a:cxn ang="0">
                  <a:pos x="2" y="393"/>
                </a:cxn>
                <a:cxn ang="0">
                  <a:pos x="0" y="377"/>
                </a:cxn>
                <a:cxn ang="0">
                  <a:pos x="548" y="233"/>
                </a:cxn>
                <a:cxn ang="0">
                  <a:pos x="611" y="210"/>
                </a:cxn>
                <a:cxn ang="0">
                  <a:pos x="673" y="184"/>
                </a:cxn>
                <a:cxn ang="0">
                  <a:pos x="734" y="157"/>
                </a:cxn>
                <a:cxn ang="0">
                  <a:pos x="795" y="129"/>
                </a:cxn>
                <a:cxn ang="0">
                  <a:pos x="855" y="100"/>
                </a:cxn>
                <a:cxn ang="0">
                  <a:pos x="914" y="68"/>
                </a:cxn>
                <a:cxn ang="0">
                  <a:pos x="972" y="35"/>
                </a:cxn>
                <a:cxn ang="0">
                  <a:pos x="1029" y="0"/>
                </a:cxn>
                <a:cxn ang="0">
                  <a:pos x="1038" y="14"/>
                </a:cxn>
                <a:cxn ang="0">
                  <a:pos x="981" y="49"/>
                </a:cxn>
                <a:cxn ang="0">
                  <a:pos x="922" y="82"/>
                </a:cxn>
                <a:cxn ang="0">
                  <a:pos x="863" y="113"/>
                </a:cxn>
                <a:cxn ang="0">
                  <a:pos x="803" y="144"/>
                </a:cxn>
                <a:cxn ang="0">
                  <a:pos x="741" y="172"/>
                </a:cxn>
                <a:cxn ang="0">
                  <a:pos x="679" y="200"/>
                </a:cxn>
                <a:cxn ang="0">
                  <a:pos x="617" y="225"/>
                </a:cxn>
                <a:cxn ang="0">
                  <a:pos x="554" y="249"/>
                </a:cxn>
                <a:cxn ang="0">
                  <a:pos x="548" y="233"/>
                </a:cxn>
              </a:cxnLst>
              <a:rect l="0" t="0" r="0" b="0"/>
              <a:pathLst>
                <a:path w="2075" h="786">
                  <a:moveTo>
                    <a:pt x="0" y="754"/>
                  </a:moveTo>
                  <a:lnTo>
                    <a:pt x="137" y="729"/>
                  </a:lnTo>
                  <a:lnTo>
                    <a:pt x="276" y="701"/>
                  </a:lnTo>
                  <a:lnTo>
                    <a:pt x="414" y="670"/>
                  </a:lnTo>
                  <a:lnTo>
                    <a:pt x="551" y="636"/>
                  </a:lnTo>
                  <a:lnTo>
                    <a:pt x="689" y="599"/>
                  </a:lnTo>
                  <a:lnTo>
                    <a:pt x="826" y="558"/>
                  </a:lnTo>
                  <a:lnTo>
                    <a:pt x="962" y="515"/>
                  </a:lnTo>
                  <a:lnTo>
                    <a:pt x="1095" y="466"/>
                  </a:lnTo>
                  <a:lnTo>
                    <a:pt x="1107" y="497"/>
                  </a:lnTo>
                  <a:lnTo>
                    <a:pt x="971" y="544"/>
                  </a:lnTo>
                  <a:lnTo>
                    <a:pt x="836" y="589"/>
                  </a:lnTo>
                  <a:lnTo>
                    <a:pt x="699" y="631"/>
                  </a:lnTo>
                  <a:lnTo>
                    <a:pt x="561" y="668"/>
                  </a:lnTo>
                  <a:lnTo>
                    <a:pt x="422" y="701"/>
                  </a:lnTo>
                  <a:lnTo>
                    <a:pt x="282" y="733"/>
                  </a:lnTo>
                  <a:lnTo>
                    <a:pt x="143" y="760"/>
                  </a:lnTo>
                  <a:lnTo>
                    <a:pt x="4" y="786"/>
                  </a:lnTo>
                  <a:lnTo>
                    <a:pt x="0" y="754"/>
                  </a:lnTo>
                  <a:close/>
                  <a:moveTo>
                    <a:pt x="1095" y="466"/>
                  </a:moveTo>
                  <a:lnTo>
                    <a:pt x="1221" y="419"/>
                  </a:lnTo>
                  <a:lnTo>
                    <a:pt x="1346" y="367"/>
                  </a:lnTo>
                  <a:lnTo>
                    <a:pt x="1468" y="314"/>
                  </a:lnTo>
                  <a:lnTo>
                    <a:pt x="1590" y="258"/>
                  </a:lnTo>
                  <a:lnTo>
                    <a:pt x="1710" y="199"/>
                  </a:lnTo>
                  <a:lnTo>
                    <a:pt x="1827" y="136"/>
                  </a:lnTo>
                  <a:lnTo>
                    <a:pt x="1943" y="69"/>
                  </a:lnTo>
                  <a:lnTo>
                    <a:pt x="2057" y="0"/>
                  </a:lnTo>
                  <a:lnTo>
                    <a:pt x="2075" y="28"/>
                  </a:lnTo>
                  <a:lnTo>
                    <a:pt x="1961" y="97"/>
                  </a:lnTo>
                  <a:lnTo>
                    <a:pt x="1843" y="163"/>
                  </a:lnTo>
                  <a:lnTo>
                    <a:pt x="1725" y="226"/>
                  </a:lnTo>
                  <a:lnTo>
                    <a:pt x="1606" y="287"/>
                  </a:lnTo>
                  <a:lnTo>
                    <a:pt x="1482" y="344"/>
                  </a:lnTo>
                  <a:lnTo>
                    <a:pt x="1358" y="399"/>
                  </a:lnTo>
                  <a:lnTo>
                    <a:pt x="1233" y="450"/>
                  </a:lnTo>
                  <a:lnTo>
                    <a:pt x="1107" y="497"/>
                  </a:lnTo>
                  <a:lnTo>
                    <a:pt x="1095" y="466"/>
                  </a:lnTo>
                  <a:close/>
                </a:path>
              </a:pathLst>
            </a:custGeom>
            <a:solidFill>
              <a:srgbClr val="E77919"/>
            </a:solidFill>
            <a:ln w="9525">
              <a:noFill/>
            </a:ln>
          </p:spPr>
          <p:txBody>
            <a:bodyPr/>
            <a:lstStyle/>
            <a:p>
              <a:endParaRPr lang="zh-CN" altLang="en-US"/>
            </a:p>
          </p:txBody>
        </p:sp>
        <p:sp>
          <p:nvSpPr>
            <p:cNvPr id="7" name="Freeform 24"/>
            <p:cNvSpPr>
              <a:spLocks noEditPoints="1"/>
            </p:cNvSpPr>
            <p:nvPr/>
          </p:nvSpPr>
          <p:spPr>
            <a:xfrm>
              <a:off x="640" y="1402"/>
              <a:ext cx="491" cy="716"/>
            </a:xfrm>
            <a:custGeom>
              <a:avLst/>
              <a:gdLst/>
              <a:ahLst/>
              <a:cxnLst>
                <a:cxn ang="0">
                  <a:pos x="0" y="704"/>
                </a:cxn>
                <a:cxn ang="0">
                  <a:pos x="38" y="671"/>
                </a:cxn>
                <a:cxn ang="0">
                  <a:pos x="71" y="640"/>
                </a:cxn>
                <a:cxn ang="0">
                  <a:pos x="102" y="612"/>
                </a:cxn>
                <a:cxn ang="0">
                  <a:pos x="128" y="586"/>
                </a:cxn>
                <a:cxn ang="0">
                  <a:pos x="153" y="560"/>
                </a:cxn>
                <a:cxn ang="0">
                  <a:pos x="176" y="534"/>
                </a:cxn>
                <a:cxn ang="0">
                  <a:pos x="198" y="507"/>
                </a:cxn>
                <a:cxn ang="0">
                  <a:pos x="219" y="477"/>
                </a:cxn>
                <a:cxn ang="0">
                  <a:pos x="241" y="444"/>
                </a:cxn>
                <a:cxn ang="0">
                  <a:pos x="263" y="407"/>
                </a:cxn>
                <a:cxn ang="0">
                  <a:pos x="287" y="366"/>
                </a:cxn>
                <a:cxn ang="0">
                  <a:pos x="314" y="317"/>
                </a:cxn>
                <a:cxn ang="0">
                  <a:pos x="374" y="200"/>
                </a:cxn>
                <a:cxn ang="0">
                  <a:pos x="453" y="46"/>
                </a:cxn>
                <a:cxn ang="0">
                  <a:pos x="468" y="54"/>
                </a:cxn>
                <a:cxn ang="0">
                  <a:pos x="389" y="208"/>
                </a:cxn>
                <a:cxn ang="0">
                  <a:pos x="327" y="326"/>
                </a:cxn>
                <a:cxn ang="0">
                  <a:pos x="301" y="374"/>
                </a:cxn>
                <a:cxn ang="0">
                  <a:pos x="276" y="417"/>
                </a:cxn>
                <a:cxn ang="0">
                  <a:pos x="254" y="454"/>
                </a:cxn>
                <a:cxn ang="0">
                  <a:pos x="232" y="487"/>
                </a:cxn>
                <a:cxn ang="0">
                  <a:pos x="210" y="517"/>
                </a:cxn>
                <a:cxn ang="0">
                  <a:pos x="189" y="544"/>
                </a:cxn>
                <a:cxn ang="0">
                  <a:pos x="165" y="571"/>
                </a:cxn>
                <a:cxn ang="0">
                  <a:pos x="141" y="597"/>
                </a:cxn>
                <a:cxn ang="0">
                  <a:pos x="113" y="624"/>
                </a:cxn>
                <a:cxn ang="0">
                  <a:pos x="83" y="651"/>
                </a:cxn>
                <a:cxn ang="0">
                  <a:pos x="49" y="683"/>
                </a:cxn>
                <a:cxn ang="0">
                  <a:pos x="11" y="716"/>
                </a:cxn>
                <a:cxn ang="0">
                  <a:pos x="0" y="704"/>
                </a:cxn>
                <a:cxn ang="0">
                  <a:pos x="453" y="46"/>
                </a:cxn>
                <a:cxn ang="0">
                  <a:pos x="459" y="36"/>
                </a:cxn>
                <a:cxn ang="0">
                  <a:pos x="465" y="24"/>
                </a:cxn>
                <a:cxn ang="0">
                  <a:pos x="471" y="12"/>
                </a:cxn>
                <a:cxn ang="0">
                  <a:pos x="477" y="0"/>
                </a:cxn>
                <a:cxn ang="0">
                  <a:pos x="491" y="8"/>
                </a:cxn>
                <a:cxn ang="0">
                  <a:pos x="484" y="20"/>
                </a:cxn>
                <a:cxn ang="0">
                  <a:pos x="478" y="32"/>
                </a:cxn>
                <a:cxn ang="0">
                  <a:pos x="473" y="43"/>
                </a:cxn>
                <a:cxn ang="0">
                  <a:pos x="468" y="54"/>
                </a:cxn>
                <a:cxn ang="0">
                  <a:pos x="453" y="46"/>
                </a:cxn>
              </a:cxnLst>
              <a:rect l="0" t="0" r="0" b="0"/>
              <a:pathLst>
                <a:path w="982" h="1432">
                  <a:moveTo>
                    <a:pt x="0" y="1408"/>
                  </a:moveTo>
                  <a:lnTo>
                    <a:pt x="75" y="1341"/>
                  </a:lnTo>
                  <a:lnTo>
                    <a:pt x="142" y="1280"/>
                  </a:lnTo>
                  <a:lnTo>
                    <a:pt x="203" y="1224"/>
                  </a:lnTo>
                  <a:lnTo>
                    <a:pt x="256" y="1172"/>
                  </a:lnTo>
                  <a:lnTo>
                    <a:pt x="305" y="1119"/>
                  </a:lnTo>
                  <a:lnTo>
                    <a:pt x="352" y="1068"/>
                  </a:lnTo>
                  <a:lnTo>
                    <a:pt x="395" y="1013"/>
                  </a:lnTo>
                  <a:lnTo>
                    <a:pt x="438" y="953"/>
                  </a:lnTo>
                  <a:lnTo>
                    <a:pt x="481" y="888"/>
                  </a:lnTo>
                  <a:lnTo>
                    <a:pt x="526" y="813"/>
                  </a:lnTo>
                  <a:lnTo>
                    <a:pt x="574" y="731"/>
                  </a:lnTo>
                  <a:lnTo>
                    <a:pt x="627" y="634"/>
                  </a:lnTo>
                  <a:lnTo>
                    <a:pt x="748" y="399"/>
                  </a:lnTo>
                  <a:lnTo>
                    <a:pt x="905" y="92"/>
                  </a:lnTo>
                  <a:lnTo>
                    <a:pt x="935" y="108"/>
                  </a:lnTo>
                  <a:lnTo>
                    <a:pt x="778" y="415"/>
                  </a:lnTo>
                  <a:lnTo>
                    <a:pt x="654" y="652"/>
                  </a:lnTo>
                  <a:lnTo>
                    <a:pt x="601" y="748"/>
                  </a:lnTo>
                  <a:lnTo>
                    <a:pt x="552" y="833"/>
                  </a:lnTo>
                  <a:lnTo>
                    <a:pt x="507" y="907"/>
                  </a:lnTo>
                  <a:lnTo>
                    <a:pt x="464" y="974"/>
                  </a:lnTo>
                  <a:lnTo>
                    <a:pt x="420" y="1033"/>
                  </a:lnTo>
                  <a:lnTo>
                    <a:pt x="377" y="1088"/>
                  </a:lnTo>
                  <a:lnTo>
                    <a:pt x="330" y="1141"/>
                  </a:lnTo>
                  <a:lnTo>
                    <a:pt x="281" y="1194"/>
                  </a:lnTo>
                  <a:lnTo>
                    <a:pt x="226" y="1247"/>
                  </a:lnTo>
                  <a:lnTo>
                    <a:pt x="165" y="1302"/>
                  </a:lnTo>
                  <a:lnTo>
                    <a:pt x="98" y="1365"/>
                  </a:lnTo>
                  <a:lnTo>
                    <a:pt x="22" y="1432"/>
                  </a:lnTo>
                  <a:lnTo>
                    <a:pt x="0" y="1408"/>
                  </a:lnTo>
                  <a:close/>
                  <a:moveTo>
                    <a:pt x="905" y="92"/>
                  </a:moveTo>
                  <a:lnTo>
                    <a:pt x="917" y="71"/>
                  </a:lnTo>
                  <a:lnTo>
                    <a:pt x="929" y="47"/>
                  </a:lnTo>
                  <a:lnTo>
                    <a:pt x="941" y="24"/>
                  </a:lnTo>
                  <a:lnTo>
                    <a:pt x="953" y="0"/>
                  </a:lnTo>
                  <a:lnTo>
                    <a:pt x="982" y="16"/>
                  </a:lnTo>
                  <a:lnTo>
                    <a:pt x="968" y="39"/>
                  </a:lnTo>
                  <a:lnTo>
                    <a:pt x="956" y="63"/>
                  </a:lnTo>
                  <a:lnTo>
                    <a:pt x="945" y="85"/>
                  </a:lnTo>
                  <a:lnTo>
                    <a:pt x="935" y="108"/>
                  </a:lnTo>
                  <a:lnTo>
                    <a:pt x="905" y="92"/>
                  </a:lnTo>
                  <a:close/>
                </a:path>
              </a:pathLst>
            </a:custGeom>
            <a:solidFill>
              <a:srgbClr val="E77845"/>
            </a:solidFill>
            <a:ln w="9525">
              <a:noFill/>
            </a:ln>
          </p:spPr>
          <p:txBody>
            <a:bodyPr/>
            <a:lstStyle/>
            <a:p>
              <a:endParaRPr lang="zh-CN" altLang="en-US"/>
            </a:p>
          </p:txBody>
        </p:sp>
        <p:sp>
          <p:nvSpPr>
            <p:cNvPr id="8" name="Freeform 25"/>
            <p:cNvSpPr>
              <a:spLocks noEditPoints="1"/>
            </p:cNvSpPr>
            <p:nvPr/>
          </p:nvSpPr>
          <p:spPr>
            <a:xfrm>
              <a:off x="923" y="1408"/>
              <a:ext cx="1240" cy="397"/>
            </a:xfrm>
            <a:custGeom>
              <a:avLst/>
              <a:gdLst/>
              <a:ahLst/>
              <a:cxnLst>
                <a:cxn ang="0">
                  <a:pos x="0" y="381"/>
                </a:cxn>
                <a:cxn ang="0">
                  <a:pos x="14" y="379"/>
                </a:cxn>
                <a:cxn ang="0">
                  <a:pos x="28" y="376"/>
                </a:cxn>
                <a:cxn ang="0">
                  <a:pos x="41" y="374"/>
                </a:cxn>
                <a:cxn ang="0">
                  <a:pos x="54" y="372"/>
                </a:cxn>
                <a:cxn ang="0">
                  <a:pos x="57" y="388"/>
                </a:cxn>
                <a:cxn ang="0">
                  <a:pos x="43" y="390"/>
                </a:cxn>
                <a:cxn ang="0">
                  <a:pos x="31" y="393"/>
                </a:cxn>
                <a:cxn ang="0">
                  <a:pos x="17" y="395"/>
                </a:cxn>
                <a:cxn ang="0">
                  <a:pos x="3" y="397"/>
                </a:cxn>
                <a:cxn ang="0">
                  <a:pos x="0" y="381"/>
                </a:cxn>
                <a:cxn ang="0">
                  <a:pos x="54" y="372"/>
                </a:cxn>
                <a:cxn ang="0">
                  <a:pos x="140" y="358"/>
                </a:cxn>
                <a:cxn ang="0">
                  <a:pos x="220" y="344"/>
                </a:cxn>
                <a:cxn ang="0">
                  <a:pos x="298" y="331"/>
                </a:cxn>
                <a:cxn ang="0">
                  <a:pos x="371" y="316"/>
                </a:cxn>
                <a:cxn ang="0">
                  <a:pos x="443" y="303"/>
                </a:cxn>
                <a:cxn ang="0">
                  <a:pos x="512" y="287"/>
                </a:cxn>
                <a:cxn ang="0">
                  <a:pos x="579" y="270"/>
                </a:cxn>
                <a:cxn ang="0">
                  <a:pos x="647" y="252"/>
                </a:cxn>
                <a:cxn ang="0">
                  <a:pos x="680" y="242"/>
                </a:cxn>
                <a:cxn ang="0">
                  <a:pos x="714" y="231"/>
                </a:cxn>
                <a:cxn ang="0">
                  <a:pos x="747" y="220"/>
                </a:cxn>
                <a:cxn ang="0">
                  <a:pos x="782" y="208"/>
                </a:cxn>
                <a:cxn ang="0">
                  <a:pos x="815" y="196"/>
                </a:cxn>
                <a:cxn ang="0">
                  <a:pos x="849" y="183"/>
                </a:cxn>
                <a:cxn ang="0">
                  <a:pos x="885" y="169"/>
                </a:cxn>
                <a:cxn ang="0">
                  <a:pos x="920" y="154"/>
                </a:cxn>
                <a:cxn ang="0">
                  <a:pos x="956" y="139"/>
                </a:cxn>
                <a:cxn ang="0">
                  <a:pos x="993" y="122"/>
                </a:cxn>
                <a:cxn ang="0">
                  <a:pos x="1030" y="104"/>
                </a:cxn>
                <a:cxn ang="0">
                  <a:pos x="1069" y="86"/>
                </a:cxn>
                <a:cxn ang="0">
                  <a:pos x="1107" y="66"/>
                </a:cxn>
                <a:cxn ang="0">
                  <a:pos x="1148" y="44"/>
                </a:cxn>
                <a:cxn ang="0">
                  <a:pos x="1189" y="23"/>
                </a:cxn>
                <a:cxn ang="0">
                  <a:pos x="1232" y="0"/>
                </a:cxn>
                <a:cxn ang="0">
                  <a:pos x="1240" y="14"/>
                </a:cxn>
                <a:cxn ang="0">
                  <a:pos x="1197" y="38"/>
                </a:cxn>
                <a:cxn ang="0">
                  <a:pos x="1156" y="59"/>
                </a:cxn>
                <a:cxn ang="0">
                  <a:pos x="1115" y="81"/>
                </a:cxn>
                <a:cxn ang="0">
                  <a:pos x="1076" y="100"/>
                </a:cxn>
                <a:cxn ang="0">
                  <a:pos x="1037" y="119"/>
                </a:cxn>
                <a:cxn ang="0">
                  <a:pos x="999" y="137"/>
                </a:cxn>
                <a:cxn ang="0">
                  <a:pos x="963" y="153"/>
                </a:cxn>
                <a:cxn ang="0">
                  <a:pos x="927" y="169"/>
                </a:cxn>
                <a:cxn ang="0">
                  <a:pos x="891" y="184"/>
                </a:cxn>
                <a:cxn ang="0">
                  <a:pos x="856" y="198"/>
                </a:cxn>
                <a:cxn ang="0">
                  <a:pos x="821" y="211"/>
                </a:cxn>
                <a:cxn ang="0">
                  <a:pos x="786" y="224"/>
                </a:cxn>
                <a:cxn ang="0">
                  <a:pos x="753" y="236"/>
                </a:cxn>
                <a:cxn ang="0">
                  <a:pos x="719" y="247"/>
                </a:cxn>
                <a:cxn ang="0">
                  <a:pos x="685" y="257"/>
                </a:cxn>
                <a:cxn ang="0">
                  <a:pos x="652" y="267"/>
                </a:cxn>
                <a:cxn ang="0">
                  <a:pos x="584" y="286"/>
                </a:cxn>
                <a:cxn ang="0">
                  <a:pos x="516" y="303"/>
                </a:cxn>
                <a:cxn ang="0">
                  <a:pos x="447" y="318"/>
                </a:cxn>
                <a:cxn ang="0">
                  <a:pos x="375" y="333"/>
                </a:cxn>
                <a:cxn ang="0">
                  <a:pos x="301" y="347"/>
                </a:cxn>
                <a:cxn ang="0">
                  <a:pos x="224" y="361"/>
                </a:cxn>
                <a:cxn ang="0">
                  <a:pos x="142" y="374"/>
                </a:cxn>
                <a:cxn ang="0">
                  <a:pos x="57" y="388"/>
                </a:cxn>
                <a:cxn ang="0">
                  <a:pos x="54" y="372"/>
                </a:cxn>
              </a:cxnLst>
              <a:rect l="0" t="0" r="0" b="0"/>
              <a:pathLst>
                <a:path w="2479" h="793">
                  <a:moveTo>
                    <a:pt x="0" y="762"/>
                  </a:moveTo>
                  <a:lnTo>
                    <a:pt x="27" y="758"/>
                  </a:lnTo>
                  <a:lnTo>
                    <a:pt x="55" y="752"/>
                  </a:lnTo>
                  <a:lnTo>
                    <a:pt x="82" y="748"/>
                  </a:lnTo>
                  <a:lnTo>
                    <a:pt x="108" y="744"/>
                  </a:lnTo>
                  <a:lnTo>
                    <a:pt x="114" y="776"/>
                  </a:lnTo>
                  <a:lnTo>
                    <a:pt x="86" y="780"/>
                  </a:lnTo>
                  <a:lnTo>
                    <a:pt x="61" y="785"/>
                  </a:lnTo>
                  <a:lnTo>
                    <a:pt x="33" y="789"/>
                  </a:lnTo>
                  <a:lnTo>
                    <a:pt x="6" y="793"/>
                  </a:lnTo>
                  <a:lnTo>
                    <a:pt x="0" y="762"/>
                  </a:lnTo>
                  <a:close/>
                  <a:moveTo>
                    <a:pt x="108" y="744"/>
                  </a:moveTo>
                  <a:lnTo>
                    <a:pt x="279" y="715"/>
                  </a:lnTo>
                  <a:lnTo>
                    <a:pt x="440" y="687"/>
                  </a:lnTo>
                  <a:lnTo>
                    <a:pt x="595" y="662"/>
                  </a:lnTo>
                  <a:lnTo>
                    <a:pt x="742" y="632"/>
                  </a:lnTo>
                  <a:lnTo>
                    <a:pt x="885" y="605"/>
                  </a:lnTo>
                  <a:lnTo>
                    <a:pt x="1023" y="573"/>
                  </a:lnTo>
                  <a:lnTo>
                    <a:pt x="1158" y="540"/>
                  </a:lnTo>
                  <a:lnTo>
                    <a:pt x="1294" y="503"/>
                  </a:lnTo>
                  <a:lnTo>
                    <a:pt x="1360" y="483"/>
                  </a:lnTo>
                  <a:lnTo>
                    <a:pt x="1427" y="461"/>
                  </a:lnTo>
                  <a:lnTo>
                    <a:pt x="1494" y="440"/>
                  </a:lnTo>
                  <a:lnTo>
                    <a:pt x="1563" y="416"/>
                  </a:lnTo>
                  <a:lnTo>
                    <a:pt x="1629" y="391"/>
                  </a:lnTo>
                  <a:lnTo>
                    <a:pt x="1698" y="365"/>
                  </a:lnTo>
                  <a:lnTo>
                    <a:pt x="1769" y="338"/>
                  </a:lnTo>
                  <a:lnTo>
                    <a:pt x="1839" y="308"/>
                  </a:lnTo>
                  <a:lnTo>
                    <a:pt x="1912" y="277"/>
                  </a:lnTo>
                  <a:lnTo>
                    <a:pt x="1985" y="243"/>
                  </a:lnTo>
                  <a:lnTo>
                    <a:pt x="2059" y="208"/>
                  </a:lnTo>
                  <a:lnTo>
                    <a:pt x="2138" y="171"/>
                  </a:lnTo>
                  <a:lnTo>
                    <a:pt x="2214" y="132"/>
                  </a:lnTo>
                  <a:lnTo>
                    <a:pt x="2295" y="88"/>
                  </a:lnTo>
                  <a:lnTo>
                    <a:pt x="2377" y="45"/>
                  </a:lnTo>
                  <a:lnTo>
                    <a:pt x="2464" y="0"/>
                  </a:lnTo>
                  <a:lnTo>
                    <a:pt x="2479" y="27"/>
                  </a:lnTo>
                  <a:lnTo>
                    <a:pt x="2393" y="75"/>
                  </a:lnTo>
                  <a:lnTo>
                    <a:pt x="2311" y="118"/>
                  </a:lnTo>
                  <a:lnTo>
                    <a:pt x="2230" y="161"/>
                  </a:lnTo>
                  <a:lnTo>
                    <a:pt x="2152" y="200"/>
                  </a:lnTo>
                  <a:lnTo>
                    <a:pt x="2073" y="238"/>
                  </a:lnTo>
                  <a:lnTo>
                    <a:pt x="1998" y="273"/>
                  </a:lnTo>
                  <a:lnTo>
                    <a:pt x="1926" y="306"/>
                  </a:lnTo>
                  <a:lnTo>
                    <a:pt x="1853" y="338"/>
                  </a:lnTo>
                  <a:lnTo>
                    <a:pt x="1781" y="367"/>
                  </a:lnTo>
                  <a:lnTo>
                    <a:pt x="1712" y="395"/>
                  </a:lnTo>
                  <a:lnTo>
                    <a:pt x="1641" y="422"/>
                  </a:lnTo>
                  <a:lnTo>
                    <a:pt x="1572" y="448"/>
                  </a:lnTo>
                  <a:lnTo>
                    <a:pt x="1506" y="471"/>
                  </a:lnTo>
                  <a:lnTo>
                    <a:pt x="1437" y="493"/>
                  </a:lnTo>
                  <a:lnTo>
                    <a:pt x="1370" y="514"/>
                  </a:lnTo>
                  <a:lnTo>
                    <a:pt x="1303" y="534"/>
                  </a:lnTo>
                  <a:lnTo>
                    <a:pt x="1168" y="571"/>
                  </a:lnTo>
                  <a:lnTo>
                    <a:pt x="1032" y="605"/>
                  </a:lnTo>
                  <a:lnTo>
                    <a:pt x="893" y="636"/>
                  </a:lnTo>
                  <a:lnTo>
                    <a:pt x="750" y="666"/>
                  </a:lnTo>
                  <a:lnTo>
                    <a:pt x="602" y="693"/>
                  </a:lnTo>
                  <a:lnTo>
                    <a:pt x="447" y="721"/>
                  </a:lnTo>
                  <a:lnTo>
                    <a:pt x="284" y="748"/>
                  </a:lnTo>
                  <a:lnTo>
                    <a:pt x="114" y="776"/>
                  </a:lnTo>
                  <a:lnTo>
                    <a:pt x="108" y="744"/>
                  </a:lnTo>
                  <a:close/>
                </a:path>
              </a:pathLst>
            </a:custGeom>
            <a:solidFill>
              <a:srgbClr val="E77919"/>
            </a:solidFill>
            <a:ln w="9525">
              <a:noFill/>
            </a:ln>
          </p:spPr>
          <p:txBody>
            <a:bodyPr/>
            <a:lstStyle/>
            <a:p>
              <a:endParaRPr lang="zh-CN" altLang="en-US"/>
            </a:p>
          </p:txBody>
        </p:sp>
        <p:sp>
          <p:nvSpPr>
            <p:cNvPr id="9" name="Rectangle 26"/>
            <p:cNvSpPr/>
            <p:nvPr/>
          </p:nvSpPr>
          <p:spPr>
            <a:xfrm rot="20400000">
              <a:off x="1367" y="1134"/>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液</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0" name="Rectangle 27"/>
            <p:cNvSpPr/>
            <p:nvPr/>
          </p:nvSpPr>
          <p:spPr>
            <a:xfrm rot="20400000">
              <a:off x="1490" y="1091"/>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态</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1" name="Rectangle 28"/>
            <p:cNvSpPr/>
            <p:nvPr/>
          </p:nvSpPr>
          <p:spPr>
            <a:xfrm rot="20400000">
              <a:off x="1613" y="1048"/>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纯</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2" name="Rectangle 29"/>
            <p:cNvSpPr/>
            <p:nvPr/>
          </p:nvSpPr>
          <p:spPr>
            <a:xfrm rot="20400000">
              <a:off x="1735" y="1005"/>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溶</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3" name="Rectangle 30"/>
            <p:cNvSpPr/>
            <p:nvPr/>
          </p:nvSpPr>
          <p:spPr>
            <a:xfrm rot="20400000">
              <a:off x="1858" y="962"/>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剂</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4" name="Rectangle 31"/>
            <p:cNvSpPr/>
            <p:nvPr/>
          </p:nvSpPr>
          <p:spPr>
            <a:xfrm rot="20400000">
              <a:off x="1972" y="927"/>
              <a:ext cx="88" cy="194"/>
            </a:xfrm>
            <a:prstGeom prst="rect">
              <a:avLst/>
            </a:prstGeom>
            <a:noFill/>
            <a:ln w="9525">
              <a:noFill/>
            </a:ln>
          </p:spPr>
          <p:txBody>
            <a:bodyPr wrap="none" lIns="0" tIns="0" rIns="0" bIns="0" anchor="t" anchorCtr="0">
              <a:spAutoFit/>
            </a:bodyPr>
            <a:lstStyle/>
            <a:p>
              <a:pPr>
                <a:buClrTx/>
                <a:buFontTx/>
              </a:pPr>
              <a:r>
                <a:rPr lang="en-US" altLang="zh-CN" sz="1500" dirty="0">
                  <a:solidFill>
                    <a:srgbClr val="1F1A17"/>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sz="2400" dirty="0">
                <a:solidFill>
                  <a:srgbClr val="02020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5" name="Rectangle 32"/>
            <p:cNvSpPr/>
            <p:nvPr/>
          </p:nvSpPr>
          <p:spPr>
            <a:xfrm rot="20700000">
              <a:off x="1260" y="1531"/>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溶</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6" name="Rectangle 33"/>
            <p:cNvSpPr/>
            <p:nvPr/>
          </p:nvSpPr>
          <p:spPr>
            <a:xfrm rot="20700000">
              <a:off x="1387" y="1498"/>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液</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7" name="Rectangle 34"/>
            <p:cNvSpPr/>
            <p:nvPr/>
          </p:nvSpPr>
          <p:spPr>
            <a:xfrm rot="20700000">
              <a:off x="1515" y="1464"/>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中</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8" name="Rectangle 35"/>
            <p:cNvSpPr/>
            <p:nvPr/>
          </p:nvSpPr>
          <p:spPr>
            <a:xfrm rot="20700000">
              <a:off x="1641" y="1431"/>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溶</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19" name="Rectangle 36"/>
            <p:cNvSpPr/>
            <p:nvPr/>
          </p:nvSpPr>
          <p:spPr>
            <a:xfrm rot="20700000">
              <a:off x="1769" y="1397"/>
              <a:ext cx="121" cy="194"/>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剂</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20" name="Rectangle 37"/>
            <p:cNvSpPr/>
            <p:nvPr/>
          </p:nvSpPr>
          <p:spPr>
            <a:xfrm rot="20700000">
              <a:off x="1881" y="1360"/>
              <a:ext cx="88" cy="194"/>
            </a:xfrm>
            <a:prstGeom prst="rect">
              <a:avLst/>
            </a:prstGeom>
            <a:noFill/>
            <a:ln w="9525">
              <a:noFill/>
            </a:ln>
          </p:spPr>
          <p:txBody>
            <a:bodyPr wrap="none" lIns="0" tIns="0" rIns="0" bIns="0" anchor="t" anchorCtr="0">
              <a:spAutoFit/>
            </a:bodyPr>
            <a:lstStyle/>
            <a:p>
              <a:pPr>
                <a:buClrTx/>
                <a:buFontTx/>
              </a:pPr>
              <a:r>
                <a:rPr lang="en-US" altLang="zh-CN" sz="1500" dirty="0">
                  <a:solidFill>
                    <a:srgbClr val="1F1A17"/>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sz="2400" dirty="0">
                <a:solidFill>
                  <a:srgbClr val="02020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 name="Rectangle 38"/>
            <p:cNvSpPr/>
            <p:nvPr/>
          </p:nvSpPr>
          <p:spPr>
            <a:xfrm>
              <a:off x="879" y="1644"/>
              <a:ext cx="73" cy="233"/>
            </a:xfrm>
            <a:prstGeom prst="rect">
              <a:avLst/>
            </a:prstGeom>
            <a:noFill/>
            <a:ln w="9525">
              <a:noFill/>
            </a:ln>
          </p:spPr>
          <p:txBody>
            <a:bodyPr wrap="none" lIns="0" tIns="0" rIns="0" bIns="0" anchor="t" anchorCtr="0">
              <a:spAutoFit/>
            </a:bodyPr>
            <a:lstStyle/>
            <a:p>
              <a:pPr>
                <a:buClrTx/>
                <a:buFontTx/>
              </a:pPr>
              <a:r>
                <a:rPr lang="en-US" altLang="zh-CN" sz="1800" b="0" dirty="0">
                  <a:solidFill>
                    <a:srgbClr val="1F1A17"/>
                  </a:solidFill>
                  <a:latin typeface="宋体" panose="02010600030101010101" pitchFamily="2" charset="-122"/>
                  <a:ea typeface="宋体" panose="02010600030101010101" pitchFamily="2" charset="-122"/>
                  <a:sym typeface="Symbol" panose="05050102010706020507" pitchFamily="18" charset="2"/>
                </a:rPr>
                <a:t>O</a:t>
              </a:r>
              <a:endParaRPr lang="en-US" altLang="zh-CN"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22" name="Rectangle 39"/>
            <p:cNvSpPr/>
            <p:nvPr/>
          </p:nvSpPr>
          <p:spPr>
            <a:xfrm>
              <a:off x="1077" y="1178"/>
              <a:ext cx="61" cy="194"/>
            </a:xfrm>
            <a:prstGeom prst="rect">
              <a:avLst/>
            </a:prstGeom>
            <a:noFill/>
            <a:ln w="9525">
              <a:noFill/>
            </a:ln>
          </p:spPr>
          <p:txBody>
            <a:bodyPr wrap="none" lIns="0" tIns="0" rIns="0" bIns="0" anchor="t" anchorCtr="0">
              <a:spAutoFit/>
            </a:bodyPr>
            <a:lstStyle/>
            <a:p>
              <a:pPr>
                <a:buClrTx/>
                <a:buFontTx/>
              </a:pPr>
              <a:r>
                <a:rPr lang="en-US" altLang="zh-CN" sz="1500" b="0" dirty="0">
                  <a:solidFill>
                    <a:srgbClr val="1F1A17"/>
                  </a:solidFill>
                  <a:latin typeface="宋体" panose="02010600030101010101" pitchFamily="2" charset="-122"/>
                  <a:ea typeface="宋体" panose="02010600030101010101" pitchFamily="2" charset="-122"/>
                  <a:sym typeface="Symbol" panose="05050102010706020507" pitchFamily="18" charset="2"/>
                </a:rPr>
                <a:t>O</a:t>
              </a:r>
              <a:endParaRPr lang="en-US" altLang="zh-CN"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23" name="Rectangle 40"/>
            <p:cNvSpPr/>
            <p:nvPr/>
          </p:nvSpPr>
          <p:spPr>
            <a:xfrm>
              <a:off x="1156" y="1288"/>
              <a:ext cx="32" cy="103"/>
            </a:xfrm>
            <a:prstGeom prst="rect">
              <a:avLst/>
            </a:prstGeom>
            <a:noFill/>
            <a:ln w="9525">
              <a:noFill/>
            </a:ln>
          </p:spPr>
          <p:txBody>
            <a:bodyPr wrap="none" lIns="0" tIns="0" rIns="0" bIns="0" anchor="t" anchorCtr="0">
              <a:spAutoFit/>
            </a:bodyPr>
            <a:lstStyle/>
            <a:p>
              <a:pPr>
                <a:buClrTx/>
                <a:buFontTx/>
              </a:pPr>
              <a:r>
                <a:rPr lang="zh-CN" altLang="en-US" sz="800" b="0" dirty="0">
                  <a:solidFill>
                    <a:srgbClr val="1F1A17"/>
                  </a:solidFill>
                  <a:latin typeface="MS UI Gothic" panose="020B0600070205080204" pitchFamily="34" charset="-128"/>
                  <a:ea typeface="MS UI Gothic" panose="020B0600070205080204" pitchFamily="34" charset="-128"/>
                  <a:sym typeface="Symbol" panose="05050102010706020507" pitchFamily="18" charset="2"/>
                </a:rPr>
                <a:t>*</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24" name="Freeform 41"/>
            <p:cNvSpPr>
              <a:spLocks noEditPoints="1"/>
            </p:cNvSpPr>
            <p:nvPr/>
          </p:nvSpPr>
          <p:spPr>
            <a:xfrm>
              <a:off x="385" y="549"/>
              <a:ext cx="1919" cy="1740"/>
            </a:xfrm>
            <a:custGeom>
              <a:avLst/>
              <a:gdLst/>
              <a:ahLst/>
              <a:cxnLst>
                <a:cxn ang="0">
                  <a:pos x="6" y="0"/>
                </a:cxn>
                <a:cxn ang="0">
                  <a:pos x="1913" y="0"/>
                </a:cxn>
                <a:cxn ang="0">
                  <a:pos x="1913" y="13"/>
                </a:cxn>
                <a:cxn ang="0">
                  <a:pos x="6" y="13"/>
                </a:cxn>
                <a:cxn ang="0">
                  <a:pos x="6" y="0"/>
                </a:cxn>
                <a:cxn ang="0">
                  <a:pos x="1913" y="0"/>
                </a:cxn>
                <a:cxn ang="0">
                  <a:pos x="1919" y="0"/>
                </a:cxn>
                <a:cxn ang="0">
                  <a:pos x="1919" y="6"/>
                </a:cxn>
                <a:cxn ang="0">
                  <a:pos x="1913" y="6"/>
                </a:cxn>
                <a:cxn ang="0">
                  <a:pos x="1913" y="0"/>
                </a:cxn>
                <a:cxn ang="0">
                  <a:pos x="1919" y="6"/>
                </a:cxn>
                <a:cxn ang="0">
                  <a:pos x="1919" y="1734"/>
                </a:cxn>
                <a:cxn ang="0">
                  <a:pos x="1907" y="1734"/>
                </a:cxn>
                <a:cxn ang="0">
                  <a:pos x="1907" y="6"/>
                </a:cxn>
                <a:cxn ang="0">
                  <a:pos x="1919" y="6"/>
                </a:cxn>
                <a:cxn ang="0">
                  <a:pos x="1919" y="1734"/>
                </a:cxn>
                <a:cxn ang="0">
                  <a:pos x="1919" y="1740"/>
                </a:cxn>
                <a:cxn ang="0">
                  <a:pos x="1913" y="1740"/>
                </a:cxn>
                <a:cxn ang="0">
                  <a:pos x="1913" y="1734"/>
                </a:cxn>
                <a:cxn ang="0">
                  <a:pos x="1919" y="1734"/>
                </a:cxn>
                <a:cxn ang="0">
                  <a:pos x="1913" y="1740"/>
                </a:cxn>
                <a:cxn ang="0">
                  <a:pos x="6" y="1740"/>
                </a:cxn>
                <a:cxn ang="0">
                  <a:pos x="6" y="1727"/>
                </a:cxn>
                <a:cxn ang="0">
                  <a:pos x="1913" y="1727"/>
                </a:cxn>
                <a:cxn ang="0">
                  <a:pos x="1913" y="1740"/>
                </a:cxn>
                <a:cxn ang="0">
                  <a:pos x="6" y="1740"/>
                </a:cxn>
                <a:cxn ang="0">
                  <a:pos x="0" y="1740"/>
                </a:cxn>
                <a:cxn ang="0">
                  <a:pos x="0" y="1734"/>
                </a:cxn>
                <a:cxn ang="0">
                  <a:pos x="6" y="1734"/>
                </a:cxn>
                <a:cxn ang="0">
                  <a:pos x="6" y="1740"/>
                </a:cxn>
                <a:cxn ang="0">
                  <a:pos x="0" y="1734"/>
                </a:cxn>
                <a:cxn ang="0">
                  <a:pos x="0" y="6"/>
                </a:cxn>
                <a:cxn ang="0">
                  <a:pos x="13" y="6"/>
                </a:cxn>
                <a:cxn ang="0">
                  <a:pos x="13" y="1734"/>
                </a:cxn>
                <a:cxn ang="0">
                  <a:pos x="0" y="1734"/>
                </a:cxn>
                <a:cxn ang="0">
                  <a:pos x="0" y="6"/>
                </a:cxn>
                <a:cxn ang="0">
                  <a:pos x="0" y="0"/>
                </a:cxn>
                <a:cxn ang="0">
                  <a:pos x="6" y="0"/>
                </a:cxn>
                <a:cxn ang="0">
                  <a:pos x="6" y="6"/>
                </a:cxn>
                <a:cxn ang="0">
                  <a:pos x="0" y="6"/>
                </a:cxn>
              </a:cxnLst>
              <a:rect l="0" t="0" r="0" b="0"/>
              <a:pathLst>
                <a:path w="3838" h="3479">
                  <a:moveTo>
                    <a:pt x="12" y="0"/>
                  </a:moveTo>
                  <a:lnTo>
                    <a:pt x="3826" y="0"/>
                  </a:lnTo>
                  <a:lnTo>
                    <a:pt x="3826" y="25"/>
                  </a:lnTo>
                  <a:lnTo>
                    <a:pt x="12" y="25"/>
                  </a:lnTo>
                  <a:lnTo>
                    <a:pt x="12" y="0"/>
                  </a:lnTo>
                  <a:close/>
                  <a:moveTo>
                    <a:pt x="3826" y="0"/>
                  </a:moveTo>
                  <a:lnTo>
                    <a:pt x="3838" y="0"/>
                  </a:lnTo>
                  <a:lnTo>
                    <a:pt x="3838" y="12"/>
                  </a:lnTo>
                  <a:lnTo>
                    <a:pt x="3826" y="12"/>
                  </a:lnTo>
                  <a:lnTo>
                    <a:pt x="3826" y="0"/>
                  </a:lnTo>
                  <a:close/>
                  <a:moveTo>
                    <a:pt x="3838" y="12"/>
                  </a:moveTo>
                  <a:lnTo>
                    <a:pt x="3838" y="3468"/>
                  </a:lnTo>
                  <a:lnTo>
                    <a:pt x="3813" y="3468"/>
                  </a:lnTo>
                  <a:lnTo>
                    <a:pt x="3813" y="12"/>
                  </a:lnTo>
                  <a:lnTo>
                    <a:pt x="3838" y="12"/>
                  </a:lnTo>
                  <a:close/>
                  <a:moveTo>
                    <a:pt x="3838" y="3468"/>
                  </a:moveTo>
                  <a:lnTo>
                    <a:pt x="3838" y="3479"/>
                  </a:lnTo>
                  <a:lnTo>
                    <a:pt x="3826" y="3479"/>
                  </a:lnTo>
                  <a:lnTo>
                    <a:pt x="3826" y="3468"/>
                  </a:lnTo>
                  <a:lnTo>
                    <a:pt x="3838" y="3468"/>
                  </a:lnTo>
                  <a:close/>
                  <a:moveTo>
                    <a:pt x="3826" y="3479"/>
                  </a:moveTo>
                  <a:lnTo>
                    <a:pt x="12" y="3479"/>
                  </a:lnTo>
                  <a:lnTo>
                    <a:pt x="12" y="3454"/>
                  </a:lnTo>
                  <a:lnTo>
                    <a:pt x="3826" y="3454"/>
                  </a:lnTo>
                  <a:lnTo>
                    <a:pt x="3826" y="3479"/>
                  </a:lnTo>
                  <a:close/>
                  <a:moveTo>
                    <a:pt x="12" y="3479"/>
                  </a:moveTo>
                  <a:lnTo>
                    <a:pt x="0" y="3479"/>
                  </a:lnTo>
                  <a:lnTo>
                    <a:pt x="0" y="3468"/>
                  </a:lnTo>
                  <a:lnTo>
                    <a:pt x="12" y="3468"/>
                  </a:lnTo>
                  <a:lnTo>
                    <a:pt x="12" y="3479"/>
                  </a:lnTo>
                  <a:close/>
                  <a:moveTo>
                    <a:pt x="0" y="3468"/>
                  </a:moveTo>
                  <a:lnTo>
                    <a:pt x="0" y="12"/>
                  </a:lnTo>
                  <a:lnTo>
                    <a:pt x="25" y="12"/>
                  </a:lnTo>
                  <a:lnTo>
                    <a:pt x="25" y="3468"/>
                  </a:lnTo>
                  <a:lnTo>
                    <a:pt x="0" y="3468"/>
                  </a:lnTo>
                  <a:close/>
                  <a:moveTo>
                    <a:pt x="0" y="12"/>
                  </a:moveTo>
                  <a:lnTo>
                    <a:pt x="0" y="0"/>
                  </a:lnTo>
                  <a:lnTo>
                    <a:pt x="12" y="0"/>
                  </a:lnTo>
                  <a:lnTo>
                    <a:pt x="12" y="12"/>
                  </a:lnTo>
                  <a:lnTo>
                    <a:pt x="0" y="12"/>
                  </a:lnTo>
                  <a:close/>
                </a:path>
              </a:pathLst>
            </a:custGeom>
            <a:solidFill>
              <a:srgbClr val="0093DD"/>
            </a:solidFill>
            <a:ln w="9525">
              <a:noFill/>
            </a:ln>
          </p:spPr>
          <p:txBody>
            <a:bodyPr/>
            <a:lstStyle/>
            <a:p>
              <a:endParaRPr lang="zh-CN" altLang="en-US"/>
            </a:p>
          </p:txBody>
        </p:sp>
        <p:sp>
          <p:nvSpPr>
            <p:cNvPr id="25" name="Rectangle 42"/>
            <p:cNvSpPr/>
            <p:nvPr/>
          </p:nvSpPr>
          <p:spPr>
            <a:xfrm>
              <a:off x="1248" y="786"/>
              <a:ext cx="226" cy="181"/>
            </a:xfrm>
            <a:prstGeom prst="rect">
              <a:avLst/>
            </a:prstGeom>
            <a:noFill/>
            <a:ln w="9525">
              <a:noFill/>
            </a:ln>
          </p:spPr>
          <p:txBody>
            <a:bodyPr wrap="none" lIns="0" tIns="0" rIns="0" bIns="0" anchor="t" anchorCtr="0">
              <a:spAutoFit/>
            </a:bodyPr>
            <a:lstStyle/>
            <a:p>
              <a:pPr>
                <a:buClrTx/>
                <a:buFontTx/>
              </a:pPr>
              <a:r>
                <a:rPr lang="zh-CN" altLang="en-US" sz="1400" dirty="0">
                  <a:solidFill>
                    <a:srgbClr val="1F1A17"/>
                  </a:solidFill>
                  <a:latin typeface="宋体" panose="02010600030101010101" pitchFamily="2" charset="-122"/>
                  <a:ea typeface="宋体" panose="02010600030101010101" pitchFamily="2" charset="-122"/>
                  <a:sym typeface="Symbol" panose="05050102010706020507" pitchFamily="18" charset="2"/>
                </a:rPr>
                <a:t>一定</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26" name="Rectangle 43"/>
            <p:cNvSpPr/>
            <p:nvPr/>
          </p:nvSpPr>
          <p:spPr>
            <a:xfrm>
              <a:off x="690" y="2506"/>
              <a:ext cx="1318" cy="233"/>
            </a:xfrm>
            <a:prstGeom prst="rect">
              <a:avLst/>
            </a:prstGeom>
            <a:noFill/>
            <a:ln w="9525">
              <a:noFill/>
            </a:ln>
          </p:spPr>
          <p:txBody>
            <a:bodyPr wrap="none" lIns="0" tIns="0" rIns="0" bIns="0" anchor="t" anchorCtr="0">
              <a:spAutoFit/>
            </a:bodyPr>
            <a:lstStyle/>
            <a:p>
              <a:pPr>
                <a:buClrTx/>
                <a:buFontTx/>
              </a:pPr>
              <a:r>
                <a:rPr lang="zh-CN" altLang="en-US" sz="1800" dirty="0">
                  <a:solidFill>
                    <a:srgbClr val="1F1A17"/>
                  </a:solidFill>
                  <a:latin typeface="宋体" panose="02010600030101010101" pitchFamily="2" charset="-122"/>
                  <a:ea typeface="宋体" panose="02010600030101010101" pitchFamily="2" charset="-122"/>
                  <a:sym typeface="Symbol" panose="05050102010706020507" pitchFamily="18" charset="2"/>
                </a:rPr>
                <a:t>稀溶液的凝固点降低</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27" name="Rectangle 44"/>
            <p:cNvSpPr/>
            <p:nvPr/>
          </p:nvSpPr>
          <p:spPr>
            <a:xfrm rot="18480000">
              <a:off x="536" y="1875"/>
              <a:ext cx="151" cy="136"/>
            </a:xfrm>
            <a:prstGeom prst="rect">
              <a:avLst/>
            </a:prstGeom>
            <a:noFill/>
            <a:ln w="9525">
              <a:noFill/>
            </a:ln>
          </p:spPr>
          <p:txBody>
            <a:bodyPr wrap="none" lIns="0" tIns="0" rIns="0" bIns="0" anchor="t" anchorCtr="0">
              <a:spAutoFit/>
            </a:bodyPr>
            <a:lstStyle/>
            <a:p>
              <a:pPr>
                <a:buClrTx/>
                <a:buFontTx/>
              </a:pPr>
              <a:r>
                <a:rPr lang="zh-CN" altLang="en-US" sz="1400" dirty="0">
                  <a:solidFill>
                    <a:srgbClr val="020202"/>
                  </a:solidFill>
                  <a:latin typeface="宋体" panose="02010600030101010101" pitchFamily="2" charset="-122"/>
                  <a:ea typeface="宋体" panose="02010600030101010101" pitchFamily="2" charset="-122"/>
                  <a:sym typeface="Symbol" panose="05050102010706020507" pitchFamily="18" charset="2"/>
                </a:rPr>
                <a:t>固</a:t>
              </a:r>
            </a:p>
          </p:txBody>
        </p:sp>
        <p:sp>
          <p:nvSpPr>
            <p:cNvPr id="28" name="Rectangle 45"/>
            <p:cNvSpPr/>
            <p:nvPr/>
          </p:nvSpPr>
          <p:spPr>
            <a:xfrm rot="18480000">
              <a:off x="601" y="1783"/>
              <a:ext cx="162" cy="145"/>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态</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29" name="Rectangle 46"/>
            <p:cNvSpPr/>
            <p:nvPr/>
          </p:nvSpPr>
          <p:spPr>
            <a:xfrm rot="18480000">
              <a:off x="696" y="1667"/>
              <a:ext cx="162" cy="145"/>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纯</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30" name="Rectangle 47"/>
            <p:cNvSpPr/>
            <p:nvPr/>
          </p:nvSpPr>
          <p:spPr>
            <a:xfrm rot="18480000">
              <a:off x="776" y="1563"/>
              <a:ext cx="162" cy="145"/>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溶</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31" name="Rectangle 48"/>
            <p:cNvSpPr/>
            <p:nvPr/>
          </p:nvSpPr>
          <p:spPr>
            <a:xfrm rot="18480000">
              <a:off x="856" y="1461"/>
              <a:ext cx="162" cy="145"/>
            </a:xfrm>
            <a:prstGeom prst="rect">
              <a:avLst/>
            </a:prstGeom>
            <a:noFill/>
            <a:ln w="9525">
              <a:noFill/>
            </a:ln>
          </p:spPr>
          <p:txBody>
            <a:bodyPr wrap="none" lIns="0" tIns="0" rIns="0" bIns="0" anchor="t" anchorCtr="0">
              <a:spAutoFit/>
            </a:bodyPr>
            <a:lstStyle/>
            <a:p>
              <a:pPr>
                <a:buClrTx/>
                <a:buFontTx/>
              </a:pPr>
              <a:r>
                <a:rPr lang="zh-CN" altLang="en-US" sz="1500" dirty="0">
                  <a:solidFill>
                    <a:srgbClr val="1F1A17"/>
                  </a:solidFill>
                  <a:latin typeface="宋体" panose="02010600030101010101" pitchFamily="2" charset="-122"/>
                  <a:ea typeface="宋体" panose="02010600030101010101" pitchFamily="2" charset="-122"/>
                  <a:sym typeface="Symbol" panose="05050102010706020507" pitchFamily="18" charset="2"/>
                </a:rPr>
                <a:t>剂</a:t>
              </a:r>
              <a:endParaRPr lang="zh-CN" altLang="en-US" sz="2400" dirty="0">
                <a:solidFill>
                  <a:srgbClr val="020202"/>
                </a:solidFill>
                <a:latin typeface="宋体" panose="02010600030101010101" pitchFamily="2" charset="-122"/>
                <a:ea typeface="宋体" panose="02010600030101010101" pitchFamily="2" charset="-122"/>
                <a:sym typeface="Symbol" panose="05050102010706020507" pitchFamily="18" charset="2"/>
              </a:endParaRPr>
            </a:p>
          </p:txBody>
        </p:sp>
        <p:sp>
          <p:nvSpPr>
            <p:cNvPr id="32" name="Rectangle 49"/>
            <p:cNvSpPr/>
            <p:nvPr/>
          </p:nvSpPr>
          <p:spPr>
            <a:xfrm rot="18480000">
              <a:off x="961" y="1390"/>
              <a:ext cx="81" cy="145"/>
            </a:xfrm>
            <a:prstGeom prst="rect">
              <a:avLst/>
            </a:prstGeom>
            <a:noFill/>
            <a:ln w="9525">
              <a:noFill/>
            </a:ln>
          </p:spPr>
          <p:txBody>
            <a:bodyPr wrap="none" lIns="0" tIns="0" rIns="0" bIns="0" anchor="t" anchorCtr="0">
              <a:spAutoFit/>
            </a:bodyPr>
            <a:lstStyle/>
            <a:p>
              <a:pPr>
                <a:buClrTx/>
                <a:buFontTx/>
              </a:pPr>
              <a:r>
                <a:rPr lang="en-US" altLang="zh-CN" sz="1500" dirty="0">
                  <a:solidFill>
                    <a:srgbClr val="1F1A17"/>
                  </a:solidFill>
                  <a:latin typeface="楷体_GB2312" pitchFamily="49" charset="-122"/>
                  <a:ea typeface="楷体_GB2312" pitchFamily="49" charset="-122"/>
                  <a:sym typeface="Symbol" panose="05050102010706020507" pitchFamily="18" charset="2"/>
                </a:rPr>
                <a:t>A</a:t>
              </a:r>
              <a:endParaRPr lang="en-US" altLang="zh-CN" sz="2400" dirty="0">
                <a:solidFill>
                  <a:srgbClr val="020202"/>
                </a:solidFill>
                <a:latin typeface="楷体_GB2312" pitchFamily="49" charset="-122"/>
                <a:ea typeface="楷体_GB2312" pitchFamily="49" charset="-122"/>
                <a:sym typeface="Symbol" panose="05050102010706020507" pitchFamily="18" charset="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4)">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61797">
                                            <p:txEl>
                                              <p:pRg st="0" end="0"/>
                                            </p:txEl>
                                          </p:spTgt>
                                        </p:tgtEl>
                                        <p:attrNameLst>
                                          <p:attrName>style.visibility</p:attrName>
                                        </p:attrNameLst>
                                      </p:cBhvr>
                                      <p:to>
                                        <p:strVal val="visible"/>
                                      </p:to>
                                    </p:set>
                                    <p:animEffect transition="in" filter="blinds(vertical)">
                                      <p:cBhvr>
                                        <p:cTn id="12" dur="500"/>
                                        <p:tgtEl>
                                          <p:spTgt spid="16179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61813"/>
                                        </p:tgtEl>
                                        <p:attrNameLst>
                                          <p:attrName>style.visibility</p:attrName>
                                        </p:attrNameLst>
                                      </p:cBhvr>
                                      <p:to>
                                        <p:strVal val="visible"/>
                                      </p:to>
                                    </p:set>
                                    <p:animEffect transition="in" filter="blinds(vertical)">
                                      <p:cBhvr>
                                        <p:cTn id="22" dur="500"/>
                                        <p:tgtEl>
                                          <p:spTgt spid="161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build="allAtOnce"/>
      <p:bldP spid="1618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247650" y="-92710"/>
            <a:ext cx="9639300" cy="5410200"/>
          </a:xfrm>
          <a:prstGeom prst="rect">
            <a:avLst/>
          </a:prstGeom>
        </p:spPr>
      </p:pic>
      <p:graphicFrame>
        <p:nvGraphicFramePr>
          <p:cNvPr id="162819" name="Object 3"/>
          <p:cNvGraphicFramePr>
            <a:graphicFrameLocks noChangeAspect="1"/>
          </p:cNvGraphicFramePr>
          <p:nvPr/>
        </p:nvGraphicFramePr>
        <p:xfrm>
          <a:off x="2936241" y="2194405"/>
          <a:ext cx="3262630" cy="438785"/>
        </p:xfrm>
        <a:graphic>
          <a:graphicData uri="http://schemas.openxmlformats.org/presentationml/2006/ole">
            <mc:AlternateContent xmlns:mc="http://schemas.openxmlformats.org/markup-compatibility/2006">
              <mc:Choice xmlns:v="urn:schemas-microsoft-com:vml" Requires="v">
                <p:oleObj r:id="rId4" imgW="1422400" imgH="254000" progId="Equation.3">
                  <p:embed/>
                </p:oleObj>
              </mc:Choice>
              <mc:Fallback>
                <p:oleObj r:id="rId4" imgW="1422400" imgH="254000" progId="Equation.3">
                  <p:embed/>
                  <p:pic>
                    <p:nvPicPr>
                      <p:cNvPr id="0" name="图片 3086"/>
                      <p:cNvPicPr/>
                      <p:nvPr/>
                    </p:nvPicPr>
                    <p:blipFill>
                      <a:blip r:embed="rId5"/>
                      <a:stretch>
                        <a:fillRect/>
                      </a:stretch>
                    </p:blipFill>
                    <p:spPr>
                      <a:xfrm>
                        <a:off x="2936241" y="2194405"/>
                        <a:ext cx="3262630" cy="438785"/>
                      </a:xfrm>
                      <a:prstGeom prst="rect">
                        <a:avLst/>
                      </a:prstGeom>
                      <a:solidFill>
                        <a:srgbClr val="FFFF99"/>
                      </a:solidFill>
                      <a:ln w="9525" cap="flat" cmpd="sng">
                        <a:solidFill>
                          <a:srgbClr val="FF0000"/>
                        </a:solidFill>
                        <a:prstDash val="solid"/>
                        <a:miter/>
                        <a:headEnd type="none" w="med" len="med"/>
                        <a:tailEnd type="none" w="med" len="med"/>
                      </a:ln>
                    </p:spPr>
                  </p:pic>
                </p:oleObj>
              </mc:Fallback>
            </mc:AlternateContent>
          </a:graphicData>
        </a:graphic>
      </p:graphicFrame>
      <p:sp>
        <p:nvSpPr>
          <p:cNvPr id="162820" name="Rectangle 4"/>
          <p:cNvSpPr/>
          <p:nvPr/>
        </p:nvSpPr>
        <p:spPr>
          <a:xfrm>
            <a:off x="137241" y="1220790"/>
            <a:ext cx="8847294" cy="461665"/>
          </a:xfrm>
          <a:prstGeom prst="rect">
            <a:avLst/>
          </a:prstGeom>
          <a:noFill/>
          <a:ln w="9525">
            <a:noFill/>
          </a:ln>
        </p:spPr>
        <p:txBody>
          <a:bodyPr wrap="none" anchor="t" anchorCtr="0">
            <a:spAutoFit/>
          </a:bodyPr>
          <a:lstStyle/>
          <a:p>
            <a:pPr algn="ctr">
              <a:buClrTx/>
              <a:buFontTx/>
            </a:pPr>
            <a:r>
              <a:rPr lang="zh-CN" altLang="en-US" sz="2400" dirty="0">
                <a:latin typeface="Times New Roman" panose="02020603050405020304" pitchFamily="18" charset="0"/>
                <a:ea typeface="宋体" panose="02010600030101010101" pitchFamily="2" charset="-122"/>
              </a:rPr>
              <a:t>应用热力学原理，可推导出</a:t>
            </a:r>
            <a:r>
              <a:rPr lang="zh-CN" altLang="en-US" sz="2400" dirty="0">
                <a:solidFill>
                  <a:srgbClr val="FF0000"/>
                </a:solidFill>
                <a:latin typeface="Times New Roman" panose="02020603050405020304" pitchFamily="18" charset="0"/>
                <a:ea typeface="宋体" panose="02010600030101010101" pitchFamily="2" charset="-122"/>
              </a:rPr>
              <a:t>凝固点降低</a:t>
            </a:r>
            <a:r>
              <a:rPr lang="zh-CN" altLang="en-US" sz="2400" dirty="0">
                <a:latin typeface="Times New Roman" panose="02020603050405020304" pitchFamily="18" charset="0"/>
                <a:ea typeface="宋体" panose="02010600030101010101" pitchFamily="2" charset="-122"/>
              </a:rPr>
              <a:t>值与溶液组成的定量关系</a:t>
            </a:r>
          </a:p>
        </p:txBody>
      </p:sp>
      <p:sp>
        <p:nvSpPr>
          <p:cNvPr id="162822" name="Rectangle 6"/>
          <p:cNvSpPr/>
          <p:nvPr/>
        </p:nvSpPr>
        <p:spPr>
          <a:xfrm>
            <a:off x="1691642" y="3004188"/>
            <a:ext cx="6335389" cy="461665"/>
          </a:xfrm>
          <a:prstGeom prst="rect">
            <a:avLst/>
          </a:prstGeom>
          <a:noFill/>
          <a:ln w="9525">
            <a:noFill/>
          </a:ln>
        </p:spPr>
        <p:txBody>
          <a:bodyPr wrap="none" anchor="t" anchorCtr="0">
            <a:spAutoFit/>
          </a:bodyPr>
          <a:lstStyle/>
          <a:p>
            <a:pPr>
              <a:buClrTx/>
              <a:buFontTx/>
            </a:pPr>
            <a:r>
              <a:rPr lang="en-US" altLang="zh-CN" sz="2400" i="1" dirty="0">
                <a:latin typeface="Times New Roman" panose="02020603050405020304" pitchFamily="18" charset="0"/>
                <a:ea typeface="宋体" panose="02010600030101010101" pitchFamily="2" charset="-122"/>
                <a:sym typeface="Symbol" panose="05050102010706020507" pitchFamily="18" charset="2"/>
              </a:rPr>
              <a:t>K</a:t>
            </a:r>
            <a:r>
              <a:rPr lang="en-US" altLang="zh-CN" sz="2400" baseline="-25000" dirty="0">
                <a:latin typeface="Times New Roman" panose="02020603050405020304" pitchFamily="18" charset="0"/>
                <a:ea typeface="宋体" panose="02010600030101010101" pitchFamily="2" charset="-122"/>
                <a:sym typeface="Symbol" panose="05050102010706020507" pitchFamily="18" charset="2"/>
              </a:rPr>
              <a:t>f</a:t>
            </a:r>
            <a:r>
              <a:rPr lang="zh-CN" altLang="zh-CN" sz="2400" dirty="0">
                <a:latin typeface="Times New Roman" panose="02020603050405020304" pitchFamily="18" charset="0"/>
                <a:ea typeface="宋体" panose="02010600030101010101" pitchFamily="2" charset="-122"/>
                <a:sym typeface="Symbol" panose="05050102010706020507" pitchFamily="18" charset="2"/>
              </a:rPr>
              <a:t>称为</a:t>
            </a:r>
            <a:r>
              <a:rPr lang="zh-CN" altLang="zh-CN" sz="2400" dirty="0">
                <a:solidFill>
                  <a:srgbClr val="0000FF"/>
                </a:solidFill>
                <a:latin typeface="宋体" panose="02010600030101010101" pitchFamily="2" charset="-122"/>
                <a:ea typeface="宋体" panose="02010600030101010101" pitchFamily="2" charset="-122"/>
                <a:sym typeface="Symbol" panose="05050102010706020507" pitchFamily="18" charset="2"/>
              </a:rPr>
              <a:t>凝固点降低系数</a:t>
            </a:r>
            <a:r>
              <a:rPr lang="zh-CN" altLang="zh-CN" sz="2400" dirty="0">
                <a:solidFill>
                  <a:srgbClr val="0F010C"/>
                </a:solidFill>
                <a:latin typeface="宋体" panose="02010600030101010101" pitchFamily="2" charset="-122"/>
                <a:ea typeface="宋体" panose="02010600030101010101" pitchFamily="2" charset="-122"/>
                <a:sym typeface="Symbol" panose="05050102010706020507" pitchFamily="18" charset="2"/>
              </a:rPr>
              <a:t>，</a:t>
            </a:r>
            <a:r>
              <a:rPr lang="zh-CN" altLang="en-US" sz="2400" dirty="0">
                <a:solidFill>
                  <a:srgbClr val="0F010C"/>
                </a:solidFill>
                <a:latin typeface="宋体" panose="02010600030101010101" pitchFamily="2" charset="-122"/>
                <a:ea typeface="宋体" panose="02010600030101010101" pitchFamily="2" charset="-122"/>
                <a:sym typeface="Symbol" panose="05050102010706020507" pitchFamily="18" charset="2"/>
              </a:rPr>
              <a:t>单位是</a:t>
            </a:r>
            <a:r>
              <a:rPr lang="en-US" altLang="zh-CN" sz="2400" dirty="0">
                <a:latin typeface="Times New Roman" panose="02020603050405020304" pitchFamily="18" charset="0"/>
                <a:ea typeface="宋体" panose="02010600030101010101" pitchFamily="2" charset="-122"/>
              </a:rPr>
              <a:t>K· mol </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 kg</a:t>
            </a:r>
            <a:r>
              <a:rPr lang="en-US" altLang="zh-CN" sz="2400" b="0" dirty="0">
                <a:latin typeface="Times New Roman" panose="02020603050405020304" pitchFamily="18" charset="0"/>
                <a:ea typeface="宋体" panose="02010600030101010101" pitchFamily="2" charset="-122"/>
              </a:rPr>
              <a:t> </a:t>
            </a:r>
          </a:p>
        </p:txBody>
      </p:sp>
      <p:sp>
        <p:nvSpPr>
          <p:cNvPr id="162828" name="Rectangle 12"/>
          <p:cNvSpPr/>
          <p:nvPr/>
        </p:nvSpPr>
        <p:spPr>
          <a:xfrm>
            <a:off x="1547501" y="3724278"/>
            <a:ext cx="2022475" cy="461665"/>
          </a:xfrm>
          <a:prstGeom prst="rect">
            <a:avLst/>
          </a:prstGeom>
          <a:noFill/>
          <a:ln w="9525">
            <a:noFill/>
          </a:ln>
        </p:spPr>
        <p:txBody>
          <a:bodyPr anchor="t" anchorCtr="0">
            <a:spAutoFit/>
          </a:bodyPr>
          <a:lstStyle/>
          <a:p>
            <a:pPr algn="ctr">
              <a:buClrTx/>
              <a:buFontTx/>
            </a:pPr>
            <a:r>
              <a:rPr lang="zh-CN" altLang="en-US" sz="2400" dirty="0">
                <a:latin typeface="Times New Roman" panose="02020603050405020304" pitchFamily="18" charset="0"/>
                <a:ea typeface="宋体" panose="02010600030101010101" pitchFamily="2" charset="-122"/>
              </a:rPr>
              <a:t>实际应用例子</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62820"/>
                                        </p:tgtEl>
                                        <p:attrNameLst>
                                          <p:attrName>style.visibility</p:attrName>
                                        </p:attrNameLst>
                                      </p:cBhvr>
                                      <p:to>
                                        <p:strVal val="visible"/>
                                      </p:to>
                                    </p:set>
                                    <p:anim calcmode="lin" valueType="num">
                                      <p:cBhvr>
                                        <p:cTn id="7" dur="1000" fill="hold"/>
                                        <p:tgtEl>
                                          <p:spTgt spid="162820"/>
                                        </p:tgtEl>
                                        <p:attrNameLst>
                                          <p:attrName>ppt_w</p:attrName>
                                        </p:attrNameLst>
                                      </p:cBhvr>
                                      <p:tavLst>
                                        <p:tav tm="0">
                                          <p:val>
                                            <p:strVal val="#ppt_w*0.70"/>
                                          </p:val>
                                        </p:tav>
                                        <p:tav tm="100000">
                                          <p:val>
                                            <p:strVal val="#ppt_w"/>
                                          </p:val>
                                        </p:tav>
                                      </p:tavLst>
                                    </p:anim>
                                    <p:anim calcmode="lin" valueType="num">
                                      <p:cBhvr>
                                        <p:cTn id="8" dur="1000" fill="hold"/>
                                        <p:tgtEl>
                                          <p:spTgt spid="162820"/>
                                        </p:tgtEl>
                                        <p:attrNameLst>
                                          <p:attrName>ppt_h</p:attrName>
                                        </p:attrNameLst>
                                      </p:cBhvr>
                                      <p:tavLst>
                                        <p:tav tm="0">
                                          <p:val>
                                            <p:strVal val="#ppt_h"/>
                                          </p:val>
                                        </p:tav>
                                        <p:tav tm="100000">
                                          <p:val>
                                            <p:strVal val="#ppt_h"/>
                                          </p:val>
                                        </p:tav>
                                      </p:tavLst>
                                    </p:anim>
                                    <p:animEffect transition="in" filter="fade">
                                      <p:cBhvr>
                                        <p:cTn id="9" dur="1000"/>
                                        <p:tgtEl>
                                          <p:spTgt spid="162820"/>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62819"/>
                                        </p:tgtEl>
                                        <p:attrNameLst>
                                          <p:attrName>style.visibility</p:attrName>
                                        </p:attrNameLst>
                                      </p:cBhvr>
                                      <p:to>
                                        <p:strVal val="visible"/>
                                      </p:to>
                                    </p:set>
                                    <p:animEffect transition="in" filter="wipe(left)">
                                      <p:cBhvr>
                                        <p:cTn id="14" dur="500"/>
                                        <p:tgtEl>
                                          <p:spTgt spid="162819"/>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162822"/>
                                        </p:tgtEl>
                                        <p:attrNameLst>
                                          <p:attrName>style.visibility</p:attrName>
                                        </p:attrNameLst>
                                      </p:cBhvr>
                                      <p:to>
                                        <p:strVal val="visible"/>
                                      </p:to>
                                    </p:set>
                                    <p:animEffect transition="in" filter="strips(downRight)">
                                      <p:cBhvr>
                                        <p:cTn id="19" dur="500"/>
                                        <p:tgtEl>
                                          <p:spTgt spid="162822"/>
                                        </p:tgtEl>
                                      </p:cBhvr>
                                    </p:animEffect>
                                  </p:childTnLst>
                                </p:cTn>
                              </p:par>
                            </p:childTnLst>
                          </p:cTn>
                        </p:par>
                      </p:childTnLst>
                    </p:cTn>
                  </p:par>
                  <p:par>
                    <p:cTn id="20" fill="hold">
                      <p:stCondLst>
                        <p:cond delay="indefinite"/>
                      </p:stCondLst>
                      <p:childTnLst>
                        <p:par>
                          <p:cTn id="21" fill="hold">
                            <p:stCondLst>
                              <p:cond delay="0"/>
                            </p:stCondLst>
                            <p:childTnLst>
                              <p:par>
                                <p:cTn id="22" presetID="20" presetClass="entr" presetSubtype="0" fill="hold" grpId="0" nodeType="clickEffect">
                                  <p:stCondLst>
                                    <p:cond delay="0"/>
                                  </p:stCondLst>
                                  <p:childTnLst>
                                    <p:set>
                                      <p:cBhvr>
                                        <p:cTn id="23" dur="1" fill="hold">
                                          <p:stCondLst>
                                            <p:cond delay="0"/>
                                          </p:stCondLst>
                                        </p:cTn>
                                        <p:tgtEl>
                                          <p:spTgt spid="162828"/>
                                        </p:tgtEl>
                                        <p:attrNameLst>
                                          <p:attrName>style.visibility</p:attrName>
                                        </p:attrNameLst>
                                      </p:cBhvr>
                                      <p:to>
                                        <p:strVal val="visible"/>
                                      </p:to>
                                    </p:set>
                                    <p:animEffect transition="in" filter="wedge">
                                      <p:cBhvr>
                                        <p:cTn id="24" dur="2000"/>
                                        <p:tgtEl>
                                          <p:spTgt spid="162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p:bldP spid="162822" grpId="0"/>
      <p:bldP spid="16282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247650" y="-133350"/>
            <a:ext cx="9639300" cy="5410200"/>
          </a:xfrm>
          <a:prstGeom prst="rect">
            <a:avLst/>
          </a:prstGeom>
        </p:spPr>
      </p:pic>
      <p:sp>
        <p:nvSpPr>
          <p:cNvPr id="4" name="Rectangle 3"/>
          <p:cNvSpPr/>
          <p:nvPr/>
        </p:nvSpPr>
        <p:spPr>
          <a:xfrm>
            <a:off x="683260" y="843916"/>
            <a:ext cx="8202930" cy="658642"/>
          </a:xfrm>
          <a:prstGeom prst="rect">
            <a:avLst/>
          </a:prstGeom>
          <a:noFill/>
          <a:ln w="9525">
            <a:noFill/>
          </a:ln>
        </p:spPr>
        <p:txBody>
          <a:bodyPr wrap="square" anchor="t">
            <a:spAutoFit/>
          </a:bodyPr>
          <a:lstStyle/>
          <a:p>
            <a:pPr>
              <a:lnSpc>
                <a:spcPct val="115000"/>
              </a:lnSpc>
            </a:pPr>
            <a:r>
              <a:rPr lang="zh-CN" altLang="en-US" sz="2700"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rPr>
              <a:t>       </a:t>
            </a:r>
            <a:r>
              <a:rPr lang="zh-CN" altLang="en-US" sz="3200" dirty="0">
                <a:solidFill>
                  <a:schemeClr val="tx1"/>
                </a:solidFill>
                <a:effectLst>
                  <a:outerShdw blurRad="38100" dist="19050" dir="2700000" algn="tl" rotWithShape="0">
                    <a:schemeClr val="dk1">
                      <a:alpha val="40000"/>
                    </a:schemeClr>
                  </a:outerShdw>
                </a:effectLst>
                <a:sym typeface="+mn-ea"/>
              </a:rPr>
              <a:t>为什么</a:t>
            </a:r>
            <a:r>
              <a:rPr lang="zh-CN" altLang="zh-CN" sz="3200" dirty="0">
                <a:solidFill>
                  <a:schemeClr val="tx1"/>
                </a:solidFill>
                <a:effectLst>
                  <a:outerShdw blurRad="38100" dist="19050" dir="2700000" algn="tl" rotWithShape="0">
                    <a:schemeClr val="dk1">
                      <a:alpha val="40000"/>
                    </a:schemeClr>
                  </a:outerShdw>
                </a:effectLst>
                <a:sym typeface="+mn-ea"/>
              </a:rPr>
              <a:t>汽车</a:t>
            </a:r>
            <a:r>
              <a:rPr lang="zh-CN" altLang="en-US" sz="3200" dirty="0">
                <a:solidFill>
                  <a:schemeClr val="tx1"/>
                </a:solidFill>
                <a:effectLst>
                  <a:outerShdw blurRad="38100" dist="19050" dir="2700000" algn="tl" rotWithShape="0">
                    <a:schemeClr val="dk1">
                      <a:alpha val="40000"/>
                    </a:schemeClr>
                  </a:outerShdw>
                </a:effectLst>
                <a:sym typeface="+mn-ea"/>
              </a:rPr>
              <a:t>水箱加入乙二醇可以防冻？</a:t>
            </a:r>
            <a:endParaRPr lang="zh-CN" altLang="en-US" sz="3200"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sym typeface="+mn-ea"/>
            </a:endParaRPr>
          </a:p>
        </p:txBody>
      </p:sp>
      <p:pic>
        <p:nvPicPr>
          <p:cNvPr id="5" name="图片 4"/>
          <p:cNvPicPr>
            <a:picLocks noChangeAspect="1"/>
          </p:cNvPicPr>
          <p:nvPr/>
        </p:nvPicPr>
        <p:blipFill>
          <a:blip r:embed="rId3" cstate="print"/>
          <a:stretch>
            <a:fillRect/>
          </a:stretch>
        </p:blipFill>
        <p:spPr>
          <a:xfrm>
            <a:off x="5147951" y="2936243"/>
            <a:ext cx="2741295" cy="1908175"/>
          </a:xfrm>
          <a:prstGeom prst="rect">
            <a:avLst/>
          </a:prstGeom>
          <a:ln>
            <a:noFill/>
          </a:ln>
          <a:effectLst>
            <a:outerShdw blurRad="292100" dist="139700" dir="2700000" algn="tl" rotWithShape="0">
              <a:srgbClr val="333333">
                <a:alpha val="65000"/>
              </a:srgbClr>
            </a:outerShdw>
          </a:effectLst>
        </p:spPr>
      </p:pic>
      <p:pic>
        <p:nvPicPr>
          <p:cNvPr id="6" name="图片 5"/>
          <p:cNvPicPr>
            <a:picLocks noChangeAspect="1"/>
          </p:cNvPicPr>
          <p:nvPr/>
        </p:nvPicPr>
        <p:blipFill>
          <a:blip r:embed="rId4" cstate="print"/>
          <a:stretch>
            <a:fillRect/>
          </a:stretch>
        </p:blipFill>
        <p:spPr>
          <a:xfrm>
            <a:off x="611505" y="3075943"/>
            <a:ext cx="2745740" cy="1840865"/>
          </a:xfrm>
          <a:prstGeom prst="rect">
            <a:avLst/>
          </a:prstGeom>
          <a:ln>
            <a:noFill/>
          </a:ln>
          <a:effectLst>
            <a:outerShdw blurRad="292100" dist="139700" dir="2700000" algn="tl" rotWithShape="0">
              <a:srgbClr val="333333">
                <a:alpha val="65000"/>
              </a:srgbClr>
            </a:outerShdw>
          </a:effectLst>
        </p:spPr>
      </p:pic>
      <p:sp>
        <p:nvSpPr>
          <p:cNvPr id="1048589" name="文本框 1048588"/>
          <p:cNvSpPr txBox="1"/>
          <p:nvPr/>
        </p:nvSpPr>
        <p:spPr>
          <a:xfrm>
            <a:off x="394970" y="1822453"/>
            <a:ext cx="8268970" cy="577081"/>
          </a:xfrm>
          <a:prstGeom prst="rect">
            <a:avLst/>
          </a:prstGeom>
        </p:spPr>
        <p:txBody>
          <a:bodyPr wrap="square" rtlCol="0">
            <a:spAutoFit/>
          </a:bodyPr>
          <a:lstStyle/>
          <a:p>
            <a:pPr>
              <a:lnSpc>
                <a:spcPct val="150000"/>
              </a:lnSpc>
            </a:pPr>
            <a:r>
              <a:rPr lang="zh-CN" sz="2100">
                <a:solidFill>
                  <a:srgbClr val="000000"/>
                </a:solidFill>
                <a:cs typeface="Times New Roman" panose="02020603050405020304" pitchFamily="18" charset="0"/>
              </a:rPr>
              <a:t>文献记载：</a:t>
            </a:r>
            <a:r>
              <a:rPr lang="en-US" sz="2100">
                <a:solidFill>
                  <a:srgbClr val="000000"/>
                </a:solidFill>
                <a:cs typeface="Times New Roman" panose="02020603050405020304" pitchFamily="18" charset="0"/>
              </a:rPr>
              <a:t>当</a:t>
            </a:r>
            <a:r>
              <a:rPr lang="zh-CN" altLang="en-US" sz="2100">
                <a:solidFill>
                  <a:srgbClr val="000000"/>
                </a:solidFill>
                <a:cs typeface="Times New Roman" panose="02020603050405020304" pitchFamily="18" charset="0"/>
              </a:rPr>
              <a:t>防冻液中</a:t>
            </a:r>
            <a:r>
              <a:rPr lang="en-US" sz="2100">
                <a:solidFill>
                  <a:srgbClr val="000000"/>
                </a:solidFill>
                <a:cs typeface="Times New Roman" panose="02020603050405020304" pitchFamily="18" charset="0"/>
              </a:rPr>
              <a:t>乙二醇的含量为60%时，冰点可降低至-48.3℃</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8589"/>
                                        </p:tgtEl>
                                        <p:attrNameLst>
                                          <p:attrName>style.visibility</p:attrName>
                                        </p:attrNameLst>
                                      </p:cBhvr>
                                      <p:to>
                                        <p:strVal val="visible"/>
                                      </p:to>
                                    </p:set>
                                    <p:animEffect transition="in" filter="wipe(left)">
                                      <p:cBhvr>
                                        <p:cTn id="12" dur="500"/>
                                        <p:tgtEl>
                                          <p:spTgt spid="1048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48589" grpId="0"/>
      <p:bldP spid="1048589"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0"/>
          <p:cNvPicPr>
            <a:picLocks noChangeAspect="1"/>
          </p:cNvPicPr>
          <p:nvPr>
            <p:custDataLst>
              <p:tags r:id="rId2"/>
            </p:custDataLst>
          </p:nvPr>
        </p:nvPicPr>
        <p:blipFill>
          <a:blip r:embed="rId4" cstate="print"/>
          <a:srcRect l="3228" t="14963" r="1387" b="37793"/>
          <a:stretch>
            <a:fillRect/>
          </a:stretch>
        </p:blipFill>
        <p:spPr>
          <a:xfrm flipH="1">
            <a:off x="-36830" y="-92710"/>
            <a:ext cx="9335770" cy="5309235"/>
          </a:xfrm>
          <a:prstGeom prst="rect">
            <a:avLst/>
          </a:prstGeom>
        </p:spPr>
      </p:pic>
      <p:sp>
        <p:nvSpPr>
          <p:cNvPr id="6" name="Rectangle 3"/>
          <p:cNvSpPr/>
          <p:nvPr/>
        </p:nvSpPr>
        <p:spPr>
          <a:xfrm>
            <a:off x="2771775" y="3291843"/>
            <a:ext cx="3911600" cy="150810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9525">
            <a:noFill/>
          </a:ln>
        </p:spPr>
        <p:txBody>
          <a:bodyPr wrap="square" anchor="t">
            <a:spAutoFit/>
          </a:bodyPr>
          <a:lstStyle/>
          <a:p>
            <a:pPr>
              <a:lnSpc>
                <a:spcPct val="115000"/>
              </a:lnSpc>
            </a:pPr>
            <a:r>
              <a:rPr lang="zh-CN" altLang="en-US" sz="2700" dirty="0">
                <a:solidFill>
                  <a:schemeClr val="tx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rPr>
              <a:t>    </a:t>
            </a:r>
            <a:r>
              <a:rPr lang="zh-CN" altLang="en-US" sz="2700" dirty="0">
                <a:solidFill>
                  <a:schemeClr val="bg1"/>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rPr>
              <a:t>   </a:t>
            </a:r>
            <a:r>
              <a:rPr lang="zh-CN" altLang="en-US" sz="4000" b="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sym typeface="+mn-ea"/>
              </a:rPr>
              <a:t>为什么融雪剂</a:t>
            </a:r>
          </a:p>
          <a:p>
            <a:pPr>
              <a:lnSpc>
                <a:spcPct val="115000"/>
              </a:lnSpc>
            </a:pPr>
            <a:r>
              <a:rPr lang="zh-CN" altLang="en-US" sz="4000" b="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sym typeface="+mn-ea"/>
              </a:rPr>
              <a:t>可以融雪？</a:t>
            </a:r>
            <a:endParaRPr lang="zh-CN" altLang="en-US" sz="4000" b="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宋体" panose="02010600030101010101" pitchFamily="2" charset="-122"/>
              <a:sym typeface="+mn-ea"/>
            </a:endParaRPr>
          </a:p>
        </p:txBody>
      </p:sp>
      <p:pic>
        <p:nvPicPr>
          <p:cNvPr id="4100" name="Picture 4" descr="https://bpic.588ku.com/element_origin_min_pic/19/04/10/b3aa9fde12854bc695e328db47638f7b.jpg"/>
          <p:cNvPicPr>
            <a:picLocks noChangeAspect="1" noChangeArrowheads="1"/>
          </p:cNvPicPr>
          <p:nvPr/>
        </p:nvPicPr>
        <p:blipFill>
          <a:blip r:embed="rId5" cstate="print"/>
          <a:srcRect l="15175" t="13274" r="15021" b="13999"/>
          <a:stretch>
            <a:fillRect/>
          </a:stretch>
        </p:blipFill>
        <p:spPr bwMode="auto">
          <a:xfrm>
            <a:off x="323144" y="3651917"/>
            <a:ext cx="1242355" cy="12963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4100"/>
                                        </p:tgtEl>
                                        <p:attrNameLst>
                                          <p:attrName>style.visibility</p:attrName>
                                        </p:attrNameLst>
                                      </p:cBhvr>
                                      <p:to>
                                        <p:strVal val="visible"/>
                                      </p:to>
                                    </p:set>
                                    <p:anim calcmode="lin" valueType="num">
                                      <p:cBhvr>
                                        <p:cTn id="15" dur="1000" fill="hold"/>
                                        <p:tgtEl>
                                          <p:spTgt spid="4100"/>
                                        </p:tgtEl>
                                        <p:attrNameLst>
                                          <p:attrName>ppt_w</p:attrName>
                                        </p:attrNameLst>
                                      </p:cBhvr>
                                      <p:tavLst>
                                        <p:tav tm="0">
                                          <p:val>
                                            <p:fltVal val="0"/>
                                          </p:val>
                                        </p:tav>
                                        <p:tav tm="100000">
                                          <p:val>
                                            <p:strVal val="#ppt_w"/>
                                          </p:val>
                                        </p:tav>
                                      </p:tavLst>
                                    </p:anim>
                                    <p:anim calcmode="lin" valueType="num">
                                      <p:cBhvr>
                                        <p:cTn id="16" dur="1000" fill="hold"/>
                                        <p:tgtEl>
                                          <p:spTgt spid="4100"/>
                                        </p:tgtEl>
                                        <p:attrNameLst>
                                          <p:attrName>ppt_h</p:attrName>
                                        </p:attrNameLst>
                                      </p:cBhvr>
                                      <p:tavLst>
                                        <p:tav tm="0">
                                          <p:val>
                                            <p:fltVal val="0"/>
                                          </p:val>
                                        </p:tav>
                                        <p:tav tm="100000">
                                          <p:val>
                                            <p:strVal val="#ppt_h"/>
                                          </p:val>
                                        </p:tav>
                                      </p:tavLst>
                                    </p:anim>
                                    <p:anim calcmode="lin" valueType="num">
                                      <p:cBhvr>
                                        <p:cTn id="17" dur="1000" fill="hold"/>
                                        <p:tgtEl>
                                          <p:spTgt spid="4100"/>
                                        </p:tgtEl>
                                        <p:attrNameLst>
                                          <p:attrName>style.rotation</p:attrName>
                                        </p:attrNameLst>
                                      </p:cBhvr>
                                      <p:tavLst>
                                        <p:tav tm="0">
                                          <p:val>
                                            <p:fltVal val="90"/>
                                          </p:val>
                                        </p:tav>
                                        <p:tav tm="100000">
                                          <p:val>
                                            <p:fltVal val="0"/>
                                          </p:val>
                                        </p:tav>
                                      </p:tavLst>
                                    </p:anim>
                                    <p:animEffect transition="in" filter="fade">
                                      <p:cBhvr>
                                        <p:cTn id="18" dur="10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247650" y="-133350"/>
            <a:ext cx="9639300" cy="5410200"/>
          </a:xfrm>
          <a:prstGeom prst="rect">
            <a:avLst/>
          </a:prstGeom>
        </p:spPr>
      </p:pic>
      <p:grpSp>
        <p:nvGrpSpPr>
          <p:cNvPr id="2" name="Group 4"/>
          <p:cNvGrpSpPr/>
          <p:nvPr/>
        </p:nvGrpSpPr>
        <p:grpSpPr>
          <a:xfrm>
            <a:off x="216535" y="521335"/>
            <a:ext cx="8305800" cy="898922"/>
            <a:chOff x="192" y="624"/>
            <a:chExt cx="5232" cy="755"/>
          </a:xfrm>
        </p:grpSpPr>
        <p:grpSp>
          <p:nvGrpSpPr>
            <p:cNvPr id="31748" name="Group 5"/>
            <p:cNvGrpSpPr/>
            <p:nvPr/>
          </p:nvGrpSpPr>
          <p:grpSpPr>
            <a:xfrm>
              <a:off x="192" y="624"/>
              <a:ext cx="5232" cy="700"/>
              <a:chOff x="192" y="624"/>
              <a:chExt cx="5232" cy="700"/>
            </a:xfrm>
          </p:grpSpPr>
          <p:sp>
            <p:nvSpPr>
              <p:cNvPr id="31749" name="Text Box 6"/>
              <p:cNvSpPr txBox="1"/>
              <p:nvPr/>
            </p:nvSpPr>
            <p:spPr>
              <a:xfrm>
                <a:off x="192" y="624"/>
                <a:ext cx="5232" cy="439"/>
              </a:xfrm>
              <a:prstGeom prst="rect">
                <a:avLst/>
              </a:prstGeom>
              <a:noFill/>
              <a:ln w="9525">
                <a:noFill/>
              </a:ln>
            </p:spPr>
            <p:txBody>
              <a:bodyPr anchor="t" anchorCtr="0">
                <a:spAutoFit/>
              </a:bodyPr>
              <a:lstStyle/>
              <a:p>
                <a:pPr>
                  <a:spcBef>
                    <a:spcPct val="50000"/>
                  </a:spcBef>
                  <a:buClrTx/>
                  <a:buFontTx/>
                </a:pP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例</a:t>
                </a:r>
                <a:r>
                  <a:rPr lang="en-US" altLang="zh-CN" dirty="0">
                    <a:solidFill>
                      <a:srgbClr val="FF0000"/>
                    </a:solidFill>
                    <a:latin typeface="Times New Roman" panose="02020603050405020304" pitchFamily="18" charset="0"/>
                    <a:ea typeface="宋体" panose="02010600030101010101" pitchFamily="2" charset="-122"/>
                  </a:rPr>
                  <a:t>3.1 ]  </a:t>
                </a:r>
                <a:r>
                  <a:rPr lang="zh-CN" altLang="en-US" sz="2400" dirty="0">
                    <a:latin typeface="Times New Roman" panose="02020603050405020304" pitchFamily="18" charset="0"/>
                    <a:ea typeface="宋体" panose="02010600030101010101" pitchFamily="2" charset="-122"/>
                  </a:rPr>
                  <a:t>在</a:t>
                </a:r>
                <a:r>
                  <a:rPr lang="en-US" altLang="zh-CN" sz="2400" dirty="0">
                    <a:latin typeface="Times New Roman" panose="02020603050405020304" pitchFamily="18" charset="0"/>
                    <a:ea typeface="宋体" panose="02010600030101010101" pitchFamily="2" charset="-122"/>
                  </a:rPr>
                  <a:t>25.0 g </a:t>
                </a:r>
                <a:r>
                  <a:rPr lang="zh-CN" altLang="en-US" sz="2400" dirty="0">
                    <a:latin typeface="Times New Roman" panose="02020603050405020304" pitchFamily="18" charset="0"/>
                    <a:ea typeface="宋体" panose="02010600030101010101" pitchFamily="2" charset="-122"/>
                  </a:rPr>
                  <a:t>苯中溶入</a:t>
                </a:r>
                <a:r>
                  <a:rPr lang="en-US" altLang="zh-CN" sz="2400" dirty="0">
                    <a:latin typeface="Times New Roman" panose="02020603050405020304" pitchFamily="18" charset="0"/>
                    <a:ea typeface="宋体" panose="02010600030101010101" pitchFamily="2" charset="-122"/>
                  </a:rPr>
                  <a:t>0.245 g </a:t>
                </a:r>
                <a:r>
                  <a:rPr lang="zh-CN" altLang="en-US" sz="2400" dirty="0">
                    <a:latin typeface="Times New Roman" panose="02020603050405020304" pitchFamily="18" charset="0"/>
                    <a:ea typeface="宋体" panose="02010600030101010101" pitchFamily="2" charset="-122"/>
                  </a:rPr>
                  <a:t>苯甲酸，测得凝固点降低</a:t>
                </a:r>
              </a:p>
            </p:txBody>
          </p:sp>
          <p:graphicFrame>
            <p:nvGraphicFramePr>
              <p:cNvPr id="31750" name="Object 7"/>
              <p:cNvGraphicFramePr>
                <a:graphicFrameLocks noChangeAspect="1"/>
              </p:cNvGraphicFramePr>
              <p:nvPr/>
            </p:nvGraphicFramePr>
            <p:xfrm>
              <a:off x="274" y="1047"/>
              <a:ext cx="1296" cy="277"/>
            </p:xfrm>
            <a:graphic>
              <a:graphicData uri="http://schemas.openxmlformats.org/presentationml/2006/ole">
                <mc:AlternateContent xmlns:mc="http://schemas.openxmlformats.org/markup-compatibility/2006">
                  <mc:Choice xmlns:v="urn:schemas-microsoft-com:vml" Requires="v">
                    <p:oleObj r:id="rId3" imgW="1015365" imgH="215900" progId="Equation.3">
                      <p:embed/>
                    </p:oleObj>
                  </mc:Choice>
                  <mc:Fallback>
                    <p:oleObj r:id="rId3" imgW="1015365" imgH="215900" progId="Equation.3">
                      <p:embed/>
                      <p:pic>
                        <p:nvPicPr>
                          <p:cNvPr id="0" name="图片 3087"/>
                          <p:cNvPicPr/>
                          <p:nvPr/>
                        </p:nvPicPr>
                        <p:blipFill>
                          <a:blip r:embed="rId4"/>
                          <a:stretch>
                            <a:fillRect/>
                          </a:stretch>
                        </p:blipFill>
                        <p:spPr>
                          <a:xfrm>
                            <a:off x="274" y="1047"/>
                            <a:ext cx="1296" cy="277"/>
                          </a:xfrm>
                          <a:prstGeom prst="rect">
                            <a:avLst/>
                          </a:prstGeom>
                          <a:noFill/>
                          <a:ln w="38100">
                            <a:noFill/>
                            <a:miter/>
                          </a:ln>
                        </p:spPr>
                      </p:pic>
                    </p:oleObj>
                  </mc:Fallback>
                </mc:AlternateContent>
              </a:graphicData>
            </a:graphic>
          </p:graphicFrame>
        </p:grpSp>
        <p:sp>
          <p:nvSpPr>
            <p:cNvPr id="31751" name="Text Box 8"/>
            <p:cNvSpPr txBox="1"/>
            <p:nvPr/>
          </p:nvSpPr>
          <p:spPr>
            <a:xfrm>
              <a:off x="1447" y="991"/>
              <a:ext cx="3696" cy="388"/>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。试求苯甲酸在苯中的分子式。</a:t>
              </a:r>
            </a:p>
          </p:txBody>
        </p:sp>
      </p:grpSp>
      <p:grpSp>
        <p:nvGrpSpPr>
          <p:cNvPr id="7" name="Group 9"/>
          <p:cNvGrpSpPr/>
          <p:nvPr/>
        </p:nvGrpSpPr>
        <p:grpSpPr>
          <a:xfrm>
            <a:off x="433388" y="1636078"/>
            <a:ext cx="6781800" cy="1522412"/>
            <a:chOff x="288" y="1296"/>
            <a:chExt cx="4272" cy="1278"/>
          </a:xfrm>
        </p:grpSpPr>
        <p:sp>
          <p:nvSpPr>
            <p:cNvPr id="31753" name="Text Box 10"/>
            <p:cNvSpPr txBox="1"/>
            <p:nvPr/>
          </p:nvSpPr>
          <p:spPr>
            <a:xfrm>
              <a:off x="288" y="1296"/>
              <a:ext cx="4272" cy="388"/>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解：由表查得苯的 </a:t>
              </a:r>
              <a:r>
                <a:rPr lang="en-US" altLang="zh-CN" sz="2400" i="1" dirty="0">
                  <a:latin typeface="Times New Roman" panose="02020603050405020304" pitchFamily="18" charset="0"/>
                  <a:ea typeface="宋体" panose="02010600030101010101" pitchFamily="2" charset="-122"/>
                </a:rPr>
                <a:t>K</a:t>
              </a:r>
              <a:r>
                <a:rPr lang="en-US" altLang="zh-CN" sz="2400" baseline="-25000" dirty="0">
                  <a:latin typeface="Times New Roman" panose="02020603050405020304" pitchFamily="18" charset="0"/>
                  <a:ea typeface="宋体" panose="02010600030101010101" pitchFamily="2" charset="-122"/>
                </a:rPr>
                <a:t>f </a:t>
              </a:r>
              <a:r>
                <a:rPr lang="en-US" altLang="zh-CN" sz="2400" dirty="0">
                  <a:latin typeface="Times New Roman" panose="02020603050405020304" pitchFamily="18" charset="0"/>
                  <a:ea typeface="宋体" panose="02010600030101010101" pitchFamily="2" charset="-122"/>
                </a:rPr>
                <a:t>= 5.10 K· mol </a:t>
              </a:r>
              <a:r>
                <a:rPr lang="en-US" altLang="zh-CN" sz="2400" baseline="30000" dirty="0">
                  <a:latin typeface="Times New Roman" panose="02020603050405020304" pitchFamily="18" charset="0"/>
                  <a:ea typeface="宋体" panose="02010600030101010101" pitchFamily="2" charset="-122"/>
                </a:rPr>
                <a:t>–1 </a:t>
              </a:r>
              <a:r>
                <a:rPr lang="en-US" altLang="zh-CN" sz="2400" dirty="0">
                  <a:latin typeface="Times New Roman" panose="02020603050405020304" pitchFamily="18" charset="0"/>
                  <a:ea typeface="宋体" panose="02010600030101010101" pitchFamily="2" charset="-122"/>
                </a:rPr>
                <a:t>· kg </a:t>
              </a:r>
              <a:r>
                <a:rPr lang="zh-CN" altLang="en-US" sz="2400" dirty="0">
                  <a:latin typeface="Times New Roman" panose="02020603050405020304" pitchFamily="18" charset="0"/>
                  <a:ea typeface="宋体" panose="02010600030101010101" pitchFamily="2" charset="-122"/>
                </a:rPr>
                <a:t>，由：</a:t>
              </a:r>
            </a:p>
          </p:txBody>
        </p:sp>
        <p:graphicFrame>
          <p:nvGraphicFramePr>
            <p:cNvPr id="31754" name="Object 11"/>
            <p:cNvGraphicFramePr>
              <a:graphicFrameLocks noChangeAspect="1"/>
            </p:cNvGraphicFramePr>
            <p:nvPr/>
          </p:nvGraphicFramePr>
          <p:xfrm>
            <a:off x="1689" y="1632"/>
            <a:ext cx="1982" cy="293"/>
          </p:xfrm>
          <a:graphic>
            <a:graphicData uri="http://schemas.openxmlformats.org/presentationml/2006/ole">
              <mc:AlternateContent xmlns:mc="http://schemas.openxmlformats.org/markup-compatibility/2006">
                <mc:Choice xmlns:v="urn:schemas-microsoft-com:vml" Requires="v">
                  <p:oleObj r:id="rId5" imgW="1459865" imgH="215900" progId="Equation.3">
                    <p:embed/>
                  </p:oleObj>
                </mc:Choice>
                <mc:Fallback>
                  <p:oleObj r:id="rId5" imgW="1459865" imgH="215900" progId="Equation.3">
                    <p:embed/>
                    <p:pic>
                      <p:nvPicPr>
                        <p:cNvPr id="0" name="图片 3088"/>
                        <p:cNvPicPr/>
                        <p:nvPr/>
                      </p:nvPicPr>
                      <p:blipFill>
                        <a:blip r:embed="rId6"/>
                        <a:stretch>
                          <a:fillRect/>
                        </a:stretch>
                      </p:blipFill>
                      <p:spPr>
                        <a:xfrm>
                          <a:off x="1689" y="1632"/>
                          <a:ext cx="1982" cy="293"/>
                        </a:xfrm>
                        <a:prstGeom prst="rect">
                          <a:avLst/>
                        </a:prstGeom>
                        <a:noFill/>
                        <a:ln w="38100">
                          <a:noFill/>
                          <a:miter/>
                        </a:ln>
                      </p:spPr>
                    </p:pic>
                  </p:oleObj>
                </mc:Fallback>
              </mc:AlternateContent>
            </a:graphicData>
          </a:graphic>
        </p:graphicFrame>
        <p:graphicFrame>
          <p:nvGraphicFramePr>
            <p:cNvPr id="31755" name="Object 12"/>
            <p:cNvGraphicFramePr>
              <a:graphicFrameLocks noChangeAspect="1"/>
            </p:cNvGraphicFramePr>
            <p:nvPr/>
          </p:nvGraphicFramePr>
          <p:xfrm>
            <a:off x="1325" y="2008"/>
            <a:ext cx="2294" cy="566"/>
          </p:xfrm>
          <a:graphic>
            <a:graphicData uri="http://schemas.openxmlformats.org/presentationml/2006/ole">
              <mc:AlternateContent xmlns:mc="http://schemas.openxmlformats.org/markup-compatibility/2006">
                <mc:Choice xmlns:v="urn:schemas-microsoft-com:vml" Requires="v">
                  <p:oleObj r:id="rId7" imgW="1803400" imgH="444500" progId="Equation.3">
                    <p:embed/>
                  </p:oleObj>
                </mc:Choice>
                <mc:Fallback>
                  <p:oleObj r:id="rId7" imgW="1803400" imgH="444500" progId="Equation.3">
                    <p:embed/>
                    <p:pic>
                      <p:nvPicPr>
                        <p:cNvPr id="0" name="图片 3089"/>
                        <p:cNvPicPr/>
                        <p:nvPr/>
                      </p:nvPicPr>
                      <p:blipFill>
                        <a:blip r:embed="rId8"/>
                        <a:stretch>
                          <a:fillRect/>
                        </a:stretch>
                      </p:blipFill>
                      <p:spPr>
                        <a:xfrm>
                          <a:off x="1325" y="2008"/>
                          <a:ext cx="2294" cy="566"/>
                        </a:xfrm>
                        <a:prstGeom prst="rect">
                          <a:avLst/>
                        </a:prstGeom>
                        <a:solidFill>
                          <a:schemeClr val="bg1"/>
                        </a:solidFill>
                        <a:ln w="9525" cap="flat" cmpd="sng">
                          <a:solidFill>
                            <a:schemeClr val="accent2"/>
                          </a:solidFill>
                          <a:prstDash val="solid"/>
                          <a:miter/>
                          <a:headEnd type="none" w="med" len="med"/>
                          <a:tailEnd type="none" w="med" len="med"/>
                        </a:ln>
                      </p:spPr>
                    </p:pic>
                  </p:oleObj>
                </mc:Fallback>
              </mc:AlternateContent>
            </a:graphicData>
          </a:graphic>
        </p:graphicFrame>
      </p:grpSp>
      <p:graphicFrame>
        <p:nvGraphicFramePr>
          <p:cNvPr id="163853" name="Object 13"/>
          <p:cNvGraphicFramePr>
            <a:graphicFrameLocks noChangeAspect="1"/>
          </p:cNvGraphicFramePr>
          <p:nvPr/>
        </p:nvGraphicFramePr>
        <p:xfrm>
          <a:off x="827094" y="3291843"/>
          <a:ext cx="7343775" cy="644525"/>
        </p:xfrm>
        <a:graphic>
          <a:graphicData uri="http://schemas.openxmlformats.org/presentationml/2006/ole">
            <mc:AlternateContent xmlns:mc="http://schemas.openxmlformats.org/markup-compatibility/2006">
              <mc:Choice xmlns:v="urn:schemas-microsoft-com:vml" Requires="v">
                <p:oleObj r:id="rId9" imgW="3898900" imgH="457200" progId="Equation.3">
                  <p:embed/>
                </p:oleObj>
              </mc:Choice>
              <mc:Fallback>
                <p:oleObj r:id="rId9" imgW="3898900" imgH="457200" progId="Equation.3">
                  <p:embed/>
                  <p:pic>
                    <p:nvPicPr>
                      <p:cNvPr id="0" name="图片 3090"/>
                      <p:cNvPicPr/>
                      <p:nvPr/>
                    </p:nvPicPr>
                    <p:blipFill>
                      <a:blip r:embed="rId10"/>
                      <a:stretch>
                        <a:fillRect/>
                      </a:stretch>
                    </p:blipFill>
                    <p:spPr>
                      <a:xfrm>
                        <a:off x="827094" y="3291843"/>
                        <a:ext cx="7343775" cy="644525"/>
                      </a:xfrm>
                      <a:prstGeom prst="rect">
                        <a:avLst/>
                      </a:prstGeom>
                      <a:noFill/>
                      <a:ln w="38100">
                        <a:noFill/>
                        <a:miter/>
                      </a:ln>
                    </p:spPr>
                  </p:pic>
                </p:oleObj>
              </mc:Fallback>
            </mc:AlternateContent>
          </a:graphicData>
        </a:graphic>
      </p:graphicFrame>
      <p:sp>
        <p:nvSpPr>
          <p:cNvPr id="163854" name="Text Box 14"/>
          <p:cNvSpPr txBox="1"/>
          <p:nvPr/>
        </p:nvSpPr>
        <p:spPr>
          <a:xfrm>
            <a:off x="381000" y="3997328"/>
            <a:ext cx="8458200" cy="830997"/>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    已知，苯甲酸 </a:t>
            </a: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6</a:t>
            </a:r>
            <a:r>
              <a:rPr lang="en-US" altLang="zh-CN" sz="2400" dirty="0">
                <a:latin typeface="Times New Roman" panose="02020603050405020304" pitchFamily="18" charset="0"/>
                <a:ea typeface="宋体" panose="02010600030101010101" pitchFamily="2" charset="-122"/>
              </a:rPr>
              <a:t>H</a:t>
            </a:r>
            <a:r>
              <a:rPr lang="en-US" altLang="zh-CN" sz="2400" baseline="-25000" dirty="0">
                <a:latin typeface="Times New Roman" panose="02020603050405020304" pitchFamily="18" charset="0"/>
                <a:ea typeface="宋体" panose="02010600030101010101" pitchFamily="2" charset="-122"/>
              </a:rPr>
              <a:t>5</a:t>
            </a:r>
            <a:r>
              <a:rPr lang="en-US" altLang="zh-CN" sz="2400" dirty="0">
                <a:latin typeface="Times New Roman" panose="02020603050405020304" pitchFamily="18" charset="0"/>
                <a:ea typeface="宋体" panose="02010600030101010101" pitchFamily="2" charset="-122"/>
              </a:rPr>
              <a:t>COOH </a:t>
            </a:r>
            <a:r>
              <a:rPr lang="zh-CN" altLang="en-US" sz="2400" dirty="0">
                <a:latin typeface="Times New Roman" panose="02020603050405020304" pitchFamily="18" charset="0"/>
                <a:ea typeface="宋体" panose="02010600030101010101" pitchFamily="2" charset="-122"/>
              </a:rPr>
              <a:t>的摩尔质量为 </a:t>
            </a:r>
            <a:r>
              <a:rPr lang="en-US" altLang="zh-CN" sz="2400" dirty="0">
                <a:latin typeface="Times New Roman" panose="02020603050405020304" pitchFamily="18" charset="0"/>
                <a:ea typeface="宋体" panose="02010600030101010101" pitchFamily="2" charset="-122"/>
              </a:rPr>
              <a:t>0.122 kg ·mol </a:t>
            </a:r>
            <a:r>
              <a:rPr lang="en-US" altLang="zh-CN" sz="2400" baseline="30000" dirty="0">
                <a:latin typeface="Times New Roman" panose="02020603050405020304" pitchFamily="18" charset="0"/>
                <a:ea typeface="宋体" panose="02010600030101010101" pitchFamily="2" charset="-122"/>
              </a:rPr>
              <a:t>–1 </a:t>
            </a:r>
            <a:r>
              <a:rPr lang="zh-CN" altLang="en-US" sz="2400" dirty="0">
                <a:latin typeface="Times New Roman" panose="02020603050405020304" pitchFamily="18" charset="0"/>
                <a:ea typeface="宋体" panose="02010600030101010101" pitchFamily="2" charset="-122"/>
              </a:rPr>
              <a:t>，故苯甲酸在苯中的分子式为：</a:t>
            </a:r>
            <a:r>
              <a:rPr lang="en-US" altLang="zh-CN" sz="2400"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6</a:t>
            </a:r>
            <a:r>
              <a:rPr lang="en-US" altLang="zh-CN" sz="2400" dirty="0">
                <a:latin typeface="Times New Roman" panose="02020603050405020304" pitchFamily="18" charset="0"/>
                <a:ea typeface="宋体" panose="02010600030101010101" pitchFamily="2" charset="-122"/>
              </a:rPr>
              <a:t>H</a:t>
            </a:r>
            <a:r>
              <a:rPr lang="en-US" altLang="zh-CN" sz="2400" baseline="-25000" dirty="0">
                <a:latin typeface="Times New Roman" panose="02020603050405020304" pitchFamily="18" charset="0"/>
                <a:ea typeface="宋体" panose="02010600030101010101" pitchFamily="2" charset="-122"/>
              </a:rPr>
              <a:t>5</a:t>
            </a:r>
            <a:r>
              <a:rPr lang="en-US" altLang="zh-CN" sz="2400" dirty="0">
                <a:latin typeface="Times New Roman" panose="02020603050405020304" pitchFamily="18" charset="0"/>
                <a:ea typeface="宋体" panose="02010600030101010101" pitchFamily="2" charset="-122"/>
              </a:rPr>
              <a:t>COOH)</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63853"/>
                                        </p:tgtEl>
                                        <p:attrNameLst>
                                          <p:attrName>style.visibility</p:attrName>
                                        </p:attrNameLst>
                                      </p:cBhvr>
                                      <p:to>
                                        <p:strVal val="visible"/>
                                      </p:to>
                                    </p:set>
                                    <p:animEffect transition="in" filter="blinds(vertical)">
                                      <p:cBhvr>
                                        <p:cTn id="17" dur="500"/>
                                        <p:tgtEl>
                                          <p:spTgt spid="16385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63854"/>
                                        </p:tgtEl>
                                        <p:attrNameLst>
                                          <p:attrName>style.visibility</p:attrName>
                                        </p:attrNameLst>
                                      </p:cBhvr>
                                      <p:to>
                                        <p:strVal val="visible"/>
                                      </p:to>
                                    </p:set>
                                    <p:animEffect transition="in" filter="blinds(vertical)">
                                      <p:cBhvr>
                                        <p:cTn id="22" dur="500"/>
                                        <p:tgtEl>
                                          <p:spTgt spid="163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5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3"/>
          </p:nvPr>
        </p:nvSpPr>
        <p:spPr>
          <a:xfrm>
            <a:off x="754754" y="627422"/>
            <a:ext cx="6653514" cy="587109"/>
          </a:xfrm>
        </p:spPr>
        <p:txBody>
          <a:bodyPr/>
          <a:lstStyle/>
          <a:p>
            <a:r>
              <a:rPr lang="zh-CN" altLang="en-US" sz="4500" dirty="0"/>
              <a:t>问题</a:t>
            </a:r>
          </a:p>
        </p:txBody>
      </p:sp>
      <p:sp>
        <p:nvSpPr>
          <p:cNvPr id="5" name="文本占位符 4"/>
          <p:cNvSpPr>
            <a:spLocks noGrp="1"/>
          </p:cNvSpPr>
          <p:nvPr>
            <p:ph type="body" sz="quarter" idx="14"/>
          </p:nvPr>
        </p:nvSpPr>
        <p:spPr>
          <a:xfrm>
            <a:off x="1187456" y="1491618"/>
            <a:ext cx="6699885" cy="400685"/>
          </a:xfrm>
        </p:spPr>
        <p:txBody>
          <a:bodyPr wrap="square"/>
          <a:lstStyle/>
          <a:p>
            <a:r>
              <a:rPr lang="zh-CN" altLang="en-US" sz="2800" b="1" dirty="0"/>
              <a:t>为什么人体输液需用</a:t>
            </a:r>
            <a:r>
              <a:rPr lang="en-US" altLang="zh-CN" sz="2800" b="1" dirty="0"/>
              <a:t>0.9%</a:t>
            </a:r>
            <a:r>
              <a:rPr lang="zh-CN" altLang="en-US" sz="2800" b="1" dirty="0"/>
              <a:t>生理盐水？</a:t>
            </a: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360" y="2474595"/>
            <a:ext cx="2607310" cy="2607310"/>
          </a:xfrm>
          <a:prstGeom prst="rect">
            <a:avLst/>
          </a:prstGeom>
        </p:spPr>
      </p:pic>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96920" y="2436496"/>
            <a:ext cx="2607310" cy="2673350"/>
          </a:xfrm>
          <a:prstGeom prst="rect">
            <a:avLst/>
          </a:prstGeom>
        </p:spPr>
      </p:pic>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1088" y="2393953"/>
            <a:ext cx="2648585" cy="27158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additive="base">
                                        <p:cTn id="1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build="p"/>
      <p:bldP spid="5"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4"/>
          </p:nvPr>
        </p:nvSpPr>
        <p:spPr>
          <a:xfrm>
            <a:off x="486830" y="1387934"/>
            <a:ext cx="3584083" cy="342900"/>
          </a:xfrm>
        </p:spPr>
        <p:txBody>
          <a:bodyPr/>
          <a:lstStyle/>
          <a:p>
            <a:r>
              <a:rPr lang="zh-CN" altLang="en-US" sz="3600" dirty="0">
                <a:solidFill>
                  <a:schemeClr val="accent1">
                    <a:lumMod val="75000"/>
                  </a:schemeClr>
                </a:solidFill>
              </a:rPr>
              <a:t>渗透压</a:t>
            </a:r>
          </a:p>
          <a:p>
            <a:endParaRPr lang="zh-CN" altLang="en-US" sz="3600" dirty="0">
              <a:solidFill>
                <a:schemeClr val="accent1">
                  <a:lumMod val="75000"/>
                </a:schemeClr>
              </a:solidFill>
            </a:endParaRPr>
          </a:p>
        </p:txBody>
      </p:sp>
      <p:sp>
        <p:nvSpPr>
          <p:cNvPr id="4" name="文本占位符 3"/>
          <p:cNvSpPr>
            <a:spLocks noGrp="1"/>
          </p:cNvSpPr>
          <p:nvPr>
            <p:ph type="body" sz="quarter" idx="15"/>
          </p:nvPr>
        </p:nvSpPr>
        <p:spPr>
          <a:xfrm>
            <a:off x="486828" y="2373926"/>
            <a:ext cx="3584083" cy="1915595"/>
          </a:xfrm>
        </p:spPr>
        <p:txBody>
          <a:bodyPr/>
          <a:lstStyle/>
          <a:p>
            <a:r>
              <a:rPr lang="en-US" altLang="zh-CN" sz="2400" b="1" dirty="0">
                <a:solidFill>
                  <a:srgbClr val="0F010C"/>
                </a:solidFill>
                <a:ea typeface="宋体" panose="02010600030101010101" pitchFamily="2" charset="-122"/>
                <a:sym typeface="Symbol" panose="05050102010706020507" pitchFamily="18" charset="2"/>
              </a:rPr>
              <a:t>     </a:t>
            </a:r>
            <a:r>
              <a:rPr lang="zh-CN" altLang="en-US" sz="2400" b="1" dirty="0">
                <a:solidFill>
                  <a:srgbClr val="0F010C"/>
                </a:solidFill>
                <a:ea typeface="宋体" panose="02010600030101010101" pitchFamily="2" charset="-122"/>
                <a:sym typeface="Symbol" panose="05050102010706020507" pitchFamily="18" charset="2"/>
              </a:rPr>
              <a:t>由荷兰化学家范 特霍夫提出，</a:t>
            </a:r>
            <a:r>
              <a:rPr lang="zh-CN" altLang="en-US" sz="2400" b="1" dirty="0">
                <a:solidFill>
                  <a:srgbClr val="0F010C"/>
                </a:solidFill>
                <a:ea typeface="宋体" panose="02010600030101010101" pitchFamily="2" charset="-122"/>
              </a:rPr>
              <a:t>任何溶液都有渗透压，但若没有用</a:t>
            </a:r>
            <a:r>
              <a:rPr lang="zh-CN" altLang="en-US" sz="2400" b="1" dirty="0">
                <a:solidFill>
                  <a:schemeClr val="accent1">
                    <a:lumMod val="75000"/>
                  </a:schemeClr>
                </a:solidFill>
                <a:ea typeface="宋体" panose="02010600030101010101" pitchFamily="2" charset="-122"/>
              </a:rPr>
              <a:t>半透膜</a:t>
            </a:r>
            <a:r>
              <a:rPr lang="zh-CN" altLang="en-US" sz="2400" b="1" dirty="0">
                <a:solidFill>
                  <a:srgbClr val="0F010C"/>
                </a:solidFill>
                <a:ea typeface="宋体" panose="02010600030101010101" pitchFamily="2" charset="-122"/>
              </a:rPr>
              <a:t>来分隔溶液与纯溶剂，渗透压即无法表现出来。</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9043" y="1137364"/>
            <a:ext cx="2988013" cy="34837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7" name="Text Box 5"/>
          <p:cNvSpPr txBox="1"/>
          <p:nvPr/>
        </p:nvSpPr>
        <p:spPr>
          <a:xfrm>
            <a:off x="314008" y="1059816"/>
            <a:ext cx="8515350" cy="1421928"/>
          </a:xfrm>
          <a:prstGeom prst="rect">
            <a:avLst/>
          </a:prstGeom>
          <a:noFill/>
          <a:ln w="9525">
            <a:noFill/>
          </a:ln>
        </p:spPr>
        <p:txBody>
          <a:bodyPr anchor="t" anchorCtr="0">
            <a:spAutoFit/>
          </a:bodyPr>
          <a:lstStyle/>
          <a:p>
            <a:pPr>
              <a:lnSpc>
                <a:spcPct val="120000"/>
              </a:lnSpc>
              <a:spcBef>
                <a:spcPct val="50000"/>
              </a:spcBef>
              <a:buClrTx/>
              <a:buFontTx/>
            </a:pPr>
            <a:r>
              <a:rPr lang="zh-CN" altLang="en-US" sz="2400" dirty="0">
                <a:latin typeface="Times New Roman" panose="02020603050405020304" pitchFamily="18" charset="0"/>
                <a:ea typeface="宋体" panose="02010600030101010101" pitchFamily="2" charset="-122"/>
              </a:rPr>
              <a:t>       在一定温度下，用半透膜将</a:t>
            </a:r>
            <a:r>
              <a:rPr lang="zh-CN" altLang="en-US" sz="2400" dirty="0">
                <a:solidFill>
                  <a:srgbClr val="0000FF"/>
                </a:solidFill>
                <a:latin typeface="Times New Roman" panose="02020603050405020304" pitchFamily="18" charset="0"/>
                <a:ea typeface="宋体" panose="02010600030101010101" pitchFamily="2" charset="-122"/>
              </a:rPr>
              <a:t>纯溶剂</a:t>
            </a:r>
            <a:r>
              <a:rPr lang="zh-CN" altLang="en-US" sz="2400" dirty="0">
                <a:latin typeface="Times New Roman" panose="02020603050405020304" pitchFamily="18" charset="0"/>
                <a:ea typeface="宋体" panose="02010600030101010101" pitchFamily="2" charset="-122"/>
              </a:rPr>
              <a:t>与</a:t>
            </a:r>
            <a:r>
              <a:rPr lang="zh-CN" altLang="en-US" sz="2400" dirty="0">
                <a:solidFill>
                  <a:srgbClr val="0000FF"/>
                </a:solidFill>
                <a:latin typeface="Times New Roman" panose="02020603050405020304" pitchFamily="18" charset="0"/>
                <a:ea typeface="宋体" panose="02010600030101010101" pitchFamily="2" charset="-122"/>
              </a:rPr>
              <a:t>溶液</a:t>
            </a:r>
            <a:r>
              <a:rPr lang="zh-CN" altLang="en-US" sz="2400" dirty="0">
                <a:latin typeface="Times New Roman" panose="02020603050405020304" pitchFamily="18" charset="0"/>
                <a:ea typeface="宋体" panose="02010600030101010101" pitchFamily="2" charset="-122"/>
              </a:rPr>
              <a:t>分开。</a:t>
            </a:r>
            <a:r>
              <a:rPr lang="zh-CN" altLang="en-US" sz="2400" dirty="0">
                <a:solidFill>
                  <a:srgbClr val="FF0000"/>
                </a:solidFill>
                <a:latin typeface="Times New Roman" panose="02020603050405020304" pitchFamily="18" charset="0"/>
                <a:ea typeface="宋体" panose="02010600030101010101" pitchFamily="2" charset="-122"/>
              </a:rPr>
              <a:t>溶剂</a:t>
            </a:r>
            <a:r>
              <a:rPr lang="zh-CN" altLang="en-US" sz="2400" dirty="0">
                <a:latin typeface="Times New Roman" panose="02020603050405020304" pitchFamily="18" charset="0"/>
                <a:ea typeface="宋体" panose="02010600030101010101" pitchFamily="2" charset="-122"/>
              </a:rPr>
              <a:t>会通过半透膜扩散到溶液中，使溶液液面上升，直到达到平衡，渗透才停止。</a:t>
            </a:r>
          </a:p>
        </p:txBody>
      </p:sp>
      <p:sp>
        <p:nvSpPr>
          <p:cNvPr id="33794" name="Rectangle 2" descr="花束"/>
          <p:cNvSpPr>
            <a:spLocks noChangeArrowheads="1"/>
          </p:cNvSpPr>
          <p:nvPr/>
        </p:nvSpPr>
        <p:spPr bwMode="auto">
          <a:xfrm>
            <a:off x="0" y="411482"/>
            <a:ext cx="2785110" cy="555625"/>
          </a:xfrm>
          <a:prstGeom prst="rect">
            <a:avLst/>
          </a:prstGeom>
          <a:solidFill>
            <a:schemeClr val="bg2">
              <a:lumMod val="20000"/>
              <a:lumOff val="80000"/>
            </a:schemeClr>
          </a:solidFill>
          <a:ln w="9525">
            <a:noFill/>
            <a:miter lim="800000"/>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1" i="0" u="none" strike="noStrike" kern="1200" cap="none" spc="0" normalizeH="0" baseline="0" noProof="0" dirty="0">
                <a:ln>
                  <a:noFill/>
                </a:ln>
                <a:solidFill>
                  <a:schemeClr val="bg2"/>
                </a:solidFill>
                <a:effectLst/>
                <a:uLnTx/>
                <a:uFillTx/>
                <a:latin typeface="华文新魏" pitchFamily="2" charset="-122"/>
                <a:ea typeface="华文新魏" pitchFamily="2" charset="-122"/>
                <a:cs typeface="+mn-cs"/>
              </a:rPr>
              <a:t>  3.1.4 </a:t>
            </a:r>
            <a:r>
              <a:rPr kumimoji="0" lang="zh-CN" altLang="zh-CN" b="1" i="0" u="none" strike="noStrike" kern="1200" cap="none" spc="0" normalizeH="0" baseline="0" noProof="0" dirty="0">
                <a:ln>
                  <a:noFill/>
                </a:ln>
                <a:solidFill>
                  <a:schemeClr val="bg2"/>
                </a:solidFill>
                <a:effectLst/>
                <a:uLnTx/>
                <a:uFillTx/>
                <a:latin typeface="华文新魏" pitchFamily="2" charset="-122"/>
                <a:ea typeface="华文新魏" pitchFamily="2" charset="-122"/>
                <a:cs typeface="+mn-cs"/>
              </a:rPr>
              <a:t>渗透压</a:t>
            </a:r>
            <a:endParaRPr kumimoji="0" lang="zh-CN" altLang="zh-CN" sz="3200" b="1" i="0" u="none" strike="noStrike" kern="1200" cap="none" spc="0" normalizeH="0" baseline="0" noProof="0" dirty="0">
              <a:ln>
                <a:noFill/>
              </a:ln>
              <a:solidFill>
                <a:schemeClr val="bg2"/>
              </a:solidFill>
              <a:effectLst/>
              <a:uLnTx/>
              <a:uFillTx/>
              <a:latin typeface="华文新魏" pitchFamily="2" charset="-122"/>
              <a:ea typeface="华文新魏" pitchFamily="2" charset="-122"/>
              <a:cs typeface="+mn-cs"/>
            </a:endParaRPr>
          </a:p>
        </p:txBody>
      </p:sp>
      <p:grpSp>
        <p:nvGrpSpPr>
          <p:cNvPr id="4" name="Group 29"/>
          <p:cNvGrpSpPr/>
          <p:nvPr/>
        </p:nvGrpSpPr>
        <p:grpSpPr>
          <a:xfrm>
            <a:off x="2844800" y="1962788"/>
            <a:ext cx="2590800" cy="2400301"/>
            <a:chOff x="336" y="384"/>
            <a:chExt cx="1632" cy="2016"/>
          </a:xfrm>
        </p:grpSpPr>
        <p:sp>
          <p:nvSpPr>
            <p:cNvPr id="33821" name="Line 30"/>
            <p:cNvSpPr/>
            <p:nvPr/>
          </p:nvSpPr>
          <p:spPr>
            <a:xfrm>
              <a:off x="720" y="1200"/>
              <a:ext cx="0" cy="240"/>
            </a:xfrm>
            <a:prstGeom prst="line">
              <a:avLst/>
            </a:prstGeom>
            <a:ln w="22225" cap="flat" cmpd="sng">
              <a:solidFill>
                <a:schemeClr val="tx1"/>
              </a:solidFill>
              <a:prstDash val="solid"/>
              <a:round/>
              <a:headEnd type="none" w="med" len="med"/>
              <a:tailEnd type="none" w="med" len="med"/>
            </a:ln>
          </p:spPr>
        </p:sp>
        <p:sp>
          <p:nvSpPr>
            <p:cNvPr id="33822" name="Line 31"/>
            <p:cNvSpPr/>
            <p:nvPr/>
          </p:nvSpPr>
          <p:spPr>
            <a:xfrm>
              <a:off x="576" y="1200"/>
              <a:ext cx="144" cy="0"/>
            </a:xfrm>
            <a:prstGeom prst="line">
              <a:avLst/>
            </a:prstGeom>
            <a:ln w="9525" cap="flat" cmpd="sng">
              <a:solidFill>
                <a:schemeClr val="tx1"/>
              </a:solidFill>
              <a:prstDash val="solid"/>
              <a:round/>
              <a:headEnd type="none" w="med" len="med"/>
              <a:tailEnd type="none" w="med" len="med"/>
            </a:ln>
          </p:spPr>
        </p:sp>
        <p:grpSp>
          <p:nvGrpSpPr>
            <p:cNvPr id="33823" name="Group 32"/>
            <p:cNvGrpSpPr/>
            <p:nvPr/>
          </p:nvGrpSpPr>
          <p:grpSpPr>
            <a:xfrm>
              <a:off x="336" y="384"/>
              <a:ext cx="1632" cy="2016"/>
              <a:chOff x="336" y="384"/>
              <a:chExt cx="1632" cy="2016"/>
            </a:xfrm>
          </p:grpSpPr>
          <p:grpSp>
            <p:nvGrpSpPr>
              <p:cNvPr id="33824" name="Group 33"/>
              <p:cNvGrpSpPr/>
              <p:nvPr/>
            </p:nvGrpSpPr>
            <p:grpSpPr>
              <a:xfrm>
                <a:off x="336" y="384"/>
                <a:ext cx="1632" cy="1536"/>
                <a:chOff x="336" y="384"/>
                <a:chExt cx="1632" cy="1536"/>
              </a:xfrm>
            </p:grpSpPr>
            <p:sp>
              <p:nvSpPr>
                <p:cNvPr id="33825" name="AutoShape 34"/>
                <p:cNvSpPr/>
                <p:nvPr/>
              </p:nvSpPr>
              <p:spPr>
                <a:xfrm>
                  <a:off x="336" y="1440"/>
                  <a:ext cx="1632" cy="480"/>
                </a:xfrm>
                <a:prstGeom prst="roundRect">
                  <a:avLst>
                    <a:gd name="adj" fmla="val 16667"/>
                  </a:avLst>
                </a:prstGeom>
                <a:noFill/>
                <a:ln w="2857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33826" name="Text Box 35"/>
                <p:cNvSpPr txBox="1"/>
                <p:nvPr/>
              </p:nvSpPr>
              <p:spPr>
                <a:xfrm>
                  <a:off x="1632" y="384"/>
                  <a:ext cx="192" cy="336"/>
                </a:xfrm>
                <a:prstGeom prst="rect">
                  <a:avLst/>
                </a:prstGeom>
                <a:noFill/>
                <a:ln w="9525">
                  <a:noFill/>
                </a:ln>
              </p:spPr>
              <p:txBody>
                <a:bodyPr anchor="t" anchorCtr="0">
                  <a:spAutoFit/>
                </a:bodyPr>
                <a:lstStyle/>
                <a:p>
                  <a:pPr>
                    <a:spcBef>
                      <a:spcPct val="50000"/>
                    </a:spcBef>
                    <a:buClrTx/>
                    <a:buFontTx/>
                  </a:pPr>
                  <a:r>
                    <a:rPr lang="en-US" altLang="zh-CN" sz="2000" i="1" dirty="0">
                      <a:latin typeface="Times New Roman" panose="02020603050405020304" pitchFamily="18" charset="0"/>
                      <a:ea typeface="宋体" panose="02010600030101010101" pitchFamily="2" charset="-122"/>
                    </a:rPr>
                    <a:t>p</a:t>
                  </a:r>
                </a:p>
              </p:txBody>
            </p:sp>
          </p:grpSp>
          <p:grpSp>
            <p:nvGrpSpPr>
              <p:cNvPr id="33827" name="Group 36"/>
              <p:cNvGrpSpPr/>
              <p:nvPr/>
            </p:nvGrpSpPr>
            <p:grpSpPr>
              <a:xfrm>
                <a:off x="336" y="576"/>
                <a:ext cx="1632" cy="1824"/>
                <a:chOff x="336" y="576"/>
                <a:chExt cx="1632" cy="1824"/>
              </a:xfrm>
            </p:grpSpPr>
            <p:sp>
              <p:nvSpPr>
                <p:cNvPr id="33828" name="Line 37"/>
                <p:cNvSpPr/>
                <p:nvPr/>
              </p:nvSpPr>
              <p:spPr>
                <a:xfrm flipH="1">
                  <a:off x="1248" y="864"/>
                  <a:ext cx="528" cy="0"/>
                </a:xfrm>
                <a:prstGeom prst="line">
                  <a:avLst/>
                </a:prstGeom>
                <a:ln w="19050" cap="flat" cmpd="sng">
                  <a:solidFill>
                    <a:schemeClr val="tx1"/>
                  </a:solidFill>
                  <a:prstDash val="dash"/>
                  <a:round/>
                  <a:headEnd type="none" w="med" len="med"/>
                  <a:tailEnd type="none" w="med" len="med"/>
                </a:ln>
              </p:spPr>
            </p:sp>
            <p:grpSp>
              <p:nvGrpSpPr>
                <p:cNvPr id="33829" name="Group 38"/>
                <p:cNvGrpSpPr/>
                <p:nvPr/>
              </p:nvGrpSpPr>
              <p:grpSpPr>
                <a:xfrm>
                  <a:off x="336" y="720"/>
                  <a:ext cx="1632" cy="1248"/>
                  <a:chOff x="432" y="2256"/>
                  <a:chExt cx="1632" cy="1248"/>
                </a:xfrm>
              </p:grpSpPr>
              <p:grpSp>
                <p:nvGrpSpPr>
                  <p:cNvPr id="33830" name="Group 39"/>
                  <p:cNvGrpSpPr/>
                  <p:nvPr/>
                </p:nvGrpSpPr>
                <p:grpSpPr>
                  <a:xfrm>
                    <a:off x="432" y="2256"/>
                    <a:ext cx="1632" cy="1200"/>
                    <a:chOff x="432" y="2256"/>
                    <a:chExt cx="1632" cy="1200"/>
                  </a:xfrm>
                </p:grpSpPr>
                <p:grpSp>
                  <p:nvGrpSpPr>
                    <p:cNvPr id="33831" name="Group 40"/>
                    <p:cNvGrpSpPr/>
                    <p:nvPr/>
                  </p:nvGrpSpPr>
                  <p:grpSpPr>
                    <a:xfrm>
                      <a:off x="432" y="2256"/>
                      <a:ext cx="1632" cy="1200"/>
                      <a:chOff x="432" y="2256"/>
                      <a:chExt cx="1632" cy="1200"/>
                    </a:xfrm>
                  </p:grpSpPr>
                  <p:grpSp>
                    <p:nvGrpSpPr>
                      <p:cNvPr id="33832" name="Group 41"/>
                      <p:cNvGrpSpPr/>
                      <p:nvPr/>
                    </p:nvGrpSpPr>
                    <p:grpSpPr>
                      <a:xfrm>
                        <a:off x="432" y="2256"/>
                        <a:ext cx="1632" cy="1200"/>
                        <a:chOff x="432" y="2256"/>
                        <a:chExt cx="1632" cy="1200"/>
                      </a:xfrm>
                    </p:grpSpPr>
                    <p:grpSp>
                      <p:nvGrpSpPr>
                        <p:cNvPr id="33833" name="Group 42"/>
                        <p:cNvGrpSpPr/>
                        <p:nvPr/>
                      </p:nvGrpSpPr>
                      <p:grpSpPr>
                        <a:xfrm>
                          <a:off x="432" y="2256"/>
                          <a:ext cx="1632" cy="1200"/>
                          <a:chOff x="432" y="2256"/>
                          <a:chExt cx="1632" cy="1200"/>
                        </a:xfrm>
                      </p:grpSpPr>
                      <p:grpSp>
                        <p:nvGrpSpPr>
                          <p:cNvPr id="33834" name="Group 43"/>
                          <p:cNvGrpSpPr/>
                          <p:nvPr/>
                        </p:nvGrpSpPr>
                        <p:grpSpPr>
                          <a:xfrm>
                            <a:off x="432" y="2256"/>
                            <a:ext cx="1632" cy="1200"/>
                            <a:chOff x="432" y="2256"/>
                            <a:chExt cx="1632" cy="1200"/>
                          </a:xfrm>
                        </p:grpSpPr>
                        <p:sp>
                          <p:nvSpPr>
                            <p:cNvPr id="33835" name="Rectangle 44"/>
                            <p:cNvSpPr/>
                            <p:nvPr/>
                          </p:nvSpPr>
                          <p:spPr>
                            <a:xfrm>
                              <a:off x="672" y="2448"/>
                              <a:ext cx="144" cy="528"/>
                            </a:xfrm>
                            <a:prstGeom prst="rect">
                              <a:avLst/>
                            </a:prstGeom>
                            <a:no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33836" name="Rectangle 45"/>
                            <p:cNvSpPr/>
                            <p:nvPr/>
                          </p:nvSpPr>
                          <p:spPr>
                            <a:xfrm>
                              <a:off x="1728" y="2256"/>
                              <a:ext cx="144" cy="720"/>
                            </a:xfrm>
                            <a:prstGeom prst="rect">
                              <a:avLst/>
                            </a:prstGeom>
                            <a:noFill/>
                            <a:ln w="2857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33837" name="Rectangle 46"/>
                            <p:cNvSpPr/>
                            <p:nvPr/>
                          </p:nvSpPr>
                          <p:spPr>
                            <a:xfrm>
                              <a:off x="672" y="2736"/>
                              <a:ext cx="144" cy="384"/>
                            </a:xfrm>
                            <a:prstGeom prst="rect">
                              <a:avLst/>
                            </a:prstGeom>
                            <a:solidFill>
                              <a:srgbClr val="CCFFFF"/>
                            </a:solidFill>
                            <a:ln w="0">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33838" name="AutoShape 47"/>
                            <p:cNvSpPr/>
                            <p:nvPr/>
                          </p:nvSpPr>
                          <p:spPr>
                            <a:xfrm>
                              <a:off x="432" y="2976"/>
                              <a:ext cx="816" cy="480"/>
                            </a:xfrm>
                            <a:prstGeom prst="roundRect">
                              <a:avLst>
                                <a:gd name="adj" fmla="val 16667"/>
                              </a:avLst>
                            </a:prstGeom>
                            <a:solidFill>
                              <a:srgbClr val="CCFFFF"/>
                            </a:solidFill>
                            <a:ln w="0">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33839" name="AutoShape 48"/>
                            <p:cNvSpPr/>
                            <p:nvPr/>
                          </p:nvSpPr>
                          <p:spPr>
                            <a:xfrm>
                              <a:off x="1248" y="2976"/>
                              <a:ext cx="816" cy="480"/>
                            </a:xfrm>
                            <a:prstGeom prst="roundRect">
                              <a:avLst>
                                <a:gd name="adj" fmla="val 16667"/>
                              </a:avLst>
                            </a:prstGeom>
                            <a:solidFill>
                              <a:srgbClr val="CCFFCC"/>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
                        <p:nvSpPr>
                          <p:cNvPr id="33840" name="Rectangle 49"/>
                          <p:cNvSpPr/>
                          <p:nvPr/>
                        </p:nvSpPr>
                        <p:spPr>
                          <a:xfrm>
                            <a:off x="1728" y="2400"/>
                            <a:ext cx="144" cy="624"/>
                          </a:xfrm>
                          <a:prstGeom prst="rect">
                            <a:avLst/>
                          </a:prstGeom>
                          <a:solidFill>
                            <a:srgbClr val="CCFFCC"/>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
                      <p:nvSpPr>
                        <p:cNvPr id="33841" name="Rectangle 50" descr="花岗岩"/>
                        <p:cNvSpPr/>
                        <p:nvPr/>
                      </p:nvSpPr>
                      <p:spPr>
                        <a:xfrm>
                          <a:off x="1248" y="2976"/>
                          <a:ext cx="48" cy="480"/>
                        </a:xfrm>
                        <a:prstGeom prst="rect">
                          <a:avLst/>
                        </a:prstGeom>
                        <a:blipFill rotWithShape="0">
                          <a:blip r:embed="rId2"/>
                        </a:blipFill>
                        <a:ln w="12700"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
                    <p:nvSpPr>
                      <p:cNvPr id="33842" name="Line 51"/>
                      <p:cNvSpPr/>
                      <p:nvPr/>
                    </p:nvSpPr>
                    <p:spPr>
                      <a:xfrm>
                        <a:off x="1728" y="2400"/>
                        <a:ext cx="144" cy="0"/>
                      </a:xfrm>
                      <a:prstGeom prst="line">
                        <a:avLst/>
                      </a:prstGeom>
                      <a:ln w="9525" cap="flat" cmpd="sng">
                        <a:solidFill>
                          <a:schemeClr val="tx1"/>
                        </a:solidFill>
                        <a:prstDash val="solid"/>
                        <a:round/>
                        <a:headEnd type="none" w="med" len="med"/>
                        <a:tailEnd type="none" w="med" len="med"/>
                      </a:ln>
                    </p:spPr>
                  </p:sp>
                </p:grpSp>
                <p:sp>
                  <p:nvSpPr>
                    <p:cNvPr id="33843" name="Line 52"/>
                    <p:cNvSpPr/>
                    <p:nvPr/>
                  </p:nvSpPr>
                  <p:spPr>
                    <a:xfrm>
                      <a:off x="672" y="2736"/>
                      <a:ext cx="144" cy="0"/>
                    </a:xfrm>
                    <a:prstGeom prst="line">
                      <a:avLst/>
                    </a:prstGeom>
                    <a:ln w="9525" cap="flat" cmpd="sng">
                      <a:solidFill>
                        <a:schemeClr val="tx1"/>
                      </a:solidFill>
                      <a:prstDash val="solid"/>
                      <a:round/>
                      <a:headEnd type="none" w="med" len="med"/>
                      <a:tailEnd type="none" w="med" len="med"/>
                    </a:ln>
                  </p:spPr>
                </p:sp>
              </p:grpSp>
              <p:sp>
                <p:nvSpPr>
                  <p:cNvPr id="33844" name="Text Box 53"/>
                  <p:cNvSpPr txBox="1"/>
                  <p:nvPr/>
                </p:nvSpPr>
                <p:spPr>
                  <a:xfrm>
                    <a:off x="576" y="3168"/>
                    <a:ext cx="480" cy="336"/>
                  </a:xfrm>
                  <a:prstGeom prst="rect">
                    <a:avLst/>
                  </a:prstGeom>
                  <a:noFill/>
                  <a:ln w="9525">
                    <a:noFill/>
                  </a:ln>
                </p:spPr>
                <p:txBody>
                  <a:bodyPr anchor="t" anchorCtr="0">
                    <a:spAutoFit/>
                  </a:bodyPr>
                  <a:lstStyle/>
                  <a:p>
                    <a:pPr>
                      <a:spcBef>
                        <a:spcPct val="50000"/>
                      </a:spcBef>
                      <a:buClrTx/>
                      <a:buFontTx/>
                    </a:pPr>
                    <a:r>
                      <a:rPr lang="zh-CN" altLang="en-US" sz="2000" dirty="0">
                        <a:latin typeface="Times New Roman" panose="02020603050405020304" pitchFamily="18" charset="0"/>
                        <a:ea typeface="宋体" panose="02010600030101010101" pitchFamily="2" charset="-122"/>
                      </a:rPr>
                      <a:t>溶剂</a:t>
                    </a:r>
                  </a:p>
                </p:txBody>
              </p:sp>
              <p:sp>
                <p:nvSpPr>
                  <p:cNvPr id="33845" name="Rectangle 54"/>
                  <p:cNvSpPr/>
                  <p:nvPr/>
                </p:nvSpPr>
                <p:spPr>
                  <a:xfrm>
                    <a:off x="1440" y="3168"/>
                    <a:ext cx="441" cy="336"/>
                  </a:xfrm>
                  <a:prstGeom prst="rect">
                    <a:avLst/>
                  </a:prstGeom>
                  <a:noFill/>
                  <a:ln w="9525">
                    <a:noFill/>
                  </a:ln>
                </p:spPr>
                <p:txBody>
                  <a:bodyPr wrap="none" anchor="t" anchorCtr="0">
                    <a:spAutoFit/>
                  </a:bodyPr>
                  <a:lstStyle/>
                  <a:p>
                    <a:pPr>
                      <a:buClrTx/>
                      <a:buFontTx/>
                    </a:pPr>
                    <a:r>
                      <a:rPr lang="zh-CN" altLang="en-US" sz="2000" dirty="0">
                        <a:latin typeface="Times New Roman" panose="02020603050405020304" pitchFamily="18" charset="0"/>
                        <a:ea typeface="宋体" panose="02010600030101010101" pitchFamily="2" charset="-122"/>
                      </a:rPr>
                      <a:t>溶液</a:t>
                    </a:r>
                  </a:p>
                </p:txBody>
              </p:sp>
            </p:grpSp>
            <p:sp>
              <p:nvSpPr>
                <p:cNvPr id="33846" name="Text Box 55"/>
                <p:cNvSpPr txBox="1"/>
                <p:nvPr/>
              </p:nvSpPr>
              <p:spPr>
                <a:xfrm>
                  <a:off x="384" y="2064"/>
                  <a:ext cx="672" cy="336"/>
                </a:xfrm>
                <a:prstGeom prst="rect">
                  <a:avLst/>
                </a:prstGeom>
                <a:noFill/>
                <a:ln w="9525" cap="flat" cmpd="sng">
                  <a:solidFill>
                    <a:schemeClr val="tx1"/>
                  </a:solidFill>
                  <a:prstDash val="solid"/>
                  <a:miter/>
                  <a:headEnd type="none" w="med" len="med"/>
                  <a:tailEnd type="none" w="med" len="med"/>
                </a:ln>
              </p:spPr>
              <p:txBody>
                <a:bodyPr anchor="t" anchorCtr="0">
                  <a:spAutoFit/>
                </a:bodyPr>
                <a:lstStyle/>
                <a:p>
                  <a:pPr>
                    <a:spcBef>
                      <a:spcPct val="50000"/>
                    </a:spcBef>
                    <a:buClrTx/>
                    <a:buFontTx/>
                  </a:pPr>
                  <a:r>
                    <a:rPr lang="zh-CN" altLang="en-US" sz="2000" dirty="0">
                      <a:latin typeface="Times New Roman" panose="02020603050405020304" pitchFamily="18" charset="0"/>
                      <a:ea typeface="宋体" panose="02010600030101010101" pitchFamily="2" charset="-122"/>
                    </a:rPr>
                    <a:t>半透膜</a:t>
                  </a:r>
                </a:p>
              </p:txBody>
            </p:sp>
            <p:sp>
              <p:nvSpPr>
                <p:cNvPr id="33847" name="Line 56"/>
                <p:cNvSpPr/>
                <p:nvPr/>
              </p:nvSpPr>
              <p:spPr>
                <a:xfrm flipV="1">
                  <a:off x="1008" y="1920"/>
                  <a:ext cx="144" cy="144"/>
                </a:xfrm>
                <a:prstGeom prst="line">
                  <a:avLst/>
                </a:prstGeom>
                <a:ln w="28575" cap="flat" cmpd="sng">
                  <a:solidFill>
                    <a:srgbClr val="FF6600"/>
                  </a:solidFill>
                  <a:prstDash val="solid"/>
                  <a:round/>
                  <a:headEnd type="none" w="med" len="med"/>
                  <a:tailEnd type="triangle" w="med" len="med"/>
                </a:ln>
              </p:spPr>
            </p:sp>
            <p:sp>
              <p:nvSpPr>
                <p:cNvPr id="33848" name="Line 57"/>
                <p:cNvSpPr/>
                <p:nvPr/>
              </p:nvSpPr>
              <p:spPr>
                <a:xfrm>
                  <a:off x="576" y="1200"/>
                  <a:ext cx="1056" cy="0"/>
                </a:xfrm>
                <a:prstGeom prst="line">
                  <a:avLst/>
                </a:prstGeom>
                <a:ln w="19050" cap="flat" cmpd="sng">
                  <a:solidFill>
                    <a:schemeClr val="tx1"/>
                  </a:solidFill>
                  <a:prstDash val="lgDash"/>
                  <a:round/>
                  <a:headEnd type="none" w="med" len="med"/>
                  <a:tailEnd type="none" w="med" len="med"/>
                </a:ln>
              </p:spPr>
            </p:sp>
            <p:sp>
              <p:nvSpPr>
                <p:cNvPr id="33849" name="Line 58"/>
                <p:cNvSpPr/>
                <p:nvPr/>
              </p:nvSpPr>
              <p:spPr>
                <a:xfrm>
                  <a:off x="1680" y="624"/>
                  <a:ext cx="0" cy="240"/>
                </a:xfrm>
                <a:prstGeom prst="line">
                  <a:avLst/>
                </a:prstGeom>
                <a:ln w="28575" cap="flat" cmpd="sng">
                  <a:solidFill>
                    <a:schemeClr val="tx1"/>
                  </a:solidFill>
                  <a:prstDash val="solid"/>
                  <a:round/>
                  <a:headEnd type="none" w="med" len="med"/>
                  <a:tailEnd type="triangle" w="med" len="med"/>
                </a:ln>
              </p:spPr>
            </p:sp>
            <p:sp>
              <p:nvSpPr>
                <p:cNvPr id="33850" name="Line 59"/>
                <p:cNvSpPr/>
                <p:nvPr/>
              </p:nvSpPr>
              <p:spPr>
                <a:xfrm flipV="1">
                  <a:off x="1344" y="864"/>
                  <a:ext cx="0" cy="144"/>
                </a:xfrm>
                <a:prstGeom prst="line">
                  <a:avLst/>
                </a:prstGeom>
                <a:ln w="19050" cap="flat" cmpd="sng">
                  <a:solidFill>
                    <a:schemeClr val="tx1"/>
                  </a:solidFill>
                  <a:prstDash val="solid"/>
                  <a:round/>
                  <a:headEnd type="none" w="med" len="med"/>
                  <a:tailEnd type="triangle" w="med" len="med"/>
                </a:ln>
              </p:spPr>
            </p:sp>
            <p:sp>
              <p:nvSpPr>
                <p:cNvPr id="33851" name="Line 60"/>
                <p:cNvSpPr/>
                <p:nvPr/>
              </p:nvSpPr>
              <p:spPr>
                <a:xfrm>
                  <a:off x="1344" y="1056"/>
                  <a:ext cx="0" cy="144"/>
                </a:xfrm>
                <a:prstGeom prst="line">
                  <a:avLst/>
                </a:prstGeom>
                <a:ln w="19050" cap="flat" cmpd="sng">
                  <a:solidFill>
                    <a:schemeClr val="tx1"/>
                  </a:solidFill>
                  <a:prstDash val="solid"/>
                  <a:round/>
                  <a:headEnd type="none" w="med" len="med"/>
                  <a:tailEnd type="triangle" w="med" len="med"/>
                </a:ln>
              </p:spPr>
            </p:sp>
            <p:sp>
              <p:nvSpPr>
                <p:cNvPr id="33852" name="Text Box 61"/>
                <p:cNvSpPr txBox="1"/>
                <p:nvPr/>
              </p:nvSpPr>
              <p:spPr>
                <a:xfrm>
                  <a:off x="1152" y="912"/>
                  <a:ext cx="240" cy="336"/>
                </a:xfrm>
                <a:prstGeom prst="rect">
                  <a:avLst/>
                </a:prstGeom>
                <a:noFill/>
                <a:ln w="9525">
                  <a:noFill/>
                </a:ln>
              </p:spPr>
              <p:txBody>
                <a:bodyPr anchor="t" anchorCtr="0">
                  <a:spAutoFit/>
                </a:bodyPr>
                <a:lstStyle/>
                <a:p>
                  <a:pPr>
                    <a:spcBef>
                      <a:spcPct val="50000"/>
                    </a:spcBef>
                    <a:buClrTx/>
                    <a:buFontTx/>
                  </a:pPr>
                  <a:r>
                    <a:rPr lang="en-US" altLang="zh-CN" sz="2000" i="1" dirty="0">
                      <a:latin typeface="Times New Roman" panose="02020603050405020304" pitchFamily="18" charset="0"/>
                      <a:ea typeface="宋体" panose="02010600030101010101" pitchFamily="2" charset="-122"/>
                    </a:rPr>
                    <a:t>h</a:t>
                  </a:r>
                </a:p>
              </p:txBody>
            </p:sp>
            <p:sp>
              <p:nvSpPr>
                <p:cNvPr id="33853" name="Rectangle 62"/>
                <p:cNvSpPr/>
                <p:nvPr/>
              </p:nvSpPr>
              <p:spPr>
                <a:xfrm>
                  <a:off x="576" y="576"/>
                  <a:ext cx="197" cy="336"/>
                </a:xfrm>
                <a:prstGeom prst="rect">
                  <a:avLst/>
                </a:prstGeom>
                <a:noFill/>
                <a:ln w="9525">
                  <a:noFill/>
                </a:ln>
              </p:spPr>
              <p:txBody>
                <a:bodyPr wrap="none" anchor="t" anchorCtr="0">
                  <a:spAutoFit/>
                </a:bodyPr>
                <a:lstStyle/>
                <a:p>
                  <a:pPr>
                    <a:buClrTx/>
                    <a:buFontTx/>
                  </a:pPr>
                  <a:r>
                    <a:rPr lang="en-US" altLang="zh-CN" sz="2000" i="1" dirty="0">
                      <a:latin typeface="Times New Roman" panose="02020603050405020304" pitchFamily="18" charset="0"/>
                      <a:ea typeface="宋体" panose="02010600030101010101" pitchFamily="2" charset="-122"/>
                    </a:rPr>
                    <a:t>p</a:t>
                  </a:r>
                </a:p>
              </p:txBody>
            </p:sp>
            <p:sp>
              <p:nvSpPr>
                <p:cNvPr id="33854" name="Line 63"/>
                <p:cNvSpPr/>
                <p:nvPr/>
              </p:nvSpPr>
              <p:spPr>
                <a:xfrm>
                  <a:off x="624" y="816"/>
                  <a:ext cx="0" cy="384"/>
                </a:xfrm>
                <a:prstGeom prst="line">
                  <a:avLst/>
                </a:prstGeom>
                <a:ln w="19050" cap="flat" cmpd="sng">
                  <a:solidFill>
                    <a:schemeClr val="tx1"/>
                  </a:solidFill>
                  <a:prstDash val="solid"/>
                  <a:round/>
                  <a:headEnd type="none" w="med" len="med"/>
                  <a:tailEnd type="triangle" w="med" len="med"/>
                </a:ln>
              </p:spPr>
            </p:sp>
          </p:grpSp>
        </p:grpSp>
      </p:grpSp>
      <p:sp>
        <p:nvSpPr>
          <p:cNvPr id="168005" name="Text Box 69"/>
          <p:cNvSpPr txBox="1"/>
          <p:nvPr/>
        </p:nvSpPr>
        <p:spPr>
          <a:xfrm>
            <a:off x="2124075" y="4491993"/>
            <a:ext cx="5638800" cy="461665"/>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这种</a:t>
            </a:r>
            <a:r>
              <a:rPr lang="zh-CN" altLang="en-US" sz="2400" dirty="0">
                <a:solidFill>
                  <a:srgbClr val="0000FF"/>
                </a:solidFill>
                <a:latin typeface="Times New Roman" panose="02020603050405020304" pitchFamily="18" charset="0"/>
                <a:ea typeface="宋体" panose="02010600030101010101" pitchFamily="2" charset="-122"/>
              </a:rPr>
              <a:t>对于溶剂的膜平衡</a:t>
            </a:r>
            <a:r>
              <a:rPr lang="zh-CN" altLang="en-US" sz="2400" dirty="0">
                <a:latin typeface="Times New Roman" panose="02020603050405020304" pitchFamily="18" charset="0"/>
                <a:ea typeface="宋体" panose="02010600030101010101" pitchFamily="2" charset="-122"/>
              </a:rPr>
              <a:t>，叫作</a:t>
            </a:r>
            <a:r>
              <a:rPr lang="zh-CN" altLang="en-US" sz="2400" dirty="0">
                <a:solidFill>
                  <a:srgbClr val="0000FF"/>
                </a:solidFill>
                <a:latin typeface="Times New Roman" panose="02020603050405020304" pitchFamily="18" charset="0"/>
                <a:ea typeface="宋体" panose="02010600030101010101" pitchFamily="2" charset="-122"/>
              </a:rPr>
              <a:t>渗透平衡</a:t>
            </a:r>
            <a:r>
              <a:rPr lang="en-US" altLang="zh-CN" sz="2400" dirty="0">
                <a:solidFill>
                  <a:srgbClr val="0000FF"/>
                </a:solidFill>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blinds(horizontal)">
                                      <p:cBhvr>
                                        <p:cTn id="7" dur="500"/>
                                        <p:tgtEl>
                                          <p:spTgt spid="3379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66917"/>
                                        </p:tgtEl>
                                        <p:attrNameLst>
                                          <p:attrName>style.visibility</p:attrName>
                                        </p:attrNameLst>
                                      </p:cBhvr>
                                      <p:to>
                                        <p:strVal val="visible"/>
                                      </p:to>
                                    </p:set>
                                    <p:anim calcmode="lin" valueType="num">
                                      <p:cBhvr>
                                        <p:cTn id="12" dur="500" fill="hold"/>
                                        <p:tgtEl>
                                          <p:spTgt spid="166917"/>
                                        </p:tgtEl>
                                        <p:attrNameLst>
                                          <p:attrName>ppt_w</p:attrName>
                                        </p:attrNameLst>
                                      </p:cBhvr>
                                      <p:tavLst>
                                        <p:tav tm="0">
                                          <p:val>
                                            <p:fltVal val="0"/>
                                          </p:val>
                                        </p:tav>
                                        <p:tav tm="100000">
                                          <p:val>
                                            <p:strVal val="#ppt_w"/>
                                          </p:val>
                                        </p:tav>
                                      </p:tavLst>
                                    </p:anim>
                                    <p:anim calcmode="lin" valueType="num">
                                      <p:cBhvr>
                                        <p:cTn id="13" dur="500" fill="hold"/>
                                        <p:tgtEl>
                                          <p:spTgt spid="166917"/>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vertic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8005"/>
                                        </p:tgtEl>
                                        <p:attrNameLst>
                                          <p:attrName>style.visibility</p:attrName>
                                        </p:attrNameLst>
                                      </p:cBhvr>
                                      <p:to>
                                        <p:strVal val="visible"/>
                                      </p:to>
                                    </p:set>
                                    <p:animEffect transition="in" filter="wipe(left)">
                                      <p:cBhvr>
                                        <p:cTn id="23" dur="500"/>
                                        <p:tgtEl>
                                          <p:spTgt spid="168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7" grpId="0"/>
      <p:bldP spid="33794" grpId="0" bldLvl="0" animBg="1"/>
      <p:bldP spid="16800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组合 92"/>
          <p:cNvGrpSpPr/>
          <p:nvPr/>
        </p:nvGrpSpPr>
        <p:grpSpPr>
          <a:xfrm>
            <a:off x="537844" y="325915"/>
            <a:ext cx="2684612" cy="2451155"/>
            <a:chOff x="336" y="384"/>
            <a:chExt cx="1632" cy="1914"/>
          </a:xfrm>
        </p:grpSpPr>
        <p:sp>
          <p:nvSpPr>
            <p:cNvPr id="1048616" name="Line 30"/>
            <p:cNvSpPr/>
            <p:nvPr/>
          </p:nvSpPr>
          <p:spPr>
            <a:xfrm>
              <a:off x="720" y="1200"/>
              <a:ext cx="0" cy="240"/>
            </a:xfrm>
            <a:prstGeom prst="line">
              <a:avLst/>
            </a:prstGeom>
            <a:noFill/>
            <a:ln w="22225" cap="flat" cmpd="sng">
              <a:solidFill>
                <a:schemeClr val="dk1">
                  <a:alpha val="100000"/>
                </a:schemeClr>
              </a:solidFill>
              <a:prstDash val="solid"/>
              <a:round/>
            </a:ln>
          </p:spPr>
        </p:sp>
        <p:sp>
          <p:nvSpPr>
            <p:cNvPr id="1048617" name="Line 31"/>
            <p:cNvSpPr/>
            <p:nvPr/>
          </p:nvSpPr>
          <p:spPr>
            <a:xfrm>
              <a:off x="576" y="1200"/>
              <a:ext cx="144" cy="0"/>
            </a:xfrm>
            <a:prstGeom prst="line">
              <a:avLst/>
            </a:prstGeom>
            <a:noFill/>
            <a:ln w="9525" cap="flat" cmpd="sng">
              <a:solidFill>
                <a:schemeClr val="dk1">
                  <a:alpha val="100000"/>
                </a:schemeClr>
              </a:solidFill>
              <a:prstDash val="solid"/>
              <a:round/>
            </a:ln>
          </p:spPr>
        </p:sp>
        <p:grpSp>
          <p:nvGrpSpPr>
            <p:cNvPr id="94" name="组合 93"/>
            <p:cNvGrpSpPr/>
            <p:nvPr/>
          </p:nvGrpSpPr>
          <p:grpSpPr>
            <a:xfrm>
              <a:off x="336" y="384"/>
              <a:ext cx="1632" cy="1914"/>
              <a:chOff x="336" y="384"/>
              <a:chExt cx="1632" cy="1914"/>
            </a:xfrm>
          </p:grpSpPr>
          <p:grpSp>
            <p:nvGrpSpPr>
              <p:cNvPr id="95" name="组合 94"/>
              <p:cNvGrpSpPr/>
              <p:nvPr/>
            </p:nvGrpSpPr>
            <p:grpSpPr>
              <a:xfrm>
                <a:off x="336" y="384"/>
                <a:ext cx="1632" cy="1536"/>
                <a:chOff x="336" y="384"/>
                <a:chExt cx="1632" cy="1536"/>
              </a:xfrm>
            </p:grpSpPr>
            <p:sp>
              <p:nvSpPr>
                <p:cNvPr id="1048618" name="AutoShape 34"/>
                <p:cNvSpPr/>
                <p:nvPr/>
              </p:nvSpPr>
              <p:spPr>
                <a:xfrm>
                  <a:off x="336" y="1440"/>
                  <a:ext cx="1632" cy="480"/>
                </a:xfrm>
                <a:prstGeom prst="roundRect">
                  <a:avLst/>
                </a:prstGeom>
                <a:noFill/>
                <a:ln w="28575" cap="flat" cmpd="sng">
                  <a:solidFill>
                    <a:schemeClr val="dk1">
                      <a:alpha val="100000"/>
                    </a:schemeClr>
                  </a:solidFill>
                  <a:prstDash val="solid"/>
                  <a:round/>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19" name="Text Box 35"/>
                <p:cNvSpPr txBox="1"/>
                <p:nvPr/>
              </p:nvSpPr>
              <p:spPr>
                <a:xfrm>
                  <a:off x="1632" y="384"/>
                  <a:ext cx="192" cy="234"/>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spcBef>
                      <a:spcPct val="50000"/>
                    </a:spcBef>
                  </a:pPr>
                  <a:r>
                    <a:rPr lang="en-US" altLang="zh-CN" sz="1500" i="1">
                      <a:ea typeface="宋体" panose="02010600030101010101" pitchFamily="2" charset="-122"/>
                    </a:rPr>
                    <a:t>p</a:t>
                  </a:r>
                </a:p>
              </p:txBody>
            </p:sp>
          </p:grpSp>
          <p:grpSp>
            <p:nvGrpSpPr>
              <p:cNvPr id="96" name="组合 95"/>
              <p:cNvGrpSpPr/>
              <p:nvPr/>
            </p:nvGrpSpPr>
            <p:grpSpPr>
              <a:xfrm>
                <a:off x="336" y="576"/>
                <a:ext cx="1632" cy="1722"/>
                <a:chOff x="336" y="576"/>
                <a:chExt cx="1632" cy="1722"/>
              </a:xfrm>
            </p:grpSpPr>
            <p:sp>
              <p:nvSpPr>
                <p:cNvPr id="1048620" name="Line 37"/>
                <p:cNvSpPr/>
                <p:nvPr/>
              </p:nvSpPr>
              <p:spPr>
                <a:xfrm flipH="1">
                  <a:off x="1248" y="864"/>
                  <a:ext cx="528" cy="0"/>
                </a:xfrm>
                <a:prstGeom prst="line">
                  <a:avLst/>
                </a:prstGeom>
                <a:noFill/>
                <a:ln w="19050" cap="flat" cmpd="sng">
                  <a:solidFill>
                    <a:schemeClr val="dk1">
                      <a:alpha val="100000"/>
                    </a:schemeClr>
                  </a:solidFill>
                  <a:prstDash val="dash"/>
                  <a:round/>
                </a:ln>
              </p:spPr>
            </p:sp>
            <p:grpSp>
              <p:nvGrpSpPr>
                <p:cNvPr id="97" name="组合 96"/>
                <p:cNvGrpSpPr/>
                <p:nvPr/>
              </p:nvGrpSpPr>
              <p:grpSpPr>
                <a:xfrm>
                  <a:off x="336" y="720"/>
                  <a:ext cx="1632" cy="1200"/>
                  <a:chOff x="432" y="2256"/>
                  <a:chExt cx="1632" cy="1200"/>
                </a:xfrm>
              </p:grpSpPr>
              <p:grpSp>
                <p:nvGrpSpPr>
                  <p:cNvPr id="98" name="组合 97"/>
                  <p:cNvGrpSpPr/>
                  <p:nvPr/>
                </p:nvGrpSpPr>
                <p:grpSpPr>
                  <a:xfrm>
                    <a:off x="432" y="2256"/>
                    <a:ext cx="1632" cy="1200"/>
                    <a:chOff x="432" y="2256"/>
                    <a:chExt cx="1632" cy="1200"/>
                  </a:xfrm>
                </p:grpSpPr>
                <p:grpSp>
                  <p:nvGrpSpPr>
                    <p:cNvPr id="99" name="组合 98"/>
                    <p:cNvGrpSpPr/>
                    <p:nvPr/>
                  </p:nvGrpSpPr>
                  <p:grpSpPr>
                    <a:xfrm>
                      <a:off x="432" y="2256"/>
                      <a:ext cx="1632" cy="1200"/>
                      <a:chOff x="432" y="2256"/>
                      <a:chExt cx="1632" cy="1200"/>
                    </a:xfrm>
                  </p:grpSpPr>
                  <p:grpSp>
                    <p:nvGrpSpPr>
                      <p:cNvPr id="100" name="组合 99"/>
                      <p:cNvGrpSpPr/>
                      <p:nvPr/>
                    </p:nvGrpSpPr>
                    <p:grpSpPr>
                      <a:xfrm>
                        <a:off x="432" y="2256"/>
                        <a:ext cx="1632" cy="1200"/>
                        <a:chOff x="432" y="2256"/>
                        <a:chExt cx="1632" cy="1200"/>
                      </a:xfrm>
                    </p:grpSpPr>
                    <p:grpSp>
                      <p:nvGrpSpPr>
                        <p:cNvPr id="101" name="组合 100"/>
                        <p:cNvGrpSpPr/>
                        <p:nvPr/>
                      </p:nvGrpSpPr>
                      <p:grpSpPr>
                        <a:xfrm>
                          <a:off x="432" y="2256"/>
                          <a:ext cx="1632" cy="1200"/>
                          <a:chOff x="432" y="2256"/>
                          <a:chExt cx="1632" cy="1200"/>
                        </a:xfrm>
                      </p:grpSpPr>
                      <p:grpSp>
                        <p:nvGrpSpPr>
                          <p:cNvPr id="102" name="组合 101"/>
                          <p:cNvGrpSpPr/>
                          <p:nvPr/>
                        </p:nvGrpSpPr>
                        <p:grpSpPr>
                          <a:xfrm>
                            <a:off x="432" y="2256"/>
                            <a:ext cx="1632" cy="1200"/>
                            <a:chOff x="432" y="2256"/>
                            <a:chExt cx="1632" cy="1200"/>
                          </a:xfrm>
                        </p:grpSpPr>
                        <p:sp>
                          <p:nvSpPr>
                            <p:cNvPr id="1048621" name="Rectangle 44"/>
                            <p:cNvSpPr/>
                            <p:nvPr/>
                          </p:nvSpPr>
                          <p:spPr>
                            <a:xfrm>
                              <a:off x="672" y="2448"/>
                              <a:ext cx="144" cy="528"/>
                            </a:xfrm>
                            <a:prstGeom prst="rect">
                              <a:avLst/>
                            </a:prstGeom>
                            <a:noFill/>
                            <a:ln w="28575" cap="flat" cmpd="sng">
                              <a:solidFill>
                                <a:schemeClr val="dk1">
                                  <a:alpha val="100000"/>
                                </a:schemeClr>
                              </a:solidFill>
                              <a:prstDash val="solid"/>
                              <a:round/>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22" name="Rectangle 45"/>
                            <p:cNvSpPr/>
                            <p:nvPr/>
                          </p:nvSpPr>
                          <p:spPr>
                            <a:xfrm>
                              <a:off x="1728" y="2256"/>
                              <a:ext cx="144" cy="720"/>
                            </a:xfrm>
                            <a:prstGeom prst="rect">
                              <a:avLst/>
                            </a:prstGeom>
                            <a:noFill/>
                            <a:ln w="28575" cap="flat" cmpd="sng">
                              <a:solidFill>
                                <a:schemeClr val="dk1">
                                  <a:alpha val="100000"/>
                                </a:schemeClr>
                              </a:solidFill>
                              <a:prstDash val="solid"/>
                              <a:round/>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23" name="Rectangle 46"/>
                            <p:cNvSpPr/>
                            <p:nvPr/>
                          </p:nvSpPr>
                          <p:spPr>
                            <a:xfrm>
                              <a:off x="672" y="2736"/>
                              <a:ext cx="144" cy="384"/>
                            </a:xfrm>
                            <a:prstGeom prst="rect">
                              <a:avLst/>
                            </a:prstGeom>
                            <a:solidFill>
                              <a:srgbClr val="CCFFFF"/>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24" name="AutoShape 47"/>
                            <p:cNvSpPr/>
                            <p:nvPr/>
                          </p:nvSpPr>
                          <p:spPr>
                            <a:xfrm>
                              <a:off x="432" y="2976"/>
                              <a:ext cx="816" cy="480"/>
                            </a:xfrm>
                            <a:prstGeom prst="roundRect">
                              <a:avLst/>
                            </a:prstGeom>
                            <a:solidFill>
                              <a:srgbClr val="CCFFFF"/>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25" name="AutoShape 48"/>
                            <p:cNvSpPr/>
                            <p:nvPr/>
                          </p:nvSpPr>
                          <p:spPr>
                            <a:xfrm>
                              <a:off x="1248" y="2976"/>
                              <a:ext cx="816" cy="480"/>
                            </a:xfrm>
                            <a:prstGeom prst="roundRect">
                              <a:avLst/>
                            </a:prstGeom>
                            <a:solidFill>
                              <a:srgbClr val="CCFFCC"/>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grpSp>
                      <p:sp>
                        <p:nvSpPr>
                          <p:cNvPr id="1048626" name="Rectangle 49"/>
                          <p:cNvSpPr/>
                          <p:nvPr/>
                        </p:nvSpPr>
                        <p:spPr>
                          <a:xfrm>
                            <a:off x="1728" y="2400"/>
                            <a:ext cx="144" cy="624"/>
                          </a:xfrm>
                          <a:prstGeom prst="rect">
                            <a:avLst/>
                          </a:prstGeom>
                          <a:solidFill>
                            <a:srgbClr val="CCFFCC"/>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grpSp>
                    <p:sp>
                      <p:nvSpPr>
                        <p:cNvPr id="1048627" name="Rectangle 50" descr="花岗岩"/>
                        <p:cNvSpPr/>
                        <p:nvPr/>
                      </p:nvSpPr>
                      <p:spPr>
                        <a:xfrm>
                          <a:off x="1248" y="2976"/>
                          <a:ext cx="48" cy="480"/>
                        </a:xfrm>
                        <a:prstGeom prst="rect">
                          <a:avLst/>
                        </a:prstGeom>
                        <a:blipFill rotWithShape="0">
                          <a:blip r:embed="rId2"/>
                          <a:srcRect/>
                          <a:tile tx="0" ty="0" sx="100000" sy="100000" flip="none" algn="tl"/>
                        </a:blipFill>
                        <a:ln w="12700" cap="flat" cmpd="sng">
                          <a:solidFill>
                            <a:schemeClr val="dk1">
                              <a:alpha val="100000"/>
                            </a:schemeClr>
                          </a:solidFill>
                          <a:prstDash val="solid"/>
                          <a:round/>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grpSp>
                  <p:sp>
                    <p:nvSpPr>
                      <p:cNvPr id="1048628" name="Line 51"/>
                      <p:cNvSpPr/>
                      <p:nvPr/>
                    </p:nvSpPr>
                    <p:spPr>
                      <a:xfrm>
                        <a:off x="1728" y="2400"/>
                        <a:ext cx="144" cy="0"/>
                      </a:xfrm>
                      <a:prstGeom prst="line">
                        <a:avLst/>
                      </a:prstGeom>
                      <a:noFill/>
                      <a:ln w="9525" cap="flat" cmpd="sng">
                        <a:solidFill>
                          <a:schemeClr val="dk1">
                            <a:alpha val="100000"/>
                          </a:schemeClr>
                        </a:solidFill>
                        <a:prstDash val="solid"/>
                        <a:round/>
                      </a:ln>
                    </p:spPr>
                  </p:sp>
                </p:grpSp>
                <p:sp>
                  <p:nvSpPr>
                    <p:cNvPr id="1048629" name="Line 52"/>
                    <p:cNvSpPr/>
                    <p:nvPr/>
                  </p:nvSpPr>
                  <p:spPr>
                    <a:xfrm>
                      <a:off x="672" y="2736"/>
                      <a:ext cx="144" cy="0"/>
                    </a:xfrm>
                    <a:prstGeom prst="line">
                      <a:avLst/>
                    </a:prstGeom>
                    <a:noFill/>
                    <a:ln w="9525" cap="flat" cmpd="sng">
                      <a:solidFill>
                        <a:schemeClr val="dk1">
                          <a:alpha val="100000"/>
                        </a:schemeClr>
                      </a:solidFill>
                      <a:prstDash val="solid"/>
                      <a:round/>
                    </a:ln>
                  </p:spPr>
                </p:sp>
              </p:grpSp>
              <p:sp>
                <p:nvSpPr>
                  <p:cNvPr id="1048630" name="Text Box 53"/>
                  <p:cNvSpPr txBox="1"/>
                  <p:nvPr/>
                </p:nvSpPr>
                <p:spPr>
                  <a:xfrm>
                    <a:off x="576" y="3168"/>
                    <a:ext cx="480" cy="234"/>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spcBef>
                        <a:spcPct val="50000"/>
                      </a:spcBef>
                    </a:pPr>
                    <a:r>
                      <a:rPr lang="zh-CN" altLang="en-US" sz="1500">
                        <a:ea typeface="宋体" panose="02010600030101010101" pitchFamily="2" charset="-122"/>
                      </a:rPr>
                      <a:t>溶剂</a:t>
                    </a:r>
                  </a:p>
                </p:txBody>
              </p:sp>
              <p:sp>
                <p:nvSpPr>
                  <p:cNvPr id="1048631" name="Rectangle 54"/>
                  <p:cNvSpPr/>
                  <p:nvPr/>
                </p:nvSpPr>
                <p:spPr>
                  <a:xfrm>
                    <a:off x="1440" y="3168"/>
                    <a:ext cx="318" cy="234"/>
                  </a:xfrm>
                  <a:prstGeom prst="rect">
                    <a:avLst/>
                  </a:prstGeom>
                  <a:noFill/>
                  <a:ln>
                    <a:noFill/>
                  </a:ln>
                </p:spPr>
                <p:txBody>
                  <a:bodyPr vert="horz" wrap="none"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r>
                      <a:rPr lang="zh-CN" altLang="en-US" sz="1500">
                        <a:ea typeface="宋体" panose="02010600030101010101" pitchFamily="2" charset="-122"/>
                      </a:rPr>
                      <a:t>溶液</a:t>
                    </a:r>
                  </a:p>
                </p:txBody>
              </p:sp>
            </p:grpSp>
            <p:sp>
              <p:nvSpPr>
                <p:cNvPr id="1048632" name="Text Box 55"/>
                <p:cNvSpPr txBox="1"/>
                <p:nvPr/>
              </p:nvSpPr>
              <p:spPr>
                <a:xfrm>
                  <a:off x="384" y="2064"/>
                  <a:ext cx="672" cy="234"/>
                </a:xfrm>
                <a:prstGeom prst="rect">
                  <a:avLst/>
                </a:prstGeom>
                <a:noFill/>
                <a:ln w="9525" cap="flat" cmpd="sng">
                  <a:solidFill>
                    <a:schemeClr val="dk1">
                      <a:alpha val="100000"/>
                    </a:schemeClr>
                  </a:solidFill>
                  <a:prstDash val="solid"/>
                  <a:round/>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spcBef>
                      <a:spcPct val="50000"/>
                    </a:spcBef>
                  </a:pPr>
                  <a:r>
                    <a:rPr lang="zh-CN" altLang="en-US" sz="1500">
                      <a:ea typeface="宋体" panose="02010600030101010101" pitchFamily="2" charset="-122"/>
                    </a:rPr>
                    <a:t>半透膜</a:t>
                  </a:r>
                </a:p>
              </p:txBody>
            </p:sp>
            <p:sp>
              <p:nvSpPr>
                <p:cNvPr id="1048633" name="Line 56"/>
                <p:cNvSpPr/>
                <p:nvPr/>
              </p:nvSpPr>
              <p:spPr>
                <a:xfrm flipV="1">
                  <a:off x="1008" y="1920"/>
                  <a:ext cx="144" cy="144"/>
                </a:xfrm>
                <a:prstGeom prst="line">
                  <a:avLst/>
                </a:prstGeom>
                <a:noFill/>
                <a:ln w="28575" cap="flat" cmpd="sng">
                  <a:solidFill>
                    <a:srgbClr val="FF6600">
                      <a:alpha val="100000"/>
                    </a:srgbClr>
                  </a:solidFill>
                  <a:prstDash val="solid"/>
                  <a:round/>
                  <a:tailEnd type="triangle" w="med" len="med"/>
                </a:ln>
              </p:spPr>
            </p:sp>
            <p:sp>
              <p:nvSpPr>
                <p:cNvPr id="1048634" name="Line 57"/>
                <p:cNvSpPr/>
                <p:nvPr/>
              </p:nvSpPr>
              <p:spPr>
                <a:xfrm>
                  <a:off x="576" y="1200"/>
                  <a:ext cx="1056" cy="0"/>
                </a:xfrm>
                <a:prstGeom prst="line">
                  <a:avLst/>
                </a:prstGeom>
                <a:noFill/>
                <a:ln w="19050" cap="flat" cmpd="sng">
                  <a:solidFill>
                    <a:schemeClr val="dk1">
                      <a:alpha val="100000"/>
                    </a:schemeClr>
                  </a:solidFill>
                  <a:prstDash val="lgDash"/>
                  <a:round/>
                </a:ln>
              </p:spPr>
            </p:sp>
            <p:sp>
              <p:nvSpPr>
                <p:cNvPr id="1048635" name="Line 58"/>
                <p:cNvSpPr/>
                <p:nvPr/>
              </p:nvSpPr>
              <p:spPr>
                <a:xfrm>
                  <a:off x="1680" y="624"/>
                  <a:ext cx="0" cy="240"/>
                </a:xfrm>
                <a:prstGeom prst="line">
                  <a:avLst/>
                </a:prstGeom>
                <a:noFill/>
                <a:ln w="28575" cap="flat" cmpd="sng">
                  <a:solidFill>
                    <a:schemeClr val="dk1">
                      <a:alpha val="100000"/>
                    </a:schemeClr>
                  </a:solidFill>
                  <a:prstDash val="solid"/>
                  <a:round/>
                  <a:tailEnd type="triangle" w="med" len="med"/>
                </a:ln>
              </p:spPr>
            </p:sp>
            <p:sp>
              <p:nvSpPr>
                <p:cNvPr id="1048636" name="Line 59"/>
                <p:cNvSpPr/>
                <p:nvPr/>
              </p:nvSpPr>
              <p:spPr>
                <a:xfrm flipV="1">
                  <a:off x="1344" y="864"/>
                  <a:ext cx="0" cy="144"/>
                </a:xfrm>
                <a:prstGeom prst="line">
                  <a:avLst/>
                </a:prstGeom>
                <a:noFill/>
                <a:ln w="19050" cap="flat" cmpd="sng">
                  <a:solidFill>
                    <a:schemeClr val="dk1">
                      <a:alpha val="100000"/>
                    </a:schemeClr>
                  </a:solidFill>
                  <a:prstDash val="solid"/>
                  <a:round/>
                  <a:tailEnd type="triangle" w="med" len="med"/>
                </a:ln>
              </p:spPr>
            </p:sp>
            <p:sp>
              <p:nvSpPr>
                <p:cNvPr id="1048637" name="Line 60"/>
                <p:cNvSpPr/>
                <p:nvPr/>
              </p:nvSpPr>
              <p:spPr>
                <a:xfrm>
                  <a:off x="1344" y="1056"/>
                  <a:ext cx="0" cy="144"/>
                </a:xfrm>
                <a:prstGeom prst="line">
                  <a:avLst/>
                </a:prstGeom>
                <a:noFill/>
                <a:ln w="19050" cap="flat" cmpd="sng">
                  <a:solidFill>
                    <a:schemeClr val="dk1">
                      <a:alpha val="100000"/>
                    </a:schemeClr>
                  </a:solidFill>
                  <a:prstDash val="solid"/>
                  <a:round/>
                  <a:tailEnd type="triangle" w="med" len="med"/>
                </a:ln>
              </p:spPr>
            </p:sp>
            <p:sp>
              <p:nvSpPr>
                <p:cNvPr id="1048638" name="Text Box 61"/>
                <p:cNvSpPr txBox="1"/>
                <p:nvPr/>
              </p:nvSpPr>
              <p:spPr>
                <a:xfrm>
                  <a:off x="1152" y="912"/>
                  <a:ext cx="240" cy="234"/>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spcBef>
                      <a:spcPct val="50000"/>
                    </a:spcBef>
                  </a:pPr>
                  <a:r>
                    <a:rPr lang="en-US" altLang="zh-CN" sz="1500" i="1">
                      <a:ea typeface="宋体" panose="02010600030101010101" pitchFamily="2" charset="-122"/>
                    </a:rPr>
                    <a:t>h</a:t>
                  </a:r>
                </a:p>
              </p:txBody>
            </p:sp>
            <p:sp>
              <p:nvSpPr>
                <p:cNvPr id="1048639" name="Rectangle 62"/>
                <p:cNvSpPr/>
                <p:nvPr/>
              </p:nvSpPr>
              <p:spPr>
                <a:xfrm>
                  <a:off x="576" y="576"/>
                  <a:ext cx="143" cy="234"/>
                </a:xfrm>
                <a:prstGeom prst="rect">
                  <a:avLst/>
                </a:prstGeom>
                <a:noFill/>
                <a:ln>
                  <a:noFill/>
                </a:ln>
              </p:spPr>
              <p:txBody>
                <a:bodyPr vert="horz" wrap="none"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r>
                    <a:rPr lang="en-US" altLang="zh-CN" sz="1500" i="1">
                      <a:ea typeface="宋体" panose="02010600030101010101" pitchFamily="2" charset="-122"/>
                    </a:rPr>
                    <a:t>p</a:t>
                  </a:r>
                </a:p>
              </p:txBody>
            </p:sp>
            <p:sp>
              <p:nvSpPr>
                <p:cNvPr id="1048640" name="Line 63"/>
                <p:cNvSpPr/>
                <p:nvPr/>
              </p:nvSpPr>
              <p:spPr>
                <a:xfrm>
                  <a:off x="624" y="816"/>
                  <a:ext cx="0" cy="384"/>
                </a:xfrm>
                <a:prstGeom prst="line">
                  <a:avLst/>
                </a:prstGeom>
                <a:noFill/>
                <a:ln w="19050" cap="flat" cmpd="sng">
                  <a:solidFill>
                    <a:schemeClr val="dk1">
                      <a:alpha val="100000"/>
                    </a:schemeClr>
                  </a:solidFill>
                  <a:prstDash val="solid"/>
                  <a:round/>
                  <a:tailEnd type="triangle" w="med" len="med"/>
                </a:ln>
              </p:spPr>
            </p:sp>
          </p:grpSp>
        </p:grpSp>
      </p:grpSp>
      <p:grpSp>
        <p:nvGrpSpPr>
          <p:cNvPr id="91" name="组合 90"/>
          <p:cNvGrpSpPr/>
          <p:nvPr/>
        </p:nvGrpSpPr>
        <p:grpSpPr>
          <a:xfrm>
            <a:off x="419740" y="2787811"/>
            <a:ext cx="2762251" cy="2014172"/>
            <a:chOff x="384" y="2448"/>
            <a:chExt cx="1688" cy="1561"/>
          </a:xfrm>
        </p:grpSpPr>
        <p:sp>
          <p:nvSpPr>
            <p:cNvPr id="1048593" name="Line 5"/>
            <p:cNvSpPr/>
            <p:nvPr/>
          </p:nvSpPr>
          <p:spPr>
            <a:xfrm>
              <a:off x="672" y="2928"/>
              <a:ext cx="144" cy="0"/>
            </a:xfrm>
            <a:prstGeom prst="line">
              <a:avLst/>
            </a:prstGeom>
            <a:noFill/>
            <a:ln w="9525" cap="flat" cmpd="sng">
              <a:solidFill>
                <a:schemeClr val="dk1">
                  <a:alpha val="100000"/>
                </a:schemeClr>
              </a:solidFill>
              <a:prstDash val="solid"/>
              <a:round/>
            </a:ln>
          </p:spPr>
        </p:sp>
        <p:sp>
          <p:nvSpPr>
            <p:cNvPr id="1048594" name="Line 6"/>
            <p:cNvSpPr/>
            <p:nvPr/>
          </p:nvSpPr>
          <p:spPr>
            <a:xfrm>
              <a:off x="672" y="2928"/>
              <a:ext cx="144" cy="0"/>
            </a:xfrm>
            <a:prstGeom prst="line">
              <a:avLst/>
            </a:prstGeom>
            <a:noFill/>
            <a:ln w="9525" cap="flat" cmpd="sng">
              <a:solidFill>
                <a:schemeClr val="dk1">
                  <a:alpha val="100000"/>
                </a:schemeClr>
              </a:solidFill>
              <a:prstDash val="solid"/>
              <a:round/>
            </a:ln>
          </p:spPr>
        </p:sp>
        <p:sp>
          <p:nvSpPr>
            <p:cNvPr id="1048595" name="Line 7"/>
            <p:cNvSpPr/>
            <p:nvPr/>
          </p:nvSpPr>
          <p:spPr>
            <a:xfrm>
              <a:off x="1734" y="2928"/>
              <a:ext cx="145" cy="0"/>
            </a:xfrm>
            <a:prstGeom prst="line">
              <a:avLst/>
            </a:prstGeom>
            <a:noFill/>
            <a:ln w="28575" cap="flat" cmpd="sng">
              <a:solidFill>
                <a:schemeClr val="dk1">
                  <a:alpha val="100000"/>
                </a:schemeClr>
              </a:solidFill>
              <a:prstDash val="solid"/>
              <a:round/>
            </a:ln>
          </p:spPr>
        </p:sp>
        <p:sp>
          <p:nvSpPr>
            <p:cNvPr id="1048596" name="Line 8"/>
            <p:cNvSpPr/>
            <p:nvPr/>
          </p:nvSpPr>
          <p:spPr>
            <a:xfrm>
              <a:off x="818" y="2928"/>
              <a:ext cx="0" cy="240"/>
            </a:xfrm>
            <a:prstGeom prst="line">
              <a:avLst/>
            </a:prstGeom>
            <a:noFill/>
            <a:ln w="28575" cap="flat" cmpd="sng">
              <a:solidFill>
                <a:schemeClr val="dk1">
                  <a:alpha val="100000"/>
                </a:schemeClr>
              </a:solidFill>
              <a:prstDash val="solid"/>
              <a:round/>
            </a:ln>
          </p:spPr>
        </p:sp>
        <p:sp>
          <p:nvSpPr>
            <p:cNvPr id="1048597" name="AutoShape 9"/>
            <p:cNvSpPr/>
            <p:nvPr/>
          </p:nvSpPr>
          <p:spPr>
            <a:xfrm>
              <a:off x="432" y="3168"/>
              <a:ext cx="1640" cy="480"/>
            </a:xfrm>
            <a:prstGeom prst="roundRect">
              <a:avLst/>
            </a:prstGeom>
            <a:noFill/>
            <a:ln w="28575" cap="flat" cmpd="sng">
              <a:solidFill>
                <a:schemeClr val="dk1">
                  <a:alpha val="100000"/>
                </a:schemeClr>
              </a:solidFill>
              <a:prstDash val="solid"/>
              <a:round/>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598" name="Line 10"/>
            <p:cNvSpPr/>
            <p:nvPr/>
          </p:nvSpPr>
          <p:spPr>
            <a:xfrm>
              <a:off x="673" y="2928"/>
              <a:ext cx="1061" cy="0"/>
            </a:xfrm>
            <a:prstGeom prst="line">
              <a:avLst/>
            </a:prstGeom>
            <a:noFill/>
            <a:ln w="28575" cap="flat" cmpd="sng">
              <a:solidFill>
                <a:schemeClr val="dk1">
                  <a:alpha val="100000"/>
                </a:schemeClr>
              </a:solidFill>
              <a:prstDash val="lgDash"/>
              <a:round/>
            </a:ln>
          </p:spPr>
        </p:sp>
        <p:sp>
          <p:nvSpPr>
            <p:cNvPr id="1048599" name="Text Box 11"/>
            <p:cNvSpPr txBox="1"/>
            <p:nvPr/>
          </p:nvSpPr>
          <p:spPr>
            <a:xfrm>
              <a:off x="528" y="3776"/>
              <a:ext cx="672" cy="233"/>
            </a:xfrm>
            <a:prstGeom prst="rect">
              <a:avLst/>
            </a:prstGeom>
            <a:noFill/>
            <a:ln w="9525" cap="flat" cmpd="sng">
              <a:solidFill>
                <a:schemeClr val="dk1">
                  <a:alpha val="100000"/>
                </a:schemeClr>
              </a:solidFill>
              <a:prstDash val="solid"/>
              <a:round/>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spcBef>
                  <a:spcPct val="50000"/>
                </a:spcBef>
              </a:pPr>
              <a:r>
                <a:rPr lang="zh-CN" altLang="en-US" sz="1500">
                  <a:ea typeface="宋体" panose="02010600030101010101" pitchFamily="2" charset="-122"/>
                </a:rPr>
                <a:t>半透膜</a:t>
              </a:r>
            </a:p>
          </p:txBody>
        </p:sp>
        <p:sp>
          <p:nvSpPr>
            <p:cNvPr id="1048600" name="Line 12"/>
            <p:cNvSpPr/>
            <p:nvPr/>
          </p:nvSpPr>
          <p:spPr>
            <a:xfrm flipV="1">
              <a:off x="1104" y="3648"/>
              <a:ext cx="144" cy="144"/>
            </a:xfrm>
            <a:prstGeom prst="line">
              <a:avLst/>
            </a:prstGeom>
            <a:noFill/>
            <a:ln w="28575" cap="flat" cmpd="sng">
              <a:solidFill>
                <a:srgbClr val="FF6600">
                  <a:alpha val="100000"/>
                </a:srgbClr>
              </a:solidFill>
              <a:prstDash val="solid"/>
              <a:round/>
              <a:tailEnd type="triangle" w="med" len="med"/>
            </a:ln>
          </p:spPr>
        </p:sp>
        <p:sp>
          <p:nvSpPr>
            <p:cNvPr id="1048601" name="Line 13"/>
            <p:cNvSpPr/>
            <p:nvPr/>
          </p:nvSpPr>
          <p:spPr>
            <a:xfrm flipV="1">
              <a:off x="528" y="2784"/>
              <a:ext cx="192" cy="0"/>
            </a:xfrm>
            <a:prstGeom prst="line">
              <a:avLst/>
            </a:prstGeom>
            <a:noFill/>
            <a:ln w="19050" cap="flat" cmpd="sng">
              <a:solidFill>
                <a:schemeClr val="accent2">
                  <a:alpha val="100000"/>
                </a:schemeClr>
              </a:solidFill>
              <a:prstDash val="solid"/>
              <a:round/>
              <a:tailEnd type="triangle" w="med" len="med"/>
            </a:ln>
          </p:spPr>
        </p:sp>
        <p:sp>
          <p:nvSpPr>
            <p:cNvPr id="1048602" name="Line 14"/>
            <p:cNvSpPr/>
            <p:nvPr/>
          </p:nvSpPr>
          <p:spPr>
            <a:xfrm>
              <a:off x="1776" y="2688"/>
              <a:ext cx="0" cy="240"/>
            </a:xfrm>
            <a:prstGeom prst="line">
              <a:avLst/>
            </a:prstGeom>
            <a:noFill/>
            <a:ln w="28575" cap="flat" cmpd="sng">
              <a:solidFill>
                <a:schemeClr val="dk1">
                  <a:alpha val="100000"/>
                </a:schemeClr>
              </a:solidFill>
              <a:prstDash val="solid"/>
              <a:round/>
              <a:tailEnd type="triangle" w="med" len="med"/>
            </a:ln>
          </p:spPr>
        </p:sp>
        <p:sp>
          <p:nvSpPr>
            <p:cNvPr id="1048603" name="Text Box 15"/>
            <p:cNvSpPr txBox="1"/>
            <p:nvPr/>
          </p:nvSpPr>
          <p:spPr>
            <a:xfrm>
              <a:off x="1104" y="2640"/>
              <a:ext cx="480" cy="215"/>
            </a:xfrm>
            <a:prstGeom prst="rect">
              <a:avLst/>
            </a:prstGeom>
            <a:noFill/>
            <a:ln>
              <a:noFill/>
            </a:ln>
          </p:spPr>
          <p:txBody>
            <a:bodyPr vert="horz" lIns="0" tIns="0" rIns="0" bIns="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spcBef>
                  <a:spcPct val="50000"/>
                </a:spcBef>
              </a:pPr>
              <a:r>
                <a:rPr lang="zh-CN" altLang="en-US" sz="1500" i="1">
                  <a:ea typeface="宋体" panose="02010600030101010101" pitchFamily="2" charset="-122"/>
                </a:rPr>
                <a:t>   </a:t>
              </a:r>
              <a:r>
                <a:rPr lang="en-US" altLang="zh-CN" sz="1500" i="1">
                  <a:ea typeface="宋体" panose="02010600030101010101" pitchFamily="2" charset="-122"/>
                </a:rPr>
                <a:t>p </a:t>
              </a:r>
              <a:r>
                <a:rPr lang="en-US" altLang="zh-CN" sz="1500">
                  <a:latin typeface="宋体" panose="02010600030101010101" pitchFamily="2" charset="-122"/>
                  <a:ea typeface="宋体" panose="02010600030101010101" pitchFamily="2" charset="-122"/>
                  <a:sym typeface="Symbol" panose="05050102010706020507" pitchFamily="18" charset="2"/>
                </a:rPr>
                <a:t>+</a:t>
              </a:r>
              <a:r>
                <a:rPr lang="en-US" altLang="zh-CN" sz="1500" i="1">
                  <a:latin typeface="宋体" panose="02010600030101010101" pitchFamily="2" charset="-122"/>
                  <a:ea typeface="宋体" panose="02010600030101010101" pitchFamily="2" charset="-122"/>
                  <a:sym typeface="Symbol" panose="05050102010706020507" pitchFamily="18" charset="2"/>
                </a:rPr>
                <a:t></a:t>
              </a:r>
              <a:r>
                <a:rPr lang="en-US" altLang="zh-CN" sz="1800" i="1">
                  <a:latin typeface="宋体" panose="02010600030101010101" pitchFamily="2" charset="-122"/>
                  <a:ea typeface="宋体" panose="02010600030101010101" pitchFamily="2" charset="-122"/>
                  <a:sym typeface="Symbol" panose="05050102010706020507" pitchFamily="18" charset="2"/>
                </a:rPr>
                <a:t> </a:t>
              </a:r>
            </a:p>
          </p:txBody>
        </p:sp>
        <p:grpSp>
          <p:nvGrpSpPr>
            <p:cNvPr id="92" name="组合 91"/>
            <p:cNvGrpSpPr/>
            <p:nvPr/>
          </p:nvGrpSpPr>
          <p:grpSpPr>
            <a:xfrm>
              <a:off x="432" y="2448"/>
              <a:ext cx="1632" cy="1200"/>
              <a:chOff x="432" y="2256"/>
              <a:chExt cx="1632" cy="1200"/>
            </a:xfrm>
          </p:grpSpPr>
          <p:sp>
            <p:nvSpPr>
              <p:cNvPr id="1048604" name="Rectangle 17"/>
              <p:cNvSpPr/>
              <p:nvPr/>
            </p:nvSpPr>
            <p:spPr>
              <a:xfrm>
                <a:off x="672" y="2448"/>
                <a:ext cx="144" cy="528"/>
              </a:xfrm>
              <a:prstGeom prst="rect">
                <a:avLst/>
              </a:prstGeom>
              <a:noFill/>
              <a:ln w="28575" cap="flat" cmpd="sng">
                <a:solidFill>
                  <a:schemeClr val="dk1">
                    <a:alpha val="100000"/>
                  </a:schemeClr>
                </a:solidFill>
                <a:prstDash val="solid"/>
                <a:round/>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05" name="Rectangle 18"/>
              <p:cNvSpPr/>
              <p:nvPr/>
            </p:nvSpPr>
            <p:spPr>
              <a:xfrm>
                <a:off x="1728" y="2256"/>
                <a:ext cx="144" cy="720"/>
              </a:xfrm>
              <a:prstGeom prst="rect">
                <a:avLst/>
              </a:prstGeom>
              <a:noFill/>
              <a:ln w="28575" cap="flat" cmpd="sng">
                <a:solidFill>
                  <a:schemeClr val="dk1">
                    <a:alpha val="100000"/>
                  </a:schemeClr>
                </a:solidFill>
                <a:prstDash val="solid"/>
                <a:round/>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06" name="Rectangle 19"/>
              <p:cNvSpPr/>
              <p:nvPr/>
            </p:nvSpPr>
            <p:spPr>
              <a:xfrm>
                <a:off x="672" y="2736"/>
                <a:ext cx="144" cy="384"/>
              </a:xfrm>
              <a:prstGeom prst="rect">
                <a:avLst/>
              </a:prstGeom>
              <a:solidFill>
                <a:srgbClr val="CCFFFF"/>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07" name="AutoShape 20"/>
              <p:cNvSpPr/>
              <p:nvPr/>
            </p:nvSpPr>
            <p:spPr>
              <a:xfrm>
                <a:off x="432" y="2976"/>
                <a:ext cx="816" cy="480"/>
              </a:xfrm>
              <a:prstGeom prst="roundRect">
                <a:avLst/>
              </a:prstGeom>
              <a:solidFill>
                <a:srgbClr val="CCFFFF"/>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08" name="AutoShape 21"/>
              <p:cNvSpPr/>
              <p:nvPr/>
            </p:nvSpPr>
            <p:spPr>
              <a:xfrm>
                <a:off x="1248" y="2976"/>
                <a:ext cx="816" cy="480"/>
              </a:xfrm>
              <a:prstGeom prst="roundRect">
                <a:avLst/>
              </a:prstGeom>
              <a:solidFill>
                <a:srgbClr val="CCFFCC"/>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grpSp>
        <p:sp>
          <p:nvSpPr>
            <p:cNvPr id="1048609" name="Rectangle 22"/>
            <p:cNvSpPr/>
            <p:nvPr/>
          </p:nvSpPr>
          <p:spPr>
            <a:xfrm>
              <a:off x="384" y="2640"/>
              <a:ext cx="143" cy="233"/>
            </a:xfrm>
            <a:prstGeom prst="rect">
              <a:avLst/>
            </a:prstGeom>
            <a:noFill/>
            <a:ln>
              <a:noFill/>
            </a:ln>
          </p:spPr>
          <p:txBody>
            <a:bodyPr vert="horz" wrap="none"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r>
                <a:rPr lang="en-US" altLang="zh-CN" sz="1500" i="1">
                  <a:ea typeface="宋体" panose="02010600030101010101" pitchFamily="2" charset="-122"/>
                </a:rPr>
                <a:t>p</a:t>
              </a:r>
            </a:p>
          </p:txBody>
        </p:sp>
        <p:sp>
          <p:nvSpPr>
            <p:cNvPr id="1048610" name="Line 23"/>
            <p:cNvSpPr/>
            <p:nvPr/>
          </p:nvSpPr>
          <p:spPr>
            <a:xfrm>
              <a:off x="720" y="2544"/>
              <a:ext cx="0" cy="384"/>
            </a:xfrm>
            <a:prstGeom prst="line">
              <a:avLst/>
            </a:prstGeom>
            <a:noFill/>
            <a:ln w="19050" cap="flat" cmpd="sng">
              <a:solidFill>
                <a:schemeClr val="dk1">
                  <a:alpha val="100000"/>
                </a:schemeClr>
              </a:solidFill>
              <a:prstDash val="solid"/>
              <a:round/>
              <a:tailEnd type="triangle" w="med" len="med"/>
            </a:ln>
          </p:spPr>
        </p:sp>
        <p:sp>
          <p:nvSpPr>
            <p:cNvPr id="1048611" name="Line 24"/>
            <p:cNvSpPr/>
            <p:nvPr/>
          </p:nvSpPr>
          <p:spPr>
            <a:xfrm>
              <a:off x="1584" y="2784"/>
              <a:ext cx="192" cy="0"/>
            </a:xfrm>
            <a:prstGeom prst="line">
              <a:avLst/>
            </a:prstGeom>
            <a:noFill/>
            <a:ln w="28575" cap="flat" cmpd="sng">
              <a:solidFill>
                <a:schemeClr val="accent1">
                  <a:alpha val="100000"/>
                </a:schemeClr>
              </a:solidFill>
              <a:prstDash val="solid"/>
              <a:round/>
              <a:tailEnd type="triangle" w="med" len="med"/>
            </a:ln>
          </p:spPr>
        </p:sp>
        <p:sp>
          <p:nvSpPr>
            <p:cNvPr id="1048612" name="Rectangle 25" descr="花岗岩"/>
            <p:cNvSpPr/>
            <p:nvPr/>
          </p:nvSpPr>
          <p:spPr>
            <a:xfrm>
              <a:off x="1248" y="3168"/>
              <a:ext cx="48" cy="480"/>
            </a:xfrm>
            <a:prstGeom prst="rect">
              <a:avLst/>
            </a:prstGeom>
            <a:blipFill rotWithShape="0">
              <a:blip r:embed="rId2"/>
              <a:srcRect/>
              <a:tile tx="0" ty="0" sx="100000" sy="100000" flip="none" algn="tl"/>
            </a:blipFill>
            <a:ln w="12700" cap="flat" cmpd="sng">
              <a:solidFill>
                <a:schemeClr val="dk1">
                  <a:alpha val="100000"/>
                </a:schemeClr>
              </a:solidFill>
              <a:prstDash val="solid"/>
              <a:round/>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sp>
          <p:nvSpPr>
            <p:cNvPr id="1048613" name="Rectangle 26"/>
            <p:cNvSpPr/>
            <p:nvPr/>
          </p:nvSpPr>
          <p:spPr>
            <a:xfrm>
              <a:off x="576" y="3264"/>
              <a:ext cx="320" cy="233"/>
            </a:xfrm>
            <a:prstGeom prst="rect">
              <a:avLst/>
            </a:prstGeom>
            <a:noFill/>
            <a:ln>
              <a:noFill/>
            </a:ln>
          </p:spPr>
          <p:txBody>
            <a:bodyPr vert="horz" wrap="none"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r>
                <a:rPr lang="zh-CN" altLang="en-US" sz="1500">
                  <a:ea typeface="宋体" panose="02010600030101010101" pitchFamily="2" charset="-122"/>
                </a:rPr>
                <a:t>溶剂</a:t>
              </a:r>
            </a:p>
          </p:txBody>
        </p:sp>
        <p:sp>
          <p:nvSpPr>
            <p:cNvPr id="1048614" name="Text Box 27"/>
            <p:cNvSpPr txBox="1"/>
            <p:nvPr/>
          </p:nvSpPr>
          <p:spPr>
            <a:xfrm>
              <a:off x="1440" y="3264"/>
              <a:ext cx="480" cy="233"/>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spcBef>
                  <a:spcPct val="50000"/>
                </a:spcBef>
              </a:pPr>
              <a:r>
                <a:rPr lang="zh-CN" altLang="en-US" sz="1500">
                  <a:ea typeface="宋体" panose="02010600030101010101" pitchFamily="2" charset="-122"/>
                </a:rPr>
                <a:t>溶液</a:t>
              </a:r>
            </a:p>
          </p:txBody>
        </p:sp>
        <p:sp>
          <p:nvSpPr>
            <p:cNvPr id="1048615" name="Rectangle 28"/>
            <p:cNvSpPr/>
            <p:nvPr/>
          </p:nvSpPr>
          <p:spPr>
            <a:xfrm>
              <a:off x="1728" y="2928"/>
              <a:ext cx="144" cy="288"/>
            </a:xfrm>
            <a:prstGeom prst="rect">
              <a:avLst/>
            </a:prstGeom>
            <a:solidFill>
              <a:srgbClr val="CCFFCC"/>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1pPr>
              <a:lvl2pPr marL="4572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2pPr>
              <a:lvl3pPr marL="9144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3pPr>
              <a:lvl4pPr marL="13716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4pPr>
              <a:lvl5pPr marL="1828800" indent="0" algn="l" rtl="0" fontAlgn="base" latinLnBrk="1">
                <a:lnSpc>
                  <a:spcPct val="100000"/>
                </a:lnSpc>
                <a:spcBef>
                  <a:spcPct val="0"/>
                </a:spcBef>
                <a:spcAft>
                  <a:spcPct val="0"/>
                </a:spcAft>
                <a:buFontTx/>
                <a:buNone/>
                <a:defRPr sz="2800" b="1" i="0" u="none" baseline="0">
                  <a:solidFill>
                    <a:schemeClr val="dk1"/>
                  </a:solidFill>
                  <a:latin typeface="Times New Roman" panose="02020603050405020304" pitchFamily="18" charset="0"/>
                  <a:ea typeface="幼圆" pitchFamily="49" charset="-122"/>
                  <a:sym typeface="Times New Roman" panose="02020603050405020304" pitchFamily="18" charset="0"/>
                </a:defRPr>
              </a:lvl5pPr>
            </a:lstStyle>
            <a:p>
              <a:pPr lvl="0" eaLnBrk="1" latinLnBrk="1" hangingPunct="1"/>
              <a:endParaRPr lang="zh-CN" altLang="en-US" sz="2100"/>
            </a:p>
          </p:txBody>
        </p:sp>
      </p:grpSp>
      <p:sp>
        <p:nvSpPr>
          <p:cNvPr id="167939" name="Rectangle 3"/>
          <p:cNvSpPr/>
          <p:nvPr/>
        </p:nvSpPr>
        <p:spPr>
          <a:xfrm>
            <a:off x="3707448" y="483871"/>
            <a:ext cx="5105400" cy="1865126"/>
          </a:xfrm>
          <a:prstGeom prst="rect">
            <a:avLst/>
          </a:prstGeom>
          <a:solidFill>
            <a:srgbClr val="FFFFFF">
              <a:shade val="85000"/>
            </a:srgbClr>
          </a:solidFill>
          <a:ln w="9525">
            <a:noFill/>
          </a:ln>
        </p:spPr>
        <p:txBody>
          <a:bodyPr anchor="t" anchorCtr="0">
            <a:spAutoFit/>
          </a:bodyPr>
          <a:lstStyle/>
          <a:p>
            <a:pPr>
              <a:lnSpc>
                <a:spcPct val="120000"/>
              </a:lnSpc>
              <a:buClrTx/>
              <a:buFontTx/>
            </a:pPr>
            <a:r>
              <a:rPr lang="zh-CN" altLang="en-US" sz="2400" dirty="0">
                <a:solidFill>
                  <a:srgbClr val="040003"/>
                </a:solidFill>
                <a:latin typeface="宋体" panose="02010600030101010101" pitchFamily="2" charset="-122"/>
                <a:ea typeface="宋体" panose="02010600030101010101" pitchFamily="2" charset="-122"/>
                <a:sym typeface="Symbol" panose="05050102010706020507" pitchFamily="18" charset="2"/>
              </a:rPr>
              <a:t>    在渗透之前，在溶液液面上施加一相当于液面所产生的额外压力，恰能使渗透作用达到平衡，则称这个外压</a:t>
            </a:r>
            <a:r>
              <a:rPr lang="zh-CN" altLang="en-US" sz="2400" dirty="0">
                <a:latin typeface="宋体" panose="02010600030101010101" pitchFamily="2" charset="-122"/>
                <a:ea typeface="宋体" panose="02010600030101010101" pitchFamily="2" charset="-122"/>
                <a:sym typeface="Symbol" panose="05050102010706020507" pitchFamily="18" charset="2"/>
              </a:rPr>
              <a:t>为</a:t>
            </a:r>
            <a:r>
              <a:rPr lang="zh-CN" altLang="en-US" sz="2400" dirty="0">
                <a:solidFill>
                  <a:srgbClr val="FF0000"/>
                </a:solidFill>
                <a:latin typeface="宋体" panose="02010600030101010101" pitchFamily="2" charset="-122"/>
                <a:ea typeface="宋体" panose="02010600030101010101" pitchFamily="2" charset="-122"/>
                <a:sym typeface="Symbol" panose="05050102010706020507" pitchFamily="18" charset="2"/>
              </a:rPr>
              <a:t>渗透压。用</a:t>
            </a:r>
            <a:r>
              <a:rPr lang="zh-CN" altLang="en-US" sz="2400" dirty="0">
                <a:solidFill>
                  <a:schemeClr val="tx2"/>
                </a:solidFill>
                <a:latin typeface="宋体" panose="02010600030101010101" pitchFamily="2" charset="-122"/>
                <a:ea typeface="宋体" panose="02010600030101010101" pitchFamily="2" charset="-122"/>
                <a:sym typeface="Symbol" panose="05050102010706020507" pitchFamily="18" charset="2"/>
              </a:rPr>
              <a:t>符号</a:t>
            </a:r>
            <a:r>
              <a:rPr lang="zh-CN" altLang="en-US" sz="2400" i="1" dirty="0">
                <a:solidFill>
                  <a:srgbClr val="FF0000"/>
                </a:solidFill>
                <a:latin typeface="宋体" panose="02010600030101010101" pitchFamily="2" charset="-122"/>
                <a:ea typeface="宋体" panose="02010600030101010101" pitchFamily="2" charset="-122"/>
                <a:sym typeface="Symbol" panose="05050102010706020507" pitchFamily="18" charset="2"/>
              </a:rPr>
              <a:t>表示</a:t>
            </a:r>
            <a:r>
              <a:rPr lang="zh-CN" altLang="en-US" sz="2400" dirty="0">
                <a:solidFill>
                  <a:schemeClr val="tx2"/>
                </a:solidFill>
                <a:latin typeface="宋体" panose="02010600030101010101" pitchFamily="2" charset="-122"/>
                <a:ea typeface="宋体" panose="02010600030101010101" pitchFamily="2" charset="-122"/>
                <a:sym typeface="Symbol" panose="05050102010706020507" pitchFamily="18" charset="2"/>
              </a:rPr>
              <a:t>。</a:t>
            </a:r>
          </a:p>
        </p:txBody>
      </p:sp>
      <p:sp>
        <p:nvSpPr>
          <p:cNvPr id="168000" name="Rectangle 64"/>
          <p:cNvSpPr/>
          <p:nvPr/>
        </p:nvSpPr>
        <p:spPr>
          <a:xfrm>
            <a:off x="5507042" y="2739393"/>
            <a:ext cx="1804533" cy="461665"/>
          </a:xfrm>
          <a:prstGeom prst="rect">
            <a:avLst/>
          </a:prstGeom>
          <a:solidFill>
            <a:srgbClr val="FFFF99"/>
          </a:solidFill>
          <a:ln w="9525" cap="flat" cmpd="sng">
            <a:solidFill>
              <a:srgbClr val="FF0000"/>
            </a:solidFill>
            <a:prstDash val="solid"/>
            <a:miter/>
            <a:headEnd type="none" w="med" len="med"/>
            <a:tailEnd type="none" w="med" len="med"/>
          </a:ln>
        </p:spPr>
        <p:txBody>
          <a:bodyPr wrap="none" anchor="t" anchorCtr="0">
            <a:spAutoFit/>
          </a:bodyPr>
          <a:lstStyle/>
          <a:p>
            <a:pPr>
              <a:buClrTx/>
              <a:buFontTx/>
            </a:pPr>
            <a:r>
              <a:rPr lang="zh-CN" altLang="zh-CN" sz="2400"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V</a:t>
            </a:r>
            <a:r>
              <a:rPr lang="en-US" altLang="zh-CN" sz="2400"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 </a:t>
            </a:r>
            <a:r>
              <a:rPr lang="zh-CN" altLang="zh-CN" sz="2400"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dirty="0">
                <a:solidFill>
                  <a:srgbClr val="0000FF"/>
                </a:solidFill>
                <a:latin typeface="Times New Roman" panose="02020603050405020304" pitchFamily="18" charset="0"/>
                <a:ea typeface="宋体" panose="02010600030101010101" pitchFamily="2" charset="-122"/>
                <a:sym typeface="Symbol" panose="05050102010706020507" pitchFamily="18" charset="2"/>
              </a:rPr>
              <a:t> </a:t>
            </a:r>
            <a:r>
              <a:rPr lang="zh-CN" altLang="zh-CN" sz="2400" i="1" dirty="0">
                <a:solidFill>
                  <a:srgbClr val="0000FF"/>
                </a:solidFill>
                <a:latin typeface="Times New Roman" panose="02020603050405020304" pitchFamily="18" charset="0"/>
                <a:ea typeface="宋体" panose="02010600030101010101" pitchFamily="2" charset="-122"/>
                <a:sym typeface="Math1" pitchFamily="2" charset="2"/>
              </a:rPr>
              <a:t>n</a:t>
            </a:r>
            <a:r>
              <a:rPr lang="zh-CN" altLang="zh-CN" sz="2400" baseline="-25000" dirty="0">
                <a:solidFill>
                  <a:srgbClr val="0000FF"/>
                </a:solidFill>
                <a:latin typeface="Times New Roman" panose="02020603050405020304" pitchFamily="18" charset="0"/>
                <a:ea typeface="宋体" panose="02010600030101010101" pitchFamily="2" charset="-122"/>
                <a:sym typeface="Math1" pitchFamily="2" charset="2"/>
              </a:rPr>
              <a:t>B</a:t>
            </a:r>
            <a:r>
              <a:rPr lang="zh-CN" altLang="zh-CN" sz="2400" i="1" dirty="0">
                <a:solidFill>
                  <a:srgbClr val="0000FF"/>
                </a:solidFill>
                <a:latin typeface="Times New Roman" panose="02020603050405020304" pitchFamily="18" charset="0"/>
                <a:ea typeface="宋体" panose="02010600030101010101" pitchFamily="2" charset="-122"/>
                <a:sym typeface="Math1" pitchFamily="2" charset="2"/>
              </a:rPr>
              <a:t>RT</a:t>
            </a:r>
            <a:r>
              <a:rPr lang="zh-CN" altLang="zh-CN" sz="2400" dirty="0">
                <a:solidFill>
                  <a:srgbClr val="FF00FF"/>
                </a:solidFill>
                <a:latin typeface="Times New Roman" panose="02020603050405020304" pitchFamily="18" charset="0"/>
                <a:ea typeface="宋体" panose="02010600030101010101" pitchFamily="2" charset="-122"/>
                <a:sym typeface="Math1" pitchFamily="2" charset="2"/>
              </a:rPr>
              <a:t>  </a:t>
            </a:r>
            <a:endParaRPr lang="en-US" altLang="zh-CN" sz="2400" dirty="0">
              <a:solidFill>
                <a:srgbClr val="0F010C"/>
              </a:solidFill>
              <a:latin typeface="Times New Roman" panose="02020603050405020304" pitchFamily="18" charset="0"/>
              <a:ea typeface="宋体" panose="02010600030101010101" pitchFamily="2" charset="-122"/>
              <a:sym typeface="Math1" pitchFamily="2" charset="2"/>
            </a:endParaRPr>
          </a:p>
        </p:txBody>
      </p:sp>
      <p:grpSp>
        <p:nvGrpSpPr>
          <p:cNvPr id="14" name="Group 65"/>
          <p:cNvGrpSpPr/>
          <p:nvPr/>
        </p:nvGrpSpPr>
        <p:grpSpPr>
          <a:xfrm>
            <a:off x="4470406" y="3443606"/>
            <a:ext cx="2827359" cy="518795"/>
            <a:chOff x="1248" y="3216"/>
            <a:chExt cx="1963" cy="436"/>
          </a:xfrm>
        </p:grpSpPr>
        <p:sp>
          <p:nvSpPr>
            <p:cNvPr id="33857" name="Rectangle 66"/>
            <p:cNvSpPr/>
            <p:nvPr/>
          </p:nvSpPr>
          <p:spPr>
            <a:xfrm>
              <a:off x="1968" y="3216"/>
              <a:ext cx="1243" cy="417"/>
            </a:xfrm>
            <a:prstGeom prst="rect">
              <a:avLst/>
            </a:prstGeom>
            <a:solidFill>
              <a:srgbClr val="FFFF99"/>
            </a:solidFill>
            <a:ln w="9525" cap="flat" cmpd="sng">
              <a:solidFill>
                <a:srgbClr val="FF0000"/>
              </a:solidFill>
              <a:prstDash val="solid"/>
              <a:miter/>
              <a:headEnd type="none" w="med" len="med"/>
              <a:tailEnd type="none" w="med" len="med"/>
            </a:ln>
          </p:spPr>
          <p:txBody>
            <a:bodyPr anchor="t" anchorCtr="0"/>
            <a:lstStyle/>
            <a:p>
              <a:pPr marL="457200" indent="-457200" eaLnBrk="0" hangingPunct="0">
                <a:spcBef>
                  <a:spcPct val="20000"/>
                </a:spcBef>
                <a:buClr>
                  <a:schemeClr val="bg2"/>
                </a:buClr>
                <a:buSzPct val="75000"/>
                <a:buFont typeface="Wingdings" panose="05000000000000000000" pitchFamily="2" charset="2"/>
              </a:pPr>
              <a:r>
                <a:rPr lang="zh-CN" altLang="zh-CN" sz="2400"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400"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 </a:t>
              </a:r>
              <a:r>
                <a:rPr lang="zh-CN" altLang="zh-CN" sz="2400" dirty="0">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dirty="0">
                  <a:solidFill>
                    <a:srgbClr val="0000FF"/>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i="1" dirty="0">
                  <a:solidFill>
                    <a:srgbClr val="0000FF"/>
                  </a:solidFill>
                  <a:latin typeface="Times New Roman" panose="02020603050405020304" pitchFamily="18" charset="0"/>
                  <a:ea typeface="宋体" panose="02010600030101010101" pitchFamily="2" charset="-122"/>
                  <a:sym typeface="Symbol" panose="05050102010706020507" pitchFamily="18" charset="2"/>
                </a:rPr>
                <a:t>c</a:t>
              </a:r>
              <a:r>
                <a:rPr lang="en-US" altLang="zh-CN" sz="2400" baseline="-25000" dirty="0">
                  <a:solidFill>
                    <a:srgbClr val="0000FF"/>
                  </a:solidFill>
                  <a:latin typeface="Times New Roman" panose="02020603050405020304" pitchFamily="18" charset="0"/>
                  <a:ea typeface="宋体" panose="02010600030101010101" pitchFamily="2" charset="-122"/>
                  <a:sym typeface="Symbol" panose="05050102010706020507" pitchFamily="18" charset="2"/>
                </a:rPr>
                <a:t>B </a:t>
              </a:r>
              <a:r>
                <a:rPr lang="zh-CN" altLang="zh-CN" sz="2400" i="1" dirty="0">
                  <a:solidFill>
                    <a:srgbClr val="0000FF"/>
                  </a:solidFill>
                  <a:latin typeface="Times New Roman" panose="02020603050405020304" pitchFamily="18" charset="0"/>
                  <a:ea typeface="宋体" panose="02010600030101010101" pitchFamily="2" charset="-122"/>
                  <a:sym typeface="Math1" pitchFamily="2" charset="2"/>
                </a:rPr>
                <a:t>RT</a:t>
              </a:r>
              <a:r>
                <a:rPr lang="en-US" altLang="zh-CN" sz="2400" dirty="0">
                  <a:solidFill>
                    <a:srgbClr val="FF00FF"/>
                  </a:solidFill>
                  <a:latin typeface="Times New Roman" panose="02020603050405020304" pitchFamily="18" charset="0"/>
                  <a:ea typeface="宋体" panose="02010600030101010101" pitchFamily="2" charset="-122"/>
                  <a:sym typeface="Symbol" panose="05050102010706020507" pitchFamily="18" charset="2"/>
                </a:rPr>
                <a:t>  </a:t>
              </a:r>
              <a:endParaRPr lang="zh-CN" altLang="zh-CN" sz="2400" dirty="0">
                <a:solidFill>
                  <a:srgbClr val="0F010C"/>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3858" name="Rectangle 67"/>
            <p:cNvSpPr/>
            <p:nvPr/>
          </p:nvSpPr>
          <p:spPr>
            <a:xfrm>
              <a:off x="1248" y="3264"/>
              <a:ext cx="604" cy="388"/>
            </a:xfrm>
            <a:prstGeom prst="rect">
              <a:avLst/>
            </a:prstGeom>
            <a:noFill/>
            <a:ln w="9525">
              <a:noFill/>
            </a:ln>
          </p:spPr>
          <p:txBody>
            <a:bodyPr wrap="square" anchor="t" anchorCtr="0">
              <a:spAutoFit/>
            </a:bodyPr>
            <a:lstStyle/>
            <a:p>
              <a:pPr>
                <a:buClrTx/>
                <a:buFontTx/>
              </a:pPr>
              <a:r>
                <a:rPr lang="zh-CN" altLang="en-US" sz="2400" dirty="0">
                  <a:solidFill>
                    <a:srgbClr val="0F010C"/>
                  </a:solidFill>
                  <a:latin typeface="宋体" panose="02010600030101010101" pitchFamily="2" charset="-122"/>
                  <a:ea typeface="宋体" panose="02010600030101010101" pitchFamily="2" charset="-122"/>
                  <a:sym typeface="Symbol" panose="05050102010706020507" pitchFamily="18" charset="2"/>
                </a:rPr>
                <a:t> </a:t>
              </a:r>
              <a:r>
                <a:rPr lang="zh-CN" altLang="zh-CN" sz="2400" dirty="0">
                  <a:solidFill>
                    <a:srgbClr val="0F010C"/>
                  </a:solidFill>
                  <a:latin typeface="宋体" panose="02010600030101010101" pitchFamily="2" charset="-122"/>
                  <a:ea typeface="宋体" panose="02010600030101010101" pitchFamily="2" charset="-122"/>
                  <a:sym typeface="Symbol" panose="05050102010706020507" pitchFamily="18" charset="2"/>
                </a:rPr>
                <a:t>或</a:t>
              </a:r>
              <a:r>
                <a:rPr lang="zh-CN" altLang="en-US" sz="2400" dirty="0">
                  <a:solidFill>
                    <a:srgbClr val="0F010C"/>
                  </a:solidFill>
                  <a:latin typeface="宋体" panose="02010600030101010101" pitchFamily="2" charset="-122"/>
                  <a:ea typeface="宋体" panose="02010600030101010101" pitchFamily="2" charset="-122"/>
                  <a:sym typeface="Symbol" panose="05050102010706020507" pitchFamily="18" charset="2"/>
                </a:rPr>
                <a:t>：</a:t>
              </a:r>
            </a:p>
          </p:txBody>
        </p:sp>
      </p:grpSp>
      <p:sp>
        <p:nvSpPr>
          <p:cNvPr id="168006" name="Text Box 70"/>
          <p:cNvSpPr txBox="1"/>
          <p:nvPr/>
        </p:nvSpPr>
        <p:spPr>
          <a:xfrm>
            <a:off x="4211955" y="4198306"/>
            <a:ext cx="1944688" cy="461665"/>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应用实例</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68007" name="Text Box 71"/>
          <p:cNvSpPr txBox="1"/>
          <p:nvPr/>
        </p:nvSpPr>
        <p:spPr>
          <a:xfrm>
            <a:off x="6516053" y="4217356"/>
            <a:ext cx="1282700" cy="461665"/>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反渗透</a:t>
            </a:r>
            <a:endParaRPr lang="zh-CN" altLang="en-US" sz="2400"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blinds(vertical)">
                                      <p:cBhvr>
                                        <p:cTn id="7" dur="5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blinds(vertical)">
                                      <p:cBhvr>
                                        <p:cTn id="12" dur="5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67939"/>
                                        </p:tgtEl>
                                        <p:attrNameLst>
                                          <p:attrName>style.visibility</p:attrName>
                                        </p:attrNameLst>
                                      </p:cBhvr>
                                      <p:to>
                                        <p:strVal val="visible"/>
                                      </p:to>
                                    </p:set>
                                    <p:animEffect transition="in" filter="blinds(vertical)">
                                      <p:cBhvr>
                                        <p:cTn id="17" dur="500"/>
                                        <p:tgtEl>
                                          <p:spTgt spid="1679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8000"/>
                                        </p:tgtEl>
                                        <p:attrNameLst>
                                          <p:attrName>style.visibility</p:attrName>
                                        </p:attrNameLst>
                                      </p:cBhvr>
                                      <p:to>
                                        <p:strVal val="visible"/>
                                      </p:to>
                                    </p:set>
                                    <p:animEffect transition="in" filter="wipe(left)">
                                      <p:cBhvr>
                                        <p:cTn id="22" dur="500"/>
                                        <p:tgtEl>
                                          <p:spTgt spid="1680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childTnLst>
                                    <p:set>
                                      <p:cBhvr>
                                        <p:cTn id="31" dur="1" fill="hold">
                                          <p:stCondLst>
                                            <p:cond delay="0"/>
                                          </p:stCondLst>
                                        </p:cTn>
                                        <p:tgtEl>
                                          <p:spTgt spid="168006"/>
                                        </p:tgtEl>
                                        <p:attrNameLst>
                                          <p:attrName>style.visibility</p:attrName>
                                        </p:attrNameLst>
                                      </p:cBhvr>
                                      <p:to>
                                        <p:strVal val="visible"/>
                                      </p:to>
                                    </p:set>
                                    <p:anim calcmode="lin" valueType="num">
                                      <p:cBhvr>
                                        <p:cTn id="32" dur="1000" fill="hold"/>
                                        <p:tgtEl>
                                          <p:spTgt spid="168006"/>
                                        </p:tgtEl>
                                        <p:attrNameLst>
                                          <p:attrName>ppt_w</p:attrName>
                                        </p:attrNameLst>
                                      </p:cBhvr>
                                      <p:tavLst>
                                        <p:tav tm="0">
                                          <p:val>
                                            <p:strVal val="#ppt_w*0.70"/>
                                          </p:val>
                                        </p:tav>
                                        <p:tav tm="100000">
                                          <p:val>
                                            <p:strVal val="#ppt_w"/>
                                          </p:val>
                                        </p:tav>
                                      </p:tavLst>
                                    </p:anim>
                                    <p:anim calcmode="lin" valueType="num">
                                      <p:cBhvr>
                                        <p:cTn id="33" dur="1000" fill="hold"/>
                                        <p:tgtEl>
                                          <p:spTgt spid="168006"/>
                                        </p:tgtEl>
                                        <p:attrNameLst>
                                          <p:attrName>ppt_h</p:attrName>
                                        </p:attrNameLst>
                                      </p:cBhvr>
                                      <p:tavLst>
                                        <p:tav tm="0">
                                          <p:val>
                                            <p:strVal val="#ppt_h"/>
                                          </p:val>
                                        </p:tav>
                                        <p:tav tm="100000">
                                          <p:val>
                                            <p:strVal val="#ppt_h"/>
                                          </p:val>
                                        </p:tav>
                                      </p:tavLst>
                                    </p:anim>
                                    <p:animEffect transition="in" filter="fade">
                                      <p:cBhvr>
                                        <p:cTn id="34" dur="1000"/>
                                        <p:tgtEl>
                                          <p:spTgt spid="168006"/>
                                        </p:tgtEl>
                                      </p:cBhvr>
                                    </p:animEffect>
                                  </p:childTnLst>
                                </p:cTn>
                              </p:par>
                            </p:childTnLst>
                          </p:cTn>
                        </p:par>
                      </p:childTnLst>
                    </p:cTn>
                  </p:par>
                  <p:par>
                    <p:cTn id="35" fill="hold">
                      <p:stCondLst>
                        <p:cond delay="indefinite"/>
                      </p:stCondLst>
                      <p:childTnLst>
                        <p:par>
                          <p:cTn id="36" fill="hold">
                            <p:stCondLst>
                              <p:cond delay="0"/>
                            </p:stCondLst>
                            <p:childTnLst>
                              <p:par>
                                <p:cTn id="37" presetID="27" presetClass="entr" presetSubtype="0" fill="hold" grpId="0" nodeType="clickEffect">
                                  <p:stCondLst>
                                    <p:cond delay="0"/>
                                  </p:stCondLst>
                                  <p:iterate type="lt">
                                    <p:tmPct val="50000"/>
                                  </p:iterate>
                                  <p:childTnLst>
                                    <p:set>
                                      <p:cBhvr>
                                        <p:cTn id="38" dur="1" fill="hold">
                                          <p:stCondLst>
                                            <p:cond delay="0"/>
                                          </p:stCondLst>
                                        </p:cTn>
                                        <p:tgtEl>
                                          <p:spTgt spid="168007"/>
                                        </p:tgtEl>
                                        <p:attrNameLst>
                                          <p:attrName>style.visibility</p:attrName>
                                        </p:attrNameLst>
                                      </p:cBhvr>
                                      <p:to>
                                        <p:strVal val="visible"/>
                                      </p:to>
                                    </p:set>
                                    <p:anim calcmode="discrete" valueType="clr">
                                      <p:cBhvr override="childStyle">
                                        <p:cTn id="39" dur="80"/>
                                        <p:tgtEl>
                                          <p:spTgt spid="168007"/>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168007"/>
                                        </p:tgtEl>
                                        <p:attrNameLst>
                                          <p:attrName>fillcolor</p:attrName>
                                        </p:attrNameLst>
                                      </p:cBhvr>
                                      <p:tavLst>
                                        <p:tav tm="0">
                                          <p:val>
                                            <p:clrVal>
                                              <a:schemeClr val="accent2"/>
                                            </p:clrVal>
                                          </p:val>
                                        </p:tav>
                                        <p:tav tm="50000">
                                          <p:val>
                                            <p:clrVal>
                                              <a:schemeClr val="hlink"/>
                                            </p:clrVal>
                                          </p:val>
                                        </p:tav>
                                      </p:tavLst>
                                    </p:anim>
                                    <p:set>
                                      <p:cBhvr>
                                        <p:cTn id="41" dur="80"/>
                                        <p:tgtEl>
                                          <p:spTgt spid="16800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ldLvl="0" animBg="1"/>
      <p:bldP spid="168000" grpId="0" bldLvl="0" animBg="1"/>
      <p:bldP spid="168006" grpId="0"/>
      <p:bldP spid="16800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3"/>
          </p:nvPr>
        </p:nvSpPr>
        <p:spPr>
          <a:xfrm>
            <a:off x="1835563" y="699000"/>
            <a:ext cx="6653514" cy="598661"/>
          </a:xfrm>
        </p:spPr>
        <p:txBody>
          <a:bodyPr/>
          <a:lstStyle/>
          <a:p>
            <a:r>
              <a:rPr lang="zh-CN" altLang="en-US" dirty="0"/>
              <a:t>为什么要用</a:t>
            </a:r>
            <a:r>
              <a:rPr lang="en-US" altLang="zh-CN" dirty="0"/>
              <a:t>0.9</a:t>
            </a:r>
            <a:r>
              <a:rPr lang="en-US" altLang="zh-CN" b="0" i="0" u="none" strike="noStrike" dirty="0">
                <a:solidFill>
                  <a:srgbClr val="333333"/>
                </a:solidFill>
                <a:effectLst/>
                <a:latin typeface="微软雅黑" panose="020B0503020204020204" pitchFamily="34" charset="-122"/>
                <a:ea typeface="微软雅黑" panose="020B0503020204020204" pitchFamily="34" charset="-122"/>
              </a:rPr>
              <a:t> %</a:t>
            </a:r>
            <a:r>
              <a:rPr lang="zh-CN" altLang="en-US" b="0" i="0" u="none" strike="noStrike" dirty="0">
                <a:solidFill>
                  <a:srgbClr val="333333"/>
                </a:solidFill>
                <a:effectLst/>
                <a:latin typeface="微软雅黑" panose="020B0503020204020204" pitchFamily="34" charset="-122"/>
                <a:ea typeface="微软雅黑" panose="020B0503020204020204" pitchFamily="34" charset="-122"/>
              </a:rPr>
              <a:t>的生理盐水</a:t>
            </a:r>
            <a:endParaRPr lang="zh-CN" altLang="en-US" dirty="0"/>
          </a:p>
        </p:txBody>
      </p:sp>
      <p:pic>
        <p:nvPicPr>
          <p:cNvPr id="7"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87" y="1563310"/>
            <a:ext cx="3930589" cy="3348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nvSpPr>
        <p:spPr>
          <a:xfrm>
            <a:off x="4833620" y="1989458"/>
            <a:ext cx="3987800" cy="2031325"/>
          </a:xfrm>
          <a:prstGeom prst="rect">
            <a:avLst/>
          </a:prstGeom>
          <a:noFill/>
        </p:spPr>
        <p:txBody>
          <a:bodyPr wrap="square" rtlCol="0">
            <a:spAutoFit/>
          </a:bodyPr>
          <a:lstStyle/>
          <a:p>
            <a:pPr>
              <a:lnSpc>
                <a:spcPct val="150000"/>
              </a:lnSpc>
            </a:pPr>
            <a:r>
              <a:rPr lang="zh-CN" altLang="en-US" sz="2100" b="0" i="0" u="none" strike="noStrike" dirty="0">
                <a:solidFill>
                  <a:srgbClr val="333333"/>
                </a:solidFill>
                <a:effectLst/>
                <a:latin typeface="微软雅黑" panose="020B0503020204020204" pitchFamily="34" charset="-122"/>
                <a:ea typeface="微软雅黑" panose="020B0503020204020204" pitchFamily="34" charset="-122"/>
              </a:rPr>
              <a:t>      </a:t>
            </a:r>
            <a:r>
              <a:rPr lang="zh-CN" altLang="en-US" sz="2100" b="0" i="0" u="none" strike="noStrike" dirty="0">
                <a:solidFill>
                  <a:srgbClr val="FF0000"/>
                </a:solidFill>
                <a:effectLst/>
                <a:latin typeface="微软雅黑" panose="020B0503020204020204" pitchFamily="34" charset="-122"/>
                <a:ea typeface="微软雅黑" panose="020B0503020204020204" pitchFamily="34" charset="-122"/>
              </a:rPr>
              <a:t>人体的内环境存在一个稳态，也就是渗透压平衡。</a:t>
            </a:r>
            <a:r>
              <a:rPr lang="en-US" altLang="zh-CN" sz="2100" b="0" i="0" u="none" strike="noStrike" dirty="0">
                <a:solidFill>
                  <a:srgbClr val="FF0000"/>
                </a:solidFill>
                <a:effectLst/>
                <a:latin typeface="微软雅黑" panose="020B0503020204020204" pitchFamily="34" charset="-122"/>
                <a:ea typeface="微软雅黑" panose="020B0503020204020204" pitchFamily="34" charset="-122"/>
              </a:rPr>
              <a:t>0.9%</a:t>
            </a:r>
            <a:r>
              <a:rPr lang="zh-CN" altLang="en-US" sz="2100" b="0" i="0" u="none" strike="noStrike" dirty="0">
                <a:solidFill>
                  <a:srgbClr val="FF0000"/>
                </a:solidFill>
                <a:effectLst/>
                <a:latin typeface="微软雅黑" panose="020B0503020204020204" pitchFamily="34" charset="-122"/>
                <a:ea typeface="微软雅黑" panose="020B0503020204020204" pitchFamily="34" charset="-122"/>
              </a:rPr>
              <a:t>的生理盐水和人体血浆的渗透压接近，能够维持细胞生理功能。</a:t>
            </a:r>
            <a:endParaRPr lang="en-US" altLang="zh-CN" sz="2100" b="0" i="0" u="none" strike="noStrike" dirty="0">
              <a:solidFill>
                <a:srgbClr val="FF0000"/>
              </a:solidFill>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304800" y="152400"/>
            <a:ext cx="8686800" cy="117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10000"/>
              </a:lnSpc>
            </a:pPr>
            <a:r>
              <a:rPr kumimoji="1" lang="zh-CN" altLang="en-US" sz="3200" b="1" dirty="0">
                <a:solidFill>
                  <a:srgbClr val="FFFF00"/>
                </a:solidFill>
                <a:latin typeface="黑体" pitchFamily="2" charset="-122"/>
                <a:ea typeface="黑体" pitchFamily="2" charset="-122"/>
              </a:rPr>
              <a:t>本节小结：</a:t>
            </a:r>
          </a:p>
          <a:p>
            <a:pPr algn="just">
              <a:lnSpc>
                <a:spcPct val="110000"/>
              </a:lnSpc>
            </a:pPr>
            <a:r>
              <a:rPr kumimoji="1" lang="zh-CN" altLang="en-US" sz="3200" b="1" dirty="0">
                <a:latin typeface="宋体" charset="-122"/>
              </a:rPr>
              <a:t> </a:t>
            </a:r>
          </a:p>
        </p:txBody>
      </p:sp>
      <p:sp>
        <p:nvSpPr>
          <p:cNvPr id="121859" name="Text Box 3"/>
          <p:cNvSpPr txBox="1">
            <a:spLocks noChangeArrowheads="1"/>
          </p:cNvSpPr>
          <p:nvPr/>
        </p:nvSpPr>
        <p:spPr bwMode="auto">
          <a:xfrm>
            <a:off x="299160" y="989708"/>
            <a:ext cx="8610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dirty="0">
                <a:latin typeface="宋体" charset="-122"/>
              </a:rPr>
              <a:t>难挥发、非电解质、稀溶液通性的计算公式：</a:t>
            </a:r>
            <a:endParaRPr kumimoji="1" lang="zh-CN" altLang="en-US" b="1" dirty="0"/>
          </a:p>
        </p:txBody>
      </p:sp>
      <p:sp>
        <p:nvSpPr>
          <p:cNvPr id="121860" name="Rectangle 4"/>
          <p:cNvSpPr>
            <a:spLocks noChangeArrowheads="1"/>
          </p:cNvSpPr>
          <p:nvPr/>
        </p:nvSpPr>
        <p:spPr bwMode="auto">
          <a:xfrm>
            <a:off x="1295400" y="2506266"/>
            <a:ext cx="2590800" cy="11430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50000"/>
              </a:lnSpc>
            </a:pPr>
            <a:endParaRPr kumimoji="1" lang="en-US" altLang="zh-CN" b="1" dirty="0">
              <a:latin typeface="Times New Roman" pitchFamily="18" charset="0"/>
            </a:endParaRPr>
          </a:p>
          <a:p>
            <a:pPr algn="ctr">
              <a:lnSpc>
                <a:spcPct val="150000"/>
              </a:lnSpc>
            </a:pPr>
            <a:r>
              <a:rPr kumimoji="1" lang="en-US" altLang="zh-CN" b="1" dirty="0">
                <a:latin typeface="Times New Roman" pitchFamily="18" charset="0"/>
              </a:rPr>
              <a:t>△T</a:t>
            </a:r>
            <a:r>
              <a:rPr kumimoji="1" lang="en-US" altLang="zh-CN" b="1" baseline="-25000" dirty="0">
                <a:latin typeface="Times New Roman" pitchFamily="18" charset="0"/>
              </a:rPr>
              <a:t>b</a:t>
            </a:r>
            <a:r>
              <a:rPr kumimoji="1" lang="en-US" altLang="zh-CN" b="1" dirty="0">
                <a:latin typeface="Times New Roman" pitchFamily="18" charset="0"/>
              </a:rPr>
              <a:t> = K</a:t>
            </a:r>
            <a:r>
              <a:rPr kumimoji="1" lang="en-US" altLang="zh-CN" b="1" baseline="-25000" dirty="0">
                <a:latin typeface="Times New Roman" pitchFamily="18" charset="0"/>
              </a:rPr>
              <a:t>b</a:t>
            </a:r>
            <a:r>
              <a:rPr kumimoji="1" lang="en-US" altLang="zh-CN" b="1" dirty="0">
                <a:latin typeface="Times New Roman" pitchFamily="18" charset="0"/>
              </a:rPr>
              <a:t>· </a:t>
            </a:r>
            <a:r>
              <a:rPr kumimoji="1" lang="en-US" altLang="zh-CN" b="1" dirty="0" err="1">
                <a:latin typeface="Times New Roman" pitchFamily="18" charset="0"/>
              </a:rPr>
              <a:t>b</a:t>
            </a:r>
            <a:r>
              <a:rPr kumimoji="1" lang="en-US" altLang="zh-CN" b="1" baseline="-25000" dirty="0" err="1">
                <a:latin typeface="Times New Roman" pitchFamily="18" charset="0"/>
              </a:rPr>
              <a:t>B</a:t>
            </a:r>
            <a:endParaRPr kumimoji="1" lang="en-US" altLang="zh-CN" b="1" dirty="0">
              <a:latin typeface="Times New Roman" pitchFamily="18" charset="0"/>
            </a:endParaRPr>
          </a:p>
          <a:p>
            <a:pPr algn="ctr">
              <a:lnSpc>
                <a:spcPct val="150000"/>
              </a:lnSpc>
            </a:pPr>
            <a:r>
              <a:rPr kumimoji="1" lang="en-US" altLang="zh-CN" b="1" dirty="0">
                <a:latin typeface="Times New Roman" pitchFamily="18" charset="0"/>
              </a:rPr>
              <a:t>△</a:t>
            </a:r>
            <a:r>
              <a:rPr kumimoji="1" lang="en-US" altLang="zh-CN" b="1" dirty="0" err="1">
                <a:latin typeface="Times New Roman" pitchFamily="18" charset="0"/>
              </a:rPr>
              <a:t>T</a:t>
            </a:r>
            <a:r>
              <a:rPr kumimoji="1" lang="en-US" altLang="zh-CN" b="1" baseline="-25000" dirty="0" err="1">
                <a:latin typeface="Times New Roman" pitchFamily="18" charset="0"/>
              </a:rPr>
              <a:t>f</a:t>
            </a:r>
            <a:r>
              <a:rPr kumimoji="1" lang="en-US" altLang="zh-CN" b="1" dirty="0">
                <a:latin typeface="Times New Roman" pitchFamily="18" charset="0"/>
              </a:rPr>
              <a:t> = </a:t>
            </a:r>
            <a:r>
              <a:rPr kumimoji="1" lang="en-US" altLang="zh-CN" b="1" dirty="0" err="1">
                <a:latin typeface="Times New Roman" pitchFamily="18" charset="0"/>
              </a:rPr>
              <a:t>K</a:t>
            </a:r>
            <a:r>
              <a:rPr kumimoji="1" lang="en-US" altLang="zh-CN" b="1" baseline="-25000" dirty="0" err="1">
                <a:latin typeface="Times New Roman" pitchFamily="18" charset="0"/>
              </a:rPr>
              <a:t>f</a:t>
            </a:r>
            <a:r>
              <a:rPr kumimoji="1" lang="en-US" altLang="zh-CN" b="1" dirty="0">
                <a:latin typeface="Times New Roman" pitchFamily="18" charset="0"/>
              </a:rPr>
              <a:t>· </a:t>
            </a:r>
            <a:r>
              <a:rPr kumimoji="1" lang="en-US" altLang="zh-CN" b="1" dirty="0" err="1">
                <a:latin typeface="Times New Roman" pitchFamily="18" charset="0"/>
              </a:rPr>
              <a:t>b</a:t>
            </a:r>
            <a:r>
              <a:rPr kumimoji="1" lang="en-US" altLang="zh-CN" b="1" baseline="-25000" dirty="0" err="1">
                <a:latin typeface="Times New Roman" pitchFamily="18" charset="0"/>
              </a:rPr>
              <a:t>B</a:t>
            </a:r>
            <a:endParaRPr kumimoji="1" lang="en-US" altLang="zh-CN" b="1" dirty="0">
              <a:latin typeface="Times New Roman" pitchFamily="18" charset="0"/>
            </a:endParaRPr>
          </a:p>
          <a:p>
            <a:pPr algn="ctr">
              <a:lnSpc>
                <a:spcPct val="150000"/>
              </a:lnSpc>
            </a:pPr>
            <a:r>
              <a:rPr lang="zh-CN" altLang="en-US" sz="2400" i="1" dirty="0">
                <a:latin typeface="宋体" panose="02010600030101010101" pitchFamily="2" charset="-122"/>
                <a:ea typeface="宋体" panose="02010600030101010101" pitchFamily="2" charset="-122"/>
                <a:sym typeface="Symbol" panose="05050102010706020507" pitchFamily="18" charset="2"/>
              </a:rPr>
              <a:t></a:t>
            </a:r>
            <a:r>
              <a:rPr kumimoji="1" lang="en-US" altLang="zh-CN" sz="2400" b="1" dirty="0">
                <a:latin typeface="Times New Roman" pitchFamily="18" charset="0"/>
              </a:rPr>
              <a:t> = </a:t>
            </a:r>
            <a:r>
              <a:rPr kumimoji="1" lang="en-US" altLang="zh-CN" sz="2400" b="1" dirty="0" err="1">
                <a:latin typeface="Times New Roman" pitchFamily="18" charset="0"/>
              </a:rPr>
              <a:t>c</a:t>
            </a:r>
            <a:r>
              <a:rPr kumimoji="1" lang="en-US" altLang="zh-CN" sz="2400" b="1" baseline="-25000" dirty="0" err="1">
                <a:latin typeface="Times New Roman" pitchFamily="18" charset="0"/>
              </a:rPr>
              <a:t>B</a:t>
            </a:r>
            <a:r>
              <a:rPr kumimoji="1" lang="en-US" altLang="zh-CN" sz="2400" b="1" dirty="0" err="1">
                <a:latin typeface="Times New Roman" pitchFamily="18" charset="0"/>
              </a:rPr>
              <a:t>RT</a:t>
            </a:r>
            <a:r>
              <a:rPr kumimoji="1" lang="en-US" altLang="zh-CN" sz="2400" b="1" dirty="0">
                <a:latin typeface="Times New Roman" pitchFamily="18" charset="0"/>
              </a:rPr>
              <a:t> ≈ </a:t>
            </a:r>
            <a:r>
              <a:rPr kumimoji="1" lang="en-US" altLang="zh-CN" sz="2400" b="1" dirty="0" err="1">
                <a:latin typeface="Times New Roman" pitchFamily="18" charset="0"/>
              </a:rPr>
              <a:t>b</a:t>
            </a:r>
            <a:r>
              <a:rPr kumimoji="1" lang="en-US" altLang="zh-CN" sz="2400" b="1" baseline="-25000" dirty="0" err="1">
                <a:latin typeface="Times New Roman" pitchFamily="18" charset="0"/>
              </a:rPr>
              <a:t>B</a:t>
            </a:r>
            <a:r>
              <a:rPr kumimoji="1" lang="en-US" altLang="zh-CN" sz="2400" b="1" dirty="0">
                <a:latin typeface="Times New Roman" pitchFamily="18" charset="0"/>
              </a:rPr>
              <a:t> RT</a:t>
            </a:r>
          </a:p>
        </p:txBody>
      </p:sp>
      <p:sp>
        <p:nvSpPr>
          <p:cNvPr id="121862" name="Rectangle 6"/>
          <p:cNvSpPr>
            <a:spLocks noChangeArrowheads="1"/>
          </p:cNvSpPr>
          <p:nvPr/>
        </p:nvSpPr>
        <p:spPr bwMode="auto">
          <a:xfrm>
            <a:off x="533400" y="2057400"/>
            <a:ext cx="4343400" cy="2220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 name="对象 1">
            <a:hlinkClick r:id="" action="ppaction://ole?verb=0"/>
          </p:cNvPr>
          <p:cNvGraphicFramePr>
            <a:graphicFrameLocks noChangeAspect="1"/>
          </p:cNvGraphicFramePr>
          <p:nvPr>
            <p:extLst>
              <p:ext uri="{D42A27DB-BD31-4B8C-83A1-F6EECF244321}">
                <p14:modId xmlns:p14="http://schemas.microsoft.com/office/powerpoint/2010/main" val="2935925417"/>
              </p:ext>
            </p:extLst>
          </p:nvPr>
        </p:nvGraphicFramePr>
        <p:xfrm>
          <a:off x="533406" y="1801815"/>
          <a:ext cx="6645275" cy="511175"/>
        </p:xfrm>
        <a:graphic>
          <a:graphicData uri="http://schemas.openxmlformats.org/presentationml/2006/ole">
            <mc:AlternateContent xmlns:mc="http://schemas.openxmlformats.org/markup-compatibility/2006">
              <mc:Choice xmlns:v="urn:schemas-microsoft-com:vml" Requires="v">
                <p:oleObj name="Equation" r:id="rId2" imgW="2946240" imgH="228600" progId="Equation.DSMT4">
                  <p:embed/>
                </p:oleObj>
              </mc:Choice>
              <mc:Fallback>
                <p:oleObj name="Equation" r:id="rId2" imgW="2946240" imgH="228600" progId="Equation.DSMT4">
                  <p:embed/>
                  <p:pic>
                    <p:nvPicPr>
                      <p:cNvPr id="0" name="对象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6" y="1801815"/>
                        <a:ext cx="66452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3570191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1858">
                                            <p:txEl>
                                              <p:pRg st="0" end="0"/>
                                            </p:txEl>
                                          </p:spTgt>
                                        </p:tgtEl>
                                        <p:attrNameLst>
                                          <p:attrName>style.visibility</p:attrName>
                                        </p:attrNameLst>
                                      </p:cBhvr>
                                      <p:to>
                                        <p:strVal val="visible"/>
                                      </p:to>
                                    </p:set>
                                    <p:anim calcmode="lin" valueType="num">
                                      <p:cBhvr additive="base">
                                        <p:cTn id="7" dur="500" fill="hold"/>
                                        <p:tgtEl>
                                          <p:spTgt spid="1218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185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1858">
                                            <p:txEl>
                                              <p:pRg st="1" end="1"/>
                                            </p:txEl>
                                          </p:spTgt>
                                        </p:tgtEl>
                                        <p:attrNameLst>
                                          <p:attrName>style.visibility</p:attrName>
                                        </p:attrNameLst>
                                      </p:cBhvr>
                                      <p:to>
                                        <p:strVal val="visible"/>
                                      </p:to>
                                    </p:set>
                                    <p:anim calcmode="lin" valueType="num">
                                      <p:cBhvr additive="base">
                                        <p:cTn id="13" dur="500" fill="hold"/>
                                        <p:tgtEl>
                                          <p:spTgt spid="12185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185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1859"/>
                                        </p:tgtEl>
                                        <p:attrNameLst>
                                          <p:attrName>style.visibility</p:attrName>
                                        </p:attrNameLst>
                                      </p:cBhvr>
                                      <p:to>
                                        <p:strVal val="visible"/>
                                      </p:to>
                                    </p:set>
                                    <p:anim calcmode="lin" valueType="num">
                                      <p:cBhvr additive="base">
                                        <p:cTn id="19" dur="500" fill="hold"/>
                                        <p:tgtEl>
                                          <p:spTgt spid="121859"/>
                                        </p:tgtEl>
                                        <p:attrNameLst>
                                          <p:attrName>ppt_x</p:attrName>
                                        </p:attrNameLst>
                                      </p:cBhvr>
                                      <p:tavLst>
                                        <p:tav tm="0">
                                          <p:val>
                                            <p:strVal val="0-#ppt_w/2"/>
                                          </p:val>
                                        </p:tav>
                                        <p:tav tm="100000">
                                          <p:val>
                                            <p:strVal val="#ppt_x"/>
                                          </p:val>
                                        </p:tav>
                                      </p:tavLst>
                                    </p:anim>
                                    <p:anim calcmode="lin" valueType="num">
                                      <p:cBhvr additive="base">
                                        <p:cTn id="20" dur="500" fill="hold"/>
                                        <p:tgtEl>
                                          <p:spTgt spid="12185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nodePh="1">
                                  <p:stCondLst>
                                    <p:cond delay="0"/>
                                  </p:stCondLst>
                                  <p:endCondLst>
                                    <p:cond evt="begin" delay="0">
                                      <p:tn val="23"/>
                                    </p:cond>
                                  </p:endCondLst>
                                  <p:childTnLst>
                                    <p:set>
                                      <p:cBhvr>
                                        <p:cTn id="24" dur="1" fill="hold">
                                          <p:stCondLst>
                                            <p:cond delay="0"/>
                                          </p:stCondLst>
                                        </p:cTn>
                                        <p:tgtEl>
                                          <p:spTgt spid="121862"/>
                                        </p:tgtEl>
                                        <p:attrNameLst>
                                          <p:attrName>style.visibility</p:attrName>
                                        </p:attrNameLst>
                                      </p:cBhvr>
                                      <p:to>
                                        <p:strVal val="visible"/>
                                      </p:to>
                                    </p:set>
                                    <p:anim calcmode="lin" valueType="num">
                                      <p:cBhvr additive="base">
                                        <p:cTn id="25" dur="500" fill="hold"/>
                                        <p:tgtEl>
                                          <p:spTgt spid="121862"/>
                                        </p:tgtEl>
                                        <p:attrNameLst>
                                          <p:attrName>ppt_x</p:attrName>
                                        </p:attrNameLst>
                                      </p:cBhvr>
                                      <p:tavLst>
                                        <p:tav tm="0">
                                          <p:val>
                                            <p:strVal val="0-#ppt_w/2"/>
                                          </p:val>
                                        </p:tav>
                                        <p:tav tm="100000">
                                          <p:val>
                                            <p:strVal val="#ppt_x"/>
                                          </p:val>
                                        </p:tav>
                                      </p:tavLst>
                                    </p:anim>
                                    <p:anim calcmode="lin" valueType="num">
                                      <p:cBhvr additive="base">
                                        <p:cTn id="26" dur="500" fill="hold"/>
                                        <p:tgtEl>
                                          <p:spTgt spid="12186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1860"/>
                                        </p:tgtEl>
                                        <p:attrNameLst>
                                          <p:attrName>style.visibility</p:attrName>
                                        </p:attrNameLst>
                                      </p:cBhvr>
                                      <p:to>
                                        <p:strVal val="visible"/>
                                      </p:to>
                                    </p:set>
                                    <p:anim calcmode="lin" valueType="num">
                                      <p:cBhvr additive="base">
                                        <p:cTn id="31" dur="500" fill="hold"/>
                                        <p:tgtEl>
                                          <p:spTgt spid="121860"/>
                                        </p:tgtEl>
                                        <p:attrNameLst>
                                          <p:attrName>ppt_x</p:attrName>
                                        </p:attrNameLst>
                                      </p:cBhvr>
                                      <p:tavLst>
                                        <p:tav tm="0">
                                          <p:val>
                                            <p:strVal val="0-#ppt_w/2"/>
                                          </p:val>
                                        </p:tav>
                                        <p:tav tm="100000">
                                          <p:val>
                                            <p:strVal val="#ppt_x"/>
                                          </p:val>
                                        </p:tav>
                                      </p:tavLst>
                                    </p:anim>
                                    <p:anim calcmode="lin" valueType="num">
                                      <p:cBhvr additive="base">
                                        <p:cTn id="32" dur="500" fill="hold"/>
                                        <p:tgtEl>
                                          <p:spTgt spid="12186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build="p" autoUpdateAnimBg="0"/>
      <p:bldP spid="121859" grpId="0" autoUpdateAnimBg="0"/>
      <p:bldP spid="121860" grpId="0" autoUpdateAnimBg="0"/>
      <p:bldP spid="12186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E83C569-CF6B-BD5D-F41E-A3238928BAE7}"/>
              </a:ext>
            </a:extLst>
          </p:cNvPr>
          <p:cNvPicPr>
            <a:picLocks noChangeAspect="1"/>
          </p:cNvPicPr>
          <p:nvPr/>
        </p:nvPicPr>
        <p:blipFill>
          <a:blip r:embed="rId2"/>
          <a:stretch>
            <a:fillRect/>
          </a:stretch>
        </p:blipFill>
        <p:spPr>
          <a:xfrm>
            <a:off x="395536" y="1133577"/>
            <a:ext cx="1867704" cy="3939902"/>
          </a:xfrm>
          <a:prstGeom prst="rect">
            <a:avLst/>
          </a:prstGeom>
        </p:spPr>
      </p:pic>
      <p:sp>
        <p:nvSpPr>
          <p:cNvPr id="4" name="文本框 3">
            <a:extLst>
              <a:ext uri="{FF2B5EF4-FFF2-40B4-BE49-F238E27FC236}">
                <a16:creationId xmlns:a16="http://schemas.microsoft.com/office/drawing/2014/main" id="{917A0C4A-D199-9A88-5A32-9D9B3673B138}"/>
              </a:ext>
            </a:extLst>
          </p:cNvPr>
          <p:cNvSpPr txBox="1"/>
          <p:nvPr/>
        </p:nvSpPr>
        <p:spPr>
          <a:xfrm>
            <a:off x="251521" y="179470"/>
            <a:ext cx="2736304" cy="954107"/>
          </a:xfrm>
          <a:prstGeom prst="rect">
            <a:avLst/>
          </a:prstGeom>
          <a:noFill/>
        </p:spPr>
        <p:txBody>
          <a:bodyPr wrap="square" rtlCol="0">
            <a:spAutoFit/>
          </a:bodyPr>
          <a:lstStyle/>
          <a:p>
            <a:r>
              <a:rPr lang="zh-CN" altLang="en-US" dirty="0"/>
              <a:t>溶液混合会改变单质液体的性质</a:t>
            </a:r>
          </a:p>
        </p:txBody>
      </p:sp>
      <p:sp>
        <p:nvSpPr>
          <p:cNvPr id="5" name="文本框 4">
            <a:extLst>
              <a:ext uri="{FF2B5EF4-FFF2-40B4-BE49-F238E27FC236}">
                <a16:creationId xmlns:a16="http://schemas.microsoft.com/office/drawing/2014/main" id="{E5922F81-47FB-A7AF-A91E-BC20DC16833F}"/>
              </a:ext>
            </a:extLst>
          </p:cNvPr>
          <p:cNvSpPr txBox="1"/>
          <p:nvPr/>
        </p:nvSpPr>
        <p:spPr>
          <a:xfrm>
            <a:off x="3577977" y="267494"/>
            <a:ext cx="3387466" cy="523220"/>
          </a:xfrm>
          <a:prstGeom prst="rect">
            <a:avLst/>
          </a:prstGeom>
          <a:noFill/>
        </p:spPr>
        <p:txBody>
          <a:bodyPr wrap="none" rtlCol="0">
            <a:spAutoFit/>
          </a:bodyPr>
          <a:lstStyle/>
          <a:p>
            <a:r>
              <a:rPr lang="zh-CN" altLang="en-US" dirty="0"/>
              <a:t>理想溶液（</a:t>
            </a:r>
            <a:r>
              <a:rPr lang="en-US" altLang="zh-CN" dirty="0" err="1"/>
              <a:t>Raoult</a:t>
            </a:r>
            <a:r>
              <a:rPr lang="zh-CN" altLang="en-US" dirty="0"/>
              <a:t>）</a:t>
            </a:r>
          </a:p>
        </p:txBody>
      </p:sp>
      <p:pic>
        <p:nvPicPr>
          <p:cNvPr id="7" name="图片 6">
            <a:extLst>
              <a:ext uri="{FF2B5EF4-FFF2-40B4-BE49-F238E27FC236}">
                <a16:creationId xmlns:a16="http://schemas.microsoft.com/office/drawing/2014/main" id="{E3281189-7294-78E8-9203-F2ED03666E7A}"/>
              </a:ext>
            </a:extLst>
          </p:cNvPr>
          <p:cNvPicPr>
            <a:picLocks noChangeAspect="1"/>
          </p:cNvPicPr>
          <p:nvPr/>
        </p:nvPicPr>
        <p:blipFill>
          <a:blip r:embed="rId3"/>
          <a:stretch>
            <a:fillRect/>
          </a:stretch>
        </p:blipFill>
        <p:spPr>
          <a:xfrm>
            <a:off x="2843808" y="1382233"/>
            <a:ext cx="5440347" cy="3670421"/>
          </a:xfrm>
          <a:prstGeom prst="rect">
            <a:avLst/>
          </a:prstGeom>
        </p:spPr>
      </p:pic>
      <p:pic>
        <p:nvPicPr>
          <p:cNvPr id="9" name="图片 8">
            <a:extLst>
              <a:ext uri="{FF2B5EF4-FFF2-40B4-BE49-F238E27FC236}">
                <a16:creationId xmlns:a16="http://schemas.microsoft.com/office/drawing/2014/main" id="{B0646CA3-144E-AAAF-C2EE-C2292B92E2BB}"/>
              </a:ext>
            </a:extLst>
          </p:cNvPr>
          <p:cNvPicPr>
            <a:picLocks noChangeAspect="1"/>
          </p:cNvPicPr>
          <p:nvPr/>
        </p:nvPicPr>
        <p:blipFill>
          <a:blip r:embed="rId4"/>
          <a:stretch>
            <a:fillRect/>
          </a:stretch>
        </p:blipFill>
        <p:spPr>
          <a:xfrm>
            <a:off x="7555595" y="90846"/>
            <a:ext cx="1462728" cy="2030956"/>
          </a:xfrm>
          <a:prstGeom prst="rect">
            <a:avLst/>
          </a:prstGeom>
        </p:spPr>
      </p:pic>
      <p:pic>
        <p:nvPicPr>
          <p:cNvPr id="11" name="图片 10">
            <a:extLst>
              <a:ext uri="{FF2B5EF4-FFF2-40B4-BE49-F238E27FC236}">
                <a16:creationId xmlns:a16="http://schemas.microsoft.com/office/drawing/2014/main" id="{14FACEAE-8D74-FB7C-64F0-CE99D8D69BFE}"/>
              </a:ext>
            </a:extLst>
          </p:cNvPr>
          <p:cNvPicPr>
            <a:picLocks noChangeAspect="1"/>
          </p:cNvPicPr>
          <p:nvPr/>
        </p:nvPicPr>
        <p:blipFill>
          <a:blip r:embed="rId5"/>
          <a:stretch>
            <a:fillRect/>
          </a:stretch>
        </p:blipFill>
        <p:spPr>
          <a:xfrm>
            <a:off x="7884368" y="2209749"/>
            <a:ext cx="1038370" cy="362001"/>
          </a:xfrm>
          <a:prstGeom prst="rect">
            <a:avLst/>
          </a:prstGeom>
        </p:spPr>
      </p:pic>
    </p:spTree>
    <p:extLst>
      <p:ext uri="{BB962C8B-B14F-4D97-AF65-F5344CB8AC3E}">
        <p14:creationId xmlns:p14="http://schemas.microsoft.com/office/powerpoint/2010/main" val="242890830"/>
      </p:ext>
    </p:extLst>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817685A-75FF-FC6E-9AC0-4E26FEA285AB}"/>
              </a:ext>
            </a:extLst>
          </p:cNvPr>
          <p:cNvSpPr txBox="1"/>
          <p:nvPr/>
        </p:nvSpPr>
        <p:spPr>
          <a:xfrm>
            <a:off x="251520" y="195486"/>
            <a:ext cx="3054041" cy="523220"/>
          </a:xfrm>
          <a:prstGeom prst="rect">
            <a:avLst/>
          </a:prstGeom>
          <a:noFill/>
        </p:spPr>
        <p:txBody>
          <a:bodyPr wrap="none" rtlCol="0">
            <a:spAutoFit/>
          </a:bodyPr>
          <a:lstStyle/>
          <a:p>
            <a:r>
              <a:rPr lang="zh-CN" altLang="en-US" dirty="0"/>
              <a:t>稀溶液 （</a:t>
            </a:r>
            <a:r>
              <a:rPr lang="en-US" altLang="zh-CN" dirty="0"/>
              <a:t>Henry</a:t>
            </a:r>
            <a:r>
              <a:rPr lang="zh-CN" altLang="en-US" dirty="0"/>
              <a:t>）</a:t>
            </a:r>
          </a:p>
        </p:txBody>
      </p:sp>
      <p:pic>
        <p:nvPicPr>
          <p:cNvPr id="4" name="图片 3">
            <a:extLst>
              <a:ext uri="{FF2B5EF4-FFF2-40B4-BE49-F238E27FC236}">
                <a16:creationId xmlns:a16="http://schemas.microsoft.com/office/drawing/2014/main" id="{C6FC2B86-33C6-D3FE-BC88-61CCF15B0A8A}"/>
              </a:ext>
            </a:extLst>
          </p:cNvPr>
          <p:cNvPicPr>
            <a:picLocks noChangeAspect="1"/>
          </p:cNvPicPr>
          <p:nvPr/>
        </p:nvPicPr>
        <p:blipFill>
          <a:blip r:embed="rId2"/>
          <a:stretch>
            <a:fillRect/>
          </a:stretch>
        </p:blipFill>
        <p:spPr>
          <a:xfrm>
            <a:off x="3465522" y="555526"/>
            <a:ext cx="5265738" cy="4072080"/>
          </a:xfrm>
          <a:prstGeom prst="rect">
            <a:avLst/>
          </a:prstGeom>
        </p:spPr>
      </p:pic>
      <p:pic>
        <p:nvPicPr>
          <p:cNvPr id="6" name="图片 5">
            <a:extLst>
              <a:ext uri="{FF2B5EF4-FFF2-40B4-BE49-F238E27FC236}">
                <a16:creationId xmlns:a16="http://schemas.microsoft.com/office/drawing/2014/main" id="{96B6830D-C672-E0FB-9238-B1AE60819D12}"/>
              </a:ext>
            </a:extLst>
          </p:cNvPr>
          <p:cNvPicPr>
            <a:picLocks noChangeAspect="1"/>
          </p:cNvPicPr>
          <p:nvPr/>
        </p:nvPicPr>
        <p:blipFill>
          <a:blip r:embed="rId3"/>
          <a:stretch>
            <a:fillRect/>
          </a:stretch>
        </p:blipFill>
        <p:spPr>
          <a:xfrm>
            <a:off x="323528" y="1635646"/>
            <a:ext cx="2765107" cy="3024336"/>
          </a:xfrm>
          <a:prstGeom prst="rect">
            <a:avLst/>
          </a:prstGeom>
        </p:spPr>
      </p:pic>
    </p:spTree>
    <p:extLst>
      <p:ext uri="{BB962C8B-B14F-4D97-AF65-F5344CB8AC3E}">
        <p14:creationId xmlns:p14="http://schemas.microsoft.com/office/powerpoint/2010/main" val="2538785223"/>
      </p:ext>
    </p:extLst>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7B93740-83BF-CB99-A583-4F73AA49C436}"/>
              </a:ext>
            </a:extLst>
          </p:cNvPr>
          <p:cNvSpPr txBox="1"/>
          <p:nvPr/>
        </p:nvSpPr>
        <p:spPr>
          <a:xfrm>
            <a:off x="395536" y="411510"/>
            <a:ext cx="5299784" cy="523220"/>
          </a:xfrm>
          <a:prstGeom prst="rect">
            <a:avLst/>
          </a:prstGeom>
          <a:noFill/>
        </p:spPr>
        <p:txBody>
          <a:bodyPr wrap="none" rtlCol="0">
            <a:spAutoFit/>
          </a:bodyPr>
          <a:lstStyle/>
          <a:p>
            <a:r>
              <a:rPr lang="zh-CN" altLang="en-US" dirty="0"/>
              <a:t>依数性（</a:t>
            </a:r>
            <a:r>
              <a:rPr lang="en-US" altLang="zh-CN" dirty="0"/>
              <a:t>Colligative properties</a:t>
            </a:r>
            <a:r>
              <a:rPr lang="zh-CN" altLang="en-US" dirty="0"/>
              <a:t>）</a:t>
            </a:r>
          </a:p>
        </p:txBody>
      </p:sp>
      <p:pic>
        <p:nvPicPr>
          <p:cNvPr id="4" name="图片 3">
            <a:extLst>
              <a:ext uri="{FF2B5EF4-FFF2-40B4-BE49-F238E27FC236}">
                <a16:creationId xmlns:a16="http://schemas.microsoft.com/office/drawing/2014/main" id="{02D9AC88-A5D2-C40A-D283-BE34000DAF3E}"/>
              </a:ext>
            </a:extLst>
          </p:cNvPr>
          <p:cNvPicPr>
            <a:picLocks noChangeAspect="1"/>
          </p:cNvPicPr>
          <p:nvPr/>
        </p:nvPicPr>
        <p:blipFill>
          <a:blip r:embed="rId2"/>
          <a:stretch>
            <a:fillRect/>
          </a:stretch>
        </p:blipFill>
        <p:spPr>
          <a:xfrm>
            <a:off x="6092479" y="0"/>
            <a:ext cx="3051521" cy="5143500"/>
          </a:xfrm>
          <a:prstGeom prst="rect">
            <a:avLst/>
          </a:prstGeom>
        </p:spPr>
      </p:pic>
      <p:sp>
        <p:nvSpPr>
          <p:cNvPr id="5" name="文本框 4">
            <a:extLst>
              <a:ext uri="{FF2B5EF4-FFF2-40B4-BE49-F238E27FC236}">
                <a16:creationId xmlns:a16="http://schemas.microsoft.com/office/drawing/2014/main" id="{295C92F0-6BA6-8909-E6F3-F48601337FD4}"/>
              </a:ext>
            </a:extLst>
          </p:cNvPr>
          <p:cNvSpPr txBox="1"/>
          <p:nvPr/>
        </p:nvSpPr>
        <p:spPr>
          <a:xfrm>
            <a:off x="359768" y="1155458"/>
            <a:ext cx="1988045" cy="3242170"/>
          </a:xfrm>
          <a:prstGeom prst="rect">
            <a:avLst/>
          </a:prstGeom>
          <a:noFill/>
        </p:spPr>
        <p:txBody>
          <a:bodyPr wrap="none" rtlCol="0">
            <a:spAutoFit/>
          </a:bodyPr>
          <a:lstStyle/>
          <a:p>
            <a:pPr>
              <a:lnSpc>
                <a:spcPct val="150000"/>
              </a:lnSpc>
            </a:pPr>
            <a:r>
              <a:rPr lang="zh-CN" altLang="en-US" dirty="0"/>
              <a:t>蒸汽压下降</a:t>
            </a:r>
            <a:endParaRPr lang="en-US" altLang="zh-CN" dirty="0"/>
          </a:p>
          <a:p>
            <a:pPr>
              <a:lnSpc>
                <a:spcPct val="150000"/>
              </a:lnSpc>
            </a:pPr>
            <a:r>
              <a:rPr lang="zh-CN" altLang="en-US" dirty="0"/>
              <a:t>化学势下降</a:t>
            </a:r>
            <a:endParaRPr lang="en-US" altLang="zh-CN" dirty="0"/>
          </a:p>
          <a:p>
            <a:pPr>
              <a:lnSpc>
                <a:spcPct val="150000"/>
              </a:lnSpc>
            </a:pPr>
            <a:r>
              <a:rPr lang="zh-CN" altLang="en-US" dirty="0"/>
              <a:t>熔点下降</a:t>
            </a:r>
            <a:endParaRPr lang="en-US" altLang="zh-CN" dirty="0"/>
          </a:p>
          <a:p>
            <a:pPr>
              <a:lnSpc>
                <a:spcPct val="150000"/>
              </a:lnSpc>
            </a:pPr>
            <a:r>
              <a:rPr lang="zh-CN" altLang="en-US" dirty="0"/>
              <a:t>沸点上升</a:t>
            </a:r>
            <a:endParaRPr lang="en-US" altLang="zh-CN" dirty="0"/>
          </a:p>
          <a:p>
            <a:pPr>
              <a:lnSpc>
                <a:spcPct val="150000"/>
              </a:lnSpc>
            </a:pPr>
            <a:r>
              <a:rPr lang="zh-CN" altLang="en-US" dirty="0"/>
              <a:t>渗透压</a:t>
            </a:r>
          </a:p>
        </p:txBody>
      </p:sp>
      <p:pic>
        <p:nvPicPr>
          <p:cNvPr id="7" name="图片 6">
            <a:extLst>
              <a:ext uri="{FF2B5EF4-FFF2-40B4-BE49-F238E27FC236}">
                <a16:creationId xmlns:a16="http://schemas.microsoft.com/office/drawing/2014/main" id="{85CBB471-513D-DA87-995A-F2A79D6AEFF0}"/>
              </a:ext>
            </a:extLst>
          </p:cNvPr>
          <p:cNvPicPr>
            <a:picLocks noChangeAspect="1"/>
          </p:cNvPicPr>
          <p:nvPr/>
        </p:nvPicPr>
        <p:blipFill>
          <a:blip r:embed="rId3"/>
          <a:stretch>
            <a:fillRect/>
          </a:stretch>
        </p:blipFill>
        <p:spPr>
          <a:xfrm>
            <a:off x="2411760" y="1779662"/>
            <a:ext cx="2181529" cy="409632"/>
          </a:xfrm>
          <a:prstGeom prst="rect">
            <a:avLst/>
          </a:prstGeom>
        </p:spPr>
      </p:pic>
      <p:sp>
        <p:nvSpPr>
          <p:cNvPr id="8" name="文本框 7">
            <a:extLst>
              <a:ext uri="{FF2B5EF4-FFF2-40B4-BE49-F238E27FC236}">
                <a16:creationId xmlns:a16="http://schemas.microsoft.com/office/drawing/2014/main" id="{2A5223A4-B899-58A2-D167-8BF4B819A5BC}"/>
              </a:ext>
            </a:extLst>
          </p:cNvPr>
          <p:cNvSpPr txBox="1"/>
          <p:nvPr/>
        </p:nvSpPr>
        <p:spPr>
          <a:xfrm>
            <a:off x="4355976" y="1095586"/>
            <a:ext cx="906017" cy="523220"/>
          </a:xfrm>
          <a:prstGeom prst="rect">
            <a:avLst/>
          </a:prstGeom>
          <a:noFill/>
        </p:spPr>
        <p:txBody>
          <a:bodyPr wrap="none" rtlCol="0">
            <a:spAutoFit/>
          </a:bodyPr>
          <a:lstStyle/>
          <a:p>
            <a:r>
              <a:rPr lang="zh-CN" altLang="en-US" dirty="0">
                <a:solidFill>
                  <a:srgbClr val="FF0000"/>
                </a:solidFill>
              </a:rPr>
              <a:t>活度</a:t>
            </a:r>
          </a:p>
        </p:txBody>
      </p:sp>
      <p:pic>
        <p:nvPicPr>
          <p:cNvPr id="10" name="图片 9">
            <a:extLst>
              <a:ext uri="{FF2B5EF4-FFF2-40B4-BE49-F238E27FC236}">
                <a16:creationId xmlns:a16="http://schemas.microsoft.com/office/drawing/2014/main" id="{93E1C6A8-2B9A-300B-C1C0-1725B6A2C857}"/>
              </a:ext>
            </a:extLst>
          </p:cNvPr>
          <p:cNvPicPr>
            <a:picLocks noChangeAspect="1"/>
          </p:cNvPicPr>
          <p:nvPr/>
        </p:nvPicPr>
        <p:blipFill>
          <a:blip r:embed="rId4"/>
          <a:stretch>
            <a:fillRect/>
          </a:stretch>
        </p:blipFill>
        <p:spPr>
          <a:xfrm>
            <a:off x="2581758" y="1337233"/>
            <a:ext cx="1038370" cy="362001"/>
          </a:xfrm>
          <a:prstGeom prst="rect">
            <a:avLst/>
          </a:prstGeom>
        </p:spPr>
      </p:pic>
      <p:pic>
        <p:nvPicPr>
          <p:cNvPr id="12" name="图片 11">
            <a:extLst>
              <a:ext uri="{FF2B5EF4-FFF2-40B4-BE49-F238E27FC236}">
                <a16:creationId xmlns:a16="http://schemas.microsoft.com/office/drawing/2014/main" id="{6B65E4AA-0404-D9C6-228D-C63627CB9EEA}"/>
              </a:ext>
            </a:extLst>
          </p:cNvPr>
          <p:cNvPicPr>
            <a:picLocks noChangeAspect="1"/>
          </p:cNvPicPr>
          <p:nvPr/>
        </p:nvPicPr>
        <p:blipFill>
          <a:blip r:embed="rId5"/>
          <a:stretch>
            <a:fillRect/>
          </a:stretch>
        </p:blipFill>
        <p:spPr>
          <a:xfrm>
            <a:off x="1984265" y="3059456"/>
            <a:ext cx="2438740" cy="943107"/>
          </a:xfrm>
          <a:prstGeom prst="rect">
            <a:avLst/>
          </a:prstGeom>
        </p:spPr>
      </p:pic>
      <p:pic>
        <p:nvPicPr>
          <p:cNvPr id="14" name="图片 13">
            <a:extLst>
              <a:ext uri="{FF2B5EF4-FFF2-40B4-BE49-F238E27FC236}">
                <a16:creationId xmlns:a16="http://schemas.microsoft.com/office/drawing/2014/main" id="{1BF74B1E-2972-BE77-A218-E6117FC33E69}"/>
              </a:ext>
            </a:extLst>
          </p:cNvPr>
          <p:cNvPicPr>
            <a:picLocks noChangeAspect="1"/>
          </p:cNvPicPr>
          <p:nvPr/>
        </p:nvPicPr>
        <p:blipFill>
          <a:blip r:embed="rId6"/>
          <a:stretch>
            <a:fillRect/>
          </a:stretch>
        </p:blipFill>
        <p:spPr>
          <a:xfrm>
            <a:off x="4320049" y="3073082"/>
            <a:ext cx="2324424" cy="695422"/>
          </a:xfrm>
          <a:prstGeom prst="rect">
            <a:avLst/>
          </a:prstGeom>
        </p:spPr>
      </p:pic>
      <p:pic>
        <p:nvPicPr>
          <p:cNvPr id="16" name="图片 15">
            <a:extLst>
              <a:ext uri="{FF2B5EF4-FFF2-40B4-BE49-F238E27FC236}">
                <a16:creationId xmlns:a16="http://schemas.microsoft.com/office/drawing/2014/main" id="{3F57C376-6443-38D8-4E2D-57A06BB9F0C3}"/>
              </a:ext>
            </a:extLst>
          </p:cNvPr>
          <p:cNvPicPr>
            <a:picLocks noChangeAspect="1"/>
          </p:cNvPicPr>
          <p:nvPr/>
        </p:nvPicPr>
        <p:blipFill>
          <a:blip r:embed="rId7"/>
          <a:stretch>
            <a:fillRect/>
          </a:stretch>
        </p:blipFill>
        <p:spPr>
          <a:xfrm>
            <a:off x="2395994" y="2218905"/>
            <a:ext cx="2448267" cy="752580"/>
          </a:xfrm>
          <a:prstGeom prst="rect">
            <a:avLst/>
          </a:prstGeom>
        </p:spPr>
      </p:pic>
      <p:pic>
        <p:nvPicPr>
          <p:cNvPr id="18" name="图片 17">
            <a:extLst>
              <a:ext uri="{FF2B5EF4-FFF2-40B4-BE49-F238E27FC236}">
                <a16:creationId xmlns:a16="http://schemas.microsoft.com/office/drawing/2014/main" id="{DFF19B52-E0A2-EC0D-1177-E3C76807BB9F}"/>
              </a:ext>
            </a:extLst>
          </p:cNvPr>
          <p:cNvPicPr>
            <a:picLocks noChangeAspect="1"/>
          </p:cNvPicPr>
          <p:nvPr/>
        </p:nvPicPr>
        <p:blipFill>
          <a:blip r:embed="rId8"/>
          <a:stretch>
            <a:fillRect/>
          </a:stretch>
        </p:blipFill>
        <p:spPr>
          <a:xfrm>
            <a:off x="2034591" y="4046382"/>
            <a:ext cx="1924319" cy="352474"/>
          </a:xfrm>
          <a:prstGeom prst="rect">
            <a:avLst/>
          </a:prstGeom>
        </p:spPr>
      </p:pic>
      <p:pic>
        <p:nvPicPr>
          <p:cNvPr id="20" name="图片 19">
            <a:extLst>
              <a:ext uri="{FF2B5EF4-FFF2-40B4-BE49-F238E27FC236}">
                <a16:creationId xmlns:a16="http://schemas.microsoft.com/office/drawing/2014/main" id="{0AEB4715-6A45-65E0-039A-47AAD9DF01DB}"/>
              </a:ext>
            </a:extLst>
          </p:cNvPr>
          <p:cNvPicPr>
            <a:picLocks noChangeAspect="1"/>
          </p:cNvPicPr>
          <p:nvPr/>
        </p:nvPicPr>
        <p:blipFill>
          <a:blip r:embed="rId9"/>
          <a:stretch>
            <a:fillRect/>
          </a:stretch>
        </p:blipFill>
        <p:spPr>
          <a:xfrm>
            <a:off x="3931887" y="4060068"/>
            <a:ext cx="1857634" cy="342948"/>
          </a:xfrm>
          <a:prstGeom prst="rect">
            <a:avLst/>
          </a:prstGeom>
        </p:spPr>
      </p:pic>
      <p:pic>
        <p:nvPicPr>
          <p:cNvPr id="24" name="图片 23">
            <a:extLst>
              <a:ext uri="{FF2B5EF4-FFF2-40B4-BE49-F238E27FC236}">
                <a16:creationId xmlns:a16="http://schemas.microsoft.com/office/drawing/2014/main" id="{945CFB56-7FEC-F3D3-A5F8-A9BC403B3238}"/>
              </a:ext>
            </a:extLst>
          </p:cNvPr>
          <p:cNvPicPr>
            <a:picLocks noChangeAspect="1"/>
          </p:cNvPicPr>
          <p:nvPr/>
        </p:nvPicPr>
        <p:blipFill>
          <a:blip r:embed="rId10"/>
          <a:stretch>
            <a:fillRect/>
          </a:stretch>
        </p:blipFill>
        <p:spPr>
          <a:xfrm>
            <a:off x="2876495" y="4419842"/>
            <a:ext cx="1867161" cy="704948"/>
          </a:xfrm>
          <a:prstGeom prst="rect">
            <a:avLst/>
          </a:prstGeom>
        </p:spPr>
      </p:pic>
      <p:pic>
        <p:nvPicPr>
          <p:cNvPr id="26" name="图片 25">
            <a:extLst>
              <a:ext uri="{FF2B5EF4-FFF2-40B4-BE49-F238E27FC236}">
                <a16:creationId xmlns:a16="http://schemas.microsoft.com/office/drawing/2014/main" id="{9F608F63-EFC0-C37B-E8C7-B64C1680A512}"/>
              </a:ext>
            </a:extLst>
          </p:cNvPr>
          <p:cNvPicPr>
            <a:picLocks noChangeAspect="1"/>
          </p:cNvPicPr>
          <p:nvPr/>
        </p:nvPicPr>
        <p:blipFill>
          <a:blip r:embed="rId11"/>
          <a:stretch>
            <a:fillRect/>
          </a:stretch>
        </p:blipFill>
        <p:spPr>
          <a:xfrm>
            <a:off x="4870387" y="4553210"/>
            <a:ext cx="1133633" cy="438211"/>
          </a:xfrm>
          <a:prstGeom prst="rect">
            <a:avLst/>
          </a:prstGeom>
        </p:spPr>
      </p:pic>
    </p:spTree>
    <p:extLst>
      <p:ext uri="{BB962C8B-B14F-4D97-AF65-F5344CB8AC3E}">
        <p14:creationId xmlns:p14="http://schemas.microsoft.com/office/powerpoint/2010/main" val="1214263856"/>
      </p:ext>
    </p:extLst>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A9BD28-D960-19D0-9A35-B6BA2D88F621}"/>
              </a:ext>
            </a:extLst>
          </p:cNvPr>
          <p:cNvSpPr txBox="1"/>
          <p:nvPr/>
        </p:nvSpPr>
        <p:spPr>
          <a:xfrm>
            <a:off x="323528" y="555526"/>
            <a:ext cx="8666155" cy="1384995"/>
          </a:xfrm>
          <a:prstGeom prst="rect">
            <a:avLst/>
          </a:prstGeom>
          <a:noFill/>
        </p:spPr>
        <p:txBody>
          <a:bodyPr wrap="none" rtlCol="0">
            <a:spAutoFit/>
          </a:bodyPr>
          <a:lstStyle/>
          <a:p>
            <a:r>
              <a:rPr lang="en-US" altLang="zh-CN" dirty="0"/>
              <a:t>100g</a:t>
            </a:r>
            <a:r>
              <a:rPr lang="zh-CN" altLang="en-US" dirty="0"/>
              <a:t>水溶解</a:t>
            </a:r>
            <a:r>
              <a:rPr lang="en-US" altLang="zh-CN" dirty="0"/>
              <a:t>29g NaCl</a:t>
            </a:r>
            <a:r>
              <a:rPr lang="zh-CN" altLang="en-US" dirty="0"/>
              <a:t>所形成溶液，在</a:t>
            </a:r>
            <a:r>
              <a:rPr lang="en-US" altLang="zh-CN" dirty="0"/>
              <a:t>100</a:t>
            </a:r>
            <a:r>
              <a:rPr lang="zh-CN" altLang="en-US" dirty="0"/>
              <a:t>℃时蒸汽压为</a:t>
            </a:r>
            <a:endParaRPr lang="en-US" altLang="zh-CN" dirty="0"/>
          </a:p>
          <a:p>
            <a:r>
              <a:rPr lang="en-US" altLang="zh-CN" dirty="0"/>
              <a:t>82900Pa</a:t>
            </a:r>
            <a:r>
              <a:rPr lang="zh-CN" altLang="en-US" dirty="0"/>
              <a:t>，求此溶液在</a:t>
            </a:r>
            <a:r>
              <a:rPr lang="en-US" altLang="zh-CN" dirty="0"/>
              <a:t>100</a:t>
            </a:r>
            <a:r>
              <a:rPr lang="zh-CN" altLang="en-US" dirty="0"/>
              <a:t>℃时渗透压。</a:t>
            </a:r>
            <a:endParaRPr lang="en-US" altLang="zh-CN" dirty="0"/>
          </a:p>
          <a:p>
            <a:r>
              <a:rPr lang="zh-CN" altLang="en-US" dirty="0"/>
              <a:t>（</a:t>
            </a:r>
            <a:r>
              <a:rPr lang="en-US" altLang="zh-CN" dirty="0"/>
              <a:t>100</a:t>
            </a:r>
            <a:r>
              <a:rPr lang="zh-CN" altLang="en-US" dirty="0"/>
              <a:t>℃时水的比重</a:t>
            </a:r>
            <a:r>
              <a:rPr lang="en-US" altLang="zh-CN" dirty="0"/>
              <a:t>1.043 cm3/g</a:t>
            </a:r>
            <a:r>
              <a:rPr lang="zh-CN" altLang="en-US" dirty="0"/>
              <a:t>）</a:t>
            </a:r>
          </a:p>
        </p:txBody>
      </p:sp>
    </p:spTree>
    <p:extLst>
      <p:ext uri="{BB962C8B-B14F-4D97-AF65-F5344CB8AC3E}">
        <p14:creationId xmlns:p14="http://schemas.microsoft.com/office/powerpoint/2010/main" val="3632035082"/>
      </p:ext>
    </p:extLst>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52F71AB-74B4-31A7-DC95-0A71A2499B14}"/>
              </a:ext>
            </a:extLst>
          </p:cNvPr>
          <p:cNvSpPr txBox="1"/>
          <p:nvPr/>
        </p:nvSpPr>
        <p:spPr>
          <a:xfrm>
            <a:off x="395536" y="339502"/>
            <a:ext cx="7904728" cy="523220"/>
          </a:xfrm>
          <a:prstGeom prst="rect">
            <a:avLst/>
          </a:prstGeom>
          <a:noFill/>
        </p:spPr>
        <p:txBody>
          <a:bodyPr wrap="none" rtlCol="0">
            <a:spAutoFit/>
          </a:bodyPr>
          <a:lstStyle/>
          <a:p>
            <a:r>
              <a:rPr lang="zh-CN" altLang="en-US" dirty="0"/>
              <a:t>某水溶液凝固点</a:t>
            </a:r>
            <a:r>
              <a:rPr lang="en-US" altLang="zh-CN" dirty="0"/>
              <a:t>-15</a:t>
            </a:r>
            <a:r>
              <a:rPr lang="zh-CN" altLang="en-US" dirty="0"/>
              <a:t>℃，求该溶质的活度和渗透压</a:t>
            </a:r>
          </a:p>
        </p:txBody>
      </p:sp>
    </p:spTree>
    <p:extLst>
      <p:ext uri="{BB962C8B-B14F-4D97-AF65-F5344CB8AC3E}">
        <p14:creationId xmlns:p14="http://schemas.microsoft.com/office/powerpoint/2010/main" val="1717260867"/>
      </p:ext>
    </p:extLst>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2D418FC-B3B3-5A47-C66F-F3115795615C}"/>
              </a:ext>
            </a:extLst>
          </p:cNvPr>
          <p:cNvSpPr txBox="1"/>
          <p:nvPr/>
        </p:nvSpPr>
        <p:spPr>
          <a:xfrm>
            <a:off x="539552" y="339502"/>
            <a:ext cx="1988045" cy="523220"/>
          </a:xfrm>
          <a:prstGeom prst="rect">
            <a:avLst/>
          </a:prstGeom>
          <a:noFill/>
        </p:spPr>
        <p:txBody>
          <a:bodyPr wrap="none" rtlCol="0">
            <a:spAutoFit/>
          </a:bodyPr>
          <a:lstStyle/>
          <a:p>
            <a:r>
              <a:rPr lang="zh-CN" altLang="en-US" dirty="0"/>
              <a:t>二元混合物</a:t>
            </a:r>
          </a:p>
        </p:txBody>
      </p:sp>
      <p:pic>
        <p:nvPicPr>
          <p:cNvPr id="6" name="图片 5">
            <a:extLst>
              <a:ext uri="{FF2B5EF4-FFF2-40B4-BE49-F238E27FC236}">
                <a16:creationId xmlns:a16="http://schemas.microsoft.com/office/drawing/2014/main" id="{7117B5EA-112D-B797-5807-6F93CC9EA1DF}"/>
              </a:ext>
            </a:extLst>
          </p:cNvPr>
          <p:cNvPicPr>
            <a:picLocks noChangeAspect="1"/>
          </p:cNvPicPr>
          <p:nvPr/>
        </p:nvPicPr>
        <p:blipFill>
          <a:blip r:embed="rId2"/>
          <a:stretch>
            <a:fillRect/>
          </a:stretch>
        </p:blipFill>
        <p:spPr>
          <a:xfrm>
            <a:off x="3469852" y="1139038"/>
            <a:ext cx="2457793" cy="3439005"/>
          </a:xfrm>
          <a:prstGeom prst="rect">
            <a:avLst/>
          </a:prstGeom>
        </p:spPr>
      </p:pic>
      <p:pic>
        <p:nvPicPr>
          <p:cNvPr id="8" name="图片 7">
            <a:extLst>
              <a:ext uri="{FF2B5EF4-FFF2-40B4-BE49-F238E27FC236}">
                <a16:creationId xmlns:a16="http://schemas.microsoft.com/office/drawing/2014/main" id="{8D1B68F5-9703-0D52-0D26-71A8019CDFCE}"/>
              </a:ext>
            </a:extLst>
          </p:cNvPr>
          <p:cNvPicPr>
            <a:picLocks noChangeAspect="1"/>
          </p:cNvPicPr>
          <p:nvPr/>
        </p:nvPicPr>
        <p:blipFill>
          <a:blip r:embed="rId3"/>
          <a:stretch>
            <a:fillRect/>
          </a:stretch>
        </p:blipFill>
        <p:spPr>
          <a:xfrm>
            <a:off x="517385" y="1039012"/>
            <a:ext cx="2467319" cy="3639058"/>
          </a:xfrm>
          <a:prstGeom prst="rect">
            <a:avLst/>
          </a:prstGeom>
        </p:spPr>
      </p:pic>
      <p:pic>
        <p:nvPicPr>
          <p:cNvPr id="10" name="图片 9">
            <a:extLst>
              <a:ext uri="{FF2B5EF4-FFF2-40B4-BE49-F238E27FC236}">
                <a16:creationId xmlns:a16="http://schemas.microsoft.com/office/drawing/2014/main" id="{D7BA6818-979A-92CC-81D5-3E3875974CEE}"/>
              </a:ext>
            </a:extLst>
          </p:cNvPr>
          <p:cNvPicPr>
            <a:picLocks noChangeAspect="1"/>
          </p:cNvPicPr>
          <p:nvPr/>
        </p:nvPicPr>
        <p:blipFill>
          <a:blip r:embed="rId4"/>
          <a:stretch>
            <a:fillRect/>
          </a:stretch>
        </p:blipFill>
        <p:spPr>
          <a:xfrm>
            <a:off x="6300192" y="1177143"/>
            <a:ext cx="2524477" cy="3362794"/>
          </a:xfrm>
          <a:prstGeom prst="rect">
            <a:avLst/>
          </a:prstGeom>
        </p:spPr>
      </p:pic>
      <p:sp>
        <p:nvSpPr>
          <p:cNvPr id="11" name="文本框 10">
            <a:extLst>
              <a:ext uri="{FF2B5EF4-FFF2-40B4-BE49-F238E27FC236}">
                <a16:creationId xmlns:a16="http://schemas.microsoft.com/office/drawing/2014/main" id="{28AD9AD3-4124-98FC-D6B3-3360EEDB2FFA}"/>
              </a:ext>
            </a:extLst>
          </p:cNvPr>
          <p:cNvSpPr txBox="1"/>
          <p:nvPr/>
        </p:nvSpPr>
        <p:spPr>
          <a:xfrm>
            <a:off x="5706289" y="4620280"/>
            <a:ext cx="906017" cy="523220"/>
          </a:xfrm>
          <a:prstGeom prst="rect">
            <a:avLst/>
          </a:prstGeom>
          <a:noFill/>
        </p:spPr>
        <p:txBody>
          <a:bodyPr wrap="none" rtlCol="0">
            <a:spAutoFit/>
          </a:bodyPr>
          <a:lstStyle/>
          <a:p>
            <a:r>
              <a:rPr lang="zh-CN" altLang="en-US" dirty="0">
                <a:solidFill>
                  <a:srgbClr val="FF0000"/>
                </a:solidFill>
              </a:rPr>
              <a:t>共沸</a:t>
            </a:r>
          </a:p>
        </p:txBody>
      </p:sp>
      <p:sp>
        <p:nvSpPr>
          <p:cNvPr id="12" name="文本框 11">
            <a:extLst>
              <a:ext uri="{FF2B5EF4-FFF2-40B4-BE49-F238E27FC236}">
                <a16:creationId xmlns:a16="http://schemas.microsoft.com/office/drawing/2014/main" id="{48153DB7-A92A-E708-A3BF-0811A5766425}"/>
              </a:ext>
            </a:extLst>
          </p:cNvPr>
          <p:cNvSpPr txBox="1"/>
          <p:nvPr/>
        </p:nvSpPr>
        <p:spPr>
          <a:xfrm>
            <a:off x="428724" y="4678070"/>
            <a:ext cx="4830168" cy="400110"/>
          </a:xfrm>
          <a:prstGeom prst="rect">
            <a:avLst/>
          </a:prstGeom>
          <a:noFill/>
        </p:spPr>
        <p:txBody>
          <a:bodyPr wrap="none" rtlCol="0">
            <a:spAutoFit/>
          </a:bodyPr>
          <a:lstStyle/>
          <a:p>
            <a:r>
              <a:rPr lang="zh-CN" altLang="en-US" sz="2000" dirty="0">
                <a:solidFill>
                  <a:srgbClr val="FF0000"/>
                </a:solidFill>
              </a:rPr>
              <a:t>冷凝、区域熔炼提纯半导体工业用高纯硅</a:t>
            </a:r>
          </a:p>
        </p:txBody>
      </p:sp>
      <p:pic>
        <p:nvPicPr>
          <p:cNvPr id="1026" name="Picture 2" descr="高中化学中直形冷凝管和球形冷凝管的作用，求官方回答（百度上回答的全是白话。。）？ - 知乎">
            <a:extLst>
              <a:ext uri="{FF2B5EF4-FFF2-40B4-BE49-F238E27FC236}">
                <a16:creationId xmlns:a16="http://schemas.microsoft.com/office/drawing/2014/main" id="{732583D2-80C9-4D2A-511E-084F320C224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43808" y="162258"/>
            <a:ext cx="1152128" cy="934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396304"/>
      </p:ext>
    </p:extLst>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示&#10;&#10;AI 生成的内容可能不正确。">
            <a:extLst>
              <a:ext uri="{FF2B5EF4-FFF2-40B4-BE49-F238E27FC236}">
                <a16:creationId xmlns:a16="http://schemas.microsoft.com/office/drawing/2014/main" id="{5B96E15A-E63B-0A8C-304E-5DC066C505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1240069" y="-1433240"/>
            <a:ext cx="5447623" cy="7696963"/>
          </a:xfrm>
          <a:prstGeom prst="rect">
            <a:avLst/>
          </a:prstGeom>
        </p:spPr>
      </p:pic>
    </p:spTree>
    <p:extLst>
      <p:ext uri="{BB962C8B-B14F-4D97-AF65-F5344CB8AC3E}">
        <p14:creationId xmlns:p14="http://schemas.microsoft.com/office/powerpoint/2010/main" val="678320453"/>
      </p:ext>
    </p:extLst>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422716" y="699545"/>
            <a:ext cx="8305800" cy="3711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0000"/>
              </a:lnSpc>
            </a:pPr>
            <a:r>
              <a:rPr kumimoji="1" lang="en-US" altLang="zh-CN" sz="2400" b="1" dirty="0">
                <a:latin typeface="Times New Roman" pitchFamily="18" charset="0"/>
              </a:rPr>
              <a:t>1</a:t>
            </a:r>
            <a:r>
              <a:rPr kumimoji="1" lang="zh-CN" altLang="en-US" sz="2400" b="1" dirty="0">
                <a:latin typeface="Times New Roman" pitchFamily="18" charset="0"/>
              </a:rPr>
              <a:t>．</a:t>
            </a:r>
            <a:r>
              <a:rPr kumimoji="1" lang="en-US" altLang="zh-CN" sz="2400" b="1" dirty="0">
                <a:latin typeface="Times New Roman" pitchFamily="18" charset="0"/>
              </a:rPr>
              <a:t>1.00</a:t>
            </a:r>
            <a:r>
              <a:rPr kumimoji="1" lang="zh-CN" altLang="en-US" sz="2400" b="1" dirty="0">
                <a:latin typeface="Times New Roman" pitchFamily="18" charset="0"/>
              </a:rPr>
              <a:t>克非电解质溶于</a:t>
            </a:r>
            <a:r>
              <a:rPr kumimoji="1" lang="en-US" altLang="zh-CN" sz="2400" b="1" dirty="0">
                <a:latin typeface="Times New Roman" pitchFamily="18" charset="0"/>
              </a:rPr>
              <a:t>20.0</a:t>
            </a:r>
            <a:r>
              <a:rPr kumimoji="1" lang="zh-CN" altLang="en-US" sz="2400" b="1" dirty="0">
                <a:latin typeface="Times New Roman" pitchFamily="18" charset="0"/>
              </a:rPr>
              <a:t>克水中，测定冰点是</a:t>
            </a:r>
            <a:r>
              <a:rPr kumimoji="1" lang="en-US" altLang="zh-CN" sz="2400" b="1" dirty="0">
                <a:latin typeface="Times New Roman" pitchFamily="18" charset="0"/>
              </a:rPr>
              <a:t>-0.50℃</a:t>
            </a:r>
            <a:r>
              <a:rPr kumimoji="1" lang="zh-CN" altLang="en-US" sz="2400" b="1" dirty="0">
                <a:latin typeface="Times New Roman" pitchFamily="18" charset="0"/>
              </a:rPr>
              <a:t>，该非电解质的相对分子量是（        ）（</a:t>
            </a:r>
            <a:r>
              <a:rPr kumimoji="1" lang="en-US" altLang="zh-CN" sz="2400" b="1" dirty="0" err="1">
                <a:latin typeface="Times New Roman" pitchFamily="18" charset="0"/>
              </a:rPr>
              <a:t>K</a:t>
            </a:r>
            <a:r>
              <a:rPr kumimoji="1" lang="en-US" altLang="zh-CN" sz="2400" b="1" baseline="-30000" dirty="0" err="1">
                <a:latin typeface="Times New Roman" pitchFamily="18" charset="0"/>
              </a:rPr>
              <a:t>f</a:t>
            </a:r>
            <a:r>
              <a:rPr kumimoji="1" lang="zh-CN" altLang="en-US" sz="2400" b="1" dirty="0">
                <a:latin typeface="Times New Roman" pitchFamily="18" charset="0"/>
              </a:rPr>
              <a:t>＝</a:t>
            </a:r>
            <a:r>
              <a:rPr kumimoji="1" lang="en-US" altLang="zh-CN" sz="2400" b="1" dirty="0">
                <a:latin typeface="Times New Roman" pitchFamily="18" charset="0"/>
              </a:rPr>
              <a:t>1.86</a:t>
            </a:r>
            <a:r>
              <a:rPr kumimoji="1" lang="zh-CN" altLang="en-US" sz="2400" b="1" dirty="0">
                <a:latin typeface="Times New Roman" pitchFamily="18" charset="0"/>
              </a:rPr>
              <a:t>）</a:t>
            </a:r>
            <a:endParaRPr kumimoji="1" lang="en-US" altLang="zh-CN" sz="2400" b="1" dirty="0">
              <a:latin typeface="Times New Roman" pitchFamily="18" charset="0"/>
            </a:endParaRPr>
          </a:p>
          <a:p>
            <a:pPr algn="just">
              <a:lnSpc>
                <a:spcPct val="140000"/>
              </a:lnSpc>
            </a:pPr>
            <a:r>
              <a:rPr kumimoji="1" lang="en-US" altLang="zh-CN" sz="2400" dirty="0"/>
              <a:t>       </a:t>
            </a:r>
            <a:r>
              <a:rPr kumimoji="1" lang="zh-CN" altLang="en-US" sz="2400" b="1" dirty="0">
                <a:latin typeface="Times New Roman" pitchFamily="18" charset="0"/>
              </a:rPr>
              <a:t> △</a:t>
            </a:r>
            <a:r>
              <a:rPr kumimoji="1" lang="en-US" altLang="zh-CN" sz="2400" b="1" dirty="0" err="1">
                <a:latin typeface="Times New Roman" pitchFamily="18" charset="0"/>
              </a:rPr>
              <a:t>T</a:t>
            </a:r>
            <a:r>
              <a:rPr kumimoji="1" lang="en-US" altLang="zh-CN" sz="2400" b="1" baseline="-25000" dirty="0" err="1">
                <a:latin typeface="Times New Roman" pitchFamily="18" charset="0"/>
              </a:rPr>
              <a:t>f</a:t>
            </a:r>
            <a:r>
              <a:rPr kumimoji="1" lang="en-US" altLang="zh-CN" sz="2400" b="1" dirty="0">
                <a:latin typeface="Times New Roman" pitchFamily="18" charset="0"/>
              </a:rPr>
              <a:t> = </a:t>
            </a:r>
            <a:r>
              <a:rPr kumimoji="1" lang="en-US" altLang="zh-CN" sz="2400" b="1" dirty="0" err="1">
                <a:latin typeface="Times New Roman" pitchFamily="18" charset="0"/>
              </a:rPr>
              <a:t>K</a:t>
            </a:r>
            <a:r>
              <a:rPr kumimoji="1" lang="en-US" altLang="zh-CN" sz="2400" b="1" baseline="-25000" dirty="0" err="1">
                <a:latin typeface="Times New Roman" pitchFamily="18" charset="0"/>
              </a:rPr>
              <a:t>f</a:t>
            </a:r>
            <a:r>
              <a:rPr kumimoji="1" lang="en-US" altLang="zh-CN" sz="2400" b="1" dirty="0">
                <a:latin typeface="Times New Roman" pitchFamily="18" charset="0"/>
              </a:rPr>
              <a:t>· b(B) </a:t>
            </a:r>
          </a:p>
          <a:p>
            <a:pPr algn="just" eaLnBrk="0" hangingPunct="0">
              <a:lnSpc>
                <a:spcPct val="140000"/>
              </a:lnSpc>
            </a:pPr>
            <a:r>
              <a:rPr kumimoji="1" lang="en-US" altLang="zh-CN" sz="2400" b="1" dirty="0">
                <a:latin typeface="Times New Roman" pitchFamily="18" charset="0"/>
              </a:rPr>
              <a:t> (A) 1.86 /( 0.50×0. 20)             </a:t>
            </a:r>
          </a:p>
          <a:p>
            <a:pPr algn="just" eaLnBrk="0" hangingPunct="0">
              <a:lnSpc>
                <a:spcPct val="140000"/>
              </a:lnSpc>
            </a:pPr>
            <a:r>
              <a:rPr kumimoji="1" lang="en-US" altLang="zh-CN" sz="2400" b="1" dirty="0">
                <a:latin typeface="Times New Roman" pitchFamily="18" charset="0"/>
              </a:rPr>
              <a:t> (B)  1.86/(0.50×20.0)</a:t>
            </a:r>
          </a:p>
          <a:p>
            <a:pPr algn="just" eaLnBrk="0" hangingPunct="0">
              <a:lnSpc>
                <a:spcPct val="140000"/>
              </a:lnSpc>
            </a:pPr>
            <a:r>
              <a:rPr kumimoji="1" lang="en-US" altLang="zh-CN" sz="2400" b="1" dirty="0">
                <a:latin typeface="Times New Roman" pitchFamily="18" charset="0"/>
              </a:rPr>
              <a:t> (C)  0.50×20.0/1.86                </a:t>
            </a:r>
          </a:p>
          <a:p>
            <a:pPr algn="just" eaLnBrk="0" hangingPunct="0">
              <a:lnSpc>
                <a:spcPct val="140000"/>
              </a:lnSpc>
            </a:pPr>
            <a:r>
              <a:rPr kumimoji="1" lang="en-US" altLang="zh-CN" sz="2400" b="1" dirty="0">
                <a:latin typeface="Times New Roman" pitchFamily="18" charset="0"/>
              </a:rPr>
              <a:t> (D)  1.86/( 0.50×0.020)</a:t>
            </a:r>
          </a:p>
        </p:txBody>
      </p:sp>
      <p:sp>
        <p:nvSpPr>
          <p:cNvPr id="3" name="Text Box 3"/>
          <p:cNvSpPr txBox="1">
            <a:spLocks noChangeArrowheads="1"/>
          </p:cNvSpPr>
          <p:nvPr/>
        </p:nvSpPr>
        <p:spPr bwMode="auto">
          <a:xfrm>
            <a:off x="4067944" y="1275609"/>
            <a:ext cx="838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3200" b="1" dirty="0">
                <a:solidFill>
                  <a:srgbClr val="C00000"/>
                </a:solidFill>
                <a:latin typeface="宋体" charset="-122"/>
              </a:rPr>
              <a:t>D</a:t>
            </a:r>
          </a:p>
        </p:txBody>
      </p:sp>
    </p:spTree>
    <p:extLst>
      <p:ext uri="{BB962C8B-B14F-4D97-AF65-F5344CB8AC3E}">
        <p14:creationId xmlns:p14="http://schemas.microsoft.com/office/powerpoint/2010/main" val="3129791466"/>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81000" y="483518"/>
            <a:ext cx="8229600" cy="3699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spcBef>
                <a:spcPct val="50000"/>
              </a:spcBef>
            </a:pPr>
            <a:r>
              <a:rPr kumimoji="1" lang="en-US" altLang="zh-CN" sz="2400" dirty="0">
                <a:latin typeface="Times New Roman" pitchFamily="18" charset="0"/>
              </a:rPr>
              <a:t>2</a:t>
            </a:r>
            <a:r>
              <a:rPr kumimoji="1" lang="en-US" altLang="zh-CN" sz="2400" b="1" dirty="0">
                <a:latin typeface="Times New Roman" pitchFamily="18" charset="0"/>
              </a:rPr>
              <a:t>. </a:t>
            </a:r>
            <a:r>
              <a:rPr kumimoji="1" lang="zh-CN" altLang="en-US" sz="2400" b="1" dirty="0">
                <a:solidFill>
                  <a:srgbClr val="C00000"/>
                </a:solidFill>
                <a:latin typeface="Times New Roman" pitchFamily="18" charset="0"/>
              </a:rPr>
              <a:t>相同质量</a:t>
            </a:r>
            <a:r>
              <a:rPr kumimoji="1" lang="zh-CN" altLang="en-US" sz="2400" b="1" dirty="0">
                <a:latin typeface="Times New Roman" pitchFamily="18" charset="0"/>
              </a:rPr>
              <a:t>的蔗糖和葡萄糖分别溶解于相同</a:t>
            </a:r>
          </a:p>
          <a:p>
            <a:pPr algn="just">
              <a:lnSpc>
                <a:spcPct val="90000"/>
              </a:lnSpc>
              <a:spcBef>
                <a:spcPct val="50000"/>
              </a:spcBef>
            </a:pPr>
            <a:r>
              <a:rPr kumimoji="1" lang="zh-CN" altLang="en-US" sz="2400" b="1" dirty="0">
                <a:latin typeface="Times New Roman" pitchFamily="18" charset="0"/>
              </a:rPr>
              <a:t>体积的水中，所得溶液的渗透压（         ）蔗糖</a:t>
            </a:r>
          </a:p>
          <a:p>
            <a:pPr algn="just">
              <a:lnSpc>
                <a:spcPct val="90000"/>
              </a:lnSpc>
              <a:spcBef>
                <a:spcPct val="50000"/>
              </a:spcBef>
            </a:pPr>
            <a:r>
              <a:rPr kumimoji="1" lang="en-US" altLang="zh-CN" sz="2400" b="1" dirty="0">
                <a:latin typeface="Times New Roman" pitchFamily="18" charset="0"/>
              </a:rPr>
              <a:t>(C</a:t>
            </a:r>
            <a:r>
              <a:rPr kumimoji="1" lang="en-US" altLang="zh-CN" sz="2400" b="1" baseline="-25000" dirty="0">
                <a:latin typeface="Times New Roman" pitchFamily="18" charset="0"/>
              </a:rPr>
              <a:t>12</a:t>
            </a:r>
            <a:r>
              <a:rPr kumimoji="1" lang="en-US" altLang="zh-CN" sz="2400" b="1" dirty="0">
                <a:latin typeface="Times New Roman" pitchFamily="18" charset="0"/>
              </a:rPr>
              <a:t>H</a:t>
            </a:r>
            <a:r>
              <a:rPr kumimoji="1" lang="en-US" altLang="zh-CN" sz="2400" b="1" baseline="-25000" dirty="0">
                <a:latin typeface="Times New Roman" pitchFamily="18" charset="0"/>
              </a:rPr>
              <a:t>22</a:t>
            </a:r>
            <a:r>
              <a:rPr kumimoji="1" lang="en-US" altLang="zh-CN" sz="2400" b="1" dirty="0">
                <a:latin typeface="Times New Roman" pitchFamily="18" charset="0"/>
              </a:rPr>
              <a:t>O</a:t>
            </a:r>
            <a:r>
              <a:rPr kumimoji="1" lang="en-US" altLang="zh-CN" sz="2400" b="1" baseline="-25000" dirty="0">
                <a:latin typeface="Times New Roman" pitchFamily="18" charset="0"/>
              </a:rPr>
              <a:t>11</a:t>
            </a:r>
            <a:r>
              <a:rPr kumimoji="1" lang="en-US" altLang="zh-CN" sz="2400" b="1" dirty="0">
                <a:latin typeface="Times New Roman" pitchFamily="18" charset="0"/>
              </a:rPr>
              <a:t>)</a:t>
            </a:r>
            <a:r>
              <a:rPr kumimoji="1" lang="zh-CN" altLang="en-US" sz="2400" b="1" dirty="0">
                <a:latin typeface="Times New Roman" pitchFamily="18" charset="0"/>
              </a:rPr>
              <a:t>葡萄糖</a:t>
            </a:r>
            <a:r>
              <a:rPr kumimoji="1" lang="en-US" altLang="zh-CN" sz="2400" b="1" dirty="0">
                <a:latin typeface="Times New Roman" pitchFamily="18" charset="0"/>
              </a:rPr>
              <a:t>(C</a:t>
            </a:r>
            <a:r>
              <a:rPr kumimoji="1" lang="en-US" altLang="zh-CN" sz="2400" b="1" baseline="-25000" dirty="0">
                <a:latin typeface="Times New Roman" pitchFamily="18" charset="0"/>
              </a:rPr>
              <a:t>6</a:t>
            </a:r>
            <a:r>
              <a:rPr kumimoji="1" lang="en-US" altLang="zh-CN" sz="2400" b="1" dirty="0">
                <a:latin typeface="Times New Roman" pitchFamily="18" charset="0"/>
              </a:rPr>
              <a:t>H</a:t>
            </a:r>
            <a:r>
              <a:rPr kumimoji="1" lang="en-US" altLang="zh-CN" sz="2400" b="1" baseline="-25000" dirty="0">
                <a:latin typeface="Times New Roman" pitchFamily="18" charset="0"/>
              </a:rPr>
              <a:t>12</a:t>
            </a:r>
            <a:r>
              <a:rPr kumimoji="1" lang="en-US" altLang="zh-CN" sz="2400" b="1" dirty="0">
                <a:latin typeface="Times New Roman" pitchFamily="18" charset="0"/>
              </a:rPr>
              <a:t>O</a:t>
            </a:r>
            <a:r>
              <a:rPr kumimoji="1" lang="en-US" altLang="zh-CN" sz="2400" b="1" baseline="-25000" dirty="0">
                <a:latin typeface="Times New Roman" pitchFamily="18" charset="0"/>
              </a:rPr>
              <a:t>6</a:t>
            </a:r>
            <a:r>
              <a:rPr kumimoji="1" lang="en-US" altLang="zh-CN" sz="2400" b="1" dirty="0">
                <a:latin typeface="Times New Roman" pitchFamily="18" charset="0"/>
              </a:rPr>
              <a:t>)</a:t>
            </a:r>
          </a:p>
          <a:p>
            <a:pPr algn="just">
              <a:lnSpc>
                <a:spcPct val="90000"/>
              </a:lnSpc>
              <a:spcBef>
                <a:spcPct val="50000"/>
              </a:spcBef>
            </a:pPr>
            <a:r>
              <a:rPr kumimoji="1" lang="en-US" altLang="zh-CN" sz="2400" b="1" dirty="0">
                <a:latin typeface="Times New Roman" pitchFamily="18" charset="0"/>
              </a:rPr>
              <a:t>     (A)</a:t>
            </a:r>
            <a:r>
              <a:rPr kumimoji="1" lang="zh-CN" altLang="en-US" sz="2400" b="1" dirty="0">
                <a:latin typeface="Times New Roman" pitchFamily="18" charset="0"/>
              </a:rPr>
              <a:t>前者大于后者          </a:t>
            </a:r>
          </a:p>
          <a:p>
            <a:pPr algn="just">
              <a:lnSpc>
                <a:spcPct val="90000"/>
              </a:lnSpc>
              <a:spcBef>
                <a:spcPct val="50000"/>
              </a:spcBef>
            </a:pPr>
            <a:r>
              <a:rPr kumimoji="1" lang="zh-CN" altLang="en-US" sz="2400" b="1" i="1" dirty="0">
                <a:latin typeface="Times New Roman" pitchFamily="18" charset="0"/>
              </a:rPr>
              <a:t>     </a:t>
            </a:r>
            <a:r>
              <a:rPr kumimoji="1" lang="en-US" altLang="zh-CN" sz="2400" b="1" dirty="0">
                <a:latin typeface="Times New Roman" pitchFamily="18" charset="0"/>
              </a:rPr>
              <a:t>(B)</a:t>
            </a:r>
            <a:r>
              <a:rPr kumimoji="1" lang="zh-CN" altLang="en-US" sz="2400" b="1" dirty="0">
                <a:latin typeface="Times New Roman" pitchFamily="18" charset="0"/>
              </a:rPr>
              <a:t>后者大于前者</a:t>
            </a:r>
          </a:p>
          <a:p>
            <a:pPr algn="just">
              <a:lnSpc>
                <a:spcPct val="90000"/>
              </a:lnSpc>
              <a:spcBef>
                <a:spcPct val="50000"/>
              </a:spcBef>
            </a:pPr>
            <a:r>
              <a:rPr kumimoji="1" lang="zh-CN" altLang="en-US" sz="2400" b="1" dirty="0">
                <a:latin typeface="Times New Roman" pitchFamily="18" charset="0"/>
              </a:rPr>
              <a:t>     </a:t>
            </a:r>
            <a:r>
              <a:rPr kumimoji="1" lang="en-US" altLang="zh-CN" sz="2400" b="1" dirty="0">
                <a:latin typeface="Times New Roman" pitchFamily="18" charset="0"/>
              </a:rPr>
              <a:t>(C)</a:t>
            </a:r>
            <a:r>
              <a:rPr kumimoji="1" lang="zh-CN" altLang="en-US" sz="2400" b="1" dirty="0">
                <a:latin typeface="Times New Roman" pitchFamily="18" charset="0"/>
              </a:rPr>
              <a:t>两者相同        </a:t>
            </a:r>
            <a:r>
              <a:rPr kumimoji="1" lang="zh-CN" altLang="en-US" sz="3200" b="1" dirty="0">
                <a:latin typeface="Times New Roman" pitchFamily="18" charset="0"/>
              </a:rPr>
              <a:t>          </a:t>
            </a:r>
          </a:p>
          <a:p>
            <a:pPr algn="just">
              <a:lnSpc>
                <a:spcPct val="90000"/>
              </a:lnSpc>
              <a:spcBef>
                <a:spcPct val="50000"/>
              </a:spcBef>
            </a:pPr>
            <a:r>
              <a:rPr kumimoji="1" lang="zh-CN" altLang="en-US" sz="2400" dirty="0"/>
              <a:t>     </a:t>
            </a:r>
            <a:r>
              <a:rPr kumimoji="1" lang="en-US" altLang="zh-CN" sz="2400" dirty="0"/>
              <a:t>(D)</a:t>
            </a:r>
            <a:r>
              <a:rPr kumimoji="1" lang="zh-CN" altLang="en-US" sz="2400" dirty="0"/>
              <a:t>不能判断</a:t>
            </a:r>
          </a:p>
        </p:txBody>
      </p:sp>
      <p:sp>
        <p:nvSpPr>
          <p:cNvPr id="3" name="Text Box 3"/>
          <p:cNvSpPr txBox="1">
            <a:spLocks noChangeArrowheads="1"/>
          </p:cNvSpPr>
          <p:nvPr/>
        </p:nvSpPr>
        <p:spPr bwMode="auto">
          <a:xfrm>
            <a:off x="5076056" y="915569"/>
            <a:ext cx="838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3200" dirty="0">
                <a:solidFill>
                  <a:srgbClr val="C00000"/>
                </a:solidFill>
                <a:latin typeface="宋体" charset="-122"/>
              </a:rPr>
              <a:t>B</a:t>
            </a:r>
            <a:endParaRPr kumimoji="1" lang="en-US" altLang="zh-CN" sz="3200" b="1" dirty="0">
              <a:solidFill>
                <a:srgbClr val="C00000"/>
              </a:solidFill>
              <a:latin typeface="宋体" charset="-122"/>
            </a:endParaRPr>
          </a:p>
        </p:txBody>
      </p:sp>
    </p:spTree>
    <p:extLst>
      <p:ext uri="{BB962C8B-B14F-4D97-AF65-F5344CB8AC3E}">
        <p14:creationId xmlns:p14="http://schemas.microsoft.com/office/powerpoint/2010/main" val="2217812494"/>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4294967295"/>
          </p:nvPr>
        </p:nvSpPr>
        <p:spPr>
          <a:xfrm>
            <a:off x="7216775" y="4444604"/>
            <a:ext cx="1905000" cy="342900"/>
          </a:xfrm>
          <a:prstGeom prst="rect">
            <a:avLst/>
          </a:prstGeom>
        </p:spPr>
        <p:txBody>
          <a:bodyPr/>
          <a:lstStyle/>
          <a:p>
            <a:fld id="{045D0A8E-C7E8-47E1-A136-4D6122FC3CB8}" type="slidenum">
              <a:rPr lang="en-US" altLang="zh-CN"/>
              <a:pPr/>
              <a:t>43</a:t>
            </a:fld>
            <a:endParaRPr lang="en-US" altLang="zh-CN"/>
          </a:p>
        </p:txBody>
      </p:sp>
      <p:sp>
        <p:nvSpPr>
          <p:cNvPr id="94210" name="Text Box 2"/>
          <p:cNvSpPr txBox="1">
            <a:spLocks noChangeArrowheads="1"/>
          </p:cNvSpPr>
          <p:nvPr/>
        </p:nvSpPr>
        <p:spPr bwMode="auto">
          <a:xfrm>
            <a:off x="28504" y="483521"/>
            <a:ext cx="9144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en-US" altLang="zh-CN" sz="2400" b="1" dirty="0">
                <a:latin typeface="Times New Roman" pitchFamily="18" charset="0"/>
              </a:rPr>
              <a:t>【</a:t>
            </a:r>
            <a:r>
              <a:rPr kumimoji="1" lang="zh-CN" altLang="en-US" sz="2400" b="1" dirty="0">
                <a:latin typeface="Times New Roman" pitchFamily="18" charset="0"/>
              </a:rPr>
              <a:t>例</a:t>
            </a:r>
            <a:r>
              <a:rPr kumimoji="1" lang="en-US" altLang="zh-CN" sz="2400" b="1" dirty="0">
                <a:latin typeface="Times New Roman" pitchFamily="18" charset="0"/>
              </a:rPr>
              <a:t>】</a:t>
            </a:r>
            <a:r>
              <a:rPr kumimoji="1" lang="zh-CN" altLang="en-US" sz="2400" b="1" dirty="0">
                <a:latin typeface="Times New Roman" pitchFamily="18" charset="0"/>
              </a:rPr>
              <a:t>：将</a:t>
            </a:r>
            <a:r>
              <a:rPr kumimoji="1" lang="en-US" altLang="zh-CN" sz="2400" b="1" dirty="0">
                <a:latin typeface="Times New Roman" pitchFamily="18" charset="0"/>
              </a:rPr>
              <a:t>12.0g</a:t>
            </a:r>
            <a:r>
              <a:rPr kumimoji="1" lang="zh-CN" altLang="en-US" sz="2400" b="1" dirty="0">
                <a:latin typeface="Times New Roman" pitchFamily="18" charset="0"/>
              </a:rPr>
              <a:t>尿素</a:t>
            </a:r>
            <a:r>
              <a:rPr kumimoji="1" lang="en-US" altLang="zh-CN" sz="2400" b="1" dirty="0">
                <a:latin typeface="Times New Roman" pitchFamily="18" charset="0"/>
              </a:rPr>
              <a:t>[CO(NH</a:t>
            </a:r>
            <a:r>
              <a:rPr kumimoji="1" lang="en-US" altLang="zh-CN" sz="2400" b="1" baseline="-25000" dirty="0">
                <a:latin typeface="Times New Roman" pitchFamily="18" charset="0"/>
              </a:rPr>
              <a:t>2</a:t>
            </a:r>
            <a:r>
              <a:rPr kumimoji="1" lang="en-US" altLang="zh-CN" sz="2400" b="1" dirty="0">
                <a:latin typeface="Times New Roman" pitchFamily="18" charset="0"/>
              </a:rPr>
              <a:t>)</a:t>
            </a:r>
            <a:r>
              <a:rPr kumimoji="1" lang="en-US" altLang="zh-CN" sz="2400" b="1" baseline="-25000" dirty="0">
                <a:latin typeface="Times New Roman" pitchFamily="18" charset="0"/>
              </a:rPr>
              <a:t>2</a:t>
            </a:r>
            <a:r>
              <a:rPr kumimoji="1" lang="en-US" altLang="zh-CN" sz="2400" b="1" dirty="0">
                <a:latin typeface="Times New Roman" pitchFamily="18" charset="0"/>
              </a:rPr>
              <a:t>]</a:t>
            </a:r>
            <a:r>
              <a:rPr kumimoji="1" lang="zh-CN" altLang="en-US" sz="2400" b="1" dirty="0">
                <a:latin typeface="Times New Roman" pitchFamily="18" charset="0"/>
              </a:rPr>
              <a:t>和</a:t>
            </a:r>
            <a:r>
              <a:rPr kumimoji="1" lang="en-US" altLang="zh-CN" sz="2400" b="1" dirty="0">
                <a:latin typeface="Times New Roman" pitchFamily="18" charset="0"/>
              </a:rPr>
              <a:t>34.2g</a:t>
            </a:r>
            <a:r>
              <a:rPr kumimoji="1" lang="zh-CN" altLang="en-US" sz="2400" b="1" dirty="0">
                <a:latin typeface="Times New Roman" pitchFamily="18" charset="0"/>
              </a:rPr>
              <a:t>蔗糖（</a:t>
            </a:r>
            <a:r>
              <a:rPr kumimoji="1" lang="en-US" altLang="zh-CN" sz="2400" b="1" dirty="0">
                <a:latin typeface="Times New Roman" pitchFamily="18" charset="0"/>
              </a:rPr>
              <a:t>C</a:t>
            </a:r>
            <a:r>
              <a:rPr kumimoji="1" lang="en-US" altLang="zh-CN" sz="2400" b="1" baseline="-25000" dirty="0">
                <a:latin typeface="Times New Roman" pitchFamily="18" charset="0"/>
              </a:rPr>
              <a:t>12</a:t>
            </a:r>
            <a:r>
              <a:rPr kumimoji="1" lang="en-US" altLang="zh-CN" sz="2400" b="1" dirty="0">
                <a:latin typeface="Times New Roman" pitchFamily="18" charset="0"/>
              </a:rPr>
              <a:t>H</a:t>
            </a:r>
            <a:r>
              <a:rPr kumimoji="1" lang="en-US" altLang="zh-CN" sz="2400" b="1" baseline="-25000" dirty="0">
                <a:latin typeface="Times New Roman" pitchFamily="18" charset="0"/>
              </a:rPr>
              <a:t>22</a:t>
            </a:r>
            <a:r>
              <a:rPr kumimoji="1" lang="en-US" altLang="zh-CN" sz="2400" b="1" dirty="0">
                <a:latin typeface="Times New Roman" pitchFamily="18" charset="0"/>
              </a:rPr>
              <a:t>O</a:t>
            </a:r>
            <a:r>
              <a:rPr kumimoji="1" lang="en-US" altLang="zh-CN" sz="2400" b="1" baseline="-25000" dirty="0">
                <a:latin typeface="Times New Roman" pitchFamily="18" charset="0"/>
              </a:rPr>
              <a:t>11</a:t>
            </a:r>
            <a:r>
              <a:rPr kumimoji="1" lang="en-US" altLang="zh-CN" sz="2400" b="1" dirty="0">
                <a:latin typeface="Times New Roman" pitchFamily="18" charset="0"/>
              </a:rPr>
              <a:t>)</a:t>
            </a:r>
            <a:r>
              <a:rPr kumimoji="1" lang="zh-CN" altLang="en-US" sz="2400" b="1" dirty="0">
                <a:latin typeface="Times New Roman" pitchFamily="18" charset="0"/>
              </a:rPr>
              <a:t>分别溶于</a:t>
            </a:r>
            <a:r>
              <a:rPr kumimoji="1" lang="en-US" altLang="zh-CN" sz="2400" b="1" dirty="0">
                <a:latin typeface="Times New Roman" pitchFamily="18" charset="0"/>
              </a:rPr>
              <a:t>2000g</a:t>
            </a:r>
            <a:r>
              <a:rPr kumimoji="1" lang="zh-CN" altLang="en-US" sz="2400" b="1" dirty="0">
                <a:latin typeface="Times New Roman" pitchFamily="18" charset="0"/>
              </a:rPr>
              <a:t>水中</a:t>
            </a:r>
            <a:r>
              <a:rPr kumimoji="1" lang="en-US" altLang="zh-CN" sz="2400" b="1" dirty="0">
                <a:latin typeface="Times New Roman" pitchFamily="18" charset="0"/>
              </a:rPr>
              <a:t>,</a:t>
            </a:r>
            <a:r>
              <a:rPr kumimoji="1" lang="zh-CN" altLang="en-US" sz="2400" b="1" dirty="0">
                <a:latin typeface="Times New Roman" pitchFamily="18" charset="0"/>
              </a:rPr>
              <a:t>计算此两种溶液的沸点</a:t>
            </a:r>
            <a:r>
              <a:rPr kumimoji="1" lang="en-US" altLang="zh-CN" sz="2400" b="1" dirty="0">
                <a:latin typeface="Times New Roman" pitchFamily="18" charset="0"/>
              </a:rPr>
              <a:t>(K</a:t>
            </a:r>
            <a:r>
              <a:rPr kumimoji="1" lang="en-US" altLang="zh-CN" sz="2400" b="1" baseline="-25000" dirty="0">
                <a:latin typeface="Times New Roman" pitchFamily="18" charset="0"/>
              </a:rPr>
              <a:t>b</a:t>
            </a:r>
            <a:r>
              <a:rPr kumimoji="1" lang="en-US" altLang="zh-CN" sz="2400" b="1" dirty="0">
                <a:latin typeface="Times New Roman" pitchFamily="18" charset="0"/>
              </a:rPr>
              <a:t>=0.52K·kg·mol</a:t>
            </a:r>
            <a:r>
              <a:rPr kumimoji="1" lang="en-US" altLang="zh-CN" sz="2400" b="1" baseline="30000" dirty="0">
                <a:latin typeface="Times New Roman" pitchFamily="18" charset="0"/>
              </a:rPr>
              <a:t>-1</a:t>
            </a:r>
            <a:r>
              <a:rPr kumimoji="1" lang="zh-CN" altLang="en-US" sz="2400" b="1" dirty="0">
                <a:latin typeface="Times New Roman" pitchFamily="18" charset="0"/>
              </a:rPr>
              <a:t>）</a:t>
            </a:r>
          </a:p>
        </p:txBody>
      </p:sp>
      <p:sp>
        <p:nvSpPr>
          <p:cNvPr id="94211" name="Rectangle 3"/>
          <p:cNvSpPr>
            <a:spLocks noChangeArrowheads="1"/>
          </p:cNvSpPr>
          <p:nvPr/>
        </p:nvSpPr>
        <p:spPr bwMode="auto">
          <a:xfrm>
            <a:off x="304800" y="1771654"/>
            <a:ext cx="8839200"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kumimoji="1" lang="zh-CN" altLang="en-US" sz="2400" b="1" dirty="0">
                <a:solidFill>
                  <a:srgbClr val="C00000"/>
                </a:solidFill>
                <a:latin typeface="Times New Roman" pitchFamily="18" charset="0"/>
              </a:rPr>
              <a:t>解</a:t>
            </a:r>
            <a:r>
              <a:rPr kumimoji="1" lang="zh-CN" altLang="en-US" sz="2400" dirty="0">
                <a:latin typeface="Times New Roman" pitchFamily="18" charset="0"/>
              </a:rPr>
              <a:t>：</a:t>
            </a:r>
            <a:r>
              <a:rPr kumimoji="1" lang="en-US" altLang="zh-CN" sz="2400" b="1" dirty="0">
                <a:latin typeface="Times New Roman" pitchFamily="18" charset="0"/>
              </a:rPr>
              <a:t>M</a:t>
            </a:r>
            <a:r>
              <a:rPr kumimoji="1" lang="zh-CN" altLang="en-US" sz="2400" b="1" baseline="-25000" dirty="0">
                <a:latin typeface="Times New Roman" pitchFamily="18" charset="0"/>
              </a:rPr>
              <a:t>尿素</a:t>
            </a:r>
            <a:r>
              <a:rPr kumimoji="1" lang="zh-CN" altLang="en-US" sz="2400" b="1" dirty="0">
                <a:latin typeface="Times New Roman" pitchFamily="18" charset="0"/>
              </a:rPr>
              <a:t> </a:t>
            </a:r>
            <a:r>
              <a:rPr kumimoji="1" lang="en-US" altLang="zh-CN" sz="2400" b="1" dirty="0">
                <a:latin typeface="Times New Roman" pitchFamily="18" charset="0"/>
              </a:rPr>
              <a:t>= 60 g·mol</a:t>
            </a:r>
            <a:r>
              <a:rPr kumimoji="1" lang="en-US" altLang="zh-CN" sz="2400" b="1" baseline="30000" dirty="0">
                <a:latin typeface="Times New Roman" pitchFamily="18" charset="0"/>
              </a:rPr>
              <a:t>-1</a:t>
            </a:r>
            <a:endParaRPr kumimoji="1" lang="en-US" altLang="zh-CN" sz="2400" b="1" dirty="0">
              <a:latin typeface="Times New Roman" pitchFamily="18" charset="0"/>
            </a:endParaRPr>
          </a:p>
          <a:p>
            <a:pPr>
              <a:lnSpc>
                <a:spcPct val="140000"/>
              </a:lnSpc>
            </a:pPr>
            <a:r>
              <a:rPr kumimoji="1" lang="en-US" altLang="zh-CN" sz="2400" b="1" dirty="0">
                <a:latin typeface="Times New Roman" pitchFamily="18" charset="0"/>
              </a:rPr>
              <a:t>    b(B)  = [12.0/(60×2000)] ×1000 = 0.1mol·kg</a:t>
            </a:r>
            <a:r>
              <a:rPr kumimoji="1" lang="en-US" altLang="zh-CN" sz="2400" b="1" baseline="30000" dirty="0">
                <a:latin typeface="Times New Roman" pitchFamily="18" charset="0"/>
              </a:rPr>
              <a:t>-1</a:t>
            </a:r>
            <a:r>
              <a:rPr kumimoji="1" lang="en-US" altLang="zh-CN" sz="2400" b="1" dirty="0">
                <a:latin typeface="Times New Roman" pitchFamily="18" charset="0"/>
              </a:rPr>
              <a:t>   </a:t>
            </a:r>
          </a:p>
          <a:p>
            <a:pPr>
              <a:lnSpc>
                <a:spcPct val="140000"/>
              </a:lnSpc>
            </a:pPr>
            <a:r>
              <a:rPr kumimoji="1" lang="en-US" altLang="zh-CN" sz="2400" b="1" dirty="0">
                <a:latin typeface="Times New Roman" pitchFamily="18" charset="0"/>
              </a:rPr>
              <a:t>    </a:t>
            </a:r>
            <a:r>
              <a:rPr kumimoji="1" lang="en-US" altLang="zh-CN" sz="2400" dirty="0"/>
              <a:t>△T</a:t>
            </a:r>
            <a:r>
              <a:rPr kumimoji="1" lang="en-US" altLang="zh-CN" sz="2400" baseline="-25000" dirty="0"/>
              <a:t>b</a:t>
            </a:r>
            <a:r>
              <a:rPr kumimoji="1" lang="en-US" altLang="zh-CN" sz="2400" dirty="0"/>
              <a:t> = K</a:t>
            </a:r>
            <a:r>
              <a:rPr kumimoji="1" lang="en-US" altLang="zh-CN" sz="2400" baseline="-25000" dirty="0"/>
              <a:t>b</a:t>
            </a:r>
            <a:r>
              <a:rPr kumimoji="1" lang="en-US" altLang="zh-CN" sz="2400" dirty="0"/>
              <a:t>· </a:t>
            </a:r>
            <a:r>
              <a:rPr kumimoji="1" lang="en-US" altLang="zh-CN" sz="2400" dirty="0" err="1"/>
              <a:t>b</a:t>
            </a:r>
            <a:r>
              <a:rPr kumimoji="1" lang="en-US" altLang="zh-CN" sz="2400" baseline="-25000" dirty="0" err="1"/>
              <a:t>B</a:t>
            </a:r>
            <a:r>
              <a:rPr kumimoji="1" lang="zh-CN" altLang="en-US" sz="2400" b="1" dirty="0">
                <a:latin typeface="Times New Roman" pitchFamily="18" charset="0"/>
              </a:rPr>
              <a:t> </a:t>
            </a:r>
            <a:r>
              <a:rPr kumimoji="1" lang="en-US" altLang="zh-CN" sz="2400" b="1" dirty="0">
                <a:latin typeface="Times New Roman" pitchFamily="18" charset="0"/>
              </a:rPr>
              <a:t>=  0.52 ×0.1 = 0.052 (K)</a:t>
            </a:r>
          </a:p>
          <a:p>
            <a:pPr>
              <a:lnSpc>
                <a:spcPct val="140000"/>
              </a:lnSpc>
            </a:pPr>
            <a:r>
              <a:rPr kumimoji="1" lang="en-US" altLang="zh-CN" sz="2400" b="1" dirty="0">
                <a:latin typeface="Times New Roman" pitchFamily="18" charset="0"/>
              </a:rPr>
              <a:t>        T</a:t>
            </a:r>
            <a:r>
              <a:rPr kumimoji="1" lang="en-US" altLang="zh-CN" sz="2400" b="1" baseline="-25000" dirty="0">
                <a:latin typeface="Times New Roman" pitchFamily="18" charset="0"/>
              </a:rPr>
              <a:t>b</a:t>
            </a:r>
            <a:r>
              <a:rPr kumimoji="1" lang="zh-CN" altLang="en-US" sz="2400" b="1" baseline="-25000" dirty="0">
                <a:latin typeface="Times New Roman" pitchFamily="18" charset="0"/>
              </a:rPr>
              <a:t>尿</a:t>
            </a:r>
            <a:r>
              <a:rPr kumimoji="1" lang="zh-CN" altLang="en-US" sz="2400" b="1" dirty="0">
                <a:latin typeface="Times New Roman" pitchFamily="18" charset="0"/>
              </a:rPr>
              <a:t> </a:t>
            </a:r>
            <a:r>
              <a:rPr kumimoji="1" lang="en-US" altLang="zh-CN" sz="2400" b="1" dirty="0">
                <a:latin typeface="Times New Roman" pitchFamily="18" charset="0"/>
              </a:rPr>
              <a:t>= 373.15 </a:t>
            </a:r>
            <a:r>
              <a:rPr kumimoji="1" lang="en-US" altLang="zh-CN" sz="2400" b="1" baseline="-25000" dirty="0">
                <a:latin typeface="Times New Roman" pitchFamily="18" charset="0"/>
              </a:rPr>
              <a:t>(</a:t>
            </a:r>
            <a:r>
              <a:rPr kumimoji="1" lang="zh-CN" altLang="en-US" sz="2400" b="1" baseline="-25000" dirty="0">
                <a:latin typeface="Times New Roman" pitchFamily="18" charset="0"/>
              </a:rPr>
              <a:t>沸点）</a:t>
            </a:r>
            <a:r>
              <a:rPr kumimoji="1" lang="en-US" altLang="zh-CN" sz="2400" b="1" dirty="0">
                <a:latin typeface="Times New Roman" pitchFamily="18" charset="0"/>
              </a:rPr>
              <a:t>+ 0.052 ≈ 373.2 (K)    </a:t>
            </a:r>
          </a:p>
        </p:txBody>
      </p:sp>
    </p:spTree>
    <p:extLst>
      <p:ext uri="{BB962C8B-B14F-4D97-AF65-F5344CB8AC3E}">
        <p14:creationId xmlns:p14="http://schemas.microsoft.com/office/powerpoint/2010/main" val="2777787394"/>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4210"/>
                                        </p:tgtEl>
                                        <p:attrNameLst>
                                          <p:attrName>style.visibility</p:attrName>
                                        </p:attrNameLst>
                                      </p:cBhvr>
                                      <p:to>
                                        <p:strVal val="visible"/>
                                      </p:to>
                                    </p:set>
                                    <p:animEffect transition="in" filter="wipe(left)">
                                      <p:cBhvr>
                                        <p:cTn id="7" dur="1000"/>
                                        <p:tgtEl>
                                          <p:spTgt spid="942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11">
                                            <p:txEl>
                                              <p:pRg st="0" end="0"/>
                                            </p:txEl>
                                          </p:spTgt>
                                        </p:tgtEl>
                                        <p:attrNameLst>
                                          <p:attrName>style.visibility</p:attrName>
                                        </p:attrNameLst>
                                      </p:cBhvr>
                                      <p:to>
                                        <p:strVal val="visible"/>
                                      </p:to>
                                    </p:set>
                                    <p:animEffect transition="in" filter="wipe(left)">
                                      <p:cBhvr>
                                        <p:cTn id="12" dur="1000"/>
                                        <p:tgtEl>
                                          <p:spTgt spid="942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11">
                                            <p:txEl>
                                              <p:pRg st="1" end="1"/>
                                            </p:txEl>
                                          </p:spTgt>
                                        </p:tgtEl>
                                        <p:attrNameLst>
                                          <p:attrName>style.visibility</p:attrName>
                                        </p:attrNameLst>
                                      </p:cBhvr>
                                      <p:to>
                                        <p:strVal val="visible"/>
                                      </p:to>
                                    </p:set>
                                    <p:animEffect transition="in" filter="wipe(left)">
                                      <p:cBhvr>
                                        <p:cTn id="17" dur="1000"/>
                                        <p:tgtEl>
                                          <p:spTgt spid="942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211">
                                            <p:txEl>
                                              <p:pRg st="2" end="2"/>
                                            </p:txEl>
                                          </p:spTgt>
                                        </p:tgtEl>
                                        <p:attrNameLst>
                                          <p:attrName>style.visibility</p:attrName>
                                        </p:attrNameLst>
                                      </p:cBhvr>
                                      <p:to>
                                        <p:strVal val="visible"/>
                                      </p:to>
                                    </p:set>
                                    <p:animEffect transition="in" filter="wipe(left)">
                                      <p:cBhvr>
                                        <p:cTn id="22" dur="1000"/>
                                        <p:tgtEl>
                                          <p:spTgt spid="942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4211">
                                            <p:txEl>
                                              <p:pRg st="3" end="3"/>
                                            </p:txEl>
                                          </p:spTgt>
                                        </p:tgtEl>
                                        <p:attrNameLst>
                                          <p:attrName>style.visibility</p:attrName>
                                        </p:attrNameLst>
                                      </p:cBhvr>
                                      <p:to>
                                        <p:strVal val="visible"/>
                                      </p:to>
                                    </p:set>
                                    <p:animEffect transition="in" filter="wipe(left)">
                                      <p:cBhvr>
                                        <p:cTn id="27" dur="1000"/>
                                        <p:tgtEl>
                                          <p:spTgt spid="94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p:bldP spid="942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918592" y="123481"/>
            <a:ext cx="7596336" cy="2172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30000"/>
              </a:lnSpc>
            </a:pPr>
            <a:r>
              <a:rPr lang="en-US" altLang="zh-CN" sz="3200" b="1" dirty="0">
                <a:latin typeface="Times New Roman" pitchFamily="18" charset="0"/>
              </a:rPr>
              <a:t>    </a:t>
            </a:r>
            <a:r>
              <a:rPr lang="zh-CN" altLang="en-US" sz="2400" b="1" dirty="0">
                <a:latin typeface="Times New Roman" pitchFamily="18" charset="0"/>
              </a:rPr>
              <a:t>同理，蔗糖的</a:t>
            </a:r>
            <a:r>
              <a:rPr lang="en-US" altLang="zh-CN" sz="2400" b="1" dirty="0">
                <a:latin typeface="Times New Roman" pitchFamily="18" charset="0"/>
              </a:rPr>
              <a:t>M = 342 g·mol</a:t>
            </a:r>
            <a:r>
              <a:rPr lang="en-US" altLang="zh-CN" sz="2400" b="1" baseline="30000" dirty="0">
                <a:latin typeface="Times New Roman" pitchFamily="18" charset="0"/>
              </a:rPr>
              <a:t>-1</a:t>
            </a:r>
            <a:r>
              <a:rPr lang="en-US" altLang="zh-CN" sz="2400" b="1" dirty="0">
                <a:latin typeface="Times New Roman" pitchFamily="18" charset="0"/>
              </a:rPr>
              <a:t> </a:t>
            </a:r>
          </a:p>
          <a:p>
            <a:pPr eaLnBrk="0" hangingPunct="0">
              <a:lnSpc>
                <a:spcPct val="130000"/>
              </a:lnSpc>
            </a:pPr>
            <a:r>
              <a:rPr kumimoji="1" lang="en-US" altLang="zh-CN" sz="2400" b="1" dirty="0">
                <a:latin typeface="Times New Roman" pitchFamily="18" charset="0"/>
              </a:rPr>
              <a:t>b(</a:t>
            </a:r>
            <a:r>
              <a:rPr lang="zh-CN" altLang="en-US" sz="2400" b="1" dirty="0">
                <a:latin typeface="Times New Roman" pitchFamily="18" charset="0"/>
              </a:rPr>
              <a:t>蔗糖</a:t>
            </a:r>
            <a:r>
              <a:rPr kumimoji="1" lang="en-US" altLang="zh-CN" sz="2400" b="1" dirty="0">
                <a:latin typeface="Times New Roman" pitchFamily="18" charset="0"/>
              </a:rPr>
              <a:t>) </a:t>
            </a:r>
            <a:r>
              <a:rPr lang="en-US" altLang="zh-CN" sz="2400" b="1" dirty="0">
                <a:latin typeface="Times New Roman" pitchFamily="18" charset="0"/>
              </a:rPr>
              <a:t> = [34.2/(342×2000) ]×1000 = 0.05mol·kg</a:t>
            </a:r>
            <a:r>
              <a:rPr lang="en-US" altLang="zh-CN" sz="2400" b="1" baseline="30000" dirty="0">
                <a:latin typeface="Times New Roman" pitchFamily="18" charset="0"/>
              </a:rPr>
              <a:t>-1</a:t>
            </a:r>
            <a:endParaRPr lang="en-US" altLang="zh-CN" sz="2400" b="1" dirty="0">
              <a:latin typeface="Times New Roman" pitchFamily="18" charset="0"/>
            </a:endParaRPr>
          </a:p>
          <a:p>
            <a:pPr eaLnBrk="0" hangingPunct="0">
              <a:lnSpc>
                <a:spcPct val="130000"/>
              </a:lnSpc>
            </a:pPr>
            <a:r>
              <a:rPr lang="en-US" altLang="zh-CN" sz="2400" b="1" dirty="0">
                <a:latin typeface="Times New Roman" pitchFamily="18" charset="0"/>
              </a:rPr>
              <a:t>    </a:t>
            </a:r>
            <a:r>
              <a:rPr kumimoji="1" lang="en-US" altLang="zh-CN" sz="2400" dirty="0"/>
              <a:t>△T</a:t>
            </a:r>
            <a:r>
              <a:rPr kumimoji="1" lang="en-US" altLang="zh-CN" sz="2400" baseline="-25000" dirty="0"/>
              <a:t>b</a:t>
            </a:r>
            <a:r>
              <a:rPr lang="zh-CN" altLang="en-US" sz="2400" baseline="-25000" dirty="0"/>
              <a:t>蔗</a:t>
            </a:r>
            <a:r>
              <a:rPr kumimoji="1" lang="en-US" altLang="zh-CN" sz="2400" dirty="0"/>
              <a:t>= K</a:t>
            </a:r>
            <a:r>
              <a:rPr kumimoji="1" lang="en-US" altLang="zh-CN" sz="2400" baseline="-25000" dirty="0"/>
              <a:t>b</a:t>
            </a:r>
            <a:r>
              <a:rPr kumimoji="1" lang="en-US" altLang="zh-CN" sz="2400" dirty="0"/>
              <a:t>· </a:t>
            </a:r>
            <a:r>
              <a:rPr kumimoji="1" lang="en-US" altLang="zh-CN" sz="2400" dirty="0" err="1"/>
              <a:t>b</a:t>
            </a:r>
            <a:r>
              <a:rPr kumimoji="1" lang="en-US" altLang="zh-CN" sz="2400" baseline="-25000" dirty="0" err="1"/>
              <a:t>B</a:t>
            </a:r>
            <a:r>
              <a:rPr lang="zh-CN" altLang="en-US" sz="2400" b="1" dirty="0">
                <a:latin typeface="Times New Roman" pitchFamily="18" charset="0"/>
              </a:rPr>
              <a:t> </a:t>
            </a:r>
            <a:r>
              <a:rPr lang="en-US" altLang="zh-CN" sz="2400" b="1" dirty="0">
                <a:latin typeface="Times New Roman" pitchFamily="18" charset="0"/>
              </a:rPr>
              <a:t>=  0.52 × 0.05 = 0.026(K)</a:t>
            </a:r>
          </a:p>
          <a:p>
            <a:pPr eaLnBrk="0" hangingPunct="0">
              <a:lnSpc>
                <a:spcPct val="130000"/>
              </a:lnSpc>
            </a:pPr>
            <a:r>
              <a:rPr lang="en-US" altLang="zh-CN" sz="2400" b="1" dirty="0">
                <a:latin typeface="Times New Roman" pitchFamily="18" charset="0"/>
              </a:rPr>
              <a:t>     T</a:t>
            </a:r>
            <a:r>
              <a:rPr lang="en-US" altLang="zh-CN" sz="2400" b="1" baseline="-25000" dirty="0">
                <a:latin typeface="Times New Roman" pitchFamily="18" charset="0"/>
              </a:rPr>
              <a:t>b</a:t>
            </a:r>
            <a:r>
              <a:rPr lang="zh-CN" altLang="en-US" sz="2400" b="1" baseline="-25000" dirty="0">
                <a:latin typeface="Times New Roman" pitchFamily="18" charset="0"/>
              </a:rPr>
              <a:t>蔗</a:t>
            </a:r>
            <a:r>
              <a:rPr lang="zh-CN" altLang="en-US" sz="2400" b="1" dirty="0">
                <a:latin typeface="Times New Roman" pitchFamily="18" charset="0"/>
              </a:rPr>
              <a:t> </a:t>
            </a:r>
            <a:r>
              <a:rPr lang="en-US" altLang="zh-CN" sz="2400" b="1" dirty="0">
                <a:latin typeface="Times New Roman" pitchFamily="18" charset="0"/>
              </a:rPr>
              <a:t>= 373.15 </a:t>
            </a:r>
            <a:r>
              <a:rPr lang="zh-CN" altLang="en-US" sz="2400" b="1" baseline="-25000" dirty="0">
                <a:latin typeface="Times New Roman" pitchFamily="18" charset="0"/>
              </a:rPr>
              <a:t>（沸点）</a:t>
            </a:r>
            <a:r>
              <a:rPr lang="en-US" altLang="zh-CN" sz="2400" b="1" dirty="0">
                <a:latin typeface="Times New Roman" pitchFamily="18" charset="0"/>
              </a:rPr>
              <a:t>+ 0.026 ≈ 373.18 (K)</a:t>
            </a:r>
          </a:p>
        </p:txBody>
      </p:sp>
      <p:sp>
        <p:nvSpPr>
          <p:cNvPr id="95235" name="Text Box 3"/>
          <p:cNvSpPr txBox="1">
            <a:spLocks noChangeArrowheads="1"/>
          </p:cNvSpPr>
          <p:nvPr/>
        </p:nvSpPr>
        <p:spPr bwMode="auto">
          <a:xfrm>
            <a:off x="395536" y="2376405"/>
            <a:ext cx="8496944" cy="2012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en-US" altLang="zh-CN" sz="2400" b="1" dirty="0">
                <a:latin typeface="Times New Roman" pitchFamily="18" charset="0"/>
              </a:rPr>
              <a:t>【</a:t>
            </a:r>
            <a:r>
              <a:rPr kumimoji="1" lang="zh-CN" altLang="en-US" sz="2400" b="1" dirty="0">
                <a:latin typeface="Times New Roman" pitchFamily="18" charset="0"/>
              </a:rPr>
              <a:t>例</a:t>
            </a:r>
            <a:r>
              <a:rPr kumimoji="1" lang="en-US" altLang="zh-CN" sz="2400" b="1" dirty="0">
                <a:latin typeface="Times New Roman" pitchFamily="18" charset="0"/>
              </a:rPr>
              <a:t>】</a:t>
            </a:r>
            <a:r>
              <a:rPr kumimoji="1" lang="zh-CN" altLang="en-US" sz="2400" b="1" dirty="0">
                <a:latin typeface="Times New Roman" pitchFamily="18" charset="0"/>
              </a:rPr>
              <a:t>：若将</a:t>
            </a:r>
            <a:r>
              <a:rPr kumimoji="1" lang="en-US" altLang="zh-CN" sz="2400" b="1" dirty="0">
                <a:latin typeface="Times New Roman" pitchFamily="18" charset="0"/>
              </a:rPr>
              <a:t>12.0g</a:t>
            </a:r>
            <a:r>
              <a:rPr kumimoji="1" lang="zh-CN" altLang="en-US" sz="2400" b="1" dirty="0">
                <a:latin typeface="Times New Roman" pitchFamily="18" charset="0"/>
              </a:rPr>
              <a:t>尿素</a:t>
            </a:r>
            <a:r>
              <a:rPr kumimoji="1" lang="en-US" altLang="zh-CN" sz="2400" b="1" dirty="0">
                <a:latin typeface="Times New Roman" pitchFamily="18" charset="0"/>
              </a:rPr>
              <a:t>[CO(NH</a:t>
            </a:r>
            <a:r>
              <a:rPr kumimoji="1" lang="en-US" altLang="zh-CN" sz="2400" b="1" baseline="-25000" dirty="0">
                <a:latin typeface="Times New Roman" pitchFamily="18" charset="0"/>
              </a:rPr>
              <a:t>2</a:t>
            </a:r>
            <a:r>
              <a:rPr kumimoji="1" lang="en-US" altLang="zh-CN" sz="2400" b="1" dirty="0">
                <a:latin typeface="Times New Roman" pitchFamily="18" charset="0"/>
              </a:rPr>
              <a:t>)</a:t>
            </a:r>
            <a:r>
              <a:rPr kumimoji="1" lang="en-US" altLang="zh-CN" sz="2400" b="1" baseline="-25000" dirty="0">
                <a:latin typeface="Times New Roman" pitchFamily="18" charset="0"/>
              </a:rPr>
              <a:t>2</a:t>
            </a:r>
            <a:r>
              <a:rPr kumimoji="1" lang="en-US" altLang="zh-CN" sz="2400" b="1" dirty="0">
                <a:latin typeface="Times New Roman" pitchFamily="18" charset="0"/>
              </a:rPr>
              <a:t>]</a:t>
            </a:r>
            <a:r>
              <a:rPr kumimoji="1" lang="zh-CN" altLang="en-US" sz="2400" b="1" dirty="0">
                <a:latin typeface="Times New Roman" pitchFamily="18" charset="0"/>
              </a:rPr>
              <a:t>和</a:t>
            </a:r>
            <a:r>
              <a:rPr kumimoji="1" lang="en-US" altLang="zh-CN" sz="2400" b="1" dirty="0">
                <a:latin typeface="Times New Roman" pitchFamily="18" charset="0"/>
              </a:rPr>
              <a:t>34.2g</a:t>
            </a:r>
            <a:r>
              <a:rPr kumimoji="1" lang="zh-CN" altLang="en-US" sz="2400" b="1" dirty="0">
                <a:latin typeface="Times New Roman" pitchFamily="18" charset="0"/>
              </a:rPr>
              <a:t>蔗糖（</a:t>
            </a:r>
            <a:r>
              <a:rPr kumimoji="1" lang="en-US" altLang="zh-CN" sz="2400" b="1" dirty="0">
                <a:latin typeface="Times New Roman" pitchFamily="18" charset="0"/>
              </a:rPr>
              <a:t>C</a:t>
            </a:r>
            <a:r>
              <a:rPr kumimoji="1" lang="en-US" altLang="zh-CN" sz="2400" b="1" baseline="-25000" dirty="0">
                <a:latin typeface="Times New Roman" pitchFamily="18" charset="0"/>
              </a:rPr>
              <a:t>12</a:t>
            </a:r>
            <a:r>
              <a:rPr kumimoji="1" lang="en-US" altLang="zh-CN" sz="2400" b="1" dirty="0">
                <a:latin typeface="Times New Roman" pitchFamily="18" charset="0"/>
              </a:rPr>
              <a:t>H</a:t>
            </a:r>
            <a:r>
              <a:rPr kumimoji="1" lang="en-US" altLang="zh-CN" sz="2400" b="1" baseline="-25000" dirty="0">
                <a:latin typeface="Times New Roman" pitchFamily="18" charset="0"/>
              </a:rPr>
              <a:t>22</a:t>
            </a:r>
            <a:r>
              <a:rPr kumimoji="1" lang="en-US" altLang="zh-CN" sz="2400" b="1" dirty="0">
                <a:latin typeface="Times New Roman" pitchFamily="18" charset="0"/>
              </a:rPr>
              <a:t>O</a:t>
            </a:r>
            <a:r>
              <a:rPr kumimoji="1" lang="en-US" altLang="zh-CN" sz="2400" b="1" baseline="-25000" dirty="0">
                <a:latin typeface="Times New Roman" pitchFamily="18" charset="0"/>
              </a:rPr>
              <a:t>11</a:t>
            </a:r>
            <a:r>
              <a:rPr kumimoji="1" lang="en-US" altLang="zh-CN" sz="2400" b="1" dirty="0">
                <a:latin typeface="Times New Roman" pitchFamily="18" charset="0"/>
              </a:rPr>
              <a:t>)</a:t>
            </a:r>
            <a:r>
              <a:rPr kumimoji="1" lang="zh-CN" altLang="en-US" sz="2400" b="1" dirty="0">
                <a:latin typeface="Times New Roman" pitchFamily="18" charset="0"/>
              </a:rPr>
              <a:t>都加于</a:t>
            </a:r>
            <a:r>
              <a:rPr kumimoji="1" lang="en-US" altLang="zh-CN" sz="2400" b="1" dirty="0">
                <a:latin typeface="Times New Roman" pitchFamily="18" charset="0"/>
              </a:rPr>
              <a:t>2000g</a:t>
            </a:r>
            <a:r>
              <a:rPr kumimoji="1" lang="zh-CN" altLang="en-US" sz="2400" b="1" dirty="0">
                <a:latin typeface="Times New Roman" pitchFamily="18" charset="0"/>
              </a:rPr>
              <a:t>水中</a:t>
            </a:r>
            <a:r>
              <a:rPr kumimoji="1" lang="en-US" altLang="zh-CN" sz="2400" b="1" dirty="0">
                <a:latin typeface="Times New Roman" pitchFamily="18" charset="0"/>
              </a:rPr>
              <a:t>,</a:t>
            </a:r>
            <a:r>
              <a:rPr kumimoji="1" lang="zh-CN" altLang="en-US" sz="2400" b="1" dirty="0">
                <a:latin typeface="Times New Roman" pitchFamily="18" charset="0"/>
              </a:rPr>
              <a:t>计算此溶液的沸点   </a:t>
            </a:r>
          </a:p>
          <a:p>
            <a:pPr>
              <a:lnSpc>
                <a:spcPct val="130000"/>
              </a:lnSpc>
            </a:pPr>
            <a:r>
              <a:rPr kumimoji="1" lang="zh-CN" altLang="en-US" sz="2400" b="1" dirty="0">
                <a:latin typeface="Times New Roman" pitchFamily="18" charset="0"/>
              </a:rPr>
              <a:t>    </a:t>
            </a:r>
            <a:r>
              <a:rPr kumimoji="1" lang="en-US" altLang="zh-CN" sz="2400" b="1" dirty="0">
                <a:latin typeface="Times New Roman" pitchFamily="18" charset="0"/>
              </a:rPr>
              <a:t>(K</a:t>
            </a:r>
            <a:r>
              <a:rPr kumimoji="1" lang="en-US" altLang="zh-CN" sz="2400" b="1" baseline="-25000" dirty="0">
                <a:latin typeface="Times New Roman" pitchFamily="18" charset="0"/>
              </a:rPr>
              <a:t>b</a:t>
            </a:r>
            <a:r>
              <a:rPr kumimoji="1" lang="en-US" altLang="zh-CN" sz="2400" b="1" dirty="0">
                <a:latin typeface="Times New Roman" pitchFamily="18" charset="0"/>
              </a:rPr>
              <a:t>=0.52K·kg·mol</a:t>
            </a:r>
            <a:r>
              <a:rPr kumimoji="1" lang="en-US" altLang="zh-CN" sz="2400" b="1" baseline="30000" dirty="0">
                <a:latin typeface="Times New Roman" pitchFamily="18" charset="0"/>
              </a:rPr>
              <a:t>-1</a:t>
            </a:r>
            <a:r>
              <a:rPr kumimoji="1" lang="zh-CN" altLang="en-US" sz="2400" b="1" dirty="0">
                <a:latin typeface="Times New Roman" pitchFamily="18" charset="0"/>
              </a:rPr>
              <a:t>）</a:t>
            </a:r>
          </a:p>
          <a:p>
            <a:pPr>
              <a:lnSpc>
                <a:spcPct val="130000"/>
              </a:lnSpc>
            </a:pPr>
            <a:r>
              <a:rPr lang="zh-CN" altLang="en-US" sz="2400" b="1" dirty="0">
                <a:solidFill>
                  <a:srgbClr val="0000FF"/>
                </a:solidFill>
                <a:latin typeface="Times New Roman" pitchFamily="18" charset="0"/>
              </a:rPr>
              <a:t>   </a:t>
            </a:r>
            <a:r>
              <a:rPr lang="zh-CN" altLang="en-US" sz="2400" b="1" dirty="0">
                <a:latin typeface="Times New Roman" pitchFamily="18" charset="0"/>
              </a:rPr>
              <a:t>△</a:t>
            </a:r>
            <a:r>
              <a:rPr lang="en-US" altLang="zh-CN" sz="2400" b="1" dirty="0">
                <a:latin typeface="Times New Roman" pitchFamily="18" charset="0"/>
              </a:rPr>
              <a:t>T</a:t>
            </a:r>
            <a:r>
              <a:rPr lang="en-US" altLang="zh-CN" sz="2400" b="1" baseline="-25000" dirty="0">
                <a:latin typeface="Times New Roman" pitchFamily="18" charset="0"/>
              </a:rPr>
              <a:t>b</a:t>
            </a:r>
            <a:r>
              <a:rPr lang="en-US" altLang="zh-CN" sz="2400" b="1" dirty="0">
                <a:latin typeface="Times New Roman" pitchFamily="18" charset="0"/>
              </a:rPr>
              <a:t>=0.52 × (</a:t>
            </a:r>
            <a:r>
              <a:rPr lang="en-US" altLang="zh-CN" sz="2400" b="1" dirty="0">
                <a:solidFill>
                  <a:srgbClr val="C00000"/>
                </a:solidFill>
                <a:latin typeface="Times New Roman" pitchFamily="18" charset="0"/>
              </a:rPr>
              <a:t>0.1+0.05</a:t>
            </a:r>
            <a:r>
              <a:rPr lang="en-US" altLang="zh-CN" sz="2400" b="1" dirty="0">
                <a:latin typeface="Times New Roman" pitchFamily="18" charset="0"/>
              </a:rPr>
              <a:t>)=</a:t>
            </a:r>
            <a:r>
              <a:rPr kumimoji="1" lang="en-US" altLang="zh-CN" sz="2400" b="1" dirty="0">
                <a:latin typeface="Times New Roman" pitchFamily="18" charset="0"/>
              </a:rPr>
              <a:t>△T</a:t>
            </a:r>
            <a:r>
              <a:rPr kumimoji="1" lang="en-US" altLang="zh-CN" sz="2400" b="1" baseline="-25000" dirty="0">
                <a:latin typeface="Times New Roman" pitchFamily="18" charset="0"/>
              </a:rPr>
              <a:t>b</a:t>
            </a:r>
            <a:r>
              <a:rPr kumimoji="1" lang="zh-CN" altLang="en-US" sz="2400" b="1" baseline="-25000" dirty="0">
                <a:latin typeface="Times New Roman" pitchFamily="18" charset="0"/>
              </a:rPr>
              <a:t>尿</a:t>
            </a:r>
            <a:r>
              <a:rPr kumimoji="1" lang="en-US" altLang="zh-CN" sz="2400" b="1" dirty="0">
                <a:latin typeface="Times New Roman" pitchFamily="18" charset="0"/>
              </a:rPr>
              <a:t>+</a:t>
            </a:r>
            <a:r>
              <a:rPr lang="en-US" altLang="zh-CN" sz="2400" b="1" dirty="0">
                <a:latin typeface="Times New Roman" pitchFamily="18" charset="0"/>
              </a:rPr>
              <a:t>△T</a:t>
            </a:r>
            <a:r>
              <a:rPr lang="en-US" altLang="zh-CN" sz="2400" b="1" baseline="-25000" dirty="0">
                <a:latin typeface="Times New Roman" pitchFamily="18" charset="0"/>
              </a:rPr>
              <a:t>b</a:t>
            </a:r>
            <a:r>
              <a:rPr lang="zh-CN" altLang="en-US" sz="2400" b="1" baseline="-25000" dirty="0">
                <a:latin typeface="Times New Roman" pitchFamily="18" charset="0"/>
              </a:rPr>
              <a:t>蔗</a:t>
            </a:r>
            <a:r>
              <a:rPr lang="en-US" altLang="zh-CN" sz="2400" b="1" dirty="0">
                <a:latin typeface="Times New Roman" pitchFamily="18" charset="0"/>
              </a:rPr>
              <a:t>=0.078K</a:t>
            </a:r>
          </a:p>
        </p:txBody>
      </p:sp>
      <p:sp>
        <p:nvSpPr>
          <p:cNvPr id="95236" name="Text Box 4"/>
          <p:cNvSpPr txBox="1">
            <a:spLocks noChangeArrowheads="1"/>
          </p:cNvSpPr>
          <p:nvPr/>
        </p:nvSpPr>
        <p:spPr bwMode="auto">
          <a:xfrm>
            <a:off x="990600" y="4229100"/>
            <a:ext cx="6248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b="1" dirty="0">
                <a:solidFill>
                  <a:srgbClr val="C00000"/>
                </a:solidFill>
                <a:latin typeface="宋体" charset="-122"/>
              </a:rPr>
              <a:t>结论：依数性存在加和性</a:t>
            </a:r>
          </a:p>
        </p:txBody>
      </p:sp>
    </p:spTree>
    <p:extLst>
      <p:ext uri="{BB962C8B-B14F-4D97-AF65-F5344CB8AC3E}">
        <p14:creationId xmlns:p14="http://schemas.microsoft.com/office/powerpoint/2010/main" val="894504705"/>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234">
                                            <p:txEl>
                                              <p:pRg st="0" end="0"/>
                                            </p:txEl>
                                          </p:spTgt>
                                        </p:tgtEl>
                                        <p:attrNameLst>
                                          <p:attrName>style.visibility</p:attrName>
                                        </p:attrNameLst>
                                      </p:cBhvr>
                                      <p:to>
                                        <p:strVal val="visible"/>
                                      </p:to>
                                    </p:set>
                                    <p:animEffect transition="in" filter="wipe(left)">
                                      <p:cBhvr>
                                        <p:cTn id="7" dur="1000"/>
                                        <p:tgtEl>
                                          <p:spTgt spid="952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4">
                                            <p:txEl>
                                              <p:pRg st="1" end="1"/>
                                            </p:txEl>
                                          </p:spTgt>
                                        </p:tgtEl>
                                        <p:attrNameLst>
                                          <p:attrName>style.visibility</p:attrName>
                                        </p:attrNameLst>
                                      </p:cBhvr>
                                      <p:to>
                                        <p:strVal val="visible"/>
                                      </p:to>
                                    </p:set>
                                    <p:animEffect transition="in" filter="wipe(left)">
                                      <p:cBhvr>
                                        <p:cTn id="12" dur="1000"/>
                                        <p:tgtEl>
                                          <p:spTgt spid="952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234">
                                            <p:txEl>
                                              <p:pRg st="2" end="2"/>
                                            </p:txEl>
                                          </p:spTgt>
                                        </p:tgtEl>
                                        <p:attrNameLst>
                                          <p:attrName>style.visibility</p:attrName>
                                        </p:attrNameLst>
                                      </p:cBhvr>
                                      <p:to>
                                        <p:strVal val="visible"/>
                                      </p:to>
                                    </p:set>
                                    <p:animEffect transition="in" filter="wipe(left)">
                                      <p:cBhvr>
                                        <p:cTn id="17" dur="1000"/>
                                        <p:tgtEl>
                                          <p:spTgt spid="952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5234">
                                            <p:txEl>
                                              <p:pRg st="3" end="3"/>
                                            </p:txEl>
                                          </p:spTgt>
                                        </p:tgtEl>
                                        <p:attrNameLst>
                                          <p:attrName>style.visibility</p:attrName>
                                        </p:attrNameLst>
                                      </p:cBhvr>
                                      <p:to>
                                        <p:strVal val="visible"/>
                                      </p:to>
                                    </p:set>
                                    <p:animEffect transition="in" filter="wipe(left)">
                                      <p:cBhvr>
                                        <p:cTn id="22" dur="1000"/>
                                        <p:tgtEl>
                                          <p:spTgt spid="9523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5235">
                                            <p:txEl>
                                              <p:pRg st="0" end="0"/>
                                            </p:txEl>
                                          </p:spTgt>
                                        </p:tgtEl>
                                        <p:attrNameLst>
                                          <p:attrName>style.visibility</p:attrName>
                                        </p:attrNameLst>
                                      </p:cBhvr>
                                      <p:to>
                                        <p:strVal val="visible"/>
                                      </p:to>
                                    </p:set>
                                    <p:animEffect transition="in" filter="wipe(left)">
                                      <p:cBhvr>
                                        <p:cTn id="27" dur="1000"/>
                                        <p:tgtEl>
                                          <p:spTgt spid="9523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235">
                                            <p:txEl>
                                              <p:pRg st="1" end="1"/>
                                            </p:txEl>
                                          </p:spTgt>
                                        </p:tgtEl>
                                        <p:attrNameLst>
                                          <p:attrName>style.visibility</p:attrName>
                                        </p:attrNameLst>
                                      </p:cBhvr>
                                      <p:to>
                                        <p:strVal val="visible"/>
                                      </p:to>
                                    </p:set>
                                    <p:animEffect transition="in" filter="wipe(left)">
                                      <p:cBhvr>
                                        <p:cTn id="32" dur="1000"/>
                                        <p:tgtEl>
                                          <p:spTgt spid="9523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5235">
                                            <p:txEl>
                                              <p:pRg st="2" end="2"/>
                                            </p:txEl>
                                          </p:spTgt>
                                        </p:tgtEl>
                                        <p:attrNameLst>
                                          <p:attrName>style.visibility</p:attrName>
                                        </p:attrNameLst>
                                      </p:cBhvr>
                                      <p:to>
                                        <p:strVal val="visible"/>
                                      </p:to>
                                    </p:set>
                                    <p:animEffect transition="in" filter="wipe(left)">
                                      <p:cBhvr>
                                        <p:cTn id="37" dur="1000"/>
                                        <p:tgtEl>
                                          <p:spTgt spid="95235">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5236"/>
                                        </p:tgtEl>
                                        <p:attrNameLst>
                                          <p:attrName>style.visibility</p:attrName>
                                        </p:attrNameLst>
                                      </p:cBhvr>
                                      <p:to>
                                        <p:strVal val="visible"/>
                                      </p:to>
                                    </p:set>
                                    <p:animEffect transition="in" filter="wipe(left)">
                                      <p:cBhvr>
                                        <p:cTn id="42" dur="1000"/>
                                        <p:tgtEl>
                                          <p:spTgt spid="95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build="p"/>
      <p:bldP spid="95235" grpId="0" build="p"/>
      <p:bldP spid="9523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3" name="Text Box 11"/>
          <p:cNvSpPr txBox="1"/>
          <p:nvPr/>
        </p:nvSpPr>
        <p:spPr>
          <a:xfrm>
            <a:off x="684219" y="1276352"/>
            <a:ext cx="7920037" cy="2923877"/>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dirty="0">
                <a:latin typeface="幼圆" pitchFamily="49" charset="-122"/>
                <a:ea typeface="幼圆" pitchFamily="49" charset="-122"/>
              </a:rPr>
              <a:t>    </a:t>
            </a:r>
            <a:r>
              <a:rPr lang="zh-CN" altLang="en-US" sz="2400" dirty="0">
                <a:latin typeface="幼圆" pitchFamily="49" charset="-122"/>
                <a:ea typeface="幼圆" pitchFamily="49" charset="-122"/>
              </a:rPr>
              <a:t>难挥发的非电解质稀溶液的蒸汽压下降、沸点上升、凝固点下降和溶液渗透压，通称为</a:t>
            </a:r>
            <a:r>
              <a:rPr lang="zh-CN" altLang="en-US" sz="2400" i="1" u="sng" dirty="0">
                <a:solidFill>
                  <a:srgbClr val="0000CC"/>
                </a:solidFill>
                <a:latin typeface="幼圆" pitchFamily="49" charset="-122"/>
                <a:ea typeface="幼圆" pitchFamily="49" charset="-122"/>
              </a:rPr>
              <a:t>稀释定律。</a:t>
            </a:r>
          </a:p>
          <a:p>
            <a:pPr>
              <a:spcBef>
                <a:spcPct val="50000"/>
              </a:spcBef>
              <a:buClrTx/>
              <a:buFontTx/>
            </a:pPr>
            <a:r>
              <a:rPr lang="zh-CN" altLang="en-US" sz="2400" dirty="0">
                <a:latin typeface="幼圆" pitchFamily="49" charset="-122"/>
                <a:ea typeface="幼圆" pitchFamily="49" charset="-122"/>
              </a:rPr>
              <a:t>     对于电解质溶液，由于解离出的离子间、离子与溶剂分子间相互作用增大，上述定律的定量关系被破坏了，但是电解质溶液与非电解质</a:t>
            </a:r>
            <a:r>
              <a:rPr lang="zh-CN" altLang="en-US" sz="2400" i="1" u="sng" dirty="0">
                <a:solidFill>
                  <a:srgbClr val="0000CC"/>
                </a:solidFill>
                <a:latin typeface="幼圆" pitchFamily="49" charset="-122"/>
                <a:ea typeface="幼圆" pitchFamily="49" charset="-122"/>
              </a:rPr>
              <a:t>稀溶液</a:t>
            </a:r>
            <a:r>
              <a:rPr lang="zh-CN" altLang="en-US" sz="2400" dirty="0">
                <a:latin typeface="幼圆" pitchFamily="49" charset="-122"/>
                <a:ea typeface="幼圆" pitchFamily="49" charset="-122"/>
              </a:rPr>
              <a:t>一样仍具有上述四种性质，其数值仍是随着溶质的粒子数目增多而增大，这就是溶液的通性。 </a:t>
            </a:r>
          </a:p>
        </p:txBody>
      </p:sp>
      <p:sp>
        <p:nvSpPr>
          <p:cNvPr id="34818" name="Text Box 12"/>
          <p:cNvSpPr txBox="1"/>
          <p:nvPr/>
        </p:nvSpPr>
        <p:spPr>
          <a:xfrm>
            <a:off x="285756" y="428629"/>
            <a:ext cx="3529013" cy="535531"/>
          </a:xfrm>
          <a:prstGeom prst="rect">
            <a:avLst/>
          </a:prstGeom>
          <a:gradFill rotWithShape="1">
            <a:gsLst>
              <a:gs pos="0">
                <a:srgbClr val="181876"/>
              </a:gs>
              <a:gs pos="50000">
                <a:srgbClr val="3333FF"/>
              </a:gs>
              <a:gs pos="100000">
                <a:srgbClr val="181876"/>
              </a:gs>
            </a:gsLst>
            <a:lin ang="5400000" scaled="1"/>
            <a:tileRect/>
          </a:gradFill>
          <a:ln w="9525">
            <a:noFill/>
          </a:ln>
          <a:effectLst>
            <a:outerShdw sy="50000" kx="2453608" rotWithShape="0">
              <a:schemeClr val="bg2">
                <a:alpha val="50000"/>
              </a:schemeClr>
            </a:outerShdw>
          </a:effectLst>
        </p:spPr>
        <p:txBody>
          <a:bodyPr anchor="t" anchorCtr="0">
            <a:spAutoFit/>
          </a:bodyPr>
          <a:lstStyle/>
          <a:p>
            <a:pPr algn="ctr">
              <a:lnSpc>
                <a:spcPct val="80000"/>
              </a:lnSpc>
              <a:spcBef>
                <a:spcPct val="50000"/>
              </a:spcBef>
            </a:pPr>
            <a:r>
              <a:rPr lang="en-US" altLang="zh-CN" sz="3600" dirty="0">
                <a:solidFill>
                  <a:schemeClr val="bg1"/>
                </a:solidFill>
                <a:latin typeface="Times New Roman" panose="02020603050405020304" pitchFamily="18" charset="0"/>
                <a:ea typeface="幼圆" pitchFamily="49" charset="-122"/>
              </a:rPr>
              <a:t>3.1.5.</a:t>
            </a:r>
            <a:r>
              <a:rPr lang="zh-CN" altLang="en-US" sz="3600" dirty="0">
                <a:solidFill>
                  <a:schemeClr val="bg1"/>
                </a:solidFill>
                <a:latin typeface="Times New Roman" panose="02020603050405020304" pitchFamily="18" charset="0"/>
                <a:ea typeface="幼圆" pitchFamily="49" charset="-122"/>
              </a:rPr>
              <a:t>溶液的通性</a:t>
            </a:r>
            <a:endParaRPr lang="zh-CN" altLang="en-US" sz="1800" b="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083">
                                            <p:txEl>
                                              <p:pRg st="0" end="0"/>
                                            </p:txEl>
                                          </p:spTgt>
                                        </p:tgtEl>
                                        <p:attrNameLst>
                                          <p:attrName>style.visibility</p:attrName>
                                        </p:attrNameLst>
                                      </p:cBhvr>
                                      <p:to>
                                        <p:strVal val="visible"/>
                                      </p:to>
                                    </p:set>
                                    <p:animEffect transition="in" filter="box(in)">
                                      <p:cBhvr>
                                        <p:cTn id="7" dur="500"/>
                                        <p:tgtEl>
                                          <p:spTgt spid="3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83">
                                            <p:txEl>
                                              <p:pRg st="1" end="1"/>
                                            </p:txEl>
                                          </p:spTgt>
                                        </p:tgtEl>
                                        <p:attrNameLst>
                                          <p:attrName>style.visibility</p:attrName>
                                        </p:attrNameLst>
                                      </p:cBhvr>
                                      <p:to>
                                        <p:strVal val="visible"/>
                                      </p:to>
                                    </p:set>
                                    <p:animEffect transition="in" filter="box(in)">
                                      <p:cBhvr>
                                        <p:cTn id="12" dur="500"/>
                                        <p:tgtEl>
                                          <p:spTgt spid="30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8FC0557-DB02-CF86-A202-A134905FE173}"/>
              </a:ext>
            </a:extLst>
          </p:cNvPr>
          <p:cNvSpPr txBox="1"/>
          <p:nvPr/>
        </p:nvSpPr>
        <p:spPr>
          <a:xfrm>
            <a:off x="539552" y="483518"/>
            <a:ext cx="3430747" cy="523220"/>
          </a:xfrm>
          <a:prstGeom prst="rect">
            <a:avLst/>
          </a:prstGeom>
          <a:noFill/>
        </p:spPr>
        <p:txBody>
          <a:bodyPr wrap="none" rtlCol="0">
            <a:spAutoFit/>
          </a:bodyPr>
          <a:lstStyle/>
          <a:p>
            <a:r>
              <a:rPr lang="zh-CN" altLang="en-US" dirty="0"/>
              <a:t>溶液中的电解质理论</a:t>
            </a:r>
          </a:p>
        </p:txBody>
      </p:sp>
      <p:pic>
        <p:nvPicPr>
          <p:cNvPr id="4" name="图片 3">
            <a:extLst>
              <a:ext uri="{FF2B5EF4-FFF2-40B4-BE49-F238E27FC236}">
                <a16:creationId xmlns:a16="http://schemas.microsoft.com/office/drawing/2014/main" id="{27583CA7-219C-607F-FAED-4D398EE6D6A7}"/>
              </a:ext>
            </a:extLst>
          </p:cNvPr>
          <p:cNvPicPr>
            <a:picLocks noChangeAspect="1"/>
          </p:cNvPicPr>
          <p:nvPr/>
        </p:nvPicPr>
        <p:blipFill>
          <a:blip r:embed="rId2"/>
          <a:stretch>
            <a:fillRect/>
          </a:stretch>
        </p:blipFill>
        <p:spPr>
          <a:xfrm>
            <a:off x="755576" y="1006738"/>
            <a:ext cx="2585358" cy="3939902"/>
          </a:xfrm>
          <a:prstGeom prst="rect">
            <a:avLst/>
          </a:prstGeom>
        </p:spPr>
      </p:pic>
      <p:pic>
        <p:nvPicPr>
          <p:cNvPr id="6" name="图片 5">
            <a:extLst>
              <a:ext uri="{FF2B5EF4-FFF2-40B4-BE49-F238E27FC236}">
                <a16:creationId xmlns:a16="http://schemas.microsoft.com/office/drawing/2014/main" id="{1C909EB6-C25A-34E6-2E57-65552D2C182D}"/>
              </a:ext>
            </a:extLst>
          </p:cNvPr>
          <p:cNvPicPr>
            <a:picLocks noChangeAspect="1"/>
          </p:cNvPicPr>
          <p:nvPr/>
        </p:nvPicPr>
        <p:blipFill>
          <a:blip r:embed="rId3"/>
          <a:stretch>
            <a:fillRect/>
          </a:stretch>
        </p:blipFill>
        <p:spPr>
          <a:xfrm>
            <a:off x="3984336" y="1347614"/>
            <a:ext cx="4296375" cy="419158"/>
          </a:xfrm>
          <a:prstGeom prst="rect">
            <a:avLst/>
          </a:prstGeom>
        </p:spPr>
      </p:pic>
      <p:pic>
        <p:nvPicPr>
          <p:cNvPr id="8" name="图片 7">
            <a:extLst>
              <a:ext uri="{FF2B5EF4-FFF2-40B4-BE49-F238E27FC236}">
                <a16:creationId xmlns:a16="http://schemas.microsoft.com/office/drawing/2014/main" id="{B4E64C40-4311-F2EE-500A-0F14E3F18B94}"/>
              </a:ext>
            </a:extLst>
          </p:cNvPr>
          <p:cNvPicPr>
            <a:picLocks noChangeAspect="1"/>
          </p:cNvPicPr>
          <p:nvPr/>
        </p:nvPicPr>
        <p:blipFill>
          <a:blip r:embed="rId4"/>
          <a:stretch>
            <a:fillRect/>
          </a:stretch>
        </p:blipFill>
        <p:spPr>
          <a:xfrm>
            <a:off x="4067944" y="1923678"/>
            <a:ext cx="2152950" cy="409632"/>
          </a:xfrm>
          <a:prstGeom prst="rect">
            <a:avLst/>
          </a:prstGeom>
        </p:spPr>
      </p:pic>
      <p:sp>
        <p:nvSpPr>
          <p:cNvPr id="9" name="文本框 8">
            <a:extLst>
              <a:ext uri="{FF2B5EF4-FFF2-40B4-BE49-F238E27FC236}">
                <a16:creationId xmlns:a16="http://schemas.microsoft.com/office/drawing/2014/main" id="{C8F3D71F-DE5F-AF41-96C2-89D09CBA0E38}"/>
              </a:ext>
            </a:extLst>
          </p:cNvPr>
          <p:cNvSpPr txBox="1"/>
          <p:nvPr/>
        </p:nvSpPr>
        <p:spPr>
          <a:xfrm>
            <a:off x="4067944" y="2371695"/>
            <a:ext cx="1574470" cy="400110"/>
          </a:xfrm>
          <a:prstGeom prst="rect">
            <a:avLst/>
          </a:prstGeom>
          <a:noFill/>
        </p:spPr>
        <p:txBody>
          <a:bodyPr wrap="none" rtlCol="0">
            <a:spAutoFit/>
          </a:bodyPr>
          <a:lstStyle/>
          <a:p>
            <a:r>
              <a:rPr lang="en-US" altLang="zh-CN" sz="2000" dirty="0">
                <a:solidFill>
                  <a:srgbClr val="FF0000"/>
                </a:solidFill>
              </a:rPr>
              <a:t>I</a:t>
            </a:r>
            <a:r>
              <a:rPr lang="zh-CN" altLang="en-US" sz="2000" dirty="0">
                <a:solidFill>
                  <a:srgbClr val="FF0000"/>
                </a:solidFill>
              </a:rPr>
              <a:t>：离子强度</a:t>
            </a:r>
          </a:p>
        </p:txBody>
      </p:sp>
      <p:pic>
        <p:nvPicPr>
          <p:cNvPr id="11" name="图片 10">
            <a:extLst>
              <a:ext uri="{FF2B5EF4-FFF2-40B4-BE49-F238E27FC236}">
                <a16:creationId xmlns:a16="http://schemas.microsoft.com/office/drawing/2014/main" id="{783C676F-1F46-D689-F27D-E46420188F80}"/>
              </a:ext>
            </a:extLst>
          </p:cNvPr>
          <p:cNvPicPr>
            <a:picLocks noChangeAspect="1"/>
          </p:cNvPicPr>
          <p:nvPr/>
        </p:nvPicPr>
        <p:blipFill>
          <a:blip r:embed="rId5"/>
          <a:stretch>
            <a:fillRect/>
          </a:stretch>
        </p:blipFill>
        <p:spPr>
          <a:xfrm>
            <a:off x="5724128" y="2425596"/>
            <a:ext cx="2067213" cy="400106"/>
          </a:xfrm>
          <a:prstGeom prst="rect">
            <a:avLst/>
          </a:prstGeom>
        </p:spPr>
      </p:pic>
      <p:pic>
        <p:nvPicPr>
          <p:cNvPr id="13" name="图片 12">
            <a:extLst>
              <a:ext uri="{FF2B5EF4-FFF2-40B4-BE49-F238E27FC236}">
                <a16:creationId xmlns:a16="http://schemas.microsoft.com/office/drawing/2014/main" id="{9DBC4C38-19CC-1D8B-D59A-C36042BEA093}"/>
              </a:ext>
            </a:extLst>
          </p:cNvPr>
          <p:cNvPicPr>
            <a:picLocks noChangeAspect="1"/>
          </p:cNvPicPr>
          <p:nvPr/>
        </p:nvPicPr>
        <p:blipFill>
          <a:blip r:embed="rId6"/>
          <a:stretch>
            <a:fillRect/>
          </a:stretch>
        </p:blipFill>
        <p:spPr>
          <a:xfrm>
            <a:off x="4345866" y="2992134"/>
            <a:ext cx="2980899" cy="1914374"/>
          </a:xfrm>
          <a:prstGeom prst="rect">
            <a:avLst/>
          </a:prstGeom>
        </p:spPr>
      </p:pic>
    </p:spTree>
    <p:extLst>
      <p:ext uri="{BB962C8B-B14F-4D97-AF65-F5344CB8AC3E}">
        <p14:creationId xmlns:p14="http://schemas.microsoft.com/office/powerpoint/2010/main" val="3651357480"/>
      </p:ext>
    </p:extLst>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ext Box 3"/>
          <p:cNvSpPr txBox="1"/>
          <p:nvPr/>
        </p:nvSpPr>
        <p:spPr>
          <a:xfrm>
            <a:off x="1476381" y="1330328"/>
            <a:ext cx="5688013" cy="646331"/>
          </a:xfrm>
          <a:prstGeom prst="rect">
            <a:avLst/>
          </a:prstGeom>
          <a:noFill/>
          <a:ln w="3175">
            <a:noFill/>
          </a:ln>
          <a:effectLst>
            <a:prstShdw prst="shdw17" dist="17961" dir="13499999">
              <a:srgbClr val="999999"/>
            </a:prstShdw>
          </a:effectLst>
        </p:spPr>
        <p:txBody>
          <a:bodyPr anchor="t" anchorCtr="0">
            <a:spAutoFit/>
          </a:bodyPr>
          <a:lstStyle/>
          <a:p>
            <a:pPr>
              <a:spcBef>
                <a:spcPct val="50000"/>
              </a:spcBef>
              <a:buClrTx/>
              <a:buFontTx/>
            </a:pPr>
            <a:r>
              <a:rPr lang="zh-CN" altLang="en-US" sz="3600" dirty="0">
                <a:latin typeface="幼圆" pitchFamily="49" charset="-122"/>
                <a:ea typeface="幼圆" pitchFamily="49" charset="-122"/>
              </a:rPr>
              <a:t>酸碱电离理论</a:t>
            </a:r>
          </a:p>
        </p:txBody>
      </p:sp>
      <p:sp>
        <p:nvSpPr>
          <p:cNvPr id="156677" name="Rectangle 5"/>
          <p:cNvSpPr>
            <a:spLocks noChangeArrowheads="1"/>
          </p:cNvSpPr>
          <p:nvPr/>
        </p:nvSpPr>
        <p:spPr bwMode="auto">
          <a:xfrm>
            <a:off x="5" y="2281566"/>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5843" name="Text Box 6"/>
          <p:cNvSpPr txBox="1"/>
          <p:nvPr/>
        </p:nvSpPr>
        <p:spPr>
          <a:xfrm>
            <a:off x="1476375" y="2139953"/>
            <a:ext cx="7056438" cy="646331"/>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3600" dirty="0">
                <a:latin typeface="幼圆" pitchFamily="49" charset="-122"/>
                <a:ea typeface="幼圆" pitchFamily="49" charset="-122"/>
              </a:rPr>
              <a:t>酸碱质子理论</a:t>
            </a:r>
          </a:p>
        </p:txBody>
      </p:sp>
      <p:sp>
        <p:nvSpPr>
          <p:cNvPr id="35844" name="Text Box 12"/>
          <p:cNvSpPr txBox="1"/>
          <p:nvPr/>
        </p:nvSpPr>
        <p:spPr>
          <a:xfrm>
            <a:off x="1474788" y="3057528"/>
            <a:ext cx="6985000" cy="646331"/>
          </a:xfrm>
          <a:prstGeom prst="rect">
            <a:avLst/>
          </a:prstGeom>
          <a:noFill/>
          <a:ln w="9525">
            <a:noFill/>
          </a:ln>
          <a:effectLst>
            <a:prstShdw prst="shdw17" dist="17961" dir="13499999">
              <a:srgbClr val="5C5C99"/>
            </a:prstShdw>
          </a:effectLst>
        </p:spPr>
        <p:txBody>
          <a:bodyPr anchor="t" anchorCtr="0">
            <a:spAutoFit/>
          </a:bodyPr>
          <a:lstStyle/>
          <a:p>
            <a:pPr algn="just">
              <a:spcBef>
                <a:spcPct val="50000"/>
              </a:spcBef>
              <a:buClrTx/>
              <a:buFontTx/>
            </a:pPr>
            <a:r>
              <a:rPr lang="zh-CN" altLang="en-US" sz="3600" dirty="0">
                <a:latin typeface="幼圆" pitchFamily="49" charset="-122"/>
                <a:ea typeface="幼圆" pitchFamily="49" charset="-122"/>
              </a:rPr>
              <a:t>酸碱电子理论</a:t>
            </a:r>
          </a:p>
        </p:txBody>
      </p:sp>
      <p:sp>
        <p:nvSpPr>
          <p:cNvPr id="9" name="Rectangle 2"/>
          <p:cNvSpPr>
            <a:spLocks noChangeArrowheads="1"/>
          </p:cNvSpPr>
          <p:nvPr/>
        </p:nvSpPr>
        <p:spPr bwMode="auto">
          <a:xfrm>
            <a:off x="0" y="428625"/>
            <a:ext cx="9144000" cy="541338"/>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0" fontAlgn="base" latinLnBrk="0" hangingPunct="0">
              <a:lnSpc>
                <a:spcPct val="115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rPr>
              <a:t>§</a:t>
            </a:r>
            <a:r>
              <a:rPr kumimoji="0" lang="en-US" altLang="zh-CN" sz="32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 3.2 </a:t>
            </a:r>
            <a:r>
              <a:rPr kumimoji="0" lang="zh-CN" altLang="en-US" sz="32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酸碱理论</a:t>
            </a:r>
            <a:endParaRPr kumimoji="0" lang="zh-CN" altLang="en-US" sz="3200" b="1" i="0" u="none" strike="noStrike" kern="1200" cap="none" spc="0" normalizeH="0" baseline="0" noProof="0" dirty="0">
              <a:ln>
                <a:noFill/>
              </a:ln>
              <a:solidFill>
                <a:schemeClr val="bg1"/>
              </a:solidFill>
              <a:effectLst/>
              <a:uLnTx/>
              <a:uFillTx/>
              <a:latin typeface="Times New Roman" panose="02020603050405020304" pitchFamily="18" charset="0"/>
              <a:ea typeface="幼圆" pitchFamily="49" charset="-122"/>
              <a:cs typeface="+mn-cs"/>
            </a:endParaRPr>
          </a:p>
        </p:txBody>
      </p:sp>
      <p:pic>
        <p:nvPicPr>
          <p:cNvPr id="450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4394" y="3147817"/>
            <a:ext cx="1628507" cy="171085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
          <p:cNvSpPr txBox="1"/>
          <p:nvPr/>
        </p:nvSpPr>
        <p:spPr>
          <a:xfrm>
            <a:off x="6" y="857251"/>
            <a:ext cx="3643313" cy="523220"/>
          </a:xfrm>
          <a:prstGeom prst="rect">
            <a:avLst/>
          </a:prstGeom>
          <a:solidFill>
            <a:srgbClr val="CC99FF"/>
          </a:solidFill>
          <a:ln w="3175">
            <a:noFill/>
          </a:ln>
          <a:effectLst>
            <a:prstShdw prst="shdw17" dist="17961" dir="13499999">
              <a:srgbClr val="999999"/>
            </a:prstShdw>
          </a:effectLst>
        </p:spPr>
        <p:txBody>
          <a:bodyPr anchor="t" anchorCtr="0">
            <a:spAutoFit/>
          </a:bodyPr>
          <a:lstStyle/>
          <a:p>
            <a:pPr>
              <a:spcBef>
                <a:spcPct val="50000"/>
              </a:spcBef>
              <a:buClrTx/>
              <a:buFontTx/>
            </a:pPr>
            <a:r>
              <a:rPr lang="en-US" altLang="zh-CN" dirty="0">
                <a:solidFill>
                  <a:srgbClr val="003300"/>
                </a:solidFill>
                <a:latin typeface="华文新魏" pitchFamily="2" charset="-122"/>
                <a:ea typeface="华文新魏" pitchFamily="2" charset="-122"/>
              </a:rPr>
              <a:t>3.2.1 </a:t>
            </a:r>
            <a:r>
              <a:rPr lang="zh-CN" altLang="en-US" dirty="0">
                <a:solidFill>
                  <a:srgbClr val="003300"/>
                </a:solidFill>
                <a:latin typeface="华文新魏" pitchFamily="2" charset="-122"/>
                <a:ea typeface="华文新魏" pitchFamily="2" charset="-122"/>
              </a:rPr>
              <a:t>酸碱电离理论</a:t>
            </a:r>
          </a:p>
        </p:txBody>
      </p:sp>
      <p:sp>
        <p:nvSpPr>
          <p:cNvPr id="31755" name="Text Box 11"/>
          <p:cNvSpPr txBox="1"/>
          <p:nvPr/>
        </p:nvSpPr>
        <p:spPr>
          <a:xfrm>
            <a:off x="179388" y="1379540"/>
            <a:ext cx="8820150" cy="1200329"/>
          </a:xfrm>
          <a:prstGeom prst="rect">
            <a:avLst/>
          </a:prstGeom>
          <a:noFill/>
          <a:ln w="9525">
            <a:noFill/>
          </a:ln>
        </p:spPr>
        <p:txBody>
          <a:bodyPr anchor="t" anchorCtr="0">
            <a:spAutoFit/>
          </a:bodyPr>
          <a:lstStyle/>
          <a:p>
            <a:pPr marL="895350" indent="-895350" defTabSz="914400">
              <a:buClrTx/>
              <a:buFontTx/>
              <a:tabLst>
                <a:tab pos="4933950" algn="l"/>
              </a:tabLst>
            </a:pPr>
            <a:r>
              <a:rPr lang="zh-CN" altLang="en-US" sz="2400" dirty="0">
                <a:solidFill>
                  <a:srgbClr val="0000FF"/>
                </a:solidFill>
                <a:latin typeface="Times New Roman" panose="02020603050405020304" pitchFamily="18" charset="0"/>
                <a:ea typeface="幼圆" pitchFamily="49" charset="-122"/>
              </a:rPr>
              <a:t>酸：</a:t>
            </a:r>
            <a:r>
              <a:rPr lang="zh-CN" altLang="en-US" sz="2400" dirty="0">
                <a:latin typeface="Times New Roman" panose="02020603050405020304" pitchFamily="18" charset="0"/>
                <a:ea typeface="幼圆" pitchFamily="49" charset="-122"/>
              </a:rPr>
              <a:t>在</a:t>
            </a:r>
            <a:r>
              <a:rPr lang="zh-CN" altLang="en-US" sz="2400" dirty="0">
                <a:solidFill>
                  <a:srgbClr val="008000"/>
                </a:solidFill>
                <a:latin typeface="Times New Roman" panose="02020603050405020304" pitchFamily="18" charset="0"/>
                <a:ea typeface="幼圆" pitchFamily="49" charset="-122"/>
              </a:rPr>
              <a:t>水溶液</a:t>
            </a:r>
            <a:r>
              <a:rPr lang="zh-CN" altLang="en-US" sz="2400" dirty="0">
                <a:latin typeface="Times New Roman" panose="02020603050405020304" pitchFamily="18" charset="0"/>
                <a:ea typeface="幼圆" pitchFamily="49" charset="-122"/>
              </a:rPr>
              <a:t>中解离产生的阳离子全部是</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的化合物</a:t>
            </a:r>
            <a:r>
              <a:rPr lang="en-US" altLang="zh-CN" sz="2400" dirty="0">
                <a:latin typeface="Times New Roman" panose="02020603050405020304" pitchFamily="18" charset="0"/>
                <a:ea typeface="幼圆" pitchFamily="49" charset="-122"/>
              </a:rPr>
              <a:t>; </a:t>
            </a:r>
          </a:p>
          <a:p>
            <a:pPr marL="895350" indent="-895350" defTabSz="914400">
              <a:buClrTx/>
              <a:buFontTx/>
              <a:tabLst>
                <a:tab pos="4933950" algn="l"/>
              </a:tabLst>
            </a:pPr>
            <a:r>
              <a:rPr lang="zh-CN" altLang="en-US" sz="2400" dirty="0">
                <a:solidFill>
                  <a:srgbClr val="0000FF"/>
                </a:solidFill>
                <a:latin typeface="Times New Roman" panose="02020603050405020304" pitchFamily="18" charset="0"/>
                <a:ea typeface="幼圆" pitchFamily="49" charset="-122"/>
              </a:rPr>
              <a:t>碱：</a:t>
            </a:r>
            <a:r>
              <a:rPr lang="zh-CN" altLang="en-US" sz="2400" dirty="0">
                <a:latin typeface="Times New Roman" panose="02020603050405020304" pitchFamily="18" charset="0"/>
                <a:ea typeface="幼圆" pitchFamily="49" charset="-122"/>
              </a:rPr>
              <a:t>在</a:t>
            </a:r>
            <a:r>
              <a:rPr lang="zh-CN" altLang="en-US" sz="2400" dirty="0">
                <a:solidFill>
                  <a:srgbClr val="008000"/>
                </a:solidFill>
                <a:latin typeface="Times New Roman" panose="02020603050405020304" pitchFamily="18" charset="0"/>
                <a:ea typeface="幼圆" pitchFamily="49" charset="-122"/>
              </a:rPr>
              <a:t>水溶液</a:t>
            </a:r>
            <a:r>
              <a:rPr lang="zh-CN" altLang="en-US" sz="2400" dirty="0">
                <a:latin typeface="Times New Roman" panose="02020603050405020304" pitchFamily="18" charset="0"/>
                <a:ea typeface="幼圆" pitchFamily="49" charset="-122"/>
              </a:rPr>
              <a:t>中解离产生的阴离子全部是</a:t>
            </a:r>
            <a:r>
              <a:rPr lang="en-US" altLang="zh-CN" sz="2400" dirty="0">
                <a:latin typeface="Times New Roman" panose="02020603050405020304" pitchFamily="18" charset="0"/>
                <a:ea typeface="幼圆" pitchFamily="49" charset="-122"/>
              </a:rPr>
              <a:t>OH</a:t>
            </a:r>
            <a:r>
              <a:rPr lang="en-US" altLang="zh-CN" sz="2400" baseline="4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的化合物</a:t>
            </a:r>
            <a:r>
              <a:rPr lang="en-US" altLang="zh-CN" sz="2400" dirty="0">
                <a:latin typeface="Times New Roman" panose="02020603050405020304" pitchFamily="18" charset="0"/>
                <a:ea typeface="幼圆" pitchFamily="49" charset="-122"/>
              </a:rPr>
              <a:t>;</a:t>
            </a:r>
          </a:p>
          <a:p>
            <a:pPr marL="895350" indent="-895350" defTabSz="914400">
              <a:buClrTx/>
              <a:buFontTx/>
              <a:tabLst>
                <a:tab pos="4933950" algn="l"/>
              </a:tabLst>
            </a:pPr>
            <a:r>
              <a:rPr lang="zh-CN" altLang="en-US" sz="2400" dirty="0">
                <a:solidFill>
                  <a:srgbClr val="0000FF"/>
                </a:solidFill>
                <a:latin typeface="Times New Roman" panose="02020603050405020304" pitchFamily="18" charset="0"/>
                <a:ea typeface="幼圆" pitchFamily="49" charset="-122"/>
              </a:rPr>
              <a:t>酸碱中和反应的实质</a:t>
            </a:r>
            <a:r>
              <a:rPr lang="zh-CN" altLang="en-US" sz="2400" dirty="0">
                <a:latin typeface="Times New Roman" panose="02020603050405020304" pitchFamily="18" charset="0"/>
                <a:ea typeface="幼圆" pitchFamily="49" charset="-122"/>
              </a:rPr>
              <a:t>： </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和</a:t>
            </a:r>
            <a:r>
              <a:rPr lang="en-US" altLang="zh-CN" sz="2400" dirty="0">
                <a:latin typeface="Times New Roman" panose="02020603050405020304" pitchFamily="18" charset="0"/>
                <a:ea typeface="幼圆" pitchFamily="49" charset="-122"/>
              </a:rPr>
              <a:t>OH</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结合生成</a:t>
            </a:r>
            <a:r>
              <a:rPr lang="en-US" altLang="zh-CN" sz="2400" dirty="0">
                <a:latin typeface="Times New Roman" panose="02020603050405020304" pitchFamily="18" charset="0"/>
                <a:ea typeface="幼圆" pitchFamily="49" charset="-122"/>
              </a:rPr>
              <a:t>H</a:t>
            </a:r>
            <a:r>
              <a:rPr lang="en-US" altLang="zh-CN" sz="2400" baseline="-25000" dirty="0">
                <a:latin typeface="Times New Roman" panose="02020603050405020304" pitchFamily="18" charset="0"/>
                <a:ea typeface="幼圆" pitchFamily="49" charset="-122"/>
              </a:rPr>
              <a:t>2</a:t>
            </a:r>
            <a:r>
              <a:rPr lang="en-US" altLang="zh-CN" sz="2400" dirty="0">
                <a:latin typeface="Times New Roman" panose="02020603050405020304" pitchFamily="18" charset="0"/>
                <a:ea typeface="幼圆" pitchFamily="49" charset="-122"/>
              </a:rPr>
              <a:t>O</a:t>
            </a:r>
            <a:r>
              <a:rPr lang="zh-CN" altLang="en-US" sz="2400" dirty="0">
                <a:latin typeface="Times New Roman" panose="02020603050405020304" pitchFamily="18" charset="0"/>
                <a:ea typeface="幼圆" pitchFamily="49" charset="-122"/>
              </a:rPr>
              <a:t>。</a:t>
            </a:r>
          </a:p>
        </p:txBody>
      </p:sp>
      <p:sp>
        <p:nvSpPr>
          <p:cNvPr id="31758" name="Rectangle 14"/>
          <p:cNvSpPr>
            <a:spLocks noChangeArrowheads="1"/>
          </p:cNvSpPr>
          <p:nvPr/>
        </p:nvSpPr>
        <p:spPr bwMode="auto">
          <a:xfrm>
            <a:off x="5" y="2281566"/>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1752" name="Text Box 8"/>
          <p:cNvSpPr txBox="1"/>
          <p:nvPr/>
        </p:nvSpPr>
        <p:spPr>
          <a:xfrm>
            <a:off x="6" y="2543176"/>
            <a:ext cx="3857625" cy="523220"/>
          </a:xfrm>
          <a:prstGeom prst="rect">
            <a:avLst/>
          </a:prstGeom>
          <a:solidFill>
            <a:srgbClr val="CC99FF"/>
          </a:solidFill>
          <a:ln w="9525">
            <a:noFill/>
          </a:ln>
          <a:effectLst>
            <a:prstShdw prst="shdw17" dist="17961" dir="13499999">
              <a:srgbClr val="5C5C99"/>
            </a:prstShdw>
          </a:effectLst>
        </p:spPr>
        <p:txBody>
          <a:bodyPr anchor="t" anchorCtr="0">
            <a:spAutoFit/>
          </a:bodyPr>
          <a:lstStyle/>
          <a:p>
            <a:pPr>
              <a:spcBef>
                <a:spcPct val="50000"/>
              </a:spcBef>
              <a:buClrTx/>
              <a:buFontTx/>
            </a:pPr>
            <a:r>
              <a:rPr lang="en-US" altLang="zh-CN" dirty="0">
                <a:solidFill>
                  <a:srgbClr val="003300"/>
                </a:solidFill>
                <a:latin typeface="华文新魏" pitchFamily="2" charset="-122"/>
                <a:ea typeface="华文新魏" pitchFamily="2" charset="-122"/>
              </a:rPr>
              <a:t>3.2.2 </a:t>
            </a:r>
            <a:r>
              <a:rPr lang="zh-CN" altLang="en-US" dirty="0">
                <a:solidFill>
                  <a:srgbClr val="003300"/>
                </a:solidFill>
                <a:latin typeface="华文新魏" pitchFamily="2" charset="-122"/>
                <a:ea typeface="华文新魏" pitchFamily="2" charset="-122"/>
              </a:rPr>
              <a:t>酸碱质子理论</a:t>
            </a:r>
          </a:p>
        </p:txBody>
      </p:sp>
      <p:grpSp>
        <p:nvGrpSpPr>
          <p:cNvPr id="2" name="Group 25"/>
          <p:cNvGrpSpPr/>
          <p:nvPr/>
        </p:nvGrpSpPr>
        <p:grpSpPr>
          <a:xfrm>
            <a:off x="360363" y="2943224"/>
            <a:ext cx="5580062" cy="2397522"/>
            <a:chOff x="227" y="2472"/>
            <a:chExt cx="3515" cy="2013"/>
          </a:xfrm>
        </p:grpSpPr>
        <p:sp>
          <p:nvSpPr>
            <p:cNvPr id="36870" name="Text Box 12"/>
            <p:cNvSpPr txBox="1"/>
            <p:nvPr/>
          </p:nvSpPr>
          <p:spPr>
            <a:xfrm>
              <a:off x="227" y="2472"/>
              <a:ext cx="3515" cy="2013"/>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dirty="0">
                  <a:solidFill>
                    <a:srgbClr val="FF3300"/>
                  </a:solidFill>
                  <a:latin typeface="Times New Roman" panose="02020603050405020304" pitchFamily="18" charset="0"/>
                  <a:ea typeface="幼圆" pitchFamily="49" charset="-122"/>
                </a:rPr>
                <a:t>     </a:t>
              </a:r>
              <a:r>
                <a:rPr lang="zh-CN" altLang="en-US" sz="2400" dirty="0">
                  <a:solidFill>
                    <a:srgbClr val="0000FF"/>
                  </a:solidFill>
                  <a:latin typeface="Times New Roman" panose="02020603050405020304" pitchFamily="18" charset="0"/>
                  <a:ea typeface="幼圆" pitchFamily="49" charset="-122"/>
                </a:rPr>
                <a:t>酸：</a:t>
              </a:r>
              <a:r>
                <a:rPr lang="zh-CN" altLang="en-US" sz="2400" dirty="0">
                  <a:latin typeface="Times New Roman" panose="02020603050405020304" pitchFamily="18" charset="0"/>
                  <a:ea typeface="幼圆" pitchFamily="49" charset="-122"/>
                </a:rPr>
                <a:t>是质子（</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）的给予体；</a:t>
              </a:r>
              <a:r>
                <a:rPr lang="zh-CN" altLang="en-US" sz="2400" dirty="0">
                  <a:solidFill>
                    <a:srgbClr val="FF3300"/>
                  </a:solidFill>
                  <a:latin typeface="Times New Roman" panose="02020603050405020304" pitchFamily="18" charset="0"/>
                  <a:ea typeface="幼圆" pitchFamily="49" charset="-122"/>
                </a:rPr>
                <a:t>     </a:t>
              </a:r>
            </a:p>
            <a:p>
              <a:pPr>
                <a:buClrTx/>
                <a:buFontTx/>
              </a:pPr>
              <a:r>
                <a:rPr lang="zh-CN" altLang="en-US" sz="2400" dirty="0">
                  <a:solidFill>
                    <a:srgbClr val="FF3300"/>
                  </a:solidFill>
                  <a:latin typeface="Times New Roman" panose="02020603050405020304" pitchFamily="18" charset="0"/>
                  <a:ea typeface="幼圆" pitchFamily="49" charset="-122"/>
                </a:rPr>
                <a:t>     </a:t>
              </a:r>
              <a:r>
                <a:rPr lang="zh-CN" altLang="en-US" sz="2400" dirty="0">
                  <a:solidFill>
                    <a:srgbClr val="0000FF"/>
                  </a:solidFill>
                  <a:latin typeface="Times New Roman" panose="02020603050405020304" pitchFamily="18" charset="0"/>
                  <a:ea typeface="幼圆" pitchFamily="49" charset="-122"/>
                </a:rPr>
                <a:t>碱：</a:t>
              </a:r>
              <a:r>
                <a:rPr lang="zh-CN" altLang="en-US" sz="2400" dirty="0">
                  <a:latin typeface="Times New Roman" panose="02020603050405020304" pitchFamily="18" charset="0"/>
                  <a:ea typeface="幼圆" pitchFamily="49" charset="-122"/>
                </a:rPr>
                <a:t>是质子（</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）的接受体。 </a:t>
              </a:r>
            </a:p>
            <a:p>
              <a:pPr>
                <a:buClrTx/>
                <a:buFontTx/>
              </a:pPr>
              <a:r>
                <a:rPr lang="zh-CN" altLang="pt-BR" sz="2400" dirty="0">
                  <a:latin typeface="Times New Roman" panose="02020603050405020304" pitchFamily="18" charset="0"/>
                  <a:ea typeface="幼圆" pitchFamily="49" charset="-122"/>
                </a:rPr>
                <a:t>            </a:t>
              </a:r>
              <a:r>
                <a:rPr lang="pt-BR" altLang="zh-CN" sz="2400" dirty="0">
                  <a:latin typeface="Times New Roman" panose="02020603050405020304" pitchFamily="18" charset="0"/>
                  <a:ea typeface="幼圆" pitchFamily="49" charset="-122"/>
                </a:rPr>
                <a:t>HAc                 H</a:t>
              </a:r>
              <a:r>
                <a:rPr lang="pt-BR" altLang="zh-CN" sz="2400" baseline="30000" dirty="0">
                  <a:latin typeface="Times New Roman" panose="02020603050405020304" pitchFamily="18" charset="0"/>
                  <a:ea typeface="幼圆" pitchFamily="49" charset="-122"/>
                </a:rPr>
                <a:t>+</a:t>
              </a:r>
              <a:r>
                <a:rPr lang="pt-BR" altLang="zh-CN" sz="2400" dirty="0">
                  <a:latin typeface="Times New Roman" panose="02020603050405020304" pitchFamily="18" charset="0"/>
                  <a:ea typeface="幼圆" pitchFamily="49" charset="-122"/>
                </a:rPr>
                <a:t>+Ac</a:t>
              </a:r>
              <a:r>
                <a:rPr lang="pt-BR" altLang="zh-CN" sz="2400" baseline="30000" dirty="0">
                  <a:latin typeface="Times New Roman" panose="02020603050405020304" pitchFamily="18" charset="0"/>
                  <a:ea typeface="幼圆" pitchFamily="49" charset="-122"/>
                </a:rPr>
                <a:t>-</a:t>
              </a:r>
            </a:p>
            <a:p>
              <a:pPr>
                <a:buClrTx/>
                <a:buFontTx/>
              </a:pPr>
              <a:r>
                <a:rPr lang="pt-BR" altLang="zh-CN" sz="2400" dirty="0">
                  <a:latin typeface="Times New Roman" panose="02020603050405020304" pitchFamily="18" charset="0"/>
                  <a:ea typeface="幼圆" pitchFamily="49" charset="-122"/>
                </a:rPr>
                <a:t>            NH</a:t>
              </a:r>
              <a:r>
                <a:rPr lang="pt-BR" altLang="zh-CN" sz="2400" baseline="-25000" dirty="0">
                  <a:latin typeface="Times New Roman" panose="02020603050405020304" pitchFamily="18" charset="0"/>
                  <a:ea typeface="幼圆" pitchFamily="49" charset="-122"/>
                </a:rPr>
                <a:t>4</a:t>
              </a:r>
              <a:r>
                <a:rPr lang="pt-BR" altLang="zh-CN" sz="2400" baseline="30000" dirty="0">
                  <a:latin typeface="Times New Roman" panose="02020603050405020304" pitchFamily="18" charset="0"/>
                  <a:ea typeface="幼圆" pitchFamily="49" charset="-122"/>
                </a:rPr>
                <a:t>+</a:t>
              </a:r>
              <a:r>
                <a:rPr lang="pt-BR" altLang="zh-CN" sz="2400" dirty="0">
                  <a:latin typeface="Times New Roman" panose="02020603050405020304" pitchFamily="18" charset="0"/>
                  <a:ea typeface="幼圆" pitchFamily="49" charset="-122"/>
                </a:rPr>
                <a:t>                H</a:t>
              </a:r>
              <a:r>
                <a:rPr lang="pt-BR" altLang="zh-CN" sz="2400" baseline="30000" dirty="0">
                  <a:latin typeface="Times New Roman" panose="02020603050405020304" pitchFamily="18" charset="0"/>
                  <a:ea typeface="幼圆" pitchFamily="49" charset="-122"/>
                </a:rPr>
                <a:t>+</a:t>
              </a:r>
              <a:r>
                <a:rPr lang="pt-BR" altLang="zh-CN" sz="2400" dirty="0">
                  <a:latin typeface="Times New Roman" panose="02020603050405020304" pitchFamily="18" charset="0"/>
                  <a:ea typeface="幼圆" pitchFamily="49" charset="-122"/>
                </a:rPr>
                <a:t>+NH</a:t>
              </a:r>
              <a:r>
                <a:rPr lang="pt-BR" altLang="zh-CN" sz="2400" baseline="-25000" dirty="0">
                  <a:latin typeface="Times New Roman" panose="02020603050405020304" pitchFamily="18" charset="0"/>
                  <a:ea typeface="幼圆" pitchFamily="49" charset="-122"/>
                </a:rPr>
                <a:t>3</a:t>
              </a:r>
            </a:p>
            <a:p>
              <a:pPr>
                <a:buClrTx/>
                <a:buFontTx/>
              </a:pPr>
              <a:r>
                <a:rPr lang="pt-BR" altLang="zh-CN" sz="2400" dirty="0">
                  <a:latin typeface="Times New Roman" panose="02020603050405020304" pitchFamily="18" charset="0"/>
                  <a:ea typeface="幼圆" pitchFamily="49" charset="-122"/>
                </a:rPr>
                <a:t>        H</a:t>
              </a:r>
              <a:r>
                <a:rPr lang="pt-BR" altLang="zh-CN" sz="2400" baseline="-25000" dirty="0">
                  <a:latin typeface="Times New Roman" panose="02020603050405020304" pitchFamily="18" charset="0"/>
                  <a:ea typeface="幼圆" pitchFamily="49" charset="-122"/>
                </a:rPr>
                <a:t>2</a:t>
              </a:r>
              <a:r>
                <a:rPr lang="pt-BR" altLang="zh-CN" sz="2400" dirty="0">
                  <a:latin typeface="Times New Roman" panose="02020603050405020304" pitchFamily="18" charset="0"/>
                  <a:ea typeface="幼圆" pitchFamily="49" charset="-122"/>
                </a:rPr>
                <a:t>PO</a:t>
              </a:r>
              <a:r>
                <a:rPr lang="pt-BR" altLang="zh-CN" sz="2400" baseline="-25000" dirty="0">
                  <a:latin typeface="Times New Roman" panose="02020603050405020304" pitchFamily="18" charset="0"/>
                  <a:ea typeface="幼圆" pitchFamily="49" charset="-122"/>
                </a:rPr>
                <a:t>4</a:t>
              </a:r>
              <a:r>
                <a:rPr lang="pt-BR" altLang="zh-CN" sz="2400" baseline="30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                </a:t>
              </a:r>
              <a:r>
                <a:rPr lang="pt-BR" altLang="zh-CN" sz="2400" dirty="0">
                  <a:latin typeface="Times New Roman" panose="02020603050405020304" pitchFamily="18" charset="0"/>
                  <a:ea typeface="幼圆" pitchFamily="49" charset="-122"/>
                </a:rPr>
                <a:t>H</a:t>
              </a:r>
              <a:r>
                <a:rPr lang="pt-BR" altLang="zh-CN" sz="2400" baseline="30000" dirty="0">
                  <a:latin typeface="Times New Roman" panose="02020603050405020304" pitchFamily="18" charset="0"/>
                  <a:ea typeface="幼圆" pitchFamily="49" charset="-122"/>
                </a:rPr>
                <a:t>+</a:t>
              </a:r>
              <a:r>
                <a:rPr lang="pt-BR" altLang="zh-CN" sz="2400" dirty="0">
                  <a:latin typeface="Times New Roman" panose="02020603050405020304" pitchFamily="18" charset="0"/>
                  <a:ea typeface="幼圆" pitchFamily="49" charset="-122"/>
                </a:rPr>
                <a:t>+HPO</a:t>
              </a:r>
              <a:r>
                <a:rPr lang="pt-BR" altLang="zh-CN" sz="2400" baseline="-25000" dirty="0">
                  <a:latin typeface="Times New Roman" panose="02020603050405020304" pitchFamily="18" charset="0"/>
                  <a:ea typeface="幼圆" pitchFamily="49" charset="-122"/>
                </a:rPr>
                <a:t>4</a:t>
              </a:r>
              <a:r>
                <a:rPr lang="pt-BR" altLang="zh-CN" sz="2400" baseline="30000" dirty="0">
                  <a:latin typeface="Times New Roman" panose="02020603050405020304" pitchFamily="18" charset="0"/>
                  <a:ea typeface="幼圆" pitchFamily="49" charset="-122"/>
                </a:rPr>
                <a:t>2-</a:t>
              </a:r>
            </a:p>
            <a:p>
              <a:pPr>
                <a:lnSpc>
                  <a:spcPts val="3100"/>
                </a:lnSpc>
                <a:buClrTx/>
                <a:buFontTx/>
              </a:pPr>
              <a:r>
                <a:rPr lang="pt-BR" altLang="zh-CN" dirty="0">
                  <a:latin typeface="Times New Roman" panose="02020603050405020304" pitchFamily="18" charset="0"/>
                  <a:ea typeface="幼圆" pitchFamily="49" charset="-122"/>
                </a:rPr>
                <a:t>     </a:t>
              </a:r>
              <a:endParaRPr lang="zh-CN" altLang="en-US" b="0" dirty="0">
                <a:latin typeface="Times New Roman" panose="02020603050405020304" pitchFamily="18" charset="0"/>
                <a:ea typeface="幼圆" pitchFamily="49" charset="-122"/>
              </a:endParaRPr>
            </a:p>
          </p:txBody>
        </p:sp>
        <p:graphicFrame>
          <p:nvGraphicFramePr>
            <p:cNvPr id="36871" name="Object 13"/>
            <p:cNvGraphicFramePr>
              <a:graphicFrameLocks noChangeAspect="1"/>
            </p:cNvGraphicFramePr>
            <p:nvPr/>
          </p:nvGraphicFramePr>
          <p:xfrm>
            <a:off x="1260" y="3914"/>
            <a:ext cx="725" cy="119"/>
          </p:xfrm>
          <a:graphic>
            <a:graphicData uri="http://schemas.openxmlformats.org/presentationml/2006/ole">
              <mc:AlternateContent xmlns:mc="http://schemas.openxmlformats.org/markup-compatibility/2006">
                <mc:Choice xmlns:v="urn:schemas-microsoft-com:vml" Requires="v">
                  <p:oleObj r:id="rId2" imgW="676275" imgH="171450" progId="Equation.3">
                    <p:embed/>
                  </p:oleObj>
                </mc:Choice>
                <mc:Fallback>
                  <p:oleObj r:id="rId2" imgW="676275" imgH="171450" progId="Equation.3">
                    <p:embed/>
                    <p:pic>
                      <p:nvPicPr>
                        <p:cNvPr id="0" name="图片 3091"/>
                        <p:cNvPicPr/>
                        <p:nvPr/>
                      </p:nvPicPr>
                      <p:blipFill>
                        <a:blip r:embed="rId3"/>
                        <a:stretch>
                          <a:fillRect/>
                        </a:stretch>
                      </p:blipFill>
                      <p:spPr>
                        <a:xfrm>
                          <a:off x="1260" y="3914"/>
                          <a:ext cx="725" cy="119"/>
                        </a:xfrm>
                        <a:prstGeom prst="rect">
                          <a:avLst/>
                        </a:prstGeom>
                        <a:noFill/>
                        <a:ln w="38100">
                          <a:noFill/>
                          <a:miter/>
                        </a:ln>
                      </p:spPr>
                    </p:pic>
                  </p:oleObj>
                </mc:Fallback>
              </mc:AlternateContent>
            </a:graphicData>
          </a:graphic>
        </p:graphicFrame>
        <p:graphicFrame>
          <p:nvGraphicFramePr>
            <p:cNvPr id="36872" name="Object 15"/>
            <p:cNvGraphicFramePr>
              <a:graphicFrameLocks noChangeAspect="1"/>
            </p:cNvGraphicFramePr>
            <p:nvPr/>
          </p:nvGraphicFramePr>
          <p:xfrm>
            <a:off x="1258" y="3309"/>
            <a:ext cx="726" cy="119"/>
          </p:xfrm>
          <a:graphic>
            <a:graphicData uri="http://schemas.openxmlformats.org/presentationml/2006/ole">
              <mc:AlternateContent xmlns:mc="http://schemas.openxmlformats.org/markup-compatibility/2006">
                <mc:Choice xmlns:v="urn:schemas-microsoft-com:vml" Requires="v">
                  <p:oleObj r:id="rId4" imgW="676275" imgH="171450" progId="Equation.3">
                    <p:embed/>
                  </p:oleObj>
                </mc:Choice>
                <mc:Fallback>
                  <p:oleObj r:id="rId4" imgW="676275" imgH="171450" progId="Equation.3">
                    <p:embed/>
                    <p:pic>
                      <p:nvPicPr>
                        <p:cNvPr id="0" name="图片 3092"/>
                        <p:cNvPicPr/>
                        <p:nvPr/>
                      </p:nvPicPr>
                      <p:blipFill>
                        <a:blip r:embed="rId3"/>
                        <a:stretch>
                          <a:fillRect/>
                        </a:stretch>
                      </p:blipFill>
                      <p:spPr>
                        <a:xfrm>
                          <a:off x="1258" y="3309"/>
                          <a:ext cx="726" cy="119"/>
                        </a:xfrm>
                        <a:prstGeom prst="rect">
                          <a:avLst/>
                        </a:prstGeom>
                        <a:noFill/>
                        <a:ln w="38100">
                          <a:noFill/>
                          <a:miter/>
                        </a:ln>
                      </p:spPr>
                    </p:pic>
                  </p:oleObj>
                </mc:Fallback>
              </mc:AlternateContent>
            </a:graphicData>
          </a:graphic>
        </p:graphicFrame>
        <p:graphicFrame>
          <p:nvGraphicFramePr>
            <p:cNvPr id="36873" name="Object 16"/>
            <p:cNvGraphicFramePr>
              <a:graphicFrameLocks noChangeAspect="1"/>
            </p:cNvGraphicFramePr>
            <p:nvPr/>
          </p:nvGraphicFramePr>
          <p:xfrm>
            <a:off x="1292" y="3611"/>
            <a:ext cx="771" cy="92"/>
          </p:xfrm>
          <a:graphic>
            <a:graphicData uri="http://schemas.openxmlformats.org/presentationml/2006/ole">
              <mc:AlternateContent xmlns:mc="http://schemas.openxmlformats.org/markup-compatibility/2006">
                <mc:Choice xmlns:v="urn:schemas-microsoft-com:vml" Requires="v">
                  <p:oleObj r:id="rId5" imgW="676275" imgH="171450" progId="Equation.3">
                    <p:embed/>
                  </p:oleObj>
                </mc:Choice>
                <mc:Fallback>
                  <p:oleObj r:id="rId5" imgW="676275" imgH="171450" progId="Equation.3">
                    <p:embed/>
                    <p:pic>
                      <p:nvPicPr>
                        <p:cNvPr id="0" name="图片 3093"/>
                        <p:cNvPicPr/>
                        <p:nvPr/>
                      </p:nvPicPr>
                      <p:blipFill>
                        <a:blip r:embed="rId3"/>
                        <a:stretch>
                          <a:fillRect/>
                        </a:stretch>
                      </p:blipFill>
                      <p:spPr>
                        <a:xfrm>
                          <a:off x="1292" y="3611"/>
                          <a:ext cx="771" cy="92"/>
                        </a:xfrm>
                        <a:prstGeom prst="rect">
                          <a:avLst/>
                        </a:prstGeom>
                        <a:noFill/>
                        <a:ln w="38100">
                          <a:noFill/>
                          <a:miter/>
                        </a:ln>
                      </p:spPr>
                    </p:pic>
                  </p:oleObj>
                </mc:Fallback>
              </mc:AlternateContent>
            </a:graphicData>
          </a:graphic>
        </p:graphicFrame>
      </p:grpSp>
      <p:sp>
        <p:nvSpPr>
          <p:cNvPr id="12" name="Rectangle 2"/>
          <p:cNvSpPr>
            <a:spLocks noChangeArrowheads="1"/>
          </p:cNvSpPr>
          <p:nvPr/>
        </p:nvSpPr>
        <p:spPr bwMode="auto">
          <a:xfrm>
            <a:off x="0" y="179388"/>
            <a:ext cx="9144000" cy="541338"/>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0" fontAlgn="base" latinLnBrk="0" hangingPunct="0">
              <a:lnSpc>
                <a:spcPct val="115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rPr>
              <a:t>§</a:t>
            </a:r>
            <a:r>
              <a:rPr kumimoji="0" lang="en-US" altLang="zh-CN" sz="32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 3.2 </a:t>
            </a:r>
            <a:r>
              <a:rPr kumimoji="0" lang="zh-CN" altLang="en-US" sz="32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酸碱理论</a:t>
            </a:r>
            <a:endParaRPr kumimoji="0" lang="zh-CN" altLang="en-US" sz="3200" b="1" i="0" u="none" strike="noStrike" kern="1200" cap="none" spc="0" normalizeH="0" baseline="0" noProof="0" dirty="0">
              <a:ln>
                <a:noFill/>
              </a:ln>
              <a:solidFill>
                <a:schemeClr val="bg1"/>
              </a:solidFill>
              <a:effectLst/>
              <a:uLnTx/>
              <a:uFillTx/>
              <a:latin typeface="Times New Roman" panose="02020603050405020304" pitchFamily="18" charset="0"/>
              <a:ea typeface="幼圆"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2"/>
                                        </p:tgtEl>
                                        <p:attrNameLst>
                                          <p:attrName>ppt_y</p:attrName>
                                        </p:attrNameLst>
                                      </p:cBhvr>
                                      <p:tavLst>
                                        <p:tav tm="0">
                                          <p:val>
                                            <p:strVal val="#ppt_y"/>
                                          </p:val>
                                        </p:tav>
                                        <p:tav tm="100000">
                                          <p:val>
                                            <p:strVal val="#ppt_y"/>
                                          </p:val>
                                        </p:tav>
                                      </p:tavLst>
                                    </p:anim>
                                    <p:anim calcmode="lin" valueType="num">
                                      <p:cBhvr>
                                        <p:cTn id="9"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36866"/>
                                        </p:tgtEl>
                                        <p:attrNameLst>
                                          <p:attrName>style.visibility</p:attrName>
                                        </p:attrNameLst>
                                      </p:cBhvr>
                                      <p:to>
                                        <p:strVal val="visible"/>
                                      </p:to>
                                    </p:set>
                                    <p:animEffect transition="in" filter="checkerboard(across)">
                                      <p:cBhvr>
                                        <p:cTn id="16" dur="500"/>
                                        <p:tgtEl>
                                          <p:spTgt spid="36866"/>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1755"/>
                                        </p:tgtEl>
                                        <p:attrNameLst>
                                          <p:attrName>style.visibility</p:attrName>
                                        </p:attrNameLst>
                                      </p:cBhvr>
                                      <p:to>
                                        <p:strVal val="visible"/>
                                      </p:to>
                                    </p:set>
                                    <p:animEffect transition="in" filter="box(in)">
                                      <p:cBhvr>
                                        <p:cTn id="21" dur="500"/>
                                        <p:tgtEl>
                                          <p:spTgt spid="31755"/>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31752"/>
                                        </p:tgtEl>
                                        <p:attrNameLst>
                                          <p:attrName>style.visibility</p:attrName>
                                        </p:attrNameLst>
                                      </p:cBhvr>
                                      <p:to>
                                        <p:strVal val="visible"/>
                                      </p:to>
                                    </p:set>
                                    <p:animEffect transition="in" filter="checkerboard(across)">
                                      <p:cBhvr>
                                        <p:cTn id="26" dur="500"/>
                                        <p:tgtEl>
                                          <p:spTgt spid="31752"/>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ox(in)">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nimBg="1"/>
      <p:bldP spid="31755" grpId="0"/>
      <p:bldP spid="3175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ext Box 13"/>
          <p:cNvSpPr txBox="1"/>
          <p:nvPr/>
        </p:nvSpPr>
        <p:spPr>
          <a:xfrm>
            <a:off x="200031" y="268292"/>
            <a:ext cx="8569325" cy="1092607"/>
          </a:xfrm>
          <a:prstGeom prst="rect">
            <a:avLst/>
          </a:prstGeom>
          <a:noFill/>
          <a:ln w="9525">
            <a:noFill/>
          </a:ln>
          <a:effectLst>
            <a:prstShdw prst="shdw17" dist="17961" dir="13499999">
              <a:srgbClr val="5C5C99"/>
            </a:prstShdw>
          </a:effectLst>
        </p:spPr>
        <p:txBody>
          <a:bodyPr anchor="t" anchorCtr="0">
            <a:spAutoFit/>
          </a:bodyPr>
          <a:lstStyle/>
          <a:p>
            <a:pPr>
              <a:lnSpc>
                <a:spcPct val="125000"/>
              </a:lnSpc>
              <a:buClrTx/>
              <a:buFontTx/>
            </a:pPr>
            <a:r>
              <a:rPr lang="zh-CN" altLang="en-US" dirty="0">
                <a:latin typeface="Times New Roman" panose="02020603050405020304" pitchFamily="18" charset="0"/>
                <a:ea typeface="幼圆" pitchFamily="49" charset="-122"/>
              </a:rPr>
              <a:t>       </a:t>
            </a:r>
            <a:r>
              <a:rPr lang="zh-CN" altLang="en-US" sz="2400" dirty="0">
                <a:latin typeface="Times New Roman" panose="02020603050405020304" pitchFamily="18" charset="0"/>
                <a:ea typeface="幼圆" pitchFamily="49" charset="-122"/>
              </a:rPr>
              <a:t>上式中，</a:t>
            </a:r>
            <a:r>
              <a:rPr lang="en-US" altLang="zh-CN" sz="2400" dirty="0">
                <a:latin typeface="Times New Roman" panose="02020603050405020304" pitchFamily="18" charset="0"/>
                <a:ea typeface="幼圆" pitchFamily="49" charset="-122"/>
              </a:rPr>
              <a:t>HAc</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NH</a:t>
            </a:r>
            <a:r>
              <a:rPr lang="en-US" altLang="zh-CN" sz="2400" baseline="-25000" dirty="0">
                <a:latin typeface="Times New Roman" panose="02020603050405020304" pitchFamily="18" charset="0"/>
                <a:ea typeface="幼圆" pitchFamily="49" charset="-122"/>
              </a:rPr>
              <a:t>4</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H</a:t>
            </a:r>
            <a:r>
              <a:rPr lang="en-US" altLang="zh-CN" sz="2400" baseline="-25000" dirty="0">
                <a:latin typeface="Times New Roman" panose="02020603050405020304" pitchFamily="18" charset="0"/>
                <a:ea typeface="幼圆" pitchFamily="49" charset="-122"/>
              </a:rPr>
              <a:t>2</a:t>
            </a:r>
            <a:r>
              <a:rPr lang="en-US" altLang="zh-CN" sz="2400" dirty="0">
                <a:latin typeface="Times New Roman" panose="02020603050405020304" pitchFamily="18" charset="0"/>
                <a:ea typeface="幼圆" pitchFamily="49" charset="-122"/>
              </a:rPr>
              <a:t>PO</a:t>
            </a:r>
            <a:r>
              <a:rPr lang="en-US" altLang="zh-CN" sz="2400" baseline="-25000" dirty="0">
                <a:latin typeface="Times New Roman" panose="02020603050405020304" pitchFamily="18" charset="0"/>
                <a:ea typeface="幼圆" pitchFamily="49" charset="-122"/>
              </a:rPr>
              <a:t>4</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都能给出质子，都是酸；</a:t>
            </a:r>
            <a:r>
              <a:rPr lang="en-US" altLang="zh-CN" sz="2400" dirty="0">
                <a:latin typeface="Times New Roman" panose="02020603050405020304" pitchFamily="18" charset="0"/>
                <a:ea typeface="幼圆" pitchFamily="49" charset="-122"/>
              </a:rPr>
              <a:t>Ac</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NH</a:t>
            </a:r>
            <a:r>
              <a:rPr lang="en-US" altLang="zh-CN" sz="2400" baseline="-25000" dirty="0">
                <a:latin typeface="Times New Roman" panose="02020603050405020304" pitchFamily="18" charset="0"/>
                <a:ea typeface="幼圆" pitchFamily="49" charset="-122"/>
              </a:rPr>
              <a:t>3</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HPO</a:t>
            </a:r>
            <a:r>
              <a:rPr lang="en-US" altLang="zh-CN" sz="2400" baseline="-25000" dirty="0">
                <a:latin typeface="Times New Roman" panose="02020603050405020304" pitchFamily="18" charset="0"/>
                <a:ea typeface="幼圆" pitchFamily="49" charset="-122"/>
              </a:rPr>
              <a:t>4</a:t>
            </a:r>
            <a:r>
              <a:rPr lang="en-US" altLang="zh-CN" sz="2400" baseline="30000" dirty="0">
                <a:latin typeface="Times New Roman" panose="02020603050405020304" pitchFamily="18" charset="0"/>
                <a:ea typeface="幼圆" pitchFamily="49" charset="-122"/>
              </a:rPr>
              <a:t>2-</a:t>
            </a:r>
            <a:r>
              <a:rPr lang="zh-CN" altLang="en-US" sz="2400" dirty="0">
                <a:latin typeface="Times New Roman" panose="02020603050405020304" pitchFamily="18" charset="0"/>
                <a:ea typeface="幼圆" pitchFamily="49" charset="-122"/>
              </a:rPr>
              <a:t>都能接受质子，都是碱。      </a:t>
            </a:r>
            <a:endParaRPr lang="zh-CN" altLang="en-US" b="0" dirty="0">
              <a:latin typeface="Times New Roman" panose="02020603050405020304" pitchFamily="18" charset="0"/>
              <a:ea typeface="幼圆" pitchFamily="49" charset="-122"/>
            </a:endParaRPr>
          </a:p>
        </p:txBody>
      </p:sp>
      <p:grpSp>
        <p:nvGrpSpPr>
          <p:cNvPr id="2" name="Group 25"/>
          <p:cNvGrpSpPr/>
          <p:nvPr/>
        </p:nvGrpSpPr>
        <p:grpSpPr bwMode="auto">
          <a:xfrm>
            <a:off x="2786063" y="3268266"/>
            <a:ext cx="3833814" cy="796528"/>
            <a:chOff x="1791" y="3067"/>
            <a:chExt cx="2415" cy="669"/>
          </a:xfrm>
          <a:solidFill>
            <a:srgbClr val="008000"/>
          </a:solidFill>
        </p:grpSpPr>
        <p:graphicFrame>
          <p:nvGraphicFramePr>
            <p:cNvPr id="10242" name="Object 19"/>
            <p:cNvGraphicFramePr>
              <a:graphicFrameLocks noChangeAspect="1"/>
            </p:cNvGraphicFramePr>
            <p:nvPr/>
          </p:nvGraphicFramePr>
          <p:xfrm>
            <a:off x="2653" y="3339"/>
            <a:ext cx="635" cy="99"/>
          </p:xfrm>
          <a:graphic>
            <a:graphicData uri="http://schemas.openxmlformats.org/presentationml/2006/ole">
              <mc:AlternateContent xmlns:mc="http://schemas.openxmlformats.org/markup-compatibility/2006">
                <mc:Choice xmlns:v="urn:schemas-microsoft-com:vml" Requires="v">
                  <p:oleObj r:id="rId2" imgW="676275" imgH="171450" progId="Equation.3">
                    <p:embed/>
                  </p:oleObj>
                </mc:Choice>
                <mc:Fallback>
                  <p:oleObj r:id="rId2" imgW="676275" imgH="171450" progId="Equation.3">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3" y="3339"/>
                          <a:ext cx="635"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0247" name="Group 24"/>
            <p:cNvGrpSpPr/>
            <p:nvPr/>
          </p:nvGrpSpPr>
          <p:grpSpPr bwMode="auto">
            <a:xfrm>
              <a:off x="1791" y="3067"/>
              <a:ext cx="2415" cy="669"/>
              <a:chOff x="1565" y="2432"/>
              <a:chExt cx="2415" cy="669"/>
            </a:xfrm>
            <a:grpFill/>
          </p:grpSpPr>
          <p:pic>
            <p:nvPicPr>
              <p:cNvPr id="10248"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0" y="2432"/>
                <a:ext cx="2178" cy="13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0249" name="Group 23"/>
              <p:cNvGrpSpPr/>
              <p:nvPr/>
            </p:nvGrpSpPr>
            <p:grpSpPr bwMode="auto">
              <a:xfrm>
                <a:off x="1565" y="2614"/>
                <a:ext cx="2415" cy="487"/>
                <a:chOff x="1565" y="2614"/>
                <a:chExt cx="2415" cy="487"/>
              </a:xfrm>
              <a:grpFill/>
            </p:grpSpPr>
            <p:pic>
              <p:nvPicPr>
                <p:cNvPr id="10250"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0" y="2931"/>
                  <a:ext cx="1089" cy="17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251" name="Rectangle 22"/>
                <p:cNvSpPr>
                  <a:spLocks noChangeArrowheads="1"/>
                </p:cNvSpPr>
                <p:nvPr/>
              </p:nvSpPr>
              <p:spPr bwMode="auto">
                <a:xfrm>
                  <a:off x="1565" y="2614"/>
                  <a:ext cx="2415" cy="4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ts val="31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lumMod val="95000"/>
                        </a:schemeClr>
                      </a:solidFill>
                      <a:effectLst/>
                      <a:uLnTx/>
                      <a:uFillTx/>
                      <a:latin typeface="Times New Roman" panose="02020603050405020304" pitchFamily="18" charset="0"/>
                      <a:ea typeface="幼圆" pitchFamily="49" charset="-122"/>
                      <a:cs typeface="+mn-cs"/>
                    </a:rPr>
                    <a:t>酸</a:t>
                  </a:r>
                  <a:r>
                    <a:rPr kumimoji="0" lang="en-US" altLang="zh-CN" sz="2800" b="1" i="0" u="none" strike="noStrike" kern="1200" cap="none" spc="0" normalizeH="0" baseline="0" noProof="0" dirty="0">
                      <a:ln>
                        <a:noFill/>
                      </a:ln>
                      <a:solidFill>
                        <a:schemeClr val="bg1">
                          <a:lumMod val="95000"/>
                        </a:schemeClr>
                      </a:solidFill>
                      <a:effectLst/>
                      <a:uLnTx/>
                      <a:uFillTx/>
                      <a:latin typeface="Times New Roman" panose="02020603050405020304" pitchFamily="18" charset="0"/>
                      <a:ea typeface="幼圆" pitchFamily="49" charset="-122"/>
                      <a:cs typeface="+mn-cs"/>
                    </a:rPr>
                    <a:t>1+</a:t>
                  </a:r>
                  <a:r>
                    <a:rPr kumimoji="0" lang="zh-CN" altLang="en-US" sz="2800" b="1" i="0" u="none" strike="noStrike" kern="1200" cap="none" spc="0" normalizeH="0" baseline="0" noProof="0" dirty="0">
                      <a:ln>
                        <a:noFill/>
                      </a:ln>
                      <a:solidFill>
                        <a:schemeClr val="bg1">
                          <a:lumMod val="95000"/>
                        </a:schemeClr>
                      </a:solidFill>
                      <a:effectLst/>
                      <a:uLnTx/>
                      <a:uFillTx/>
                      <a:latin typeface="Times New Roman" panose="02020603050405020304" pitchFamily="18" charset="0"/>
                      <a:ea typeface="幼圆" pitchFamily="49" charset="-122"/>
                      <a:cs typeface="+mn-cs"/>
                    </a:rPr>
                    <a:t>碱</a:t>
                  </a:r>
                  <a:r>
                    <a:rPr kumimoji="0" lang="en-US" altLang="zh-CN" sz="2800" b="1" i="0" u="none" strike="noStrike" kern="1200" cap="none" spc="0" normalizeH="0" baseline="0" noProof="0" dirty="0">
                      <a:ln>
                        <a:noFill/>
                      </a:ln>
                      <a:solidFill>
                        <a:schemeClr val="bg1">
                          <a:lumMod val="95000"/>
                        </a:schemeClr>
                      </a:solidFill>
                      <a:effectLst/>
                      <a:uLnTx/>
                      <a:uFillTx/>
                      <a:latin typeface="Times New Roman" panose="02020603050405020304" pitchFamily="18" charset="0"/>
                      <a:ea typeface="幼圆" pitchFamily="49" charset="-122"/>
                      <a:cs typeface="+mn-cs"/>
                    </a:rPr>
                    <a:t>2            </a:t>
                  </a:r>
                  <a:r>
                    <a:rPr kumimoji="0" lang="zh-CN" altLang="en-US" sz="2800" b="1" i="0" u="none" strike="noStrike" kern="1200" cap="none" spc="0" normalizeH="0" baseline="0" noProof="0" dirty="0">
                      <a:ln>
                        <a:noFill/>
                      </a:ln>
                      <a:solidFill>
                        <a:schemeClr val="bg1">
                          <a:lumMod val="95000"/>
                        </a:schemeClr>
                      </a:solidFill>
                      <a:effectLst/>
                      <a:uLnTx/>
                      <a:uFillTx/>
                      <a:latin typeface="Times New Roman" panose="02020603050405020304" pitchFamily="18" charset="0"/>
                      <a:ea typeface="幼圆" pitchFamily="49" charset="-122"/>
                      <a:cs typeface="+mn-cs"/>
                    </a:rPr>
                    <a:t>酸</a:t>
                  </a:r>
                  <a:r>
                    <a:rPr kumimoji="0" lang="en-US" altLang="zh-CN" sz="2800" b="1" i="0" u="none" strike="noStrike" kern="1200" cap="none" spc="0" normalizeH="0" baseline="0" noProof="0" dirty="0">
                      <a:ln>
                        <a:noFill/>
                      </a:ln>
                      <a:solidFill>
                        <a:schemeClr val="bg1">
                          <a:lumMod val="95000"/>
                        </a:schemeClr>
                      </a:solidFill>
                      <a:effectLst/>
                      <a:uLnTx/>
                      <a:uFillTx/>
                      <a:latin typeface="Times New Roman" panose="02020603050405020304" pitchFamily="18" charset="0"/>
                      <a:ea typeface="幼圆" pitchFamily="49" charset="-122"/>
                      <a:cs typeface="+mn-cs"/>
                    </a:rPr>
                    <a:t>2+</a:t>
                  </a:r>
                  <a:r>
                    <a:rPr kumimoji="0" lang="zh-CN" altLang="en-US" sz="2800" b="1" i="0" u="none" strike="noStrike" kern="1200" cap="none" spc="0" normalizeH="0" baseline="0" noProof="0" dirty="0">
                      <a:ln>
                        <a:noFill/>
                      </a:ln>
                      <a:solidFill>
                        <a:schemeClr val="bg1">
                          <a:lumMod val="95000"/>
                        </a:schemeClr>
                      </a:solidFill>
                      <a:effectLst/>
                      <a:uLnTx/>
                      <a:uFillTx/>
                      <a:latin typeface="Times New Roman" panose="02020603050405020304" pitchFamily="18" charset="0"/>
                      <a:ea typeface="幼圆" pitchFamily="49" charset="-122"/>
                      <a:cs typeface="+mn-cs"/>
                    </a:rPr>
                    <a:t>碱</a:t>
                  </a:r>
                  <a:r>
                    <a:rPr kumimoji="0" lang="en-US" altLang="zh-CN" sz="2800" b="1" i="0" u="none" strike="noStrike" kern="1200" cap="none" spc="0" normalizeH="0" baseline="0" noProof="0" dirty="0">
                      <a:ln>
                        <a:noFill/>
                      </a:ln>
                      <a:solidFill>
                        <a:schemeClr val="bg1">
                          <a:lumMod val="95000"/>
                        </a:schemeClr>
                      </a:solidFill>
                      <a:effectLst/>
                      <a:uLnTx/>
                      <a:uFillTx/>
                      <a:latin typeface="Times New Roman" panose="02020603050405020304" pitchFamily="18" charset="0"/>
                      <a:ea typeface="幼圆" pitchFamily="49" charset="-122"/>
                      <a:cs typeface="+mn-cs"/>
                    </a:rPr>
                    <a:t>1</a:t>
                  </a:r>
                </a:p>
              </p:txBody>
            </p:sp>
          </p:grpSp>
        </p:grpSp>
      </p:grpSp>
      <p:sp>
        <p:nvSpPr>
          <p:cNvPr id="29722" name="Text Box 26"/>
          <p:cNvSpPr txBox="1"/>
          <p:nvPr/>
        </p:nvSpPr>
        <p:spPr>
          <a:xfrm>
            <a:off x="285756" y="1284288"/>
            <a:ext cx="8424863" cy="2015936"/>
          </a:xfrm>
          <a:prstGeom prst="rect">
            <a:avLst/>
          </a:prstGeom>
          <a:noFill/>
          <a:ln w="9525">
            <a:noFill/>
          </a:ln>
          <a:effectLst>
            <a:prstShdw prst="shdw17" dist="17961" dir="13499999">
              <a:srgbClr val="5C5C99"/>
            </a:prstShdw>
          </a:effectLst>
        </p:spPr>
        <p:txBody>
          <a:bodyPr anchor="t" anchorCtr="0">
            <a:spAutoFit/>
          </a:bodyPr>
          <a:lstStyle/>
          <a:p>
            <a:pPr>
              <a:lnSpc>
                <a:spcPct val="125000"/>
              </a:lnSpc>
              <a:buClrTx/>
              <a:buFontTx/>
            </a:pPr>
            <a:r>
              <a:rPr lang="zh-CN" altLang="en-US" dirty="0">
                <a:latin typeface="Times New Roman" panose="02020603050405020304" pitchFamily="18" charset="0"/>
                <a:ea typeface="幼圆" pitchFamily="49" charset="-122"/>
              </a:rPr>
              <a:t>       </a:t>
            </a:r>
            <a:r>
              <a:rPr lang="zh-CN" altLang="en-US" sz="2400" dirty="0">
                <a:latin typeface="Times New Roman" panose="02020603050405020304" pitchFamily="18" charset="0"/>
                <a:ea typeface="幼圆" pitchFamily="49" charset="-122"/>
              </a:rPr>
              <a:t>酸和碱相互依存、互相转化的关系称为</a:t>
            </a:r>
            <a:r>
              <a:rPr lang="zh-CN" altLang="en-US" sz="2400" dirty="0">
                <a:solidFill>
                  <a:srgbClr val="FF0066"/>
                </a:solidFill>
                <a:latin typeface="Times New Roman" panose="02020603050405020304" pitchFamily="18" charset="0"/>
                <a:ea typeface="幼圆" pitchFamily="49" charset="-122"/>
              </a:rPr>
              <a:t>酸碱共轭</a:t>
            </a:r>
            <a:r>
              <a:rPr lang="zh-CN" altLang="en-US" sz="2400" dirty="0">
                <a:solidFill>
                  <a:srgbClr val="9900CC"/>
                </a:solidFill>
                <a:latin typeface="Times New Roman" panose="02020603050405020304" pitchFamily="18" charset="0"/>
                <a:ea typeface="幼圆" pitchFamily="49" charset="-122"/>
              </a:rPr>
              <a:t>关系</a:t>
            </a:r>
            <a:r>
              <a:rPr lang="zh-CN" altLang="en-US" sz="2400" dirty="0">
                <a:latin typeface="Times New Roman" panose="02020603050405020304" pitchFamily="18" charset="0"/>
                <a:ea typeface="幼圆" pitchFamily="49" charset="-122"/>
              </a:rPr>
              <a:t>，酸（或碱）与跟它共轭的碱（或酸）一起被称为</a:t>
            </a:r>
            <a:r>
              <a:rPr lang="zh-CN" altLang="en-US" sz="2400" dirty="0">
                <a:solidFill>
                  <a:srgbClr val="FF0066"/>
                </a:solidFill>
                <a:latin typeface="Times New Roman" panose="02020603050405020304" pitchFamily="18" charset="0"/>
                <a:ea typeface="幼圆" pitchFamily="49" charset="-122"/>
              </a:rPr>
              <a:t>共轭酸碱对</a:t>
            </a:r>
            <a:r>
              <a:rPr lang="en-US" altLang="zh-CN" sz="2400" dirty="0">
                <a:latin typeface="Times New Roman" panose="02020603050405020304" pitchFamily="18" charset="0"/>
                <a:ea typeface="幼圆" pitchFamily="49" charset="-122"/>
              </a:rPr>
              <a:t>, HAc-Ac</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NH</a:t>
            </a:r>
            <a:r>
              <a:rPr lang="en-US" altLang="zh-CN" sz="2400" baseline="-25000" dirty="0">
                <a:latin typeface="Times New Roman" panose="02020603050405020304" pitchFamily="18" charset="0"/>
                <a:ea typeface="幼圆" pitchFamily="49" charset="-122"/>
              </a:rPr>
              <a:t>4</a:t>
            </a:r>
            <a:r>
              <a:rPr lang="en-US" altLang="zh-CN" sz="2400" baseline="30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-NH</a:t>
            </a:r>
            <a:r>
              <a:rPr lang="en-US" altLang="zh-CN" sz="2400" baseline="-25000" dirty="0">
                <a:latin typeface="Times New Roman" panose="02020603050405020304" pitchFamily="18" charset="0"/>
                <a:ea typeface="幼圆" pitchFamily="49" charset="-122"/>
              </a:rPr>
              <a:t>3</a:t>
            </a:r>
            <a:r>
              <a:rPr lang="zh-CN" altLang="en-US" sz="2400" dirty="0">
                <a:latin typeface="Times New Roman" panose="02020603050405020304" pitchFamily="18" charset="0"/>
                <a:ea typeface="幼圆" pitchFamily="49" charset="-122"/>
              </a:rPr>
              <a:t>都互称为共轭酸碱对。酸及其共轭碱之间的相互关系可用下式表示</a:t>
            </a:r>
            <a:r>
              <a:rPr lang="zh-CN" altLang="en-US" sz="2400" b="0" dirty="0">
                <a:latin typeface="Times New Roman" panose="02020603050405020304" pitchFamily="18" charset="0"/>
                <a:ea typeface="幼圆" pitchFamily="49" charset="-122"/>
              </a:rPr>
              <a:t>  </a:t>
            </a:r>
          </a:p>
        </p:txBody>
      </p:sp>
      <p:sp>
        <p:nvSpPr>
          <p:cNvPr id="29723" name="Text Box 27"/>
          <p:cNvSpPr txBox="1"/>
          <p:nvPr/>
        </p:nvSpPr>
        <p:spPr>
          <a:xfrm>
            <a:off x="285756" y="4179890"/>
            <a:ext cx="8424863" cy="892552"/>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b="0" dirty="0">
                <a:latin typeface="Times New Roman" panose="02020603050405020304" pitchFamily="18" charset="0"/>
                <a:ea typeface="幼圆" pitchFamily="49" charset="-122"/>
              </a:rPr>
              <a:t>     </a:t>
            </a:r>
            <a:r>
              <a:rPr lang="zh-CN" altLang="en-US" sz="2400" dirty="0">
                <a:latin typeface="Times New Roman" panose="02020603050405020304" pitchFamily="18" charset="0"/>
                <a:ea typeface="幼圆" pitchFamily="49" charset="-122"/>
              </a:rPr>
              <a:t>使酸碱的适用范围扩展到非水体系，但对于不含质子的物质，如</a:t>
            </a:r>
            <a:r>
              <a:rPr lang="en-US" altLang="zh-CN" sz="2400" dirty="0">
                <a:latin typeface="Times New Roman" panose="02020603050405020304" pitchFamily="18" charset="0"/>
                <a:ea typeface="幼圆" pitchFamily="49" charset="-122"/>
              </a:rPr>
              <a:t>SO</a:t>
            </a:r>
            <a:r>
              <a:rPr lang="en-US" altLang="zh-CN" sz="2400" baseline="-25000" dirty="0">
                <a:latin typeface="Times New Roman" panose="02020603050405020304" pitchFamily="18" charset="0"/>
                <a:ea typeface="幼圆" pitchFamily="49" charset="-122"/>
              </a:rPr>
              <a:t>3</a:t>
            </a:r>
            <a:r>
              <a:rPr lang="zh-CN" altLang="en-US" sz="2400" baseline="-25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CaO</a:t>
            </a:r>
            <a:r>
              <a:rPr lang="zh-CN" altLang="en-US" sz="2400" dirty="0">
                <a:latin typeface="Times New Roman" panose="02020603050405020304" pitchFamily="18" charset="0"/>
                <a:ea typeface="幼圆" pitchFamily="49" charset="-122"/>
              </a:rPr>
              <a:t>等参加的反应无法解释。</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722"/>
                                        </p:tgtEl>
                                        <p:attrNameLst>
                                          <p:attrName>style.visibility</p:attrName>
                                        </p:attrNameLst>
                                      </p:cBhvr>
                                      <p:to>
                                        <p:strVal val="visible"/>
                                      </p:to>
                                    </p:set>
                                    <p:animEffect transition="in" filter="checkerboard(across)">
                                      <p:cBhvr>
                                        <p:cTn id="7" dur="500"/>
                                        <p:tgtEl>
                                          <p:spTgt spid="29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723"/>
                                        </p:tgtEl>
                                        <p:attrNameLst>
                                          <p:attrName>style.visibility</p:attrName>
                                        </p:attrNameLst>
                                      </p:cBhvr>
                                      <p:to>
                                        <p:strVal val="visible"/>
                                      </p:to>
                                    </p:set>
                                    <p:animEffect transition="in" filter="wipe(left)">
                                      <p:cBhvr>
                                        <p:cTn id="17" dur="500"/>
                                        <p:tgtEl>
                                          <p:spTgt spid="29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2" grpId="0"/>
      <p:bldP spid="2972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3" name="Text Box 5"/>
          <p:cNvSpPr txBox="1"/>
          <p:nvPr/>
        </p:nvSpPr>
        <p:spPr>
          <a:xfrm>
            <a:off x="485775" y="1262415"/>
            <a:ext cx="7886700" cy="2462213"/>
          </a:xfrm>
          <a:prstGeom prst="rect">
            <a:avLst/>
          </a:prstGeom>
          <a:noFill/>
          <a:ln w="9525">
            <a:noFill/>
          </a:ln>
          <a:effectLst>
            <a:prstShdw prst="shdw17" dist="17961" dir="13499999">
              <a:srgbClr val="5C5C99"/>
            </a:prstShdw>
          </a:effectLst>
        </p:spPr>
        <p:txBody>
          <a:bodyPr wrap="square" anchor="t" anchorCtr="0">
            <a:spAutoFit/>
          </a:bodyPr>
          <a:lstStyle/>
          <a:p>
            <a:pPr>
              <a:spcBef>
                <a:spcPct val="50000"/>
              </a:spcBef>
              <a:buClrTx/>
              <a:buFontTx/>
            </a:pPr>
            <a:r>
              <a:rPr lang="zh-CN" altLang="en-US" dirty="0">
                <a:solidFill>
                  <a:srgbClr val="0000FF"/>
                </a:solidFill>
                <a:latin typeface="Times New Roman" panose="02020603050405020304" pitchFamily="18" charset="0"/>
                <a:ea typeface="幼圆" pitchFamily="49" charset="-122"/>
              </a:rPr>
              <a:t>酸：</a:t>
            </a:r>
            <a:r>
              <a:rPr lang="zh-CN" altLang="en-US" dirty="0">
                <a:latin typeface="Times New Roman" panose="02020603050405020304" pitchFamily="18" charset="0"/>
                <a:ea typeface="幼圆" pitchFamily="49" charset="-122"/>
              </a:rPr>
              <a:t>可接受孤对电子的分子或离子称为，</a:t>
            </a:r>
            <a:endParaRPr lang="en-US" altLang="zh-CN" dirty="0">
              <a:latin typeface="Times New Roman" panose="02020603050405020304" pitchFamily="18" charset="0"/>
              <a:ea typeface="幼圆" pitchFamily="49" charset="-122"/>
            </a:endParaRPr>
          </a:p>
          <a:p>
            <a:pPr>
              <a:spcBef>
                <a:spcPct val="50000"/>
              </a:spcBef>
              <a:buClrTx/>
              <a:buFontTx/>
            </a:pPr>
            <a:r>
              <a:rPr lang="en-US" altLang="zh-CN" dirty="0"/>
              <a:t>        </a:t>
            </a:r>
            <a:r>
              <a:rPr lang="zh-CN" altLang="en-US" dirty="0">
                <a:latin typeface="Times New Roman" panose="02020603050405020304" pitchFamily="18" charset="0"/>
                <a:ea typeface="幼圆" pitchFamily="49" charset="-122"/>
              </a:rPr>
              <a:t>如</a:t>
            </a:r>
            <a:r>
              <a:rPr lang="en-US" altLang="zh-CN" dirty="0" err="1">
                <a:latin typeface="Times New Roman" panose="02020603050405020304" pitchFamily="18" charset="0"/>
                <a:ea typeface="幼圆" pitchFamily="49" charset="-122"/>
              </a:rPr>
              <a:t>HCl</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SO</a:t>
            </a:r>
            <a:r>
              <a:rPr lang="en-US" altLang="zh-CN" baseline="-25000" dirty="0">
                <a:latin typeface="Times New Roman" panose="02020603050405020304" pitchFamily="18" charset="0"/>
                <a:ea typeface="幼圆" pitchFamily="49" charset="-122"/>
              </a:rPr>
              <a:t>3</a:t>
            </a:r>
            <a:r>
              <a:rPr lang="zh-CN" altLang="en-US" dirty="0">
                <a:latin typeface="Times New Roman" panose="02020603050405020304" pitchFamily="18" charset="0"/>
                <a:ea typeface="幼圆" pitchFamily="49" charset="-122"/>
              </a:rPr>
              <a:t>。</a:t>
            </a:r>
            <a:endParaRPr lang="en-US" altLang="zh-CN" dirty="0">
              <a:latin typeface="Times New Roman" panose="02020603050405020304" pitchFamily="18" charset="0"/>
              <a:ea typeface="幼圆" pitchFamily="49" charset="-122"/>
            </a:endParaRPr>
          </a:p>
          <a:p>
            <a:pPr>
              <a:spcBef>
                <a:spcPct val="50000"/>
              </a:spcBef>
              <a:buClrTx/>
              <a:buFontTx/>
            </a:pPr>
            <a:r>
              <a:rPr lang="zh-CN" altLang="en-US" dirty="0">
                <a:solidFill>
                  <a:srgbClr val="0000FF"/>
                </a:solidFill>
                <a:latin typeface="Times New Roman" panose="02020603050405020304" pitchFamily="18" charset="0"/>
                <a:ea typeface="幼圆" pitchFamily="49" charset="-122"/>
              </a:rPr>
              <a:t>碱：</a:t>
            </a:r>
            <a:r>
              <a:rPr lang="zh-CN" altLang="en-US" dirty="0">
                <a:latin typeface="Times New Roman" panose="02020603050405020304" pitchFamily="18" charset="0"/>
                <a:ea typeface="幼圆" pitchFamily="49" charset="-122"/>
              </a:rPr>
              <a:t>可给出孤对电子的分子或离子称为，</a:t>
            </a:r>
            <a:endParaRPr lang="en-US" altLang="zh-CN" dirty="0">
              <a:latin typeface="Times New Roman" panose="02020603050405020304" pitchFamily="18" charset="0"/>
              <a:ea typeface="幼圆" pitchFamily="49" charset="-122"/>
            </a:endParaRPr>
          </a:p>
          <a:p>
            <a:pPr>
              <a:spcBef>
                <a:spcPct val="50000"/>
              </a:spcBef>
              <a:buClrTx/>
              <a:buFontTx/>
            </a:pPr>
            <a:r>
              <a:rPr lang="en-US" altLang="zh-CN" dirty="0"/>
              <a:t>         </a:t>
            </a:r>
            <a:r>
              <a:rPr lang="zh-CN" altLang="en-US" dirty="0">
                <a:latin typeface="Times New Roman" panose="02020603050405020304" pitchFamily="18" charset="0"/>
                <a:ea typeface="幼圆" pitchFamily="49" charset="-122"/>
              </a:rPr>
              <a:t>如</a:t>
            </a:r>
            <a:r>
              <a:rPr lang="en-US" altLang="zh-CN" dirty="0">
                <a:latin typeface="Times New Roman" panose="02020603050405020304" pitchFamily="18" charset="0"/>
                <a:ea typeface="幼圆" pitchFamily="49" charset="-122"/>
              </a:rPr>
              <a:t>NH</a:t>
            </a:r>
            <a:r>
              <a:rPr lang="en-US" altLang="zh-CN" baseline="-25000" dirty="0">
                <a:latin typeface="Times New Roman" panose="02020603050405020304" pitchFamily="18" charset="0"/>
                <a:ea typeface="幼圆" pitchFamily="49" charset="-122"/>
              </a:rPr>
              <a:t>3</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CaO</a:t>
            </a:r>
            <a:r>
              <a:rPr lang="zh-CN" altLang="en-US" dirty="0">
                <a:latin typeface="Times New Roman" panose="02020603050405020304" pitchFamily="18" charset="0"/>
                <a:ea typeface="幼圆" pitchFamily="49" charset="-122"/>
              </a:rPr>
              <a:t>。 </a:t>
            </a:r>
          </a:p>
        </p:txBody>
      </p:sp>
      <p:sp>
        <p:nvSpPr>
          <p:cNvPr id="4" name="Text Box 6"/>
          <p:cNvSpPr txBox="1"/>
          <p:nvPr/>
        </p:nvSpPr>
        <p:spPr>
          <a:xfrm>
            <a:off x="142875" y="534991"/>
            <a:ext cx="4286250" cy="584775"/>
          </a:xfrm>
          <a:prstGeom prst="rect">
            <a:avLst/>
          </a:prstGeom>
          <a:solidFill>
            <a:srgbClr val="CC99FF"/>
          </a:solidFill>
          <a:ln w="3175">
            <a:noFill/>
          </a:ln>
          <a:effectLst>
            <a:prstShdw prst="shdw17" dist="17961" dir="13499999">
              <a:srgbClr val="999999"/>
            </a:prstShdw>
          </a:effectLst>
        </p:spPr>
        <p:txBody>
          <a:bodyPr anchor="t" anchorCtr="0">
            <a:spAutoFit/>
          </a:bodyPr>
          <a:lstStyle/>
          <a:p>
            <a:pPr>
              <a:spcBef>
                <a:spcPct val="50000"/>
              </a:spcBef>
              <a:buClrTx/>
              <a:buFontTx/>
            </a:pPr>
            <a:r>
              <a:rPr lang="en-US" altLang="zh-CN" sz="3200" dirty="0">
                <a:solidFill>
                  <a:srgbClr val="003300"/>
                </a:solidFill>
                <a:latin typeface="华文新魏" pitchFamily="2" charset="-122"/>
                <a:ea typeface="华文新魏" pitchFamily="2" charset="-122"/>
              </a:rPr>
              <a:t>3.2.3 </a:t>
            </a:r>
            <a:r>
              <a:rPr lang="zh-CN" altLang="en-US" sz="3200" dirty="0">
                <a:solidFill>
                  <a:srgbClr val="003300"/>
                </a:solidFill>
                <a:latin typeface="华文新魏" pitchFamily="2" charset="-122"/>
                <a:ea typeface="华文新魏" pitchFamily="2" charset="-122"/>
              </a:rPr>
              <a:t>酸碱电子理论</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1013">
                                            <p:txEl>
                                              <p:pRg st="0" end="0"/>
                                            </p:txEl>
                                          </p:spTgt>
                                        </p:tgtEl>
                                        <p:attrNameLst>
                                          <p:attrName>style.visibility</p:attrName>
                                        </p:attrNameLst>
                                      </p:cBhvr>
                                      <p:to>
                                        <p:strVal val="visible"/>
                                      </p:to>
                                    </p:set>
                                    <p:animEffect transition="in" filter="wipe(left)">
                                      <p:cBhvr>
                                        <p:cTn id="7" dur="500"/>
                                        <p:tgtEl>
                                          <p:spTgt spid="1710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1013">
                                            <p:txEl>
                                              <p:pRg st="1" end="1"/>
                                            </p:txEl>
                                          </p:spTgt>
                                        </p:tgtEl>
                                        <p:attrNameLst>
                                          <p:attrName>style.visibility</p:attrName>
                                        </p:attrNameLst>
                                      </p:cBhvr>
                                      <p:to>
                                        <p:strVal val="visible"/>
                                      </p:to>
                                    </p:set>
                                    <p:animEffect transition="in" filter="wipe(left)">
                                      <p:cBhvr>
                                        <p:cTn id="12" dur="500"/>
                                        <p:tgtEl>
                                          <p:spTgt spid="1710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1013">
                                            <p:txEl>
                                              <p:pRg st="2" end="2"/>
                                            </p:txEl>
                                          </p:spTgt>
                                        </p:tgtEl>
                                        <p:attrNameLst>
                                          <p:attrName>style.visibility</p:attrName>
                                        </p:attrNameLst>
                                      </p:cBhvr>
                                      <p:to>
                                        <p:strVal val="visible"/>
                                      </p:to>
                                    </p:set>
                                    <p:animEffect transition="in" filter="wipe(left)">
                                      <p:cBhvr>
                                        <p:cTn id="17" dur="500"/>
                                        <p:tgtEl>
                                          <p:spTgt spid="1710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1013">
                                            <p:txEl>
                                              <p:pRg st="3" end="3"/>
                                            </p:txEl>
                                          </p:spTgt>
                                        </p:tgtEl>
                                        <p:attrNameLst>
                                          <p:attrName>style.visibility</p:attrName>
                                        </p:attrNameLst>
                                      </p:cBhvr>
                                      <p:to>
                                        <p:strVal val="visible"/>
                                      </p:to>
                                    </p:set>
                                    <p:animEffect transition="in" filter="wipe(left)">
                                      <p:cBhvr>
                                        <p:cTn id="22" dur="500"/>
                                        <p:tgtEl>
                                          <p:spTgt spid="1710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1" name="Rectangle 27"/>
          <p:cNvSpPr/>
          <p:nvPr/>
        </p:nvSpPr>
        <p:spPr>
          <a:xfrm>
            <a:off x="0" y="963614"/>
            <a:ext cx="6427788" cy="523220"/>
          </a:xfrm>
          <a:prstGeom prst="rect">
            <a:avLst/>
          </a:prstGeom>
          <a:solidFill>
            <a:srgbClr val="FFFF00">
              <a:alpha val="69019"/>
            </a:srgbClr>
          </a:solidFill>
          <a:ln w="9525">
            <a:noFill/>
          </a:ln>
        </p:spPr>
        <p:txBody>
          <a:bodyPr anchor="t" anchorCtr="0">
            <a:spAutoFit/>
          </a:bodyPr>
          <a:lstStyle/>
          <a:p>
            <a:pPr>
              <a:spcBef>
                <a:spcPts val="600"/>
              </a:spcBef>
              <a:spcAft>
                <a:spcPts val="600"/>
              </a:spcAft>
              <a:buClr>
                <a:schemeClr val="bg2"/>
              </a:buClr>
              <a:buSzPct val="75000"/>
              <a:buFont typeface="Wingdings" panose="05000000000000000000" pitchFamily="2" charset="2"/>
            </a:pPr>
            <a:r>
              <a:rPr lang="en-US" altLang="zh-CN" dirty="0">
                <a:latin typeface="华文新魏" pitchFamily="2" charset="-122"/>
                <a:ea typeface="华文新魏" pitchFamily="2" charset="-122"/>
              </a:rPr>
              <a:t>3.3.1 </a:t>
            </a:r>
            <a:r>
              <a:rPr lang="zh-CN" altLang="en-US" dirty="0">
                <a:latin typeface="华文新魏" pitchFamily="2" charset="-122"/>
                <a:ea typeface="华文新魏" pitchFamily="2" charset="-122"/>
              </a:rPr>
              <a:t>水的解离平衡和溶液的酸碱性</a:t>
            </a:r>
            <a:endParaRPr lang="en-US" altLang="zh-CN" baseline="-25000" dirty="0">
              <a:latin typeface="华文新魏" pitchFamily="2" charset="-122"/>
              <a:ea typeface="华文新魏" pitchFamily="2" charset="-122"/>
            </a:endParaRPr>
          </a:p>
        </p:txBody>
      </p:sp>
      <p:graphicFrame>
        <p:nvGraphicFramePr>
          <p:cNvPr id="32786" name="Object 18"/>
          <p:cNvGraphicFramePr>
            <a:graphicFrameLocks noChangeAspect="1"/>
          </p:cNvGraphicFramePr>
          <p:nvPr/>
        </p:nvGraphicFramePr>
        <p:xfrm>
          <a:off x="2843213" y="2930526"/>
          <a:ext cx="3097212" cy="584200"/>
        </p:xfrm>
        <a:graphic>
          <a:graphicData uri="http://schemas.openxmlformats.org/presentationml/2006/ole">
            <mc:AlternateContent xmlns:mc="http://schemas.openxmlformats.org/markup-compatibility/2006">
              <mc:Choice xmlns:v="urn:schemas-microsoft-com:vml" Requires="v">
                <p:oleObj r:id="rId2" imgW="1842135" imgH="457200" progId="Equation.DSMT4">
                  <p:embed/>
                </p:oleObj>
              </mc:Choice>
              <mc:Fallback>
                <p:oleObj r:id="rId2" imgW="1842135" imgH="457200" progId="Equation.DSMT4">
                  <p:embed/>
                  <p:pic>
                    <p:nvPicPr>
                      <p:cNvPr id="0" name="图片 3095"/>
                      <p:cNvPicPr/>
                      <p:nvPr/>
                    </p:nvPicPr>
                    <p:blipFill>
                      <a:blip r:embed="rId3"/>
                      <a:stretch>
                        <a:fillRect/>
                      </a:stretch>
                    </p:blipFill>
                    <p:spPr>
                      <a:xfrm>
                        <a:off x="2843213" y="2930526"/>
                        <a:ext cx="3097212" cy="584200"/>
                      </a:xfrm>
                      <a:prstGeom prst="rect">
                        <a:avLst/>
                      </a:prstGeom>
                      <a:noFill/>
                      <a:ln w="38100">
                        <a:noFill/>
                        <a:miter/>
                      </a:ln>
                    </p:spPr>
                  </p:pic>
                </p:oleObj>
              </mc:Fallback>
            </mc:AlternateContent>
          </a:graphicData>
        </a:graphic>
      </p:graphicFrame>
      <p:grpSp>
        <p:nvGrpSpPr>
          <p:cNvPr id="2" name="Group 66"/>
          <p:cNvGrpSpPr/>
          <p:nvPr/>
        </p:nvGrpSpPr>
        <p:grpSpPr>
          <a:xfrm>
            <a:off x="395288" y="2119317"/>
            <a:ext cx="8424862" cy="812403"/>
            <a:chOff x="249" y="1344"/>
            <a:chExt cx="5307" cy="683"/>
          </a:xfrm>
        </p:grpSpPr>
        <p:sp>
          <p:nvSpPr>
            <p:cNvPr id="39940" name="Text Box 21"/>
            <p:cNvSpPr txBox="1"/>
            <p:nvPr/>
          </p:nvSpPr>
          <p:spPr>
            <a:xfrm>
              <a:off x="249" y="1344"/>
              <a:ext cx="5307" cy="683"/>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      纯水或稀溶液中    </a:t>
              </a:r>
              <a:endParaRPr lang="zh-CN" altLang="en-US" sz="2400" b="0" dirty="0">
                <a:latin typeface="Times New Roman" panose="02020603050405020304" pitchFamily="18" charset="0"/>
                <a:ea typeface="ˎ̥"/>
              </a:endParaRPr>
            </a:p>
            <a:p>
              <a:pPr>
                <a:lnSpc>
                  <a:spcPct val="45000"/>
                </a:lnSpc>
                <a:spcBef>
                  <a:spcPct val="50000"/>
                </a:spcBef>
                <a:buClrTx/>
                <a:buFontTx/>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H</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O(l)             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(aq) + OH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(aq)</a:t>
              </a:r>
              <a:endParaRPr lang="en-US" altLang="zh-CN" sz="2400" b="0" dirty="0">
                <a:latin typeface="Times New Roman" panose="02020603050405020304" pitchFamily="18" charset="0"/>
                <a:ea typeface="宋体" panose="02010600030101010101" pitchFamily="2" charset="-122"/>
              </a:endParaRPr>
            </a:p>
          </p:txBody>
        </p:sp>
        <p:pic>
          <p:nvPicPr>
            <p:cNvPr id="39941" name="Picture 33" descr="keni"/>
            <p:cNvPicPr>
              <a:picLocks noChangeAspect="1"/>
            </p:cNvPicPr>
            <p:nvPr/>
          </p:nvPicPr>
          <p:blipFill>
            <a:blip r:embed="rId4"/>
            <a:stretch>
              <a:fillRect/>
            </a:stretch>
          </p:blipFill>
          <p:spPr>
            <a:xfrm>
              <a:off x="1746" y="1706"/>
              <a:ext cx="405" cy="77"/>
            </a:xfrm>
            <a:prstGeom prst="rect">
              <a:avLst/>
            </a:prstGeom>
            <a:noFill/>
            <a:ln w="9525">
              <a:noFill/>
            </a:ln>
          </p:spPr>
        </p:pic>
      </p:grpSp>
      <p:sp>
        <p:nvSpPr>
          <p:cNvPr id="32828" name="Rectangle 60"/>
          <p:cNvSpPr>
            <a:spLocks noChangeArrowheads="1"/>
          </p:cNvSpPr>
          <p:nvPr/>
        </p:nvSpPr>
        <p:spPr bwMode="auto">
          <a:xfrm>
            <a:off x="0" y="2989188"/>
            <a:ext cx="248786" cy="246221"/>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9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t>
            </a:r>
            <a:endParaRPr kumimoji="0" lang="zh-CN" altLang="en-US" sz="3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833" name="Text Box 65"/>
          <p:cNvSpPr txBox="1"/>
          <p:nvPr/>
        </p:nvSpPr>
        <p:spPr>
          <a:xfrm>
            <a:off x="254000" y="1509716"/>
            <a:ext cx="3024188" cy="584775"/>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3200" dirty="0">
                <a:solidFill>
                  <a:srgbClr val="0000FF"/>
                </a:solidFill>
                <a:latin typeface="Arial" panose="020B0604020202020204" pitchFamily="34" charset="0"/>
                <a:ea typeface="华文新魏" pitchFamily="2" charset="-122"/>
              </a:rPr>
              <a:t>水的解离平衡</a:t>
            </a:r>
          </a:p>
        </p:txBody>
      </p:sp>
      <p:sp>
        <p:nvSpPr>
          <p:cNvPr id="32890" name="Rectangle 122"/>
          <p:cNvSpPr>
            <a:spLocks noChangeArrowheads="1"/>
          </p:cNvSpPr>
          <p:nvPr/>
        </p:nvSpPr>
        <p:spPr bwMode="auto">
          <a:xfrm>
            <a:off x="5" y="-282247"/>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2892" name="Rectangle 124"/>
          <p:cNvSpPr>
            <a:spLocks noChangeArrowheads="1"/>
          </p:cNvSpPr>
          <p:nvPr/>
        </p:nvSpPr>
        <p:spPr bwMode="auto">
          <a:xfrm>
            <a:off x="5" y="220774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3" name="Group 127"/>
          <p:cNvGrpSpPr/>
          <p:nvPr/>
        </p:nvGrpSpPr>
        <p:grpSpPr>
          <a:xfrm>
            <a:off x="827088" y="3578230"/>
            <a:ext cx="7561262" cy="496887"/>
            <a:chOff x="385" y="2341"/>
            <a:chExt cx="4763" cy="418"/>
          </a:xfrm>
        </p:grpSpPr>
        <p:grpSp>
          <p:nvGrpSpPr>
            <p:cNvPr id="39947" name="Group 126"/>
            <p:cNvGrpSpPr/>
            <p:nvPr/>
          </p:nvGrpSpPr>
          <p:grpSpPr>
            <a:xfrm>
              <a:off x="385" y="2341"/>
              <a:ext cx="4445" cy="418"/>
              <a:chOff x="113" y="2341"/>
              <a:chExt cx="4445" cy="418"/>
            </a:xfrm>
          </p:grpSpPr>
          <p:sp>
            <p:nvSpPr>
              <p:cNvPr id="39948" name="Text Box 116"/>
              <p:cNvSpPr txBox="1"/>
              <p:nvPr/>
            </p:nvSpPr>
            <p:spPr>
              <a:xfrm>
                <a:off x="113" y="2371"/>
                <a:ext cx="4445" cy="388"/>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298.15K</a:t>
                </a:r>
                <a:r>
                  <a:rPr lang="zh-CN" altLang="en-US" sz="2400" dirty="0">
                    <a:latin typeface="Times New Roman" panose="02020603050405020304" pitchFamily="18" charset="0"/>
                    <a:ea typeface="宋体" panose="02010600030101010101" pitchFamily="2" charset="-122"/>
                  </a:rPr>
                  <a:t>时，</a:t>
                </a:r>
                <a:r>
                  <a:rPr lang="en-US" altLang="zh-CN" sz="2400" i="1" dirty="0">
                    <a:latin typeface="Times New Roman" panose="02020603050405020304" pitchFamily="18" charset="0"/>
                    <a:ea typeface="宋体" panose="02010600030101010101" pitchFamily="2" charset="-122"/>
                  </a:rPr>
                  <a:t>K  </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(OH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/c  }=1.0×10</a:t>
                </a:r>
                <a:r>
                  <a:rPr lang="en-US" altLang="zh-CN" sz="2400" baseline="30000" dirty="0">
                    <a:latin typeface="Times New Roman" panose="02020603050405020304" pitchFamily="18" charset="0"/>
                    <a:ea typeface="宋体" panose="02010600030101010101" pitchFamily="2" charset="-122"/>
                  </a:rPr>
                  <a:t>-14</a:t>
                </a:r>
                <a:r>
                  <a:rPr lang="en-US" altLang="zh-CN" sz="2400" dirty="0">
                    <a:latin typeface="Times New Roman" panose="02020603050405020304" pitchFamily="18" charset="0"/>
                    <a:ea typeface="宋体" panose="02010600030101010101" pitchFamily="2" charset="-122"/>
                  </a:rPr>
                  <a:t>=</a:t>
                </a:r>
                <a:r>
                  <a:rPr lang="zh-CN" altLang="en-US" sz="2400" b="0" dirty="0">
                    <a:latin typeface="Times New Roman" panose="02020603050405020304" pitchFamily="18" charset="0"/>
                    <a:ea typeface="宋体" panose="02010600030101010101" pitchFamily="2" charset="-122"/>
                  </a:rPr>
                  <a:t>  </a:t>
                </a:r>
                <a:endParaRPr lang="en-US" altLang="zh-CN" sz="2400" b="0" dirty="0">
                  <a:latin typeface="Times New Roman" panose="02020603050405020304" pitchFamily="18" charset="0"/>
                  <a:ea typeface="宋体" panose="02010600030101010101" pitchFamily="2" charset="-122"/>
                </a:endParaRPr>
              </a:p>
            </p:txBody>
          </p:sp>
          <p:sp>
            <p:nvSpPr>
              <p:cNvPr id="39949" name="Rectangle 117"/>
              <p:cNvSpPr/>
              <p:nvPr/>
            </p:nvSpPr>
            <p:spPr>
              <a:xfrm>
                <a:off x="1293" y="2341"/>
                <a:ext cx="136" cy="337"/>
              </a:xfrm>
              <a:prstGeom prst="rect">
                <a:avLst/>
              </a:prstGeom>
              <a:noFill/>
              <a:ln w="9525">
                <a:noFill/>
              </a:ln>
            </p:spPr>
            <p:txBody>
              <a:bodyPr anchor="t" anchorCtr="0">
                <a:spAutoFit/>
              </a:bodyPr>
              <a:lstStyle/>
              <a:p>
                <a:pPr>
                  <a:buClrTx/>
                  <a:buFontTx/>
                </a:pPr>
                <a:r>
                  <a:rPr lang="zh-CN" altLang="en-US" sz="2000" b="0" dirty="0">
                    <a:latin typeface="Arial" panose="020B0604020202020204" pitchFamily="34" charset="0"/>
                    <a:ea typeface="宋体" panose="02010600030101010101" pitchFamily="2" charset="-122"/>
                    <a:sym typeface="Symbol" panose="05050102010706020507" pitchFamily="18" charset="2"/>
                  </a:rPr>
                  <a:t></a:t>
                </a:r>
              </a:p>
            </p:txBody>
          </p:sp>
          <p:sp>
            <p:nvSpPr>
              <p:cNvPr id="39950" name="Rectangle 118"/>
              <p:cNvSpPr/>
              <p:nvPr/>
            </p:nvSpPr>
            <p:spPr>
              <a:xfrm>
                <a:off x="3198" y="2341"/>
                <a:ext cx="182" cy="337"/>
              </a:xfrm>
              <a:prstGeom prst="rect">
                <a:avLst/>
              </a:prstGeom>
              <a:noFill/>
              <a:ln w="9525">
                <a:noFill/>
              </a:ln>
            </p:spPr>
            <p:txBody>
              <a:bodyPr anchor="t" anchorCtr="0">
                <a:spAutoFit/>
              </a:bodyPr>
              <a:lstStyle/>
              <a:p>
                <a:pPr>
                  <a:buClrTx/>
                  <a:buFontTx/>
                </a:pPr>
                <a:r>
                  <a:rPr lang="zh-CN" altLang="en-US" sz="2000" b="0" dirty="0">
                    <a:latin typeface="Arial" panose="020B0604020202020204" pitchFamily="34" charset="0"/>
                    <a:ea typeface="宋体" panose="02010600030101010101" pitchFamily="2" charset="-122"/>
                    <a:sym typeface="Symbol" panose="05050102010706020507" pitchFamily="18" charset="2"/>
                  </a:rPr>
                  <a:t></a:t>
                </a:r>
              </a:p>
            </p:txBody>
          </p:sp>
          <p:sp>
            <p:nvSpPr>
              <p:cNvPr id="39951" name="Rectangle 119"/>
              <p:cNvSpPr/>
              <p:nvPr/>
            </p:nvSpPr>
            <p:spPr>
              <a:xfrm>
                <a:off x="2200" y="2341"/>
                <a:ext cx="182" cy="337"/>
              </a:xfrm>
              <a:prstGeom prst="rect">
                <a:avLst/>
              </a:prstGeom>
              <a:noFill/>
              <a:ln w="9525">
                <a:noFill/>
              </a:ln>
            </p:spPr>
            <p:txBody>
              <a:bodyPr anchor="t" anchorCtr="0">
                <a:spAutoFit/>
              </a:bodyPr>
              <a:lstStyle/>
              <a:p>
                <a:pPr>
                  <a:buClrTx/>
                  <a:buFontTx/>
                </a:pPr>
                <a:r>
                  <a:rPr lang="zh-CN" altLang="en-US" sz="2000" b="0" dirty="0">
                    <a:latin typeface="Arial" panose="020B0604020202020204" pitchFamily="34" charset="0"/>
                    <a:ea typeface="宋体" panose="02010600030101010101" pitchFamily="2" charset="-122"/>
                    <a:sym typeface="Symbol" panose="05050102010706020507" pitchFamily="18" charset="2"/>
                  </a:rPr>
                  <a:t></a:t>
                </a:r>
              </a:p>
            </p:txBody>
          </p:sp>
        </p:grpSp>
        <p:graphicFrame>
          <p:nvGraphicFramePr>
            <p:cNvPr id="39952" name="Object 123"/>
            <p:cNvGraphicFramePr>
              <a:graphicFrameLocks noChangeAspect="1"/>
            </p:cNvGraphicFramePr>
            <p:nvPr/>
          </p:nvGraphicFramePr>
          <p:xfrm>
            <a:off x="4740" y="2341"/>
            <a:ext cx="408" cy="318"/>
          </p:xfrm>
          <a:graphic>
            <a:graphicData uri="http://schemas.openxmlformats.org/presentationml/2006/ole">
              <mc:AlternateContent xmlns:mc="http://schemas.openxmlformats.org/markup-compatibility/2006">
                <mc:Choice xmlns:v="urn:schemas-microsoft-com:vml" Requires="v">
                  <p:oleObj r:id="rId5" imgW="223520" imgH="223520" progId="Equation.3">
                    <p:embed/>
                  </p:oleObj>
                </mc:Choice>
                <mc:Fallback>
                  <p:oleObj r:id="rId5" imgW="223520" imgH="223520" progId="Equation.3">
                    <p:embed/>
                    <p:pic>
                      <p:nvPicPr>
                        <p:cNvPr id="0" name="图片 3096"/>
                        <p:cNvPicPr/>
                        <p:nvPr/>
                      </p:nvPicPr>
                      <p:blipFill>
                        <a:blip r:embed="rId6"/>
                        <a:stretch>
                          <a:fillRect/>
                        </a:stretch>
                      </p:blipFill>
                      <p:spPr>
                        <a:xfrm>
                          <a:off x="4740" y="2341"/>
                          <a:ext cx="408" cy="318"/>
                        </a:xfrm>
                        <a:prstGeom prst="rect">
                          <a:avLst/>
                        </a:prstGeom>
                        <a:noFill/>
                        <a:ln w="38100">
                          <a:noFill/>
                          <a:miter/>
                        </a:ln>
                      </p:spPr>
                    </p:pic>
                  </p:oleObj>
                </mc:Fallback>
              </mc:AlternateContent>
            </a:graphicData>
          </a:graphic>
        </p:graphicFrame>
      </p:grpSp>
      <p:sp>
        <p:nvSpPr>
          <p:cNvPr id="19" name="Rectangle 2"/>
          <p:cNvSpPr>
            <a:spLocks noChangeArrowheads="1"/>
          </p:cNvSpPr>
          <p:nvPr/>
        </p:nvSpPr>
        <p:spPr bwMode="auto">
          <a:xfrm>
            <a:off x="0" y="103188"/>
            <a:ext cx="9144000" cy="541338"/>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0" fontAlgn="base" latinLnBrk="0" hangingPunct="0">
              <a:lnSpc>
                <a:spcPct val="115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rPr>
              <a:t>§</a:t>
            </a:r>
            <a:r>
              <a:rPr kumimoji="0" lang="en-US" altLang="zh-CN" sz="32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 3.3 </a:t>
            </a:r>
            <a:r>
              <a:rPr kumimoji="0" lang="zh-CN" altLang="en-US" sz="32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弱电解质的解离平衡</a:t>
            </a:r>
            <a:endParaRPr kumimoji="0" lang="zh-CN" altLang="en-US" sz="3200" b="1" i="0" u="none" strike="noStrike" kern="1200" cap="none" spc="0" normalizeH="0" baseline="0" noProof="0" dirty="0">
              <a:ln>
                <a:noFill/>
              </a:ln>
              <a:solidFill>
                <a:schemeClr val="bg1"/>
              </a:solidFill>
              <a:effectLst/>
              <a:uLnTx/>
              <a:uFillTx/>
              <a:latin typeface="Times New Roman" panose="02020603050405020304" pitchFamily="18" charset="0"/>
              <a:ea typeface="幼圆"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9"/>
                                        </p:tgtEl>
                                        <p:attrNameLst>
                                          <p:attrName>ppt_y</p:attrName>
                                        </p:attrNameLst>
                                      </p:cBhvr>
                                      <p:tavLst>
                                        <p:tav tm="0">
                                          <p:val>
                                            <p:strVal val="#ppt_y"/>
                                          </p:val>
                                        </p:tav>
                                        <p:tav tm="100000">
                                          <p:val>
                                            <p:strVal val="#ppt_y"/>
                                          </p:val>
                                        </p:tav>
                                      </p:tavLst>
                                    </p:anim>
                                    <p:anim calcmode="lin" valueType="num">
                                      <p:cBhvr>
                                        <p:cTn id="9"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1291"/>
                                        </p:tgtEl>
                                        <p:attrNameLst>
                                          <p:attrName>style.visibility</p:attrName>
                                        </p:attrNameLst>
                                      </p:cBhvr>
                                      <p:to>
                                        <p:strVal val="visible"/>
                                      </p:to>
                                    </p:set>
                                    <p:anim calcmode="lin" valueType="num">
                                      <p:cBhvr additive="base">
                                        <p:cTn id="16" dur="500" fill="hold"/>
                                        <p:tgtEl>
                                          <p:spTgt spid="11291"/>
                                        </p:tgtEl>
                                        <p:attrNameLst>
                                          <p:attrName>ppt_x</p:attrName>
                                        </p:attrNameLst>
                                      </p:cBhvr>
                                      <p:tavLst>
                                        <p:tav tm="0">
                                          <p:val>
                                            <p:strVal val="0-#ppt_w/2"/>
                                          </p:val>
                                        </p:tav>
                                        <p:tav tm="100000">
                                          <p:val>
                                            <p:strVal val="#ppt_x"/>
                                          </p:val>
                                        </p:tav>
                                      </p:tavLst>
                                    </p:anim>
                                    <p:anim calcmode="lin" valueType="num">
                                      <p:cBhvr additive="base">
                                        <p:cTn id="17" dur="500" fill="hold"/>
                                        <p:tgtEl>
                                          <p:spTgt spid="1129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2833"/>
                                        </p:tgtEl>
                                        <p:attrNameLst>
                                          <p:attrName>style.visibility</p:attrName>
                                        </p:attrNameLst>
                                      </p:cBhvr>
                                      <p:to>
                                        <p:strVal val="visible"/>
                                      </p:to>
                                    </p:set>
                                    <p:anim calcmode="lin" valueType="num">
                                      <p:cBhvr additive="base">
                                        <p:cTn id="22" dur="500" fill="hold"/>
                                        <p:tgtEl>
                                          <p:spTgt spid="32833"/>
                                        </p:tgtEl>
                                        <p:attrNameLst>
                                          <p:attrName>ppt_x</p:attrName>
                                        </p:attrNameLst>
                                      </p:cBhvr>
                                      <p:tavLst>
                                        <p:tav tm="0">
                                          <p:val>
                                            <p:strVal val="#ppt_x"/>
                                          </p:val>
                                        </p:tav>
                                        <p:tav tm="100000">
                                          <p:val>
                                            <p:strVal val="#ppt_x"/>
                                          </p:val>
                                        </p:tav>
                                      </p:tavLst>
                                    </p:anim>
                                    <p:anim calcmode="lin" valueType="num">
                                      <p:cBhvr additive="base">
                                        <p:cTn id="23" dur="500" fill="hold"/>
                                        <p:tgtEl>
                                          <p:spTgt spid="32833"/>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ppt_x"/>
                                          </p:val>
                                        </p:tav>
                                        <p:tav tm="100000">
                                          <p:val>
                                            <p:strVal val="#ppt_x"/>
                                          </p:val>
                                        </p:tav>
                                      </p:tavLst>
                                    </p:anim>
                                    <p:anim calcmode="lin" valueType="num">
                                      <p:cBhvr additive="base">
                                        <p:cTn id="2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2786"/>
                                        </p:tgtEl>
                                        <p:attrNameLst>
                                          <p:attrName>style.visibility</p:attrName>
                                        </p:attrNameLst>
                                      </p:cBhvr>
                                      <p:to>
                                        <p:strVal val="visible"/>
                                      </p:to>
                                    </p:set>
                                    <p:anim calcmode="lin" valueType="num">
                                      <p:cBhvr additive="base">
                                        <p:cTn id="32" dur="500" fill="hold"/>
                                        <p:tgtEl>
                                          <p:spTgt spid="32786"/>
                                        </p:tgtEl>
                                        <p:attrNameLst>
                                          <p:attrName>ppt_x</p:attrName>
                                        </p:attrNameLst>
                                      </p:cBhvr>
                                      <p:tavLst>
                                        <p:tav tm="0">
                                          <p:val>
                                            <p:strVal val="#ppt_x"/>
                                          </p:val>
                                        </p:tav>
                                        <p:tav tm="100000">
                                          <p:val>
                                            <p:strVal val="#ppt_x"/>
                                          </p:val>
                                        </p:tav>
                                      </p:tavLst>
                                    </p:anim>
                                    <p:anim calcmode="lin" valueType="num">
                                      <p:cBhvr additive="base">
                                        <p:cTn id="33" dur="500" fill="hold"/>
                                        <p:tgtEl>
                                          <p:spTgt spid="3278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ppt_x"/>
                                          </p:val>
                                        </p:tav>
                                        <p:tav tm="100000">
                                          <p:val>
                                            <p:strVal val="#ppt_x"/>
                                          </p:val>
                                        </p:tav>
                                      </p:tavLst>
                                    </p:anim>
                                    <p:anim calcmode="lin" valueType="num">
                                      <p:cBhvr additive="base">
                                        <p:cTn id="3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1" grpId="0" animBg="1"/>
      <p:bldP spid="3283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4" name="Rectangle 8"/>
          <p:cNvSpPr>
            <a:spLocks noChangeArrowheads="1"/>
          </p:cNvSpPr>
          <p:nvPr/>
        </p:nvSpPr>
        <p:spPr bwMode="auto">
          <a:xfrm>
            <a:off x="0" y="2286719"/>
            <a:ext cx="248786" cy="246221"/>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9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t>
            </a:r>
            <a:endParaRPr kumimoji="0" lang="zh-CN" altLang="en-US" sz="3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62" name="Line 10"/>
          <p:cNvSpPr/>
          <p:nvPr/>
        </p:nvSpPr>
        <p:spPr>
          <a:xfrm>
            <a:off x="8826500" y="1652588"/>
            <a:ext cx="0" cy="1268412"/>
          </a:xfrm>
          <a:prstGeom prst="line">
            <a:avLst/>
          </a:prstGeom>
          <a:ln w="28575" cap="sq" cmpd="sng">
            <a:solidFill>
              <a:schemeClr val="tx1"/>
            </a:solidFill>
            <a:prstDash val="solid"/>
            <a:round/>
            <a:headEnd type="none" w="med" len="med"/>
            <a:tailEnd type="none" w="med" len="med"/>
          </a:ln>
        </p:spPr>
      </p:sp>
      <p:grpSp>
        <p:nvGrpSpPr>
          <p:cNvPr id="2" name="Group 11"/>
          <p:cNvGrpSpPr/>
          <p:nvPr/>
        </p:nvGrpSpPr>
        <p:grpSpPr>
          <a:xfrm>
            <a:off x="184150" y="930276"/>
            <a:ext cx="8642350" cy="2020888"/>
            <a:chOff x="113" y="2408"/>
            <a:chExt cx="5444" cy="1697"/>
          </a:xfrm>
        </p:grpSpPr>
        <p:sp>
          <p:nvSpPr>
            <p:cNvPr id="40964" name="Text Box 12"/>
            <p:cNvSpPr txBox="1"/>
            <p:nvPr/>
          </p:nvSpPr>
          <p:spPr>
            <a:xfrm>
              <a:off x="170" y="2408"/>
              <a:ext cx="1724" cy="439"/>
            </a:xfrm>
            <a:prstGeom prst="rect">
              <a:avLst/>
            </a:prstGeom>
            <a:noFill/>
            <a:ln w="9525">
              <a:noFill/>
            </a:ln>
          </p:spPr>
          <p:txBody>
            <a:bodyPr anchor="t" anchorCtr="0">
              <a:spAutoFit/>
            </a:bodyPr>
            <a:lstStyle/>
            <a:p>
              <a:pPr>
                <a:spcBef>
                  <a:spcPts val="1200"/>
                </a:spcBef>
                <a:spcAft>
                  <a:spcPts val="1200"/>
                </a:spcAft>
                <a:buClrTx/>
                <a:buFontTx/>
              </a:pPr>
              <a:r>
                <a:rPr lang="zh-CN" altLang="en-US" dirty="0">
                  <a:solidFill>
                    <a:srgbClr val="0000FF"/>
                  </a:solidFill>
                  <a:latin typeface="Times New Roman" panose="02020603050405020304" pitchFamily="18" charset="0"/>
                  <a:ea typeface="华文新魏" pitchFamily="2" charset="-122"/>
                </a:rPr>
                <a:t>溶液的酸碱性</a:t>
              </a:r>
              <a:endParaRPr lang="en-US" altLang="zh-CN" dirty="0">
                <a:solidFill>
                  <a:srgbClr val="0000FF"/>
                </a:solidFill>
                <a:latin typeface="华文新魏" pitchFamily="2" charset="-122"/>
                <a:ea typeface="华文新魏" pitchFamily="2" charset="-122"/>
              </a:endParaRPr>
            </a:p>
          </p:txBody>
        </p:sp>
        <p:sp>
          <p:nvSpPr>
            <p:cNvPr id="40965" name="Rectangle 13"/>
            <p:cNvSpPr/>
            <p:nvPr/>
          </p:nvSpPr>
          <p:spPr>
            <a:xfrm>
              <a:off x="125" y="3023"/>
              <a:ext cx="1906"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zh-CN" altLang="en-US" sz="2400" dirty="0">
                  <a:latin typeface="Times New Roman" panose="02020603050405020304" pitchFamily="18" charset="0"/>
                  <a:ea typeface="宋体" panose="02010600030101010101" pitchFamily="2" charset="-122"/>
                </a:rPr>
                <a:t>溶液酸碱性</a:t>
              </a:r>
              <a:endParaRPr lang="zh-CN" altLang="en-US" sz="2400" b="0" dirty="0">
                <a:latin typeface="Arial" panose="020B0604020202020204" pitchFamily="34" charset="0"/>
                <a:ea typeface="宋体" panose="02010600030101010101" pitchFamily="2" charset="-122"/>
              </a:endParaRPr>
            </a:p>
          </p:txBody>
        </p:sp>
        <p:grpSp>
          <p:nvGrpSpPr>
            <p:cNvPr id="40966" name="Group 14"/>
            <p:cNvGrpSpPr/>
            <p:nvPr/>
          </p:nvGrpSpPr>
          <p:grpSpPr>
            <a:xfrm>
              <a:off x="113" y="3022"/>
              <a:ext cx="5444" cy="1071"/>
              <a:chOff x="158" y="873"/>
              <a:chExt cx="5444" cy="1071"/>
            </a:xfrm>
          </p:grpSpPr>
          <p:sp>
            <p:nvSpPr>
              <p:cNvPr id="40967" name="Line 15"/>
              <p:cNvSpPr/>
              <p:nvPr/>
            </p:nvSpPr>
            <p:spPr>
              <a:xfrm>
                <a:off x="158" y="873"/>
                <a:ext cx="5444" cy="0"/>
              </a:xfrm>
              <a:prstGeom prst="line">
                <a:avLst/>
              </a:prstGeom>
              <a:ln w="28575" cap="sq" cmpd="sng">
                <a:solidFill>
                  <a:schemeClr val="tx1"/>
                </a:solidFill>
                <a:prstDash val="solid"/>
                <a:round/>
                <a:headEnd type="none" w="med" len="med"/>
                <a:tailEnd type="none" w="med" len="med"/>
              </a:ln>
            </p:spPr>
          </p:sp>
          <p:sp>
            <p:nvSpPr>
              <p:cNvPr id="40968" name="Line 16"/>
              <p:cNvSpPr/>
              <p:nvPr/>
            </p:nvSpPr>
            <p:spPr>
              <a:xfrm>
                <a:off x="158" y="1230"/>
                <a:ext cx="5444" cy="0"/>
              </a:xfrm>
              <a:prstGeom prst="line">
                <a:avLst/>
              </a:prstGeom>
              <a:ln w="12700" cap="flat" cmpd="sng">
                <a:solidFill>
                  <a:schemeClr val="tx1"/>
                </a:solidFill>
                <a:prstDash val="solid"/>
                <a:round/>
                <a:headEnd type="none" w="med" len="med"/>
                <a:tailEnd type="none" w="med" len="med"/>
              </a:ln>
            </p:spPr>
          </p:sp>
          <p:sp>
            <p:nvSpPr>
              <p:cNvPr id="40969" name="Line 17"/>
              <p:cNvSpPr/>
              <p:nvPr/>
            </p:nvSpPr>
            <p:spPr>
              <a:xfrm>
                <a:off x="158" y="1587"/>
                <a:ext cx="5444" cy="0"/>
              </a:xfrm>
              <a:prstGeom prst="line">
                <a:avLst/>
              </a:prstGeom>
              <a:ln w="12700" cap="flat" cmpd="sng">
                <a:solidFill>
                  <a:schemeClr val="tx1"/>
                </a:solidFill>
                <a:prstDash val="solid"/>
                <a:round/>
                <a:headEnd type="none" w="med" len="med"/>
                <a:tailEnd type="none" w="med" len="med"/>
              </a:ln>
            </p:spPr>
          </p:sp>
          <p:sp>
            <p:nvSpPr>
              <p:cNvPr id="40970" name="Line 18"/>
              <p:cNvSpPr/>
              <p:nvPr/>
            </p:nvSpPr>
            <p:spPr>
              <a:xfrm>
                <a:off x="158" y="1944"/>
                <a:ext cx="5444" cy="0"/>
              </a:xfrm>
              <a:prstGeom prst="line">
                <a:avLst/>
              </a:prstGeom>
              <a:ln w="12700" cap="flat" cmpd="sng">
                <a:solidFill>
                  <a:schemeClr val="tx1"/>
                </a:solidFill>
                <a:prstDash val="solid"/>
                <a:round/>
                <a:headEnd type="none" w="med" len="med"/>
                <a:tailEnd type="none" w="med" len="med"/>
              </a:ln>
            </p:spPr>
          </p:sp>
          <p:sp>
            <p:nvSpPr>
              <p:cNvPr id="40971" name="Line 19"/>
              <p:cNvSpPr/>
              <p:nvPr/>
            </p:nvSpPr>
            <p:spPr>
              <a:xfrm>
                <a:off x="158" y="873"/>
                <a:ext cx="0" cy="1065"/>
              </a:xfrm>
              <a:prstGeom prst="line">
                <a:avLst/>
              </a:prstGeom>
              <a:ln w="28575" cap="sq" cmpd="sng">
                <a:solidFill>
                  <a:schemeClr val="tx1"/>
                </a:solidFill>
                <a:prstDash val="solid"/>
                <a:round/>
                <a:headEnd type="none" w="med" len="med"/>
                <a:tailEnd type="none" w="med" len="med"/>
              </a:ln>
            </p:spPr>
          </p:sp>
          <p:sp>
            <p:nvSpPr>
              <p:cNvPr id="40972" name="Line 20"/>
              <p:cNvSpPr/>
              <p:nvPr/>
            </p:nvSpPr>
            <p:spPr>
              <a:xfrm>
                <a:off x="2064" y="873"/>
                <a:ext cx="0" cy="1065"/>
              </a:xfrm>
              <a:prstGeom prst="line">
                <a:avLst/>
              </a:prstGeom>
              <a:ln w="12700" cap="flat" cmpd="sng">
                <a:solidFill>
                  <a:schemeClr val="tx1"/>
                </a:solidFill>
                <a:prstDash val="solid"/>
                <a:round/>
                <a:headEnd type="none" w="med" len="med"/>
                <a:tailEnd type="none" w="med" len="med"/>
              </a:ln>
            </p:spPr>
          </p:sp>
          <p:sp>
            <p:nvSpPr>
              <p:cNvPr id="40973" name="Line 21"/>
              <p:cNvSpPr/>
              <p:nvPr/>
            </p:nvSpPr>
            <p:spPr>
              <a:xfrm>
                <a:off x="3243" y="873"/>
                <a:ext cx="0" cy="1065"/>
              </a:xfrm>
              <a:prstGeom prst="line">
                <a:avLst/>
              </a:prstGeom>
              <a:ln w="12700" cap="flat" cmpd="sng">
                <a:solidFill>
                  <a:schemeClr val="tx1"/>
                </a:solidFill>
                <a:prstDash val="solid"/>
                <a:round/>
                <a:headEnd type="none" w="med" len="med"/>
                <a:tailEnd type="none" w="med" len="med"/>
              </a:ln>
            </p:spPr>
          </p:sp>
          <p:sp>
            <p:nvSpPr>
              <p:cNvPr id="40974" name="Line 22"/>
              <p:cNvSpPr/>
              <p:nvPr/>
            </p:nvSpPr>
            <p:spPr>
              <a:xfrm>
                <a:off x="4377" y="873"/>
                <a:ext cx="0" cy="1065"/>
              </a:xfrm>
              <a:prstGeom prst="line">
                <a:avLst/>
              </a:prstGeom>
              <a:ln w="12700" cap="flat" cmpd="sng">
                <a:solidFill>
                  <a:schemeClr val="tx1"/>
                </a:solidFill>
                <a:prstDash val="solid"/>
                <a:round/>
                <a:headEnd type="none" w="med" len="med"/>
                <a:tailEnd type="none" w="med" len="med"/>
              </a:ln>
            </p:spPr>
          </p:sp>
        </p:grpSp>
        <p:sp>
          <p:nvSpPr>
            <p:cNvPr id="40975" name="Text Box 23"/>
            <p:cNvSpPr txBox="1"/>
            <p:nvPr/>
          </p:nvSpPr>
          <p:spPr>
            <a:xfrm>
              <a:off x="2290" y="3067"/>
              <a:ext cx="681" cy="388"/>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2400" dirty="0">
                  <a:latin typeface="Arial" panose="020B0604020202020204" pitchFamily="34" charset="0"/>
                  <a:ea typeface="宋体" panose="02010600030101010101" pitchFamily="2" charset="-122"/>
                </a:rPr>
                <a:t>酸性</a:t>
              </a:r>
            </a:p>
          </p:txBody>
        </p:sp>
        <p:sp>
          <p:nvSpPr>
            <p:cNvPr id="40976" name="Text Box 24"/>
            <p:cNvSpPr txBox="1"/>
            <p:nvPr/>
          </p:nvSpPr>
          <p:spPr>
            <a:xfrm>
              <a:off x="3424" y="3067"/>
              <a:ext cx="681" cy="439"/>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dirty="0">
                  <a:latin typeface="Arial" panose="020B0604020202020204" pitchFamily="34" charset="0"/>
                  <a:ea typeface="宋体" panose="02010600030101010101" pitchFamily="2" charset="-122"/>
                </a:rPr>
                <a:t>中性</a:t>
              </a:r>
            </a:p>
          </p:txBody>
        </p:sp>
        <p:sp>
          <p:nvSpPr>
            <p:cNvPr id="40977" name="Text Box 25"/>
            <p:cNvSpPr txBox="1"/>
            <p:nvPr/>
          </p:nvSpPr>
          <p:spPr>
            <a:xfrm>
              <a:off x="4558" y="3067"/>
              <a:ext cx="681" cy="439"/>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dirty="0">
                  <a:latin typeface="Arial" panose="020B0604020202020204" pitchFamily="34" charset="0"/>
                  <a:ea typeface="宋体" panose="02010600030101010101" pitchFamily="2" charset="-122"/>
                </a:rPr>
                <a:t>碱性</a:t>
              </a:r>
            </a:p>
          </p:txBody>
        </p:sp>
        <p:sp>
          <p:nvSpPr>
            <p:cNvPr id="40978" name="Rectangle 26"/>
            <p:cNvSpPr/>
            <p:nvPr/>
          </p:nvSpPr>
          <p:spPr>
            <a:xfrm>
              <a:off x="170" y="3391"/>
              <a:ext cx="1906"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(H</a:t>
              </a:r>
              <a:r>
                <a:rPr lang="en-US" altLang="zh-CN" baseline="30000"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)/mol·L</a:t>
              </a:r>
              <a:r>
                <a:rPr lang="en-US" altLang="zh-CN" baseline="30000" dirty="0">
                  <a:latin typeface="Times New Roman" panose="02020603050405020304" pitchFamily="18" charset="0"/>
                  <a:ea typeface="幼圆" pitchFamily="49" charset="-122"/>
                </a:rPr>
                <a:t>-1</a:t>
              </a:r>
              <a:endParaRPr lang="en-US" altLang="zh-CN" b="0" dirty="0">
                <a:latin typeface="Times New Roman" panose="02020603050405020304" pitchFamily="18" charset="0"/>
                <a:ea typeface="宋体" panose="02010600030101010101" pitchFamily="2" charset="-122"/>
              </a:endParaRPr>
            </a:p>
          </p:txBody>
        </p:sp>
        <p:sp>
          <p:nvSpPr>
            <p:cNvPr id="40979" name="Rectangle 27"/>
            <p:cNvSpPr/>
            <p:nvPr/>
          </p:nvSpPr>
          <p:spPr>
            <a:xfrm>
              <a:off x="2076" y="3436"/>
              <a:ext cx="1179"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&gt;1.0</a:t>
              </a:r>
              <a:r>
                <a:rPr lang="en-US" altLang="zh-CN"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10</a:t>
              </a:r>
              <a:r>
                <a:rPr lang="en-US" altLang="zh-CN" baseline="30000" dirty="0">
                  <a:latin typeface="Times New Roman" panose="02020603050405020304" pitchFamily="18" charset="0"/>
                  <a:ea typeface="幼圆" pitchFamily="49" charset="-122"/>
                </a:rPr>
                <a:t>-7</a:t>
              </a:r>
              <a:endParaRPr lang="en-US" altLang="zh-CN" b="0" dirty="0">
                <a:latin typeface="Arial" panose="020B0604020202020204" pitchFamily="34" charset="0"/>
                <a:ea typeface="宋体" panose="02010600030101010101" pitchFamily="2" charset="-122"/>
              </a:endParaRPr>
            </a:p>
          </p:txBody>
        </p:sp>
        <p:sp>
          <p:nvSpPr>
            <p:cNvPr id="40980" name="Rectangle 28"/>
            <p:cNvSpPr/>
            <p:nvPr/>
          </p:nvSpPr>
          <p:spPr>
            <a:xfrm>
              <a:off x="3243" y="3385"/>
              <a:ext cx="1179"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1.0</a:t>
              </a:r>
              <a:r>
                <a:rPr lang="en-US" altLang="zh-CN"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10</a:t>
              </a:r>
              <a:r>
                <a:rPr lang="en-US" altLang="zh-CN" baseline="30000" dirty="0">
                  <a:latin typeface="Times New Roman" panose="02020603050405020304" pitchFamily="18" charset="0"/>
                  <a:ea typeface="幼圆" pitchFamily="49" charset="-122"/>
                </a:rPr>
                <a:t>-7</a:t>
              </a:r>
              <a:endParaRPr lang="en-US" altLang="zh-CN" b="0" dirty="0">
                <a:latin typeface="Arial" panose="020B0604020202020204" pitchFamily="34" charset="0"/>
                <a:ea typeface="宋体" panose="02010600030101010101" pitchFamily="2" charset="-122"/>
              </a:endParaRPr>
            </a:p>
          </p:txBody>
        </p:sp>
        <p:sp>
          <p:nvSpPr>
            <p:cNvPr id="40981" name="Rectangle 29"/>
            <p:cNvSpPr/>
            <p:nvPr/>
          </p:nvSpPr>
          <p:spPr>
            <a:xfrm>
              <a:off x="4377" y="3385"/>
              <a:ext cx="1179"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sz="3200" dirty="0">
                  <a:latin typeface="Times New Roman" panose="02020603050405020304" pitchFamily="18" charset="0"/>
                  <a:ea typeface="幼圆" pitchFamily="49" charset="-122"/>
                </a:rPr>
                <a:t>&lt;</a:t>
              </a:r>
              <a:r>
                <a:rPr lang="en-US" altLang="zh-CN" dirty="0">
                  <a:latin typeface="Times New Roman" panose="02020603050405020304" pitchFamily="18" charset="0"/>
                  <a:ea typeface="幼圆" pitchFamily="49" charset="-122"/>
                </a:rPr>
                <a:t> 1.0</a:t>
              </a:r>
              <a:r>
                <a:rPr lang="en-US" altLang="zh-CN"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10</a:t>
              </a:r>
              <a:r>
                <a:rPr lang="en-US" altLang="zh-CN" baseline="30000" dirty="0">
                  <a:latin typeface="Times New Roman" panose="02020603050405020304" pitchFamily="18" charset="0"/>
                  <a:ea typeface="幼圆" pitchFamily="49" charset="-122"/>
                </a:rPr>
                <a:t>-7</a:t>
              </a:r>
            </a:p>
          </p:txBody>
        </p:sp>
        <p:sp>
          <p:nvSpPr>
            <p:cNvPr id="40982" name="Rectangle 30"/>
            <p:cNvSpPr/>
            <p:nvPr/>
          </p:nvSpPr>
          <p:spPr>
            <a:xfrm>
              <a:off x="113" y="3702"/>
              <a:ext cx="1906"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(OH</a:t>
              </a:r>
              <a:r>
                <a:rPr lang="en-US" altLang="zh-CN" baseline="30000"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)/mol·L</a:t>
              </a:r>
              <a:r>
                <a:rPr lang="en-US" altLang="zh-CN" baseline="30000" dirty="0">
                  <a:latin typeface="Times New Roman" panose="02020603050405020304" pitchFamily="18" charset="0"/>
                  <a:ea typeface="幼圆" pitchFamily="49" charset="-122"/>
                </a:rPr>
                <a:t>-1</a:t>
              </a:r>
              <a:endParaRPr lang="en-US" altLang="zh-CN" b="0" dirty="0">
                <a:latin typeface="Arial" panose="020B0604020202020204" pitchFamily="34" charset="0"/>
                <a:ea typeface="宋体" panose="02010600030101010101" pitchFamily="2" charset="-122"/>
              </a:endParaRPr>
            </a:p>
          </p:txBody>
        </p:sp>
        <p:sp>
          <p:nvSpPr>
            <p:cNvPr id="40983" name="Rectangle 31"/>
            <p:cNvSpPr/>
            <p:nvPr/>
          </p:nvSpPr>
          <p:spPr>
            <a:xfrm>
              <a:off x="2018" y="3748"/>
              <a:ext cx="1179"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sz="3200" dirty="0">
                  <a:latin typeface="Times New Roman" panose="02020603050405020304" pitchFamily="18" charset="0"/>
                  <a:ea typeface="幼圆" pitchFamily="49" charset="-122"/>
                </a:rPr>
                <a:t>&lt;</a:t>
              </a:r>
              <a:r>
                <a:rPr lang="en-US" altLang="zh-CN" dirty="0">
                  <a:latin typeface="Times New Roman" panose="02020603050405020304" pitchFamily="18" charset="0"/>
                  <a:ea typeface="幼圆" pitchFamily="49" charset="-122"/>
                </a:rPr>
                <a:t> 1.0</a:t>
              </a:r>
              <a:r>
                <a:rPr lang="en-US" altLang="zh-CN"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10</a:t>
              </a:r>
              <a:r>
                <a:rPr lang="en-US" altLang="zh-CN" baseline="30000" dirty="0">
                  <a:latin typeface="Times New Roman" panose="02020603050405020304" pitchFamily="18" charset="0"/>
                  <a:ea typeface="幼圆" pitchFamily="49" charset="-122"/>
                </a:rPr>
                <a:t>-7</a:t>
              </a:r>
            </a:p>
          </p:txBody>
        </p:sp>
        <p:sp>
          <p:nvSpPr>
            <p:cNvPr id="40984" name="Rectangle 32"/>
            <p:cNvSpPr/>
            <p:nvPr/>
          </p:nvSpPr>
          <p:spPr>
            <a:xfrm>
              <a:off x="4377" y="3702"/>
              <a:ext cx="1179"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&gt;1.0</a:t>
              </a:r>
              <a:r>
                <a:rPr lang="en-US" altLang="zh-CN"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10</a:t>
              </a:r>
              <a:r>
                <a:rPr lang="en-US" altLang="zh-CN" baseline="30000" dirty="0">
                  <a:latin typeface="Times New Roman" panose="02020603050405020304" pitchFamily="18" charset="0"/>
                  <a:ea typeface="幼圆" pitchFamily="49" charset="-122"/>
                </a:rPr>
                <a:t>-7</a:t>
              </a:r>
              <a:endParaRPr lang="en-US" altLang="zh-CN" b="0" dirty="0">
                <a:latin typeface="Arial" panose="020B0604020202020204" pitchFamily="34" charset="0"/>
                <a:ea typeface="宋体" panose="02010600030101010101" pitchFamily="2" charset="-122"/>
              </a:endParaRPr>
            </a:p>
          </p:txBody>
        </p:sp>
        <p:sp>
          <p:nvSpPr>
            <p:cNvPr id="40985" name="Rectangle 33"/>
            <p:cNvSpPr/>
            <p:nvPr/>
          </p:nvSpPr>
          <p:spPr>
            <a:xfrm>
              <a:off x="3198" y="3748"/>
              <a:ext cx="1179"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1.0</a:t>
              </a:r>
              <a:r>
                <a:rPr lang="en-US" altLang="zh-CN"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10</a:t>
              </a:r>
              <a:r>
                <a:rPr lang="en-US" altLang="zh-CN" baseline="30000" dirty="0">
                  <a:latin typeface="Times New Roman" panose="02020603050405020304" pitchFamily="18" charset="0"/>
                  <a:ea typeface="幼圆" pitchFamily="49" charset="-122"/>
                </a:rPr>
                <a:t>-7</a:t>
              </a:r>
              <a:endParaRPr lang="en-US" altLang="zh-CN" b="0" dirty="0">
                <a:latin typeface="Arial" panose="020B0604020202020204" pitchFamily="34" charset="0"/>
                <a:ea typeface="宋体" panose="02010600030101010101" pitchFamily="2" charset="-122"/>
              </a:endParaRPr>
            </a:p>
          </p:txBody>
        </p:sp>
      </p:grpSp>
      <p:sp>
        <p:nvSpPr>
          <p:cNvPr id="173090" name="Rectangle 34"/>
          <p:cNvSpPr>
            <a:spLocks noChangeArrowheads="1"/>
          </p:cNvSpPr>
          <p:nvPr/>
        </p:nvSpPr>
        <p:spPr bwMode="auto">
          <a:xfrm>
            <a:off x="5" y="-983922"/>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73091" name="Rectangle 35"/>
          <p:cNvSpPr>
            <a:spLocks noChangeArrowheads="1"/>
          </p:cNvSpPr>
          <p:nvPr/>
        </p:nvSpPr>
        <p:spPr bwMode="auto">
          <a:xfrm>
            <a:off x="5" y="1505280"/>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8"/>
          <p:cNvGrpSpPr/>
          <p:nvPr/>
        </p:nvGrpSpPr>
        <p:grpSpPr>
          <a:xfrm>
            <a:off x="411163" y="696915"/>
            <a:ext cx="3744912" cy="523477"/>
            <a:chOff x="259" y="676"/>
            <a:chExt cx="2359" cy="440"/>
          </a:xfrm>
        </p:grpSpPr>
        <p:sp>
          <p:nvSpPr>
            <p:cNvPr id="64544" name="Text Box 22"/>
            <p:cNvSpPr txBox="1">
              <a:spLocks noChangeArrowheads="1"/>
            </p:cNvSpPr>
            <p:nvPr/>
          </p:nvSpPr>
          <p:spPr bwMode="auto">
            <a:xfrm>
              <a:off x="259" y="676"/>
              <a:ext cx="2359" cy="440"/>
            </a:xfrm>
            <a:prstGeom prst="rect">
              <a:avLst/>
            </a:prstGeom>
            <a:noFill/>
            <a:ln w="9525">
              <a:noFill/>
              <a:miter lim="800000"/>
            </a:ln>
          </p:spPr>
          <p:txBody>
            <a:bodyPr>
              <a:spAutoFit/>
            </a:bodyPr>
            <a:lstStyle/>
            <a:p>
              <a:pPr marR="0" defTabSz="914400">
                <a:spcBef>
                  <a:spcPct val="50000"/>
                </a:spcBef>
                <a:buClrTx/>
                <a:buSzTx/>
                <a:buFontTx/>
                <a:buNone/>
                <a:defRPr/>
              </a:pPr>
              <a:r>
                <a:rPr kumimoji="1" lang="zh-CN" altLang="en-US" kern="1200" cap="none" spc="0" normalizeH="0" baseline="0" noProof="0" dirty="0">
                  <a:latin typeface="Times New Roman" panose="02020603050405020304" pitchFamily="18" charset="0"/>
                  <a:ea typeface="幼圆" pitchFamily="49" charset="-122"/>
                  <a:cs typeface="+mn-cs"/>
                </a:rPr>
                <a:t> </a:t>
              </a:r>
              <a:r>
                <a:rPr kumimoji="1" lang="en-US" altLang="zh-CN" kern="1200" cap="none" spc="0" normalizeH="0" baseline="0" noProof="0" dirty="0">
                  <a:latin typeface="Times New Roman" panose="02020603050405020304" pitchFamily="18" charset="0"/>
                  <a:ea typeface="幼圆" pitchFamily="49" charset="-122"/>
                  <a:cs typeface="+mn-cs"/>
                </a:rPr>
                <a:t>pH=-</a:t>
              </a:r>
              <a:r>
                <a:rPr kumimoji="1" lang="en-US" altLang="zh-CN" kern="1200" cap="none" spc="0" normalizeH="0" baseline="0" noProof="0" dirty="0" err="1">
                  <a:latin typeface="Times New Roman" panose="02020603050405020304" pitchFamily="18" charset="0"/>
                  <a:ea typeface="幼圆" pitchFamily="49" charset="-122"/>
                  <a:cs typeface="+mn-cs"/>
                </a:rPr>
                <a:t>lg</a:t>
              </a:r>
              <a:r>
                <a:rPr kumimoji="1" lang="en-US" altLang="zh-CN" kern="1200" cap="none" spc="0" normalizeH="0" baseline="0" noProof="0" dirty="0">
                  <a:latin typeface="Times New Roman" panose="02020603050405020304" pitchFamily="18" charset="0"/>
                  <a:ea typeface="幼圆" pitchFamily="49" charset="-122"/>
                  <a:cs typeface="+mn-cs"/>
                </a:rPr>
                <a:t> [</a:t>
              </a:r>
              <a:r>
                <a:rPr kumimoji="1" lang="en-US" altLang="zh-CN" i="1" kern="1200" cap="none" spc="0" normalizeH="0" baseline="0" noProof="0" dirty="0">
                  <a:latin typeface="Times New Roman" panose="02020603050405020304" pitchFamily="18" charset="0"/>
                  <a:ea typeface="幼圆" pitchFamily="49" charset="-122"/>
                  <a:cs typeface="+mn-cs"/>
                </a:rPr>
                <a:t>c</a:t>
              </a:r>
              <a:r>
                <a:rPr kumimoji="1" lang="en-US" altLang="zh-CN" kern="1200" cap="none" spc="0" normalizeH="0" baseline="0" noProof="0" dirty="0">
                  <a:latin typeface="Times New Roman" panose="02020603050405020304" pitchFamily="18" charset="0"/>
                  <a:ea typeface="幼圆" pitchFamily="49" charset="-122"/>
                  <a:cs typeface="+mn-cs"/>
                </a:rPr>
                <a:t>(H</a:t>
              </a:r>
              <a:r>
                <a:rPr kumimoji="1" lang="en-US" altLang="zh-CN" kern="1200" cap="none" spc="0" normalizeH="0" baseline="30000" noProof="0" dirty="0">
                  <a:latin typeface="Times New Roman" panose="02020603050405020304" pitchFamily="18" charset="0"/>
                  <a:ea typeface="幼圆" pitchFamily="49" charset="-122"/>
                  <a:cs typeface="+mn-cs"/>
                </a:rPr>
                <a:t>+</a:t>
              </a:r>
              <a:r>
                <a:rPr kumimoji="1" lang="en-US" altLang="zh-CN" kern="1200" cap="none" spc="0" normalizeH="0" baseline="0" noProof="0" dirty="0">
                  <a:latin typeface="Times New Roman" panose="02020603050405020304" pitchFamily="18" charset="0"/>
                  <a:ea typeface="幼圆" pitchFamily="49" charset="-122"/>
                  <a:cs typeface="+mn-cs"/>
                </a:rPr>
                <a:t>)/</a:t>
              </a:r>
              <a:r>
                <a:rPr kumimoji="1" lang="en-US" altLang="zh-CN" i="1" kern="1200" cap="none" spc="0" normalizeH="0" baseline="0" noProof="0" dirty="0">
                  <a:latin typeface="Times New Roman" panose="02020603050405020304" pitchFamily="18" charset="0"/>
                  <a:ea typeface="幼圆" pitchFamily="49" charset="-122"/>
                  <a:cs typeface="+mn-cs"/>
                </a:rPr>
                <a:t>c</a:t>
              </a:r>
              <a:r>
                <a:rPr kumimoji="1" lang="en-US" altLang="zh-CN" sz="1800" i="1" kern="1200" cap="none" spc="0" normalizeH="0" baseline="0" noProof="0" dirty="0">
                  <a:effectLst>
                    <a:outerShdw blurRad="38100" dist="38100" dir="2700000" algn="tl">
                      <a:srgbClr val="000000">
                        <a:alpha val="43137"/>
                      </a:srgbClr>
                    </a:outerShdw>
                  </a:effectLst>
                  <a:latin typeface="Times New Roman" panose="02020603050405020304" pitchFamily="18" charset="0"/>
                  <a:ea typeface="幼圆" pitchFamily="49" charset="-122"/>
                  <a:cs typeface="+mn-cs"/>
                </a:rPr>
                <a:t> </a:t>
              </a:r>
              <a:r>
                <a:rPr kumimoji="1" lang="en-US" altLang="zh-CN" kern="1200" cap="none" spc="0" normalizeH="0" baseline="0" noProof="0" dirty="0">
                  <a:latin typeface="Times New Roman" panose="02020603050405020304" pitchFamily="18" charset="0"/>
                  <a:ea typeface="幼圆" pitchFamily="49" charset="-122"/>
                  <a:cs typeface="+mn-cs"/>
                </a:rPr>
                <a:t> ]</a:t>
              </a:r>
              <a:r>
                <a:rPr kumimoji="1" lang="en-US" altLang="zh-CN" kern="1200" cap="none" spc="0" normalizeH="0" baseline="0" noProof="0" dirty="0">
                  <a:solidFill>
                    <a:schemeClr val="accent2"/>
                  </a:solidFill>
                  <a:latin typeface="Times New Roman" panose="02020603050405020304" pitchFamily="18" charset="0"/>
                  <a:ea typeface="幼圆" pitchFamily="49" charset="-122"/>
                  <a:cs typeface="+mn-cs"/>
                </a:rPr>
                <a:t> </a:t>
              </a:r>
              <a:endParaRPr kumimoji="0" lang="en-US" altLang="zh-CN" b="0" kern="1200" cap="none" spc="0" normalizeH="0" baseline="0" noProof="0" dirty="0">
                <a:latin typeface="Arial" panose="020B0604020202020204" pitchFamily="34" charset="0"/>
                <a:ea typeface="宋体" panose="02010600030101010101" pitchFamily="2" charset="-122"/>
                <a:cs typeface="+mn-cs"/>
              </a:endParaRPr>
            </a:p>
          </p:txBody>
        </p:sp>
        <p:grpSp>
          <p:nvGrpSpPr>
            <p:cNvPr id="41987" name="Group 24"/>
            <p:cNvGrpSpPr/>
            <p:nvPr/>
          </p:nvGrpSpPr>
          <p:grpSpPr>
            <a:xfrm>
              <a:off x="1837" y="754"/>
              <a:ext cx="45" cy="46"/>
              <a:chOff x="612" y="3521"/>
              <a:chExt cx="91" cy="91"/>
            </a:xfrm>
          </p:grpSpPr>
          <p:sp>
            <p:nvSpPr>
              <p:cNvPr id="41988" name="Oval 25"/>
              <p:cNvSpPr/>
              <p:nvPr/>
            </p:nvSpPr>
            <p:spPr>
              <a:xfrm>
                <a:off x="612" y="3521"/>
                <a:ext cx="91"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1989" name="Line 26"/>
              <p:cNvSpPr/>
              <p:nvPr/>
            </p:nvSpPr>
            <p:spPr>
              <a:xfrm>
                <a:off x="612" y="3566"/>
                <a:ext cx="91" cy="0"/>
              </a:xfrm>
              <a:prstGeom prst="line">
                <a:avLst/>
              </a:prstGeom>
              <a:ln w="9525" cap="flat" cmpd="sng">
                <a:solidFill>
                  <a:schemeClr val="tx1"/>
                </a:solidFill>
                <a:prstDash val="solid"/>
                <a:round/>
                <a:headEnd type="none" w="med" len="med"/>
                <a:tailEnd type="none" w="med" len="med"/>
              </a:ln>
            </p:spPr>
          </p:sp>
        </p:grpSp>
      </p:grpSp>
      <p:grpSp>
        <p:nvGrpSpPr>
          <p:cNvPr id="4" name="Group 63"/>
          <p:cNvGrpSpPr/>
          <p:nvPr/>
        </p:nvGrpSpPr>
        <p:grpSpPr>
          <a:xfrm>
            <a:off x="179388" y="1355725"/>
            <a:ext cx="8661400" cy="865188"/>
            <a:chOff x="113" y="1026"/>
            <a:chExt cx="5456" cy="726"/>
          </a:xfrm>
        </p:grpSpPr>
        <p:sp>
          <p:nvSpPr>
            <p:cNvPr id="41991" name="Line 30"/>
            <p:cNvSpPr/>
            <p:nvPr/>
          </p:nvSpPr>
          <p:spPr>
            <a:xfrm>
              <a:off x="113" y="1743"/>
              <a:ext cx="5444" cy="0"/>
            </a:xfrm>
            <a:prstGeom prst="line">
              <a:avLst/>
            </a:prstGeom>
            <a:ln w="28575" cap="sq" cmpd="sng">
              <a:solidFill>
                <a:schemeClr val="tx1"/>
              </a:solidFill>
              <a:prstDash val="solid"/>
              <a:round/>
              <a:headEnd type="none" w="med" len="med"/>
              <a:tailEnd type="none" w="med" len="med"/>
            </a:ln>
          </p:spPr>
        </p:sp>
        <p:sp>
          <p:nvSpPr>
            <p:cNvPr id="41992" name="Rectangle 31"/>
            <p:cNvSpPr/>
            <p:nvPr/>
          </p:nvSpPr>
          <p:spPr>
            <a:xfrm>
              <a:off x="4344" y="1028"/>
              <a:ext cx="1225"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zh-CN" altLang="en-US" dirty="0">
                  <a:latin typeface="Times New Roman" panose="02020603050405020304" pitchFamily="18" charset="0"/>
                  <a:ea typeface="幼圆" pitchFamily="49" charset="-122"/>
                </a:rPr>
                <a:t>碱性</a:t>
              </a:r>
              <a:endParaRPr lang="zh-CN" altLang="en-US" b="0" dirty="0">
                <a:latin typeface="Arial" panose="020B0604020202020204" pitchFamily="34" charset="0"/>
                <a:ea typeface="宋体" panose="02010600030101010101" pitchFamily="2" charset="-122"/>
              </a:endParaRPr>
            </a:p>
          </p:txBody>
        </p:sp>
        <p:sp>
          <p:nvSpPr>
            <p:cNvPr id="41993" name="Rectangle 32"/>
            <p:cNvSpPr/>
            <p:nvPr/>
          </p:nvSpPr>
          <p:spPr>
            <a:xfrm>
              <a:off x="3210" y="1028"/>
              <a:ext cx="1134"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zh-CN" altLang="en-US" dirty="0">
                  <a:latin typeface="Times New Roman" panose="02020603050405020304" pitchFamily="18" charset="0"/>
                  <a:ea typeface="幼圆" pitchFamily="49" charset="-122"/>
                </a:rPr>
                <a:t>中性</a:t>
              </a:r>
              <a:endParaRPr lang="zh-CN" altLang="en-US" b="0" dirty="0">
                <a:latin typeface="Arial" panose="020B0604020202020204" pitchFamily="34" charset="0"/>
                <a:ea typeface="宋体" panose="02010600030101010101" pitchFamily="2" charset="-122"/>
              </a:endParaRPr>
            </a:p>
          </p:txBody>
        </p:sp>
        <p:sp>
          <p:nvSpPr>
            <p:cNvPr id="41994" name="Rectangle 33"/>
            <p:cNvSpPr/>
            <p:nvPr/>
          </p:nvSpPr>
          <p:spPr>
            <a:xfrm>
              <a:off x="2031" y="1028"/>
              <a:ext cx="1179"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zh-CN" altLang="en-US" dirty="0">
                  <a:latin typeface="Times New Roman" panose="02020603050405020304" pitchFamily="18" charset="0"/>
                  <a:ea typeface="幼圆" pitchFamily="49" charset="-122"/>
                </a:rPr>
                <a:t>酸性</a:t>
              </a:r>
              <a:endParaRPr lang="zh-CN" altLang="en-US" b="0" dirty="0">
                <a:latin typeface="Arial" panose="020B0604020202020204" pitchFamily="34" charset="0"/>
                <a:ea typeface="宋体" panose="02010600030101010101" pitchFamily="2" charset="-122"/>
              </a:endParaRPr>
            </a:p>
          </p:txBody>
        </p:sp>
        <p:sp>
          <p:nvSpPr>
            <p:cNvPr id="41995" name="Rectangle 34"/>
            <p:cNvSpPr/>
            <p:nvPr/>
          </p:nvSpPr>
          <p:spPr>
            <a:xfrm>
              <a:off x="125" y="1028"/>
              <a:ext cx="1906"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zh-CN" altLang="en-US" dirty="0">
                  <a:latin typeface="Times New Roman" panose="02020603050405020304" pitchFamily="18" charset="0"/>
                  <a:ea typeface="宋体" panose="02010600030101010101" pitchFamily="2" charset="-122"/>
                </a:rPr>
                <a:t>溶液酸碱性</a:t>
              </a:r>
              <a:endParaRPr lang="zh-CN" altLang="en-US" b="0" dirty="0">
                <a:latin typeface="Arial" panose="020B0604020202020204" pitchFamily="34" charset="0"/>
                <a:ea typeface="宋体" panose="02010600030101010101" pitchFamily="2" charset="-122"/>
              </a:endParaRPr>
            </a:p>
          </p:txBody>
        </p:sp>
        <p:sp>
          <p:nvSpPr>
            <p:cNvPr id="41996" name="Line 35"/>
            <p:cNvSpPr/>
            <p:nvPr/>
          </p:nvSpPr>
          <p:spPr>
            <a:xfrm>
              <a:off x="113" y="1384"/>
              <a:ext cx="5444" cy="0"/>
            </a:xfrm>
            <a:prstGeom prst="line">
              <a:avLst/>
            </a:prstGeom>
            <a:ln w="12700" cap="flat" cmpd="sng">
              <a:solidFill>
                <a:schemeClr val="tx1"/>
              </a:solidFill>
              <a:prstDash val="solid"/>
              <a:round/>
              <a:headEnd type="none" w="med" len="med"/>
              <a:tailEnd type="none" w="med" len="med"/>
            </a:ln>
          </p:spPr>
        </p:sp>
        <p:sp>
          <p:nvSpPr>
            <p:cNvPr id="41997" name="Line 36"/>
            <p:cNvSpPr/>
            <p:nvPr/>
          </p:nvSpPr>
          <p:spPr>
            <a:xfrm>
              <a:off x="113" y="1027"/>
              <a:ext cx="0" cy="725"/>
            </a:xfrm>
            <a:prstGeom prst="line">
              <a:avLst/>
            </a:prstGeom>
            <a:ln w="28575" cap="sq" cmpd="sng">
              <a:solidFill>
                <a:schemeClr val="tx1"/>
              </a:solidFill>
              <a:prstDash val="solid"/>
              <a:round/>
              <a:headEnd type="none" w="med" len="med"/>
              <a:tailEnd type="none" w="med" len="med"/>
            </a:ln>
          </p:spPr>
        </p:sp>
        <p:sp>
          <p:nvSpPr>
            <p:cNvPr id="41998" name="Line 37"/>
            <p:cNvSpPr/>
            <p:nvPr/>
          </p:nvSpPr>
          <p:spPr>
            <a:xfrm>
              <a:off x="2019" y="1027"/>
              <a:ext cx="0" cy="725"/>
            </a:xfrm>
            <a:prstGeom prst="line">
              <a:avLst/>
            </a:prstGeom>
            <a:ln w="12700" cap="flat" cmpd="sng">
              <a:solidFill>
                <a:schemeClr val="tx1"/>
              </a:solidFill>
              <a:prstDash val="solid"/>
              <a:round/>
              <a:headEnd type="none" w="med" len="med"/>
              <a:tailEnd type="none" w="med" len="med"/>
            </a:ln>
          </p:spPr>
        </p:sp>
        <p:sp>
          <p:nvSpPr>
            <p:cNvPr id="41999" name="Line 38"/>
            <p:cNvSpPr/>
            <p:nvPr/>
          </p:nvSpPr>
          <p:spPr>
            <a:xfrm>
              <a:off x="3198" y="1027"/>
              <a:ext cx="0" cy="725"/>
            </a:xfrm>
            <a:prstGeom prst="line">
              <a:avLst/>
            </a:prstGeom>
            <a:ln w="12700" cap="flat" cmpd="sng">
              <a:solidFill>
                <a:schemeClr val="tx1"/>
              </a:solidFill>
              <a:prstDash val="solid"/>
              <a:round/>
              <a:headEnd type="none" w="med" len="med"/>
              <a:tailEnd type="none" w="med" len="med"/>
            </a:ln>
          </p:spPr>
        </p:sp>
        <p:sp>
          <p:nvSpPr>
            <p:cNvPr id="42000" name="Line 39"/>
            <p:cNvSpPr/>
            <p:nvPr/>
          </p:nvSpPr>
          <p:spPr>
            <a:xfrm>
              <a:off x="4332" y="1027"/>
              <a:ext cx="0" cy="725"/>
            </a:xfrm>
            <a:prstGeom prst="line">
              <a:avLst/>
            </a:prstGeom>
            <a:ln w="12700" cap="flat" cmpd="sng">
              <a:solidFill>
                <a:schemeClr val="tx1"/>
              </a:solidFill>
              <a:prstDash val="solid"/>
              <a:round/>
              <a:headEnd type="none" w="med" len="med"/>
              <a:tailEnd type="none" w="med" len="med"/>
            </a:ln>
          </p:spPr>
        </p:sp>
        <p:sp>
          <p:nvSpPr>
            <p:cNvPr id="42001" name="Line 40"/>
            <p:cNvSpPr/>
            <p:nvPr/>
          </p:nvSpPr>
          <p:spPr>
            <a:xfrm>
              <a:off x="5557" y="1027"/>
              <a:ext cx="0" cy="725"/>
            </a:xfrm>
            <a:prstGeom prst="line">
              <a:avLst/>
            </a:prstGeom>
            <a:ln w="28575" cap="sq" cmpd="sng">
              <a:solidFill>
                <a:schemeClr val="tx1"/>
              </a:solidFill>
              <a:prstDash val="solid"/>
              <a:round/>
              <a:headEnd type="none" w="med" len="med"/>
              <a:tailEnd type="none" w="med" len="med"/>
            </a:ln>
          </p:spPr>
        </p:sp>
        <p:sp>
          <p:nvSpPr>
            <p:cNvPr id="42002" name="Line 41"/>
            <p:cNvSpPr/>
            <p:nvPr/>
          </p:nvSpPr>
          <p:spPr>
            <a:xfrm>
              <a:off x="113" y="1026"/>
              <a:ext cx="5444" cy="0"/>
            </a:xfrm>
            <a:prstGeom prst="line">
              <a:avLst/>
            </a:prstGeom>
            <a:ln w="28575" cap="sq" cmpd="sng">
              <a:solidFill>
                <a:schemeClr val="tx1"/>
              </a:solidFill>
              <a:prstDash val="solid"/>
              <a:round/>
              <a:headEnd type="none" w="med" len="med"/>
              <a:tailEnd type="none" w="med" len="med"/>
            </a:ln>
          </p:spPr>
        </p:sp>
        <p:sp>
          <p:nvSpPr>
            <p:cNvPr id="42003" name="Rectangle 42"/>
            <p:cNvSpPr/>
            <p:nvPr/>
          </p:nvSpPr>
          <p:spPr>
            <a:xfrm>
              <a:off x="4332" y="1388"/>
              <a:ext cx="1225"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dirty="0">
                  <a:solidFill>
                    <a:srgbClr val="9900CC"/>
                  </a:solidFill>
                  <a:latin typeface="Times New Roman" panose="02020603050405020304" pitchFamily="18" charset="0"/>
                  <a:ea typeface="幼圆" pitchFamily="49" charset="-122"/>
                </a:rPr>
                <a:t>&gt;7</a:t>
              </a:r>
              <a:endParaRPr lang="en-US" altLang="zh-CN" b="0" dirty="0">
                <a:latin typeface="Arial" panose="020B0604020202020204" pitchFamily="34" charset="0"/>
                <a:ea typeface="宋体" panose="02010600030101010101" pitchFamily="2" charset="-122"/>
              </a:endParaRPr>
            </a:p>
          </p:txBody>
        </p:sp>
        <p:sp>
          <p:nvSpPr>
            <p:cNvPr id="42004" name="Rectangle 43"/>
            <p:cNvSpPr/>
            <p:nvPr/>
          </p:nvSpPr>
          <p:spPr>
            <a:xfrm>
              <a:off x="3198" y="1388"/>
              <a:ext cx="1134"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dirty="0">
                  <a:solidFill>
                    <a:srgbClr val="0000CC"/>
                  </a:solidFill>
                  <a:latin typeface="Times New Roman" panose="02020603050405020304" pitchFamily="18" charset="0"/>
                  <a:ea typeface="幼圆" pitchFamily="49" charset="-122"/>
                </a:rPr>
                <a:t>=7</a:t>
              </a:r>
              <a:endParaRPr lang="en-US" altLang="zh-CN" b="0" dirty="0">
                <a:solidFill>
                  <a:srgbClr val="0000CC"/>
                </a:solidFill>
                <a:latin typeface="Arial" panose="020B0604020202020204" pitchFamily="34" charset="0"/>
                <a:ea typeface="宋体" panose="02010600030101010101" pitchFamily="2" charset="-122"/>
              </a:endParaRPr>
            </a:p>
          </p:txBody>
        </p:sp>
        <p:sp>
          <p:nvSpPr>
            <p:cNvPr id="42005" name="Rectangle 44"/>
            <p:cNvSpPr/>
            <p:nvPr/>
          </p:nvSpPr>
          <p:spPr>
            <a:xfrm>
              <a:off x="2019" y="1388"/>
              <a:ext cx="1179"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dirty="0">
                  <a:solidFill>
                    <a:srgbClr val="FF3300"/>
                  </a:solidFill>
                  <a:latin typeface="Times New Roman" panose="02020603050405020304" pitchFamily="18" charset="0"/>
                  <a:ea typeface="幼圆" pitchFamily="49" charset="-122"/>
                </a:rPr>
                <a:t>&lt;7</a:t>
              </a:r>
              <a:endParaRPr lang="en-US" altLang="zh-CN" b="0" dirty="0">
                <a:latin typeface="Arial" panose="020B0604020202020204" pitchFamily="34" charset="0"/>
                <a:ea typeface="宋体" panose="02010600030101010101" pitchFamily="2" charset="-122"/>
              </a:endParaRPr>
            </a:p>
          </p:txBody>
        </p:sp>
        <p:sp>
          <p:nvSpPr>
            <p:cNvPr id="42006" name="Rectangle 45"/>
            <p:cNvSpPr/>
            <p:nvPr/>
          </p:nvSpPr>
          <p:spPr>
            <a:xfrm>
              <a:off x="113" y="1361"/>
              <a:ext cx="1906" cy="357"/>
            </a:xfrm>
            <a:prstGeom prst="rect">
              <a:avLst/>
            </a:prstGeom>
            <a:noFill/>
            <a:ln w="9525">
              <a:noFill/>
            </a:ln>
          </p:spPr>
          <p:txBody>
            <a:bodyPr lIns="0" tIns="0" rIns="0" bIns="0" anchor="t" anchorCtr="0"/>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pH</a:t>
              </a:r>
              <a:endParaRPr lang="en-US" altLang="zh-CN" b="0" dirty="0">
                <a:latin typeface="Arial" panose="020B0604020202020204" pitchFamily="34" charset="0"/>
                <a:ea typeface="宋体" panose="02010600030101010101" pitchFamily="2" charset="-122"/>
              </a:endParaRPr>
            </a:p>
          </p:txBody>
        </p:sp>
      </p:grpSp>
      <p:grpSp>
        <p:nvGrpSpPr>
          <p:cNvPr id="5" name="Group 60"/>
          <p:cNvGrpSpPr/>
          <p:nvPr/>
        </p:nvGrpSpPr>
        <p:grpSpPr>
          <a:xfrm>
            <a:off x="468316" y="2409834"/>
            <a:ext cx="4175125" cy="523479"/>
            <a:chOff x="295" y="2024"/>
            <a:chExt cx="2630" cy="440"/>
          </a:xfrm>
        </p:grpSpPr>
        <p:grpSp>
          <p:nvGrpSpPr>
            <p:cNvPr id="42008" name="Group 53"/>
            <p:cNvGrpSpPr/>
            <p:nvPr/>
          </p:nvGrpSpPr>
          <p:grpSpPr>
            <a:xfrm>
              <a:off x="2200" y="2115"/>
              <a:ext cx="63" cy="54"/>
              <a:chOff x="612" y="3521"/>
              <a:chExt cx="91" cy="91"/>
            </a:xfrm>
          </p:grpSpPr>
          <p:sp>
            <p:nvSpPr>
              <p:cNvPr id="42009" name="Oval 54"/>
              <p:cNvSpPr/>
              <p:nvPr/>
            </p:nvSpPr>
            <p:spPr>
              <a:xfrm>
                <a:off x="612" y="3521"/>
                <a:ext cx="91" cy="91"/>
              </a:xfrm>
              <a:prstGeom prst="ellipse">
                <a:avLst/>
              </a:prstGeom>
              <a:noFill/>
              <a:ln w="9525" cap="flat" cmpd="sng">
                <a:solidFill>
                  <a:srgbClr val="3333CC"/>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2010" name="Line 55"/>
              <p:cNvSpPr/>
              <p:nvPr/>
            </p:nvSpPr>
            <p:spPr>
              <a:xfrm>
                <a:off x="612" y="3566"/>
                <a:ext cx="91" cy="0"/>
              </a:xfrm>
              <a:prstGeom prst="line">
                <a:avLst/>
              </a:prstGeom>
              <a:ln w="9525" cap="flat" cmpd="sng">
                <a:solidFill>
                  <a:srgbClr val="3333CC"/>
                </a:solidFill>
                <a:prstDash val="solid"/>
                <a:round/>
                <a:headEnd type="none" w="med" len="med"/>
                <a:tailEnd type="none" w="med" len="med"/>
              </a:ln>
            </p:spPr>
          </p:sp>
        </p:grpSp>
        <p:sp>
          <p:nvSpPr>
            <p:cNvPr id="42011" name="Text Box 56"/>
            <p:cNvSpPr txBox="1"/>
            <p:nvPr/>
          </p:nvSpPr>
          <p:spPr>
            <a:xfrm>
              <a:off x="295" y="2024"/>
              <a:ext cx="2630" cy="440"/>
            </a:xfrm>
            <a:prstGeom prst="rect">
              <a:avLst/>
            </a:prstGeom>
            <a:noFill/>
            <a:ln w="9525">
              <a:noFill/>
            </a:ln>
          </p:spPr>
          <p:txBody>
            <a:bodyPr anchor="t" anchorCtr="0">
              <a:spAutoFit/>
            </a:bodyPr>
            <a:lstStyle/>
            <a:p>
              <a:pPr>
                <a:spcBef>
                  <a:spcPct val="50000"/>
                </a:spcBef>
                <a:buClrTx/>
                <a:buFontTx/>
              </a:pPr>
              <a:r>
                <a:rPr lang="en-US" altLang="zh-CN" dirty="0">
                  <a:latin typeface="Times New Roman" panose="02020603050405020304" pitchFamily="18" charset="0"/>
                  <a:ea typeface="幼圆" pitchFamily="49" charset="-122"/>
                </a:rPr>
                <a:t>pOH=-lg [</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(OH</a:t>
              </a:r>
              <a:r>
                <a:rPr lang="en-US" altLang="zh-CN" baseline="30000"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a:t>
              </a:r>
              <a:r>
                <a:rPr lang="en-US" altLang="zh-CN" i="1" dirty="0">
                  <a:latin typeface="Times New Roman" panose="02020603050405020304" pitchFamily="18" charset="0"/>
                  <a:ea typeface="幼圆" pitchFamily="49" charset="-122"/>
                </a:rPr>
                <a:t>c </a:t>
              </a:r>
              <a:r>
                <a:rPr lang="en-US" altLang="zh-CN" dirty="0">
                  <a:latin typeface="Times New Roman" panose="02020603050405020304" pitchFamily="18" charset="0"/>
                  <a:ea typeface="幼圆" pitchFamily="49" charset="-122"/>
                </a:rPr>
                <a:t> ]</a:t>
              </a:r>
              <a:endParaRPr lang="en-US" altLang="zh-CN" b="0" dirty="0">
                <a:latin typeface="Arial" panose="020B0604020202020204" pitchFamily="34" charset="0"/>
                <a:ea typeface="宋体" panose="02010600030101010101" pitchFamily="2" charset="-122"/>
              </a:endParaRPr>
            </a:p>
          </p:txBody>
        </p:sp>
      </p:grpSp>
      <p:grpSp>
        <p:nvGrpSpPr>
          <p:cNvPr id="7" name="Group 61"/>
          <p:cNvGrpSpPr/>
          <p:nvPr/>
        </p:nvGrpSpPr>
        <p:grpSpPr>
          <a:xfrm>
            <a:off x="323850" y="2787660"/>
            <a:ext cx="5113338" cy="523479"/>
            <a:chOff x="204" y="2341"/>
            <a:chExt cx="3221" cy="440"/>
          </a:xfrm>
        </p:grpSpPr>
        <p:sp>
          <p:nvSpPr>
            <p:cNvPr id="42013" name="Text Box 51"/>
            <p:cNvSpPr txBox="1"/>
            <p:nvPr/>
          </p:nvSpPr>
          <p:spPr>
            <a:xfrm>
              <a:off x="204" y="2341"/>
              <a:ext cx="3221" cy="440"/>
            </a:xfrm>
            <a:prstGeom prst="rect">
              <a:avLst/>
            </a:prstGeom>
            <a:noFill/>
            <a:ln w="9525">
              <a:noFill/>
            </a:ln>
          </p:spPr>
          <p:txBody>
            <a:bodyPr anchor="t" anchorCtr="0">
              <a:spAutoFit/>
            </a:bodyPr>
            <a:lstStyle/>
            <a:p>
              <a:pPr>
                <a:spcBef>
                  <a:spcPct val="50000"/>
                </a:spcBef>
                <a:buClrTx/>
                <a:buFontTx/>
              </a:pPr>
              <a:r>
                <a:rPr lang="en-US" altLang="zh-CN" dirty="0">
                  <a:latin typeface="Times New Roman" panose="02020603050405020304" pitchFamily="18" charset="0"/>
                  <a:ea typeface="幼圆" pitchFamily="49" charset="-122"/>
                </a:rPr>
                <a:t>pH=p</a:t>
              </a:r>
              <a:r>
                <a:rPr lang="en-US" altLang="zh-CN" i="1" dirty="0">
                  <a:latin typeface="Times New Roman" panose="02020603050405020304" pitchFamily="18" charset="0"/>
                  <a:ea typeface="幼圆" pitchFamily="49" charset="-122"/>
                </a:rPr>
                <a:t>K</a:t>
              </a:r>
              <a:r>
                <a:rPr lang="en-US" altLang="zh-CN" baseline="-25000" dirty="0">
                  <a:latin typeface="Times New Roman" panose="02020603050405020304" pitchFamily="18" charset="0"/>
                  <a:ea typeface="幼圆" pitchFamily="49" charset="-122"/>
                </a:rPr>
                <a:t>w</a:t>
              </a:r>
              <a:r>
                <a:rPr lang="en-US" altLang="zh-CN" dirty="0">
                  <a:latin typeface="Times New Roman" panose="02020603050405020304" pitchFamily="18" charset="0"/>
                  <a:ea typeface="幼圆" pitchFamily="49" charset="-122"/>
                </a:rPr>
                <a:t>-pOH=14-pOH</a:t>
              </a:r>
              <a:endParaRPr lang="en-US" altLang="zh-CN" b="0" dirty="0">
                <a:latin typeface="Arial" panose="020B0604020202020204" pitchFamily="34" charset="0"/>
                <a:ea typeface="宋体" panose="02010600030101010101" pitchFamily="2" charset="-122"/>
              </a:endParaRPr>
            </a:p>
          </p:txBody>
        </p:sp>
        <p:grpSp>
          <p:nvGrpSpPr>
            <p:cNvPr id="42014" name="Group 57"/>
            <p:cNvGrpSpPr/>
            <p:nvPr/>
          </p:nvGrpSpPr>
          <p:grpSpPr>
            <a:xfrm>
              <a:off x="975" y="2387"/>
              <a:ext cx="63" cy="54"/>
              <a:chOff x="612" y="3521"/>
              <a:chExt cx="91" cy="91"/>
            </a:xfrm>
          </p:grpSpPr>
          <p:sp>
            <p:nvSpPr>
              <p:cNvPr id="42015" name="Oval 58"/>
              <p:cNvSpPr/>
              <p:nvPr/>
            </p:nvSpPr>
            <p:spPr>
              <a:xfrm>
                <a:off x="612" y="3521"/>
                <a:ext cx="91" cy="91"/>
              </a:xfrm>
              <a:prstGeom prst="ellipse">
                <a:avLst/>
              </a:prstGeom>
              <a:noFill/>
              <a:ln w="9525" cap="flat" cmpd="sng">
                <a:solidFill>
                  <a:srgbClr val="3333CC"/>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2016" name="Line 59"/>
              <p:cNvSpPr/>
              <p:nvPr/>
            </p:nvSpPr>
            <p:spPr>
              <a:xfrm>
                <a:off x="612" y="3566"/>
                <a:ext cx="91" cy="0"/>
              </a:xfrm>
              <a:prstGeom prst="line">
                <a:avLst/>
              </a:prstGeom>
              <a:ln w="9525" cap="flat" cmpd="sng">
                <a:solidFill>
                  <a:srgbClr val="3333CC"/>
                </a:solidFill>
                <a:prstDash val="solid"/>
                <a:round/>
                <a:headEnd type="none" w="med" len="med"/>
                <a:tailEnd type="none" w="med" len="med"/>
              </a:ln>
            </p:spPr>
          </p:sp>
        </p:grpSp>
      </p:grpSp>
      <p:sp>
        <p:nvSpPr>
          <p:cNvPr id="34878" name="Text Box 62"/>
          <p:cNvSpPr txBox="1"/>
          <p:nvPr/>
        </p:nvSpPr>
        <p:spPr>
          <a:xfrm>
            <a:off x="539750" y="3503614"/>
            <a:ext cx="7488238" cy="1175706"/>
          </a:xfrm>
          <a:prstGeom prst="rect">
            <a:avLst/>
          </a:prstGeom>
          <a:gradFill rotWithShape="1">
            <a:gsLst>
              <a:gs pos="0">
                <a:srgbClr val="005E47"/>
              </a:gs>
              <a:gs pos="50000">
                <a:srgbClr val="00CC99"/>
              </a:gs>
              <a:gs pos="100000">
                <a:srgbClr val="005E47"/>
              </a:gs>
            </a:gsLst>
            <a:lin ang="5400000" scaled="1"/>
            <a:tileRect/>
          </a:gradFill>
          <a:ln w="9525">
            <a:noFill/>
          </a:ln>
        </p:spPr>
        <p:txBody>
          <a:bodyPr anchor="t" anchorCtr="0">
            <a:spAutoFit/>
          </a:bodyPr>
          <a:lstStyle/>
          <a:p>
            <a:pPr algn="ctr">
              <a:spcBef>
                <a:spcPct val="10000"/>
              </a:spcBef>
              <a:spcAft>
                <a:spcPct val="10000"/>
              </a:spcAft>
              <a:buClrTx/>
              <a:buFontTx/>
            </a:pPr>
            <a:r>
              <a:rPr lang="en-US" altLang="zh-CN" sz="3200" dirty="0">
                <a:solidFill>
                  <a:srgbClr val="FFFF00"/>
                </a:solidFill>
                <a:latin typeface="Times New Roman" panose="02020603050405020304" pitchFamily="18" charset="0"/>
                <a:ea typeface="幼圆" pitchFamily="49" charset="-122"/>
              </a:rPr>
              <a:t>pH</a:t>
            </a:r>
            <a:r>
              <a:rPr lang="zh-CN" altLang="en-US" sz="3200" dirty="0">
                <a:solidFill>
                  <a:srgbClr val="FFFF00"/>
                </a:solidFill>
                <a:latin typeface="Times New Roman" panose="02020603050405020304" pitchFamily="18" charset="0"/>
                <a:ea typeface="幼圆" pitchFamily="49" charset="-122"/>
              </a:rPr>
              <a:t>越小，溶液酸性越强 </a:t>
            </a:r>
            <a:endParaRPr lang="zh-CN" altLang="en-US" sz="3200" b="0" dirty="0">
              <a:latin typeface="Times New Roman" panose="02020603050405020304" pitchFamily="18" charset="0"/>
              <a:ea typeface="ˎ̥"/>
            </a:endParaRPr>
          </a:p>
          <a:p>
            <a:pPr algn="ctr">
              <a:spcBef>
                <a:spcPct val="10000"/>
              </a:spcBef>
              <a:spcAft>
                <a:spcPct val="10000"/>
              </a:spcAft>
              <a:buClrTx/>
              <a:buFontTx/>
            </a:pPr>
            <a:r>
              <a:rPr lang="en-US" altLang="zh-CN" sz="3200" dirty="0">
                <a:solidFill>
                  <a:srgbClr val="FFFF00"/>
                </a:solidFill>
                <a:latin typeface="Times New Roman" panose="02020603050405020304" pitchFamily="18" charset="0"/>
                <a:ea typeface="幼圆" pitchFamily="49" charset="-122"/>
              </a:rPr>
              <a:t>pH</a:t>
            </a:r>
            <a:r>
              <a:rPr lang="zh-CN" altLang="en-US" sz="3200" dirty="0">
                <a:solidFill>
                  <a:srgbClr val="FFFF00"/>
                </a:solidFill>
                <a:latin typeface="Times New Roman" panose="02020603050405020304" pitchFamily="18" charset="0"/>
                <a:ea typeface="幼圆" pitchFamily="49" charset="-122"/>
              </a:rPr>
              <a:t>越大，溶液碱性越强</a:t>
            </a:r>
            <a:endParaRPr lang="zh-CN" altLang="en-US" sz="3200" b="0" dirty="0">
              <a:latin typeface="Arial" panose="020B0604020202020204" pitchFamily="34" charset="0"/>
              <a:ea typeface="宋体" panose="02010600030101010101" pitchFamily="2" charset="-122"/>
            </a:endParaRPr>
          </a:p>
        </p:txBody>
      </p:sp>
      <p:sp>
        <p:nvSpPr>
          <p:cNvPr id="42018" name="Text Box 64"/>
          <p:cNvSpPr txBox="1"/>
          <p:nvPr/>
        </p:nvSpPr>
        <p:spPr>
          <a:xfrm>
            <a:off x="468313" y="195266"/>
            <a:ext cx="3529012" cy="535531"/>
          </a:xfrm>
          <a:prstGeom prst="rect">
            <a:avLst/>
          </a:prstGeom>
          <a:gradFill rotWithShape="1">
            <a:gsLst>
              <a:gs pos="0">
                <a:srgbClr val="181876"/>
              </a:gs>
              <a:gs pos="50000">
                <a:srgbClr val="3333FF"/>
              </a:gs>
              <a:gs pos="100000">
                <a:srgbClr val="181876"/>
              </a:gs>
            </a:gsLst>
            <a:lin ang="5400000" scaled="1"/>
            <a:tileRect/>
          </a:gradFill>
          <a:ln w="9525">
            <a:noFill/>
          </a:ln>
          <a:effectLst>
            <a:outerShdw sy="50000" kx="2453608" rotWithShape="0">
              <a:schemeClr val="bg2">
                <a:alpha val="50000"/>
              </a:schemeClr>
            </a:outerShdw>
          </a:effectLst>
        </p:spPr>
        <p:txBody>
          <a:bodyPr anchor="t" anchorCtr="0">
            <a:spAutoFit/>
          </a:bodyPr>
          <a:lstStyle/>
          <a:p>
            <a:pPr algn="ctr">
              <a:lnSpc>
                <a:spcPct val="80000"/>
              </a:lnSpc>
              <a:spcBef>
                <a:spcPct val="50000"/>
              </a:spcBef>
            </a:pPr>
            <a:r>
              <a:rPr lang="zh-CN" altLang="en-US" sz="3600" dirty="0">
                <a:solidFill>
                  <a:schemeClr val="bg1"/>
                </a:solidFill>
                <a:latin typeface="Times New Roman" panose="02020603050405020304" pitchFamily="18" charset="0"/>
                <a:ea typeface="幼圆" pitchFamily="49" charset="-122"/>
              </a:rPr>
              <a:t>溶液的</a:t>
            </a:r>
            <a:r>
              <a:rPr lang="en-US" altLang="zh-CN" sz="3600" dirty="0">
                <a:solidFill>
                  <a:schemeClr val="bg1"/>
                </a:solidFill>
                <a:latin typeface="Times New Roman" panose="02020603050405020304" pitchFamily="18" charset="0"/>
                <a:ea typeface="幼圆" pitchFamily="49" charset="-122"/>
              </a:rPr>
              <a:t>pH</a:t>
            </a:r>
            <a:endParaRPr lang="en-US" altLang="zh-CN" sz="1800" b="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34878"/>
                                        </p:tgtEl>
                                        <p:attrNameLst>
                                          <p:attrName>style.visibility</p:attrName>
                                        </p:attrNameLst>
                                      </p:cBhvr>
                                      <p:to>
                                        <p:strVal val="visible"/>
                                      </p:to>
                                    </p:set>
                                    <p:anim calcmode="lin" valueType="num">
                                      <p:cBhvr>
                                        <p:cTn id="27" dur="500" fill="hold"/>
                                        <p:tgtEl>
                                          <p:spTgt spid="34878"/>
                                        </p:tgtEl>
                                        <p:attrNameLst>
                                          <p:attrName>ppt_w</p:attrName>
                                        </p:attrNameLst>
                                      </p:cBhvr>
                                      <p:tavLst>
                                        <p:tav tm="0">
                                          <p:val>
                                            <p:fltVal val="0"/>
                                          </p:val>
                                        </p:tav>
                                        <p:tav tm="100000">
                                          <p:val>
                                            <p:strVal val="#ppt_w"/>
                                          </p:val>
                                        </p:tav>
                                      </p:tavLst>
                                    </p:anim>
                                    <p:anim calcmode="lin" valueType="num">
                                      <p:cBhvr>
                                        <p:cTn id="28" dur="500" fill="hold"/>
                                        <p:tgtEl>
                                          <p:spTgt spid="34878"/>
                                        </p:tgtEl>
                                        <p:attrNameLst>
                                          <p:attrName>ppt_h</p:attrName>
                                        </p:attrNameLst>
                                      </p:cBhvr>
                                      <p:tavLst>
                                        <p:tav tm="0">
                                          <p:val>
                                            <p:fltVal val="0"/>
                                          </p:val>
                                        </p:tav>
                                        <p:tav tm="100000">
                                          <p:val>
                                            <p:strVal val="#ppt_h"/>
                                          </p:val>
                                        </p:tav>
                                      </p:tavLst>
                                    </p:anim>
                                    <p:animEffect transition="in" filter="fade">
                                      <p:cBhvr>
                                        <p:cTn id="29" dur="500"/>
                                        <p:tgtEl>
                                          <p:spTgt spid="34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7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13"/>
          <p:cNvSpPr/>
          <p:nvPr/>
        </p:nvSpPr>
        <p:spPr>
          <a:xfrm>
            <a:off x="6" y="842963"/>
            <a:ext cx="4379725" cy="523220"/>
          </a:xfrm>
          <a:prstGeom prst="rect">
            <a:avLst/>
          </a:prstGeom>
          <a:solidFill>
            <a:srgbClr val="92D050"/>
          </a:solidFill>
          <a:ln w="12700">
            <a:noFill/>
          </a:ln>
        </p:spPr>
        <p:txBody>
          <a:bodyPr wrap="none" anchor="t" anchorCtr="0">
            <a:spAutoFit/>
          </a:bodyPr>
          <a:lstStyle/>
          <a:p>
            <a:r>
              <a:rPr lang="en-US" altLang="zh-CN" dirty="0">
                <a:solidFill>
                  <a:srgbClr val="C00000"/>
                </a:solidFill>
                <a:latin typeface="华文新魏" pitchFamily="2" charset="-122"/>
                <a:ea typeface="华文新魏" pitchFamily="2" charset="-122"/>
              </a:rPr>
              <a:t>1.</a:t>
            </a:r>
            <a:r>
              <a:rPr lang="zh-CN" altLang="en-US" dirty="0">
                <a:solidFill>
                  <a:srgbClr val="C00000"/>
                </a:solidFill>
                <a:latin typeface="华文新魏" pitchFamily="2" charset="-122"/>
                <a:ea typeface="华文新魏" pitchFamily="2" charset="-122"/>
              </a:rPr>
              <a:t>一元弱酸（弱碱）的解离</a:t>
            </a:r>
          </a:p>
        </p:txBody>
      </p:sp>
      <p:grpSp>
        <p:nvGrpSpPr>
          <p:cNvPr id="2" name="Group 72"/>
          <p:cNvGrpSpPr/>
          <p:nvPr/>
        </p:nvGrpSpPr>
        <p:grpSpPr>
          <a:xfrm>
            <a:off x="203994" y="1466853"/>
            <a:ext cx="8351838" cy="2138363"/>
            <a:chOff x="117" y="970"/>
            <a:chExt cx="5261" cy="1796"/>
          </a:xfrm>
        </p:grpSpPr>
        <p:grpSp>
          <p:nvGrpSpPr>
            <p:cNvPr id="3" name="Group 50"/>
            <p:cNvGrpSpPr/>
            <p:nvPr/>
          </p:nvGrpSpPr>
          <p:grpSpPr>
            <a:xfrm>
              <a:off x="521" y="1389"/>
              <a:ext cx="3811" cy="729"/>
              <a:chOff x="646" y="1706"/>
              <a:chExt cx="3811" cy="729"/>
            </a:xfrm>
          </p:grpSpPr>
          <p:sp>
            <p:nvSpPr>
              <p:cNvPr id="43012" name="Text Box 16"/>
              <p:cNvSpPr txBox="1"/>
              <p:nvPr/>
            </p:nvSpPr>
            <p:spPr>
              <a:xfrm>
                <a:off x="1826" y="1706"/>
                <a:ext cx="2631" cy="729"/>
              </a:xfrm>
              <a:prstGeom prst="rect">
                <a:avLst/>
              </a:prstGeom>
              <a:noFill/>
              <a:ln w="9525">
                <a:noFill/>
              </a:ln>
            </p:spPr>
            <p:txBody>
              <a:bodyPr anchor="t" anchorCtr="0">
                <a:spAutoFit/>
              </a:bodyPr>
              <a:lstStyle/>
              <a:p>
                <a:pPr>
                  <a:spcBef>
                    <a:spcPct val="50000"/>
                  </a:spcBef>
                  <a:buClrTx/>
                  <a:buFontTx/>
                </a:pPr>
                <a:r>
                  <a:rPr lang="en-US" altLang="zh-CN" dirty="0">
                    <a:latin typeface="Times New Roman" panose="02020603050405020304" pitchFamily="18" charset="0"/>
                    <a:ea typeface="幼圆" pitchFamily="49" charset="-122"/>
                  </a:rPr>
                  <a:t>[</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(H</a:t>
                </a:r>
                <a:r>
                  <a:rPr lang="en-US" altLang="zh-CN" baseline="30000"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  ][</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(Ac</a:t>
                </a:r>
                <a:r>
                  <a:rPr lang="en-US" altLang="zh-CN" baseline="30000"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  ] </a:t>
                </a:r>
                <a:endParaRPr lang="en-US" altLang="zh-CN" b="0" dirty="0">
                  <a:latin typeface="Times New Roman" panose="02020603050405020304" pitchFamily="18" charset="0"/>
                  <a:ea typeface="ˎ̥"/>
                </a:endParaRPr>
              </a:p>
              <a:p>
                <a:pPr>
                  <a:lnSpc>
                    <a:spcPct val="30000"/>
                  </a:lnSpc>
                  <a:spcBef>
                    <a:spcPct val="50000"/>
                  </a:spcBef>
                  <a:buClrTx/>
                  <a:buFontTx/>
                </a:pPr>
                <a:r>
                  <a:rPr lang="en-US" altLang="zh-CN" dirty="0">
                    <a:latin typeface="Times New Roman" panose="02020603050405020304" pitchFamily="18" charset="0"/>
                    <a:ea typeface="幼圆" pitchFamily="49" charset="-122"/>
                  </a:rPr>
                  <a:t>        [</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(HAc)/</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  ]</a:t>
                </a:r>
                <a:endParaRPr lang="en-US" altLang="zh-CN" b="0" dirty="0">
                  <a:latin typeface="Arial" panose="020B0604020202020204" pitchFamily="34" charset="0"/>
                  <a:ea typeface="宋体" panose="02010600030101010101" pitchFamily="2" charset="-122"/>
                </a:endParaRPr>
              </a:p>
            </p:txBody>
          </p:sp>
          <p:sp>
            <p:nvSpPr>
              <p:cNvPr id="43013" name="Text Box 17"/>
              <p:cNvSpPr txBox="1"/>
              <p:nvPr/>
            </p:nvSpPr>
            <p:spPr>
              <a:xfrm>
                <a:off x="646" y="1888"/>
                <a:ext cx="3629" cy="439"/>
              </a:xfrm>
              <a:prstGeom prst="rect">
                <a:avLst/>
              </a:prstGeom>
              <a:noFill/>
              <a:ln w="9525">
                <a:noFill/>
              </a:ln>
            </p:spPr>
            <p:txBody>
              <a:bodyPr anchor="t" anchorCtr="0">
                <a:spAutoFit/>
              </a:bodyPr>
              <a:lstStyle/>
              <a:p>
                <a:pPr>
                  <a:spcBef>
                    <a:spcPct val="50000"/>
                  </a:spcBef>
                  <a:buClrTx/>
                  <a:buFontTx/>
                </a:pPr>
                <a:r>
                  <a:rPr lang="en-US" altLang="zh-CN" i="1" dirty="0">
                    <a:latin typeface="Times New Roman" panose="02020603050405020304" pitchFamily="18" charset="0"/>
                    <a:ea typeface="幼圆" pitchFamily="49" charset="-122"/>
                  </a:rPr>
                  <a:t>K</a:t>
                </a:r>
                <a:r>
                  <a:rPr lang="en-US" altLang="zh-CN" i="1" baseline="-25000" dirty="0">
                    <a:latin typeface="Times New Roman" panose="02020603050405020304" pitchFamily="18" charset="0"/>
                    <a:ea typeface="幼圆" pitchFamily="49" charset="-122"/>
                  </a:rPr>
                  <a:t>a</a:t>
                </a:r>
                <a:r>
                  <a:rPr lang="en-US" altLang="zh-CN" baseline="-25000"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(HAc)=  </a:t>
                </a:r>
                <a:endParaRPr lang="en-US" altLang="zh-CN" b="0" dirty="0">
                  <a:latin typeface="Arial" panose="020B0604020202020204" pitchFamily="34" charset="0"/>
                  <a:ea typeface="宋体" panose="02010600030101010101" pitchFamily="2" charset="-122"/>
                </a:endParaRPr>
              </a:p>
            </p:txBody>
          </p:sp>
          <p:sp>
            <p:nvSpPr>
              <p:cNvPr id="43014" name="Line 18"/>
              <p:cNvSpPr/>
              <p:nvPr/>
            </p:nvSpPr>
            <p:spPr>
              <a:xfrm>
                <a:off x="1701" y="2119"/>
                <a:ext cx="2404" cy="0"/>
              </a:xfrm>
              <a:prstGeom prst="line">
                <a:avLst/>
              </a:prstGeom>
              <a:ln w="9525" cap="flat" cmpd="sng">
                <a:solidFill>
                  <a:schemeClr val="tx1"/>
                </a:solidFill>
                <a:prstDash val="solid"/>
                <a:round/>
                <a:headEnd type="none" w="med" len="med"/>
                <a:tailEnd type="none" w="med" len="med"/>
              </a:ln>
            </p:spPr>
          </p:sp>
          <p:grpSp>
            <p:nvGrpSpPr>
              <p:cNvPr id="43015" name="Group 19"/>
              <p:cNvGrpSpPr/>
              <p:nvPr/>
            </p:nvGrpSpPr>
            <p:grpSpPr>
              <a:xfrm>
                <a:off x="884" y="1933"/>
                <a:ext cx="91" cy="91"/>
                <a:chOff x="567" y="3294"/>
                <a:chExt cx="90" cy="91"/>
              </a:xfrm>
            </p:grpSpPr>
            <p:sp>
              <p:nvSpPr>
                <p:cNvPr id="43016" name="Oval 20"/>
                <p:cNvSpPr/>
                <p:nvPr/>
              </p:nvSpPr>
              <p:spPr>
                <a:xfrm>
                  <a:off x="567" y="3294"/>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3017" name="Line 21"/>
                <p:cNvSpPr/>
                <p:nvPr/>
              </p:nvSpPr>
              <p:spPr>
                <a:xfrm>
                  <a:off x="567" y="3339"/>
                  <a:ext cx="90" cy="0"/>
                </a:xfrm>
                <a:prstGeom prst="line">
                  <a:avLst/>
                </a:prstGeom>
                <a:ln w="9525" cap="flat" cmpd="sng">
                  <a:solidFill>
                    <a:schemeClr val="tx1"/>
                  </a:solidFill>
                  <a:prstDash val="solid"/>
                  <a:round/>
                  <a:headEnd type="none" w="med" len="med"/>
                  <a:tailEnd type="none" w="med" len="med"/>
                </a:ln>
              </p:spPr>
            </p:sp>
          </p:grpSp>
          <p:grpSp>
            <p:nvGrpSpPr>
              <p:cNvPr id="43018" name="Group 22"/>
              <p:cNvGrpSpPr/>
              <p:nvPr/>
            </p:nvGrpSpPr>
            <p:grpSpPr>
              <a:xfrm>
                <a:off x="2654" y="1797"/>
                <a:ext cx="90" cy="91"/>
                <a:chOff x="567" y="3294"/>
                <a:chExt cx="90" cy="91"/>
              </a:xfrm>
            </p:grpSpPr>
            <p:sp>
              <p:nvSpPr>
                <p:cNvPr id="43019" name="Oval 23"/>
                <p:cNvSpPr/>
                <p:nvPr/>
              </p:nvSpPr>
              <p:spPr>
                <a:xfrm>
                  <a:off x="567" y="3294"/>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3020" name="Line 24"/>
                <p:cNvSpPr/>
                <p:nvPr/>
              </p:nvSpPr>
              <p:spPr>
                <a:xfrm>
                  <a:off x="567" y="3339"/>
                  <a:ext cx="90" cy="0"/>
                </a:xfrm>
                <a:prstGeom prst="line">
                  <a:avLst/>
                </a:prstGeom>
                <a:ln w="9525" cap="flat" cmpd="sng">
                  <a:solidFill>
                    <a:schemeClr val="tx1"/>
                  </a:solidFill>
                  <a:prstDash val="solid"/>
                  <a:round/>
                  <a:headEnd type="none" w="med" len="med"/>
                  <a:tailEnd type="none" w="med" len="med"/>
                </a:ln>
              </p:spPr>
            </p:sp>
          </p:grpSp>
          <p:grpSp>
            <p:nvGrpSpPr>
              <p:cNvPr id="43021" name="Group 25"/>
              <p:cNvGrpSpPr/>
              <p:nvPr/>
            </p:nvGrpSpPr>
            <p:grpSpPr>
              <a:xfrm>
                <a:off x="3651" y="1752"/>
                <a:ext cx="90" cy="90"/>
                <a:chOff x="567" y="3294"/>
                <a:chExt cx="90" cy="91"/>
              </a:xfrm>
            </p:grpSpPr>
            <p:sp>
              <p:nvSpPr>
                <p:cNvPr id="43022" name="Oval 26"/>
                <p:cNvSpPr/>
                <p:nvPr/>
              </p:nvSpPr>
              <p:spPr>
                <a:xfrm>
                  <a:off x="567" y="3294"/>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3023" name="Line 27"/>
                <p:cNvSpPr/>
                <p:nvPr/>
              </p:nvSpPr>
              <p:spPr>
                <a:xfrm>
                  <a:off x="567" y="3339"/>
                  <a:ext cx="90" cy="0"/>
                </a:xfrm>
                <a:prstGeom prst="line">
                  <a:avLst/>
                </a:prstGeom>
                <a:ln w="9525" cap="flat" cmpd="sng">
                  <a:solidFill>
                    <a:schemeClr val="tx1"/>
                  </a:solidFill>
                  <a:prstDash val="solid"/>
                  <a:round/>
                  <a:headEnd type="none" w="med" len="med"/>
                  <a:tailEnd type="none" w="med" len="med"/>
                </a:ln>
              </p:spPr>
            </p:sp>
          </p:grpSp>
          <p:grpSp>
            <p:nvGrpSpPr>
              <p:cNvPr id="43024" name="Group 28"/>
              <p:cNvGrpSpPr/>
              <p:nvPr/>
            </p:nvGrpSpPr>
            <p:grpSpPr>
              <a:xfrm>
                <a:off x="3288" y="2024"/>
                <a:ext cx="90" cy="91"/>
                <a:chOff x="567" y="3294"/>
                <a:chExt cx="90" cy="91"/>
              </a:xfrm>
            </p:grpSpPr>
            <p:sp>
              <p:nvSpPr>
                <p:cNvPr id="43025" name="Oval 29"/>
                <p:cNvSpPr/>
                <p:nvPr/>
              </p:nvSpPr>
              <p:spPr>
                <a:xfrm>
                  <a:off x="567" y="3294"/>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3026" name="Line 30"/>
                <p:cNvSpPr/>
                <p:nvPr/>
              </p:nvSpPr>
              <p:spPr>
                <a:xfrm>
                  <a:off x="567" y="3339"/>
                  <a:ext cx="90" cy="0"/>
                </a:xfrm>
                <a:prstGeom prst="line">
                  <a:avLst/>
                </a:prstGeom>
                <a:ln w="9525" cap="flat" cmpd="sng">
                  <a:solidFill>
                    <a:schemeClr val="tx1"/>
                  </a:solidFill>
                  <a:prstDash val="solid"/>
                  <a:round/>
                  <a:headEnd type="none" w="med" len="med"/>
                  <a:tailEnd type="none" w="med" len="med"/>
                </a:ln>
              </p:spPr>
            </p:sp>
          </p:grpSp>
        </p:grpSp>
        <p:grpSp>
          <p:nvGrpSpPr>
            <p:cNvPr id="43027" name="Group 51"/>
            <p:cNvGrpSpPr/>
            <p:nvPr/>
          </p:nvGrpSpPr>
          <p:grpSpPr>
            <a:xfrm>
              <a:off x="117" y="970"/>
              <a:ext cx="5261" cy="439"/>
              <a:chOff x="117" y="1106"/>
              <a:chExt cx="5261" cy="439"/>
            </a:xfrm>
          </p:grpSpPr>
          <p:sp>
            <p:nvSpPr>
              <p:cNvPr id="43028" name="Text Box 32"/>
              <p:cNvSpPr txBox="1"/>
              <p:nvPr/>
            </p:nvSpPr>
            <p:spPr>
              <a:xfrm>
                <a:off x="117" y="1106"/>
                <a:ext cx="5261" cy="439"/>
              </a:xfrm>
              <a:prstGeom prst="rect">
                <a:avLst/>
              </a:prstGeom>
              <a:noFill/>
              <a:ln w="9525">
                <a:noFill/>
              </a:ln>
            </p:spPr>
            <p:txBody>
              <a:bodyPr anchor="t" anchorCtr="0">
                <a:spAutoFit/>
              </a:bodyPr>
              <a:lstStyle/>
              <a:p>
                <a:pPr>
                  <a:spcBef>
                    <a:spcPct val="50000"/>
                  </a:spcBef>
                  <a:buClrTx/>
                  <a:buFontTx/>
                </a:pPr>
                <a:r>
                  <a:rPr lang="zh-CN" altLang="en-US" dirty="0">
                    <a:solidFill>
                      <a:srgbClr val="0000FF"/>
                    </a:solidFill>
                    <a:latin typeface="Times New Roman" panose="02020603050405020304" pitchFamily="18" charset="0"/>
                    <a:ea typeface="宋体" panose="02010600030101010101" pitchFamily="2" charset="-122"/>
                  </a:rPr>
                  <a:t>一元弱酸</a:t>
                </a:r>
                <a:r>
                  <a:rPr lang="zh-CN" altLang="en-US"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HAc(aq)         H</a:t>
                </a:r>
                <a:r>
                  <a:rPr lang="en-US" altLang="zh-CN" baseline="30000"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(aq) + Ac</a:t>
                </a:r>
                <a:r>
                  <a:rPr lang="en-US" altLang="zh-CN" baseline="30000"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(aq)</a:t>
                </a:r>
                <a:endParaRPr lang="en-US" altLang="zh-CN" b="0" dirty="0">
                  <a:latin typeface="Arial" panose="020B0604020202020204" pitchFamily="34" charset="0"/>
                  <a:ea typeface="宋体" panose="02010600030101010101" pitchFamily="2" charset="-122"/>
                </a:endParaRPr>
              </a:p>
            </p:txBody>
          </p:sp>
          <p:grpSp>
            <p:nvGrpSpPr>
              <p:cNvPr id="43029" name="Group 33"/>
              <p:cNvGrpSpPr/>
              <p:nvPr/>
            </p:nvGrpSpPr>
            <p:grpSpPr>
              <a:xfrm>
                <a:off x="2245" y="1344"/>
                <a:ext cx="409" cy="121"/>
                <a:chOff x="657" y="1752"/>
                <a:chExt cx="409" cy="121"/>
              </a:xfrm>
            </p:grpSpPr>
            <p:grpSp>
              <p:nvGrpSpPr>
                <p:cNvPr id="43030" name="Group 34"/>
                <p:cNvGrpSpPr/>
                <p:nvPr/>
              </p:nvGrpSpPr>
              <p:grpSpPr>
                <a:xfrm>
                  <a:off x="657" y="1752"/>
                  <a:ext cx="409" cy="45"/>
                  <a:chOff x="657" y="1752"/>
                  <a:chExt cx="409" cy="45"/>
                </a:xfrm>
              </p:grpSpPr>
              <p:sp>
                <p:nvSpPr>
                  <p:cNvPr id="43031" name="Line 35"/>
                  <p:cNvSpPr/>
                  <p:nvPr/>
                </p:nvSpPr>
                <p:spPr>
                  <a:xfrm>
                    <a:off x="657" y="1797"/>
                    <a:ext cx="409" cy="0"/>
                  </a:xfrm>
                  <a:prstGeom prst="line">
                    <a:avLst/>
                  </a:prstGeom>
                  <a:ln w="9525" cap="flat" cmpd="sng">
                    <a:solidFill>
                      <a:schemeClr val="tx1"/>
                    </a:solidFill>
                    <a:prstDash val="solid"/>
                    <a:round/>
                    <a:headEnd type="none" w="med" len="med"/>
                    <a:tailEnd type="none" w="med" len="med"/>
                  </a:ln>
                </p:spPr>
              </p:sp>
              <p:sp>
                <p:nvSpPr>
                  <p:cNvPr id="43032" name="Line 36"/>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nvGrpSpPr>
                <p:cNvPr id="43033" name="Group 37"/>
                <p:cNvGrpSpPr/>
                <p:nvPr/>
              </p:nvGrpSpPr>
              <p:grpSpPr>
                <a:xfrm flipH="1" flipV="1">
                  <a:off x="657" y="1828"/>
                  <a:ext cx="409" cy="45"/>
                  <a:chOff x="657" y="1752"/>
                  <a:chExt cx="409" cy="45"/>
                </a:xfrm>
              </p:grpSpPr>
              <p:sp>
                <p:nvSpPr>
                  <p:cNvPr id="43034" name="Line 38"/>
                  <p:cNvSpPr/>
                  <p:nvPr/>
                </p:nvSpPr>
                <p:spPr>
                  <a:xfrm>
                    <a:off x="657" y="1797"/>
                    <a:ext cx="409" cy="0"/>
                  </a:xfrm>
                  <a:prstGeom prst="line">
                    <a:avLst/>
                  </a:prstGeom>
                  <a:ln w="9525" cap="flat" cmpd="sng">
                    <a:solidFill>
                      <a:schemeClr val="tx1"/>
                    </a:solidFill>
                    <a:prstDash val="solid"/>
                    <a:round/>
                    <a:headEnd type="none" w="med" len="med"/>
                    <a:tailEnd type="none" w="med" len="med"/>
                  </a:ln>
                </p:spPr>
              </p:sp>
              <p:sp>
                <p:nvSpPr>
                  <p:cNvPr id="43035" name="Line 39"/>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grpSp>
        <p:grpSp>
          <p:nvGrpSpPr>
            <p:cNvPr id="43036" name="Group 53"/>
            <p:cNvGrpSpPr/>
            <p:nvPr/>
          </p:nvGrpSpPr>
          <p:grpSpPr>
            <a:xfrm>
              <a:off x="204" y="1935"/>
              <a:ext cx="4558" cy="831"/>
              <a:chOff x="204" y="2342"/>
              <a:chExt cx="4558" cy="831"/>
            </a:xfrm>
          </p:grpSpPr>
          <p:sp>
            <p:nvSpPr>
              <p:cNvPr id="43037" name="Text Box 45"/>
              <p:cNvSpPr txBox="1"/>
              <p:nvPr/>
            </p:nvSpPr>
            <p:spPr>
              <a:xfrm>
                <a:off x="204" y="2342"/>
                <a:ext cx="1043" cy="439"/>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宋体" panose="02010600030101010101" pitchFamily="2" charset="-122"/>
                  </a:rPr>
                  <a:t>简化为</a:t>
                </a:r>
                <a:endParaRPr lang="zh-CN" altLang="en-US" b="0" dirty="0">
                  <a:latin typeface="Arial" panose="020B0604020202020204" pitchFamily="34" charset="0"/>
                  <a:ea typeface="宋体" panose="02010600030101010101" pitchFamily="2" charset="-122"/>
                </a:endParaRPr>
              </a:p>
            </p:txBody>
          </p:sp>
          <p:grpSp>
            <p:nvGrpSpPr>
              <p:cNvPr id="43038" name="Group 52"/>
              <p:cNvGrpSpPr/>
              <p:nvPr/>
            </p:nvGrpSpPr>
            <p:grpSpPr>
              <a:xfrm>
                <a:off x="1133" y="2444"/>
                <a:ext cx="3629" cy="729"/>
                <a:chOff x="1405" y="2763"/>
                <a:chExt cx="3629" cy="729"/>
              </a:xfrm>
            </p:grpSpPr>
            <p:sp>
              <p:nvSpPr>
                <p:cNvPr id="43039" name="Line 41"/>
                <p:cNvSpPr/>
                <p:nvPr/>
              </p:nvSpPr>
              <p:spPr>
                <a:xfrm>
                  <a:off x="2517" y="3151"/>
                  <a:ext cx="1406" cy="0"/>
                </a:xfrm>
                <a:prstGeom prst="line">
                  <a:avLst/>
                </a:prstGeom>
                <a:ln w="9525" cap="flat" cmpd="sng">
                  <a:solidFill>
                    <a:schemeClr val="tx1"/>
                  </a:solidFill>
                  <a:prstDash val="solid"/>
                  <a:round/>
                  <a:headEnd type="none" w="med" len="med"/>
                  <a:tailEnd type="none" w="med" len="med"/>
                </a:ln>
              </p:spPr>
            </p:sp>
            <p:sp>
              <p:nvSpPr>
                <p:cNvPr id="43040" name="Text Box 44"/>
                <p:cNvSpPr txBox="1"/>
                <p:nvPr/>
              </p:nvSpPr>
              <p:spPr>
                <a:xfrm>
                  <a:off x="2403" y="2763"/>
                  <a:ext cx="2631" cy="729"/>
                </a:xfrm>
                <a:prstGeom prst="rect">
                  <a:avLst/>
                </a:prstGeom>
                <a:noFill/>
                <a:ln w="9525">
                  <a:noFill/>
                </a:ln>
              </p:spPr>
              <p:txBody>
                <a:bodyPr anchor="t" anchorCtr="0">
                  <a:spAutoFit/>
                </a:bodyPr>
                <a:lstStyle/>
                <a:p>
                  <a:pPr>
                    <a:spcBef>
                      <a:spcPct val="50000"/>
                    </a:spcBef>
                    <a:buClrTx/>
                    <a:buFontTx/>
                  </a:pP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(H</a:t>
                  </a:r>
                  <a:r>
                    <a:rPr lang="en-US" altLang="zh-CN" baseline="30000"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(Ac</a:t>
                  </a:r>
                  <a:r>
                    <a:rPr lang="en-US" altLang="zh-CN" baseline="30000" dirty="0">
                      <a:latin typeface="幼圆" pitchFamily="49" charset="-122"/>
                      <a:ea typeface="幼圆" pitchFamily="49" charset="-122"/>
                    </a:rPr>
                    <a:t>-</a:t>
                  </a:r>
                  <a:r>
                    <a:rPr lang="en-US" altLang="zh-CN" dirty="0">
                      <a:latin typeface="Times New Roman" panose="02020603050405020304" pitchFamily="18" charset="0"/>
                      <a:ea typeface="幼圆" pitchFamily="49" charset="-122"/>
                    </a:rPr>
                    <a:t>) </a:t>
                  </a:r>
                  <a:endParaRPr lang="en-US" altLang="zh-CN" b="0" dirty="0">
                    <a:latin typeface="Times New Roman" panose="02020603050405020304" pitchFamily="18" charset="0"/>
                    <a:ea typeface="ˎ̥"/>
                  </a:endParaRPr>
                </a:p>
                <a:p>
                  <a:pPr>
                    <a:lnSpc>
                      <a:spcPct val="30000"/>
                    </a:lnSpc>
                    <a:spcBef>
                      <a:spcPct val="50000"/>
                    </a:spcBef>
                    <a:buClrTx/>
                    <a:buFontTx/>
                  </a:pPr>
                  <a:r>
                    <a:rPr lang="zh-CN" altLang="en-US" i="1" dirty="0">
                      <a:latin typeface="Times New Roman" panose="02020603050405020304" pitchFamily="18" charset="0"/>
                      <a:ea typeface="幼圆" pitchFamily="49" charset="-122"/>
                    </a:rPr>
                    <a:t>　</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(HAc) </a:t>
                  </a:r>
                  <a:endParaRPr lang="en-US" altLang="zh-CN" b="0" dirty="0">
                    <a:latin typeface="Arial" panose="020B0604020202020204" pitchFamily="34" charset="0"/>
                    <a:ea typeface="宋体" panose="02010600030101010101" pitchFamily="2" charset="-122"/>
                  </a:endParaRPr>
                </a:p>
              </p:txBody>
            </p:sp>
            <p:sp>
              <p:nvSpPr>
                <p:cNvPr id="43041" name="Text Box 46"/>
                <p:cNvSpPr txBox="1"/>
                <p:nvPr/>
              </p:nvSpPr>
              <p:spPr>
                <a:xfrm>
                  <a:off x="1405" y="2934"/>
                  <a:ext cx="3629" cy="439"/>
                </a:xfrm>
                <a:prstGeom prst="rect">
                  <a:avLst/>
                </a:prstGeom>
                <a:noFill/>
                <a:ln w="9525">
                  <a:noFill/>
                </a:ln>
              </p:spPr>
              <p:txBody>
                <a:bodyPr anchor="t" anchorCtr="0">
                  <a:spAutoFit/>
                </a:bodyPr>
                <a:lstStyle/>
                <a:p>
                  <a:pPr>
                    <a:spcBef>
                      <a:spcPct val="50000"/>
                    </a:spcBef>
                    <a:buClrTx/>
                    <a:buFontTx/>
                  </a:pPr>
                  <a:r>
                    <a:rPr lang="en-US" altLang="zh-CN" i="1" dirty="0">
                      <a:latin typeface="Times New Roman" panose="02020603050405020304" pitchFamily="18" charset="0"/>
                      <a:ea typeface="幼圆" pitchFamily="49" charset="-122"/>
                    </a:rPr>
                    <a:t>K</a:t>
                  </a:r>
                  <a:r>
                    <a:rPr lang="en-US" altLang="zh-CN" i="1" baseline="-25000" dirty="0">
                      <a:latin typeface="Times New Roman" panose="02020603050405020304" pitchFamily="18" charset="0"/>
                      <a:ea typeface="幼圆" pitchFamily="49" charset="-122"/>
                    </a:rPr>
                    <a:t>a</a:t>
                  </a:r>
                  <a:r>
                    <a:rPr lang="en-US" altLang="zh-CN" baseline="-25000"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(HAc)=  </a:t>
                  </a:r>
                  <a:endParaRPr lang="en-US" altLang="zh-CN" b="0" dirty="0">
                    <a:latin typeface="Arial" panose="020B0604020202020204" pitchFamily="34" charset="0"/>
                    <a:ea typeface="宋体" panose="02010600030101010101" pitchFamily="2" charset="-122"/>
                  </a:endParaRPr>
                </a:p>
              </p:txBody>
            </p:sp>
            <p:grpSp>
              <p:nvGrpSpPr>
                <p:cNvPr id="43042" name="Group 47"/>
                <p:cNvGrpSpPr/>
                <p:nvPr/>
              </p:nvGrpSpPr>
              <p:grpSpPr>
                <a:xfrm>
                  <a:off x="1601" y="3037"/>
                  <a:ext cx="92" cy="91"/>
                  <a:chOff x="557" y="3536"/>
                  <a:chExt cx="92" cy="91"/>
                </a:xfrm>
              </p:grpSpPr>
              <p:sp>
                <p:nvSpPr>
                  <p:cNvPr id="43043" name="Oval 48"/>
                  <p:cNvSpPr/>
                  <p:nvPr/>
                </p:nvSpPr>
                <p:spPr>
                  <a:xfrm>
                    <a:off x="557" y="3536"/>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3044" name="Line 49"/>
                  <p:cNvSpPr/>
                  <p:nvPr/>
                </p:nvSpPr>
                <p:spPr>
                  <a:xfrm>
                    <a:off x="559" y="3592"/>
                    <a:ext cx="90" cy="0"/>
                  </a:xfrm>
                  <a:prstGeom prst="line">
                    <a:avLst/>
                  </a:prstGeom>
                  <a:ln w="9525" cap="flat" cmpd="sng">
                    <a:solidFill>
                      <a:schemeClr val="tx1"/>
                    </a:solidFill>
                    <a:prstDash val="solid"/>
                    <a:round/>
                    <a:headEnd type="none" w="med" len="med"/>
                    <a:tailEnd type="none" w="med" len="med"/>
                  </a:ln>
                </p:spPr>
              </p:sp>
            </p:grpSp>
          </p:grpSp>
        </p:grpSp>
      </p:grpSp>
      <p:sp>
        <p:nvSpPr>
          <p:cNvPr id="33849" name="Rectangle 57"/>
          <p:cNvSpPr>
            <a:spLocks noChangeArrowheads="1"/>
          </p:cNvSpPr>
          <p:nvPr/>
        </p:nvSpPr>
        <p:spPr bwMode="auto">
          <a:xfrm>
            <a:off x="5" y="227442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3851" name="Rectangle 59"/>
          <p:cNvSpPr>
            <a:spLocks noChangeArrowheads="1"/>
          </p:cNvSpPr>
          <p:nvPr/>
        </p:nvSpPr>
        <p:spPr bwMode="auto">
          <a:xfrm>
            <a:off x="5" y="2156154"/>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3854" name="Rectangle 62"/>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15" name="Group 73"/>
          <p:cNvGrpSpPr/>
          <p:nvPr/>
        </p:nvGrpSpPr>
        <p:grpSpPr>
          <a:xfrm>
            <a:off x="458788" y="3508376"/>
            <a:ext cx="7777162" cy="1133475"/>
            <a:chOff x="198" y="2432"/>
            <a:chExt cx="4899" cy="953"/>
          </a:xfrm>
        </p:grpSpPr>
        <p:grpSp>
          <p:nvGrpSpPr>
            <p:cNvPr id="43049" name="Group 60"/>
            <p:cNvGrpSpPr/>
            <p:nvPr/>
          </p:nvGrpSpPr>
          <p:grpSpPr>
            <a:xfrm>
              <a:off x="198" y="2432"/>
              <a:ext cx="4899" cy="440"/>
              <a:chOff x="198" y="2432"/>
              <a:chExt cx="4899" cy="440"/>
            </a:xfrm>
          </p:grpSpPr>
          <p:sp>
            <p:nvSpPr>
              <p:cNvPr id="43050" name="Text Box 55"/>
              <p:cNvSpPr txBox="1"/>
              <p:nvPr/>
            </p:nvSpPr>
            <p:spPr>
              <a:xfrm>
                <a:off x="198" y="2432"/>
                <a:ext cx="4899" cy="440"/>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dirty="0">
                    <a:solidFill>
                      <a:srgbClr val="0000FF"/>
                    </a:solidFill>
                    <a:latin typeface="Times New Roman" panose="02020603050405020304" pitchFamily="18" charset="0"/>
                    <a:ea typeface="宋体" panose="02010600030101010101" pitchFamily="2" charset="-122"/>
                  </a:rPr>
                  <a:t>一元弱碱</a:t>
                </a:r>
                <a:r>
                  <a:rPr lang="zh-CN" altLang="en-US"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NH</a:t>
                </a:r>
                <a:r>
                  <a:rPr lang="pt-BR" altLang="zh-CN" baseline="-25000" dirty="0">
                    <a:latin typeface="Times New Roman" panose="02020603050405020304" pitchFamily="18" charset="0"/>
                    <a:ea typeface="宋体" panose="02010600030101010101" pitchFamily="2" charset="-122"/>
                  </a:rPr>
                  <a:t>3</a:t>
                </a:r>
                <a:r>
                  <a:rPr lang="pt-BR" altLang="zh-CN" dirty="0">
                    <a:latin typeface="Times New Roman" panose="02020603050405020304" pitchFamily="18" charset="0"/>
                    <a:ea typeface="宋体" panose="02010600030101010101" pitchFamily="2" charset="-122"/>
                  </a:rPr>
                  <a:t>·H</a:t>
                </a:r>
                <a:r>
                  <a:rPr lang="pt-BR" altLang="zh-CN" baseline="-25000" dirty="0">
                    <a:latin typeface="Times New Roman" panose="02020603050405020304" pitchFamily="18" charset="0"/>
                    <a:ea typeface="宋体" panose="02010600030101010101" pitchFamily="2" charset="-122"/>
                  </a:rPr>
                  <a:t>2</a:t>
                </a:r>
                <a:r>
                  <a:rPr lang="pt-BR" altLang="zh-CN" dirty="0">
                    <a:latin typeface="Times New Roman" panose="02020603050405020304" pitchFamily="18" charset="0"/>
                    <a:ea typeface="宋体" panose="02010600030101010101" pitchFamily="2" charset="-122"/>
                  </a:rPr>
                  <a:t>O (aq)          NH</a:t>
                </a:r>
                <a:r>
                  <a:rPr lang="pt-BR" altLang="zh-CN" baseline="-25000" dirty="0">
                    <a:latin typeface="Times New Roman" panose="02020603050405020304" pitchFamily="18" charset="0"/>
                    <a:ea typeface="宋体" panose="02010600030101010101" pitchFamily="2" charset="-122"/>
                  </a:rPr>
                  <a:t>4</a:t>
                </a:r>
                <a:r>
                  <a:rPr lang="pt-BR" altLang="zh-CN" baseline="30000"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 (aq)+OH</a:t>
                </a:r>
                <a:r>
                  <a:rPr lang="pt-BR" altLang="zh-CN" baseline="30000"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(aq)</a:t>
                </a:r>
                <a:endParaRPr lang="zh-CN" altLang="en-US" dirty="0">
                  <a:latin typeface="Times New Roman" panose="02020603050405020304" pitchFamily="18" charset="0"/>
                  <a:ea typeface="宋体" panose="02010600030101010101" pitchFamily="2" charset="-122"/>
                </a:endParaRPr>
              </a:p>
            </p:txBody>
          </p:sp>
          <p:graphicFrame>
            <p:nvGraphicFramePr>
              <p:cNvPr id="43051" name="Object 56"/>
              <p:cNvGraphicFramePr>
                <a:graphicFrameLocks noChangeAspect="1"/>
              </p:cNvGraphicFramePr>
              <p:nvPr/>
            </p:nvGraphicFramePr>
            <p:xfrm>
              <a:off x="2744" y="2557"/>
              <a:ext cx="317" cy="117"/>
            </p:xfrm>
            <a:graphic>
              <a:graphicData uri="http://schemas.openxmlformats.org/presentationml/2006/ole">
                <mc:AlternateContent xmlns:mc="http://schemas.openxmlformats.org/markup-compatibility/2006">
                  <mc:Choice xmlns:v="urn:schemas-microsoft-com:vml" Requires="v">
                    <p:oleObj r:id="rId2" imgW="676275" imgH="171450" progId="Equation.DSMT4">
                      <p:embed/>
                    </p:oleObj>
                  </mc:Choice>
                  <mc:Fallback>
                    <p:oleObj r:id="rId2" imgW="676275" imgH="171450" progId="Equation.DSMT4">
                      <p:embed/>
                      <p:pic>
                        <p:nvPicPr>
                          <p:cNvPr id="0" name="图片 3097"/>
                          <p:cNvPicPr/>
                          <p:nvPr/>
                        </p:nvPicPr>
                        <p:blipFill>
                          <a:blip r:embed="rId3"/>
                          <a:stretch>
                            <a:fillRect/>
                          </a:stretch>
                        </p:blipFill>
                        <p:spPr>
                          <a:xfrm>
                            <a:off x="2744" y="2557"/>
                            <a:ext cx="317" cy="117"/>
                          </a:xfrm>
                          <a:prstGeom prst="rect">
                            <a:avLst/>
                          </a:prstGeom>
                          <a:noFill/>
                          <a:ln w="38100">
                            <a:noFill/>
                            <a:miter/>
                          </a:ln>
                        </p:spPr>
                      </p:pic>
                    </p:oleObj>
                  </mc:Fallback>
                </mc:AlternateContent>
              </a:graphicData>
            </a:graphic>
          </p:graphicFrame>
        </p:grpSp>
        <p:grpSp>
          <p:nvGrpSpPr>
            <p:cNvPr id="43052" name="Group 64"/>
            <p:cNvGrpSpPr/>
            <p:nvPr/>
          </p:nvGrpSpPr>
          <p:grpSpPr>
            <a:xfrm>
              <a:off x="1156" y="2778"/>
              <a:ext cx="3039" cy="607"/>
              <a:chOff x="1156" y="2778"/>
              <a:chExt cx="3039" cy="607"/>
            </a:xfrm>
          </p:grpSpPr>
          <p:graphicFrame>
            <p:nvGraphicFramePr>
              <p:cNvPr id="43053" name="Object 58"/>
              <p:cNvGraphicFramePr>
                <a:graphicFrameLocks noChangeAspect="1"/>
              </p:cNvGraphicFramePr>
              <p:nvPr/>
            </p:nvGraphicFramePr>
            <p:xfrm>
              <a:off x="2880" y="2778"/>
              <a:ext cx="1315" cy="607"/>
            </p:xfrm>
            <a:graphic>
              <a:graphicData uri="http://schemas.openxmlformats.org/presentationml/2006/ole">
                <mc:AlternateContent xmlns:mc="http://schemas.openxmlformats.org/markup-compatibility/2006">
                  <mc:Choice xmlns:v="urn:schemas-microsoft-com:vml" Requires="v">
                    <p:oleObj r:id="rId4" imgW="1043940" imgH="471170" progId="Equation.KSEE3">
                      <p:embed/>
                    </p:oleObj>
                  </mc:Choice>
                  <mc:Fallback>
                    <p:oleObj r:id="rId4" imgW="1043940" imgH="471170" progId="Equation.KSEE3">
                      <p:embed/>
                      <p:pic>
                        <p:nvPicPr>
                          <p:cNvPr id="0" name="图片 3098"/>
                          <p:cNvPicPr/>
                          <p:nvPr/>
                        </p:nvPicPr>
                        <p:blipFill>
                          <a:blip r:embed="rId5"/>
                          <a:stretch>
                            <a:fillRect/>
                          </a:stretch>
                        </p:blipFill>
                        <p:spPr>
                          <a:xfrm>
                            <a:off x="2880" y="2778"/>
                            <a:ext cx="1315" cy="607"/>
                          </a:xfrm>
                          <a:prstGeom prst="rect">
                            <a:avLst/>
                          </a:prstGeom>
                          <a:noFill/>
                          <a:ln w="38100">
                            <a:noFill/>
                            <a:miter/>
                          </a:ln>
                        </p:spPr>
                      </p:pic>
                    </p:oleObj>
                  </mc:Fallback>
                </mc:AlternateContent>
              </a:graphicData>
            </a:graphic>
          </p:graphicFrame>
          <p:graphicFrame>
            <p:nvGraphicFramePr>
              <p:cNvPr id="43054" name="Object 61"/>
              <p:cNvGraphicFramePr>
                <a:graphicFrameLocks noChangeAspect="1"/>
              </p:cNvGraphicFramePr>
              <p:nvPr/>
            </p:nvGraphicFramePr>
            <p:xfrm>
              <a:off x="1156" y="2795"/>
              <a:ext cx="372" cy="408"/>
            </p:xfrm>
            <a:graphic>
              <a:graphicData uri="http://schemas.openxmlformats.org/presentationml/2006/ole">
                <mc:AlternateContent xmlns:mc="http://schemas.openxmlformats.org/markup-compatibility/2006">
                  <mc:Choice xmlns:v="urn:schemas-microsoft-com:vml" Requires="v">
                    <p:oleObj r:id="rId6" imgW="213360" imgH="226695" progId="Equation.3">
                      <p:embed/>
                    </p:oleObj>
                  </mc:Choice>
                  <mc:Fallback>
                    <p:oleObj r:id="rId6" imgW="213360" imgH="226695" progId="Equation.3">
                      <p:embed/>
                      <p:pic>
                        <p:nvPicPr>
                          <p:cNvPr id="0" name="图片 3099"/>
                          <p:cNvPicPr/>
                          <p:nvPr/>
                        </p:nvPicPr>
                        <p:blipFill>
                          <a:blip r:embed="rId7"/>
                          <a:stretch>
                            <a:fillRect/>
                          </a:stretch>
                        </p:blipFill>
                        <p:spPr>
                          <a:xfrm>
                            <a:off x="1156" y="2795"/>
                            <a:ext cx="372" cy="408"/>
                          </a:xfrm>
                          <a:prstGeom prst="rect">
                            <a:avLst/>
                          </a:prstGeom>
                          <a:noFill/>
                          <a:ln w="38100">
                            <a:noFill/>
                            <a:miter/>
                          </a:ln>
                        </p:spPr>
                      </p:pic>
                    </p:oleObj>
                  </mc:Fallback>
                </mc:AlternateContent>
              </a:graphicData>
            </a:graphic>
          </p:graphicFrame>
          <p:sp>
            <p:nvSpPr>
              <p:cNvPr id="43055" name="Text Box 63"/>
              <p:cNvSpPr txBox="1"/>
              <p:nvPr/>
            </p:nvSpPr>
            <p:spPr>
              <a:xfrm>
                <a:off x="1474" y="2886"/>
                <a:ext cx="1497" cy="440"/>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en-US" altLang="zh-CN" dirty="0">
                    <a:latin typeface="Times New Roman" panose="02020603050405020304" pitchFamily="18" charset="0"/>
                    <a:ea typeface="宋体" panose="02010600030101010101" pitchFamily="2" charset="-122"/>
                  </a:rPr>
                  <a:t>(NH</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·H</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O) = </a:t>
                </a:r>
                <a:endParaRPr lang="zh-CN" altLang="en-US" dirty="0">
                  <a:latin typeface="Times New Roman" panose="02020603050405020304" pitchFamily="18" charset="0"/>
                  <a:ea typeface="宋体" panose="02010600030101010101" pitchFamily="2" charset="-122"/>
                </a:endParaRPr>
              </a:p>
            </p:txBody>
          </p:sp>
        </p:grpSp>
      </p:grpSp>
      <p:sp>
        <p:nvSpPr>
          <p:cNvPr id="33861" name="Rectangle 69"/>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51" name="Rectangle 27"/>
          <p:cNvSpPr/>
          <p:nvPr/>
        </p:nvSpPr>
        <p:spPr>
          <a:xfrm>
            <a:off x="0" y="195263"/>
            <a:ext cx="6427788" cy="523220"/>
          </a:xfrm>
          <a:prstGeom prst="rect">
            <a:avLst/>
          </a:prstGeom>
          <a:solidFill>
            <a:srgbClr val="FFFF00">
              <a:alpha val="69019"/>
            </a:srgbClr>
          </a:solidFill>
          <a:ln w="9525">
            <a:noFill/>
          </a:ln>
        </p:spPr>
        <p:txBody>
          <a:bodyPr anchor="t" anchorCtr="0">
            <a:spAutoFit/>
          </a:bodyPr>
          <a:lstStyle/>
          <a:p>
            <a:pPr>
              <a:spcBef>
                <a:spcPts val="600"/>
              </a:spcBef>
              <a:spcAft>
                <a:spcPts val="600"/>
              </a:spcAft>
              <a:buClr>
                <a:schemeClr val="bg2"/>
              </a:buClr>
              <a:buSzPct val="75000"/>
              <a:buFont typeface="Wingdings" panose="05000000000000000000" pitchFamily="2" charset="2"/>
            </a:pPr>
            <a:r>
              <a:rPr lang="en-US" altLang="zh-CN" dirty="0">
                <a:latin typeface="华文新魏" pitchFamily="2" charset="-122"/>
                <a:ea typeface="华文新魏" pitchFamily="2" charset="-122"/>
              </a:rPr>
              <a:t>3.3.2  </a:t>
            </a:r>
            <a:r>
              <a:rPr lang="zh-CN" altLang="en-US" dirty="0">
                <a:latin typeface="华文新魏" pitchFamily="2" charset="-122"/>
                <a:ea typeface="华文新魏" pitchFamily="2" charset="-122"/>
              </a:rPr>
              <a:t>弱酸</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弱碱</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的解离平衡</a:t>
            </a:r>
            <a:endParaRPr lang="en-US" altLang="zh-CN" baseline="-25000" dirty="0">
              <a:latin typeface="华文新魏" pitchFamily="2" charset="-122"/>
              <a:ea typeface="华文新魏" pitchFamily="2" charset="-122"/>
            </a:endParaRPr>
          </a:p>
        </p:txBody>
      </p:sp>
      <p:pic>
        <p:nvPicPr>
          <p:cNvPr id="52" name="图片 51" descr="C:/Users/ADMINI~1/AppData/Local/Temp/kaimatting_20201202165650/output_20201202165701..pngoutput_20201202165701."/>
          <p:cNvPicPr>
            <a:picLocks noChangeAspect="1"/>
          </p:cNvPicPr>
          <p:nvPr/>
        </p:nvPicPr>
        <p:blipFill>
          <a:blip r:embed="rId8" cstate="print">
            <a:extLst>
              <a:ext uri="{BEBA8EAE-BF5A-486C-A8C5-ECC9F3942E4B}">
                <a14:imgProps xmlns:a14="http://schemas.microsoft.com/office/drawing/2010/main">
                  <a14:imgLayer r:embed="rId9">
                    <a14:imgEffect>
                      <a14:backgroundRemoval t="38602" b="82862" l="15680" r="79734"/>
                    </a14:imgEffect>
                  </a14:imgLayer>
                </a14:imgProps>
              </a:ext>
            </a:extLst>
          </a:blip>
          <a:srcRect t="31216" r="11340" b="11396"/>
          <a:stretch>
            <a:fillRect/>
          </a:stretch>
        </p:blipFill>
        <p:spPr>
          <a:xfrm>
            <a:off x="7577937" y="51065"/>
            <a:ext cx="1459357" cy="196942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down)">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checkerboard(across)">
                                      <p:cBhvr>
                                        <p:cTn id="12" dur="500"/>
                                        <p:tgtEl>
                                          <p:spTgt spid="4301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ox(in)">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animBg="1"/>
      <p:bldP spid="5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5" name="Text Box 15"/>
          <p:cNvSpPr txBox="1"/>
          <p:nvPr/>
        </p:nvSpPr>
        <p:spPr>
          <a:xfrm>
            <a:off x="0" y="2247901"/>
            <a:ext cx="5429250" cy="523220"/>
          </a:xfrm>
          <a:prstGeom prst="rect">
            <a:avLst/>
          </a:prstGeom>
          <a:solidFill>
            <a:srgbClr val="B2B2FF"/>
          </a:solidFill>
          <a:ln w="9525">
            <a:noFill/>
          </a:ln>
          <a:effectLst>
            <a:prstShdw prst="shdw17" dist="17961" dir="13499999">
              <a:srgbClr val="5C5C99"/>
            </a:prstShdw>
          </a:effectLst>
        </p:spPr>
        <p:txBody>
          <a:bodyPr anchor="t" anchorCtr="0">
            <a:spAutoFit/>
          </a:bodyPr>
          <a:lstStyle/>
          <a:p>
            <a:pPr>
              <a:spcBef>
                <a:spcPct val="50000"/>
              </a:spcBef>
              <a:buClrTx/>
              <a:buFontTx/>
            </a:pPr>
            <a:r>
              <a:rPr lang="en-US" altLang="zh-CN" dirty="0">
                <a:solidFill>
                  <a:srgbClr val="FF0066"/>
                </a:solidFill>
                <a:latin typeface="华文新魏" pitchFamily="2" charset="-122"/>
                <a:ea typeface="华文新魏" pitchFamily="2" charset="-122"/>
              </a:rPr>
              <a:t>2. </a:t>
            </a:r>
            <a:r>
              <a:rPr lang="zh-CN" altLang="en-US" dirty="0">
                <a:solidFill>
                  <a:srgbClr val="FF0066"/>
                </a:solidFill>
                <a:latin typeface="华文新魏" pitchFamily="2" charset="-122"/>
                <a:ea typeface="华文新魏" pitchFamily="2" charset="-122"/>
              </a:rPr>
              <a:t>解离度</a:t>
            </a:r>
            <a:r>
              <a:rPr lang="en-US" altLang="zh-CN" dirty="0">
                <a:solidFill>
                  <a:srgbClr val="FF0066"/>
                </a:solidFill>
                <a:latin typeface="华文新魏" pitchFamily="2" charset="-122"/>
                <a:ea typeface="华文新魏" pitchFamily="2" charset="-122"/>
              </a:rPr>
              <a:t>(</a:t>
            </a:r>
            <a:r>
              <a:rPr lang="en-US" altLang="zh-CN" i="1" dirty="0">
                <a:solidFill>
                  <a:srgbClr val="FF0066"/>
                </a:solidFill>
                <a:latin typeface="华文新魏" pitchFamily="2" charset="-122"/>
                <a:ea typeface="华文新魏" pitchFamily="2" charset="-122"/>
              </a:rPr>
              <a:t>α</a:t>
            </a:r>
            <a:r>
              <a:rPr lang="en-US" altLang="zh-CN" dirty="0">
                <a:solidFill>
                  <a:srgbClr val="FF0066"/>
                </a:solidFill>
                <a:latin typeface="华文新魏" pitchFamily="2" charset="-122"/>
                <a:ea typeface="华文新魏" pitchFamily="2" charset="-122"/>
              </a:rPr>
              <a:t>)</a:t>
            </a:r>
            <a:r>
              <a:rPr lang="zh-CN" altLang="en-US" dirty="0">
                <a:solidFill>
                  <a:srgbClr val="FF0066"/>
                </a:solidFill>
                <a:latin typeface="华文新魏" pitchFamily="2" charset="-122"/>
                <a:ea typeface="华文新魏" pitchFamily="2" charset="-122"/>
              </a:rPr>
              <a:t>和离子浓度计算</a:t>
            </a:r>
            <a:r>
              <a:rPr lang="zh-CN" altLang="en-US" dirty="0">
                <a:latin typeface="华文新魏" pitchFamily="2" charset="-122"/>
                <a:ea typeface="华文新魏" pitchFamily="2" charset="-122"/>
              </a:rPr>
              <a:t> </a:t>
            </a:r>
          </a:p>
        </p:txBody>
      </p:sp>
      <p:sp>
        <p:nvSpPr>
          <p:cNvPr id="35856" name="Text Box 16"/>
          <p:cNvSpPr txBox="1"/>
          <p:nvPr/>
        </p:nvSpPr>
        <p:spPr>
          <a:xfrm>
            <a:off x="755652" y="3057526"/>
            <a:ext cx="2447925" cy="523220"/>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dirty="0">
                <a:solidFill>
                  <a:srgbClr val="0000FF"/>
                </a:solidFill>
                <a:latin typeface="Times New Roman" panose="02020603050405020304" pitchFamily="18" charset="0"/>
                <a:ea typeface="宋体" panose="02010600030101010101" pitchFamily="2" charset="-122"/>
              </a:rPr>
              <a:t>解离度</a:t>
            </a:r>
            <a:r>
              <a:rPr lang="en-US" altLang="zh-CN" dirty="0">
                <a:solidFill>
                  <a:srgbClr val="0000FF"/>
                </a:solidFill>
                <a:latin typeface="Times New Roman" panose="02020603050405020304" pitchFamily="18" charset="0"/>
                <a:ea typeface="宋体" panose="02010600030101010101" pitchFamily="2" charset="-122"/>
              </a:rPr>
              <a:t>(</a:t>
            </a:r>
            <a:r>
              <a:rPr lang="en-US" altLang="zh-CN" i="1" dirty="0">
                <a:solidFill>
                  <a:srgbClr val="0000FF"/>
                </a:solidFill>
                <a:latin typeface="Times New Roman" panose="02020603050405020304" pitchFamily="18" charset="0"/>
                <a:ea typeface="宋体" panose="02010600030101010101" pitchFamily="2" charset="-122"/>
              </a:rPr>
              <a:t>α</a:t>
            </a:r>
            <a:r>
              <a:rPr lang="en-US" altLang="zh-CN" dirty="0">
                <a:solidFill>
                  <a:srgbClr val="0000FF"/>
                </a:solidFill>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5868" name="Rectangle 28"/>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5884" name="Rectangle 44"/>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2" name="Group 48"/>
          <p:cNvGrpSpPr/>
          <p:nvPr/>
        </p:nvGrpSpPr>
        <p:grpSpPr>
          <a:xfrm>
            <a:off x="2987675" y="3003550"/>
            <a:ext cx="4427538" cy="576263"/>
            <a:chOff x="1679" y="709"/>
            <a:chExt cx="2789" cy="484"/>
          </a:xfrm>
        </p:grpSpPr>
        <p:graphicFrame>
          <p:nvGraphicFramePr>
            <p:cNvPr id="44038" name="Object 17"/>
            <p:cNvGraphicFramePr>
              <a:graphicFrameLocks noChangeAspect="1"/>
            </p:cNvGraphicFramePr>
            <p:nvPr/>
          </p:nvGraphicFramePr>
          <p:xfrm>
            <a:off x="1679" y="709"/>
            <a:ext cx="1745" cy="431"/>
          </p:xfrm>
          <a:graphic>
            <a:graphicData uri="http://schemas.openxmlformats.org/presentationml/2006/ole">
              <mc:AlternateContent xmlns:mc="http://schemas.openxmlformats.org/markup-compatibility/2006">
                <mc:Choice xmlns:v="urn:schemas-microsoft-com:vml" Requires="v">
                  <p:oleObj r:id="rId2" imgW="1344930" imgH="358140" progId="Equation.DSMT4">
                    <p:embed/>
                  </p:oleObj>
                </mc:Choice>
                <mc:Fallback>
                  <p:oleObj r:id="rId2" imgW="1344930" imgH="358140" progId="Equation.DSMT4">
                    <p:embed/>
                    <p:pic>
                      <p:nvPicPr>
                        <p:cNvPr id="0" name="图片 3100"/>
                        <p:cNvPicPr/>
                        <p:nvPr/>
                      </p:nvPicPr>
                      <p:blipFill>
                        <a:blip r:embed="rId3"/>
                        <a:stretch>
                          <a:fillRect/>
                        </a:stretch>
                      </p:blipFill>
                      <p:spPr>
                        <a:xfrm>
                          <a:off x="1679" y="709"/>
                          <a:ext cx="1745" cy="431"/>
                        </a:xfrm>
                        <a:prstGeom prst="rect">
                          <a:avLst/>
                        </a:prstGeom>
                        <a:noFill/>
                        <a:ln w="38100">
                          <a:noFill/>
                          <a:miter/>
                        </a:ln>
                      </p:spPr>
                    </p:pic>
                  </p:oleObj>
                </mc:Fallback>
              </mc:AlternateContent>
            </a:graphicData>
          </a:graphic>
        </p:graphicFrame>
        <p:sp>
          <p:nvSpPr>
            <p:cNvPr id="44039" name="Text Box 47"/>
            <p:cNvSpPr txBox="1"/>
            <p:nvPr/>
          </p:nvSpPr>
          <p:spPr>
            <a:xfrm>
              <a:off x="3334" y="754"/>
              <a:ext cx="1134" cy="439"/>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en-US" altLang="zh-CN" dirty="0">
                  <a:latin typeface="Times New Roman" panose="02020603050405020304" pitchFamily="18" charset="0"/>
                  <a:ea typeface="宋体" panose="02010600030101010101" pitchFamily="2" charset="-122"/>
                </a:rPr>
                <a:t>×100%</a:t>
              </a:r>
              <a:endParaRPr lang="zh-CN" altLang="en-US" dirty="0">
                <a:latin typeface="Times New Roman" panose="02020603050405020304" pitchFamily="18" charset="0"/>
                <a:ea typeface="宋体" panose="02010600030101010101" pitchFamily="2" charset="-122"/>
              </a:endParaRPr>
            </a:p>
          </p:txBody>
        </p:sp>
      </p:grpSp>
      <p:grpSp>
        <p:nvGrpSpPr>
          <p:cNvPr id="3" name="Group 62"/>
          <p:cNvGrpSpPr/>
          <p:nvPr/>
        </p:nvGrpSpPr>
        <p:grpSpPr>
          <a:xfrm>
            <a:off x="395294" y="585795"/>
            <a:ext cx="8353425" cy="1385491"/>
            <a:chOff x="249" y="3339"/>
            <a:chExt cx="5262" cy="1164"/>
          </a:xfrm>
        </p:grpSpPr>
        <p:sp>
          <p:nvSpPr>
            <p:cNvPr id="44041" name="Text Box 63"/>
            <p:cNvSpPr txBox="1"/>
            <p:nvPr/>
          </p:nvSpPr>
          <p:spPr>
            <a:xfrm>
              <a:off x="249" y="3339"/>
              <a:ext cx="5262" cy="1164"/>
            </a:xfrm>
            <a:prstGeom prst="rect">
              <a:avLst/>
            </a:prstGeom>
            <a:gradFill rotWithShape="1">
              <a:gsLst>
                <a:gs pos="0">
                  <a:srgbClr val="005E47"/>
                </a:gs>
                <a:gs pos="50000">
                  <a:srgbClr val="00CC99"/>
                </a:gs>
                <a:gs pos="100000">
                  <a:srgbClr val="005E47"/>
                </a:gs>
              </a:gsLst>
              <a:lin ang="5400000" scaled="1"/>
              <a:tileRect/>
            </a:gradFill>
            <a:ln w="9525">
              <a:noFill/>
            </a:ln>
          </p:spPr>
          <p:txBody>
            <a:bodyPr anchor="t" anchorCtr="0">
              <a:spAutoFit/>
            </a:bodyPr>
            <a:lstStyle/>
            <a:p>
              <a:pPr>
                <a:spcBef>
                  <a:spcPct val="10000"/>
                </a:spcBef>
                <a:spcAft>
                  <a:spcPct val="10000"/>
                </a:spcAft>
                <a:buClrTx/>
                <a:buFontTx/>
              </a:pPr>
              <a:r>
                <a:rPr lang="zh-CN" altLang="en-US" dirty="0">
                  <a:solidFill>
                    <a:srgbClr val="FFFF00"/>
                  </a:solidFill>
                  <a:latin typeface="Times New Roman" panose="02020603050405020304" pitchFamily="18" charset="0"/>
                  <a:ea typeface="幼圆" pitchFamily="49" charset="-122"/>
                </a:rPr>
                <a:t>       解离常数     与其他平衡常数一样，在一定温度下与浓度无关；当温度变化时，随温度变化不大。相同浓度下，同类型弱酸，值大者酸性强。</a:t>
              </a:r>
              <a:r>
                <a:rPr lang="en-US" altLang="zh-CN" b="0" dirty="0">
                  <a:latin typeface="Times New Roman" panose="02020603050405020304" pitchFamily="18" charset="0"/>
                  <a:ea typeface="幼圆" pitchFamily="49" charset="-122"/>
                </a:rPr>
                <a:t> </a:t>
              </a:r>
              <a:r>
                <a:rPr lang="en-US" altLang="zh-CN" dirty="0">
                  <a:solidFill>
                    <a:srgbClr val="FFFF00"/>
                  </a:solidFill>
                  <a:latin typeface="Times New Roman" panose="02020603050405020304" pitchFamily="18" charset="0"/>
                  <a:ea typeface="幼圆" pitchFamily="49" charset="-122"/>
                </a:rPr>
                <a:t> </a:t>
              </a:r>
            </a:p>
          </p:txBody>
        </p:sp>
        <p:graphicFrame>
          <p:nvGraphicFramePr>
            <p:cNvPr id="44042" name="Object 64"/>
            <p:cNvGraphicFramePr>
              <a:graphicFrameLocks noChangeAspect="1"/>
            </p:cNvGraphicFramePr>
            <p:nvPr/>
          </p:nvGraphicFramePr>
          <p:xfrm>
            <a:off x="1610" y="3374"/>
            <a:ext cx="272" cy="303"/>
          </p:xfrm>
          <a:graphic>
            <a:graphicData uri="http://schemas.openxmlformats.org/presentationml/2006/ole">
              <mc:AlternateContent xmlns:mc="http://schemas.openxmlformats.org/markup-compatibility/2006">
                <mc:Choice xmlns:v="urn:schemas-microsoft-com:vml" Requires="v">
                  <p:oleObj r:id="rId4" imgW="213995" imgH="187325" progId="Equation.DSMT4">
                    <p:embed/>
                  </p:oleObj>
                </mc:Choice>
                <mc:Fallback>
                  <p:oleObj r:id="rId4" imgW="213995" imgH="187325" progId="Equation.DSMT4">
                    <p:embed/>
                    <p:pic>
                      <p:nvPicPr>
                        <p:cNvPr id="0" name="图片 3101"/>
                        <p:cNvPicPr/>
                        <p:nvPr/>
                      </p:nvPicPr>
                      <p:blipFill>
                        <a:blip r:embed="rId5"/>
                        <a:stretch>
                          <a:fillRect/>
                        </a:stretch>
                      </p:blipFill>
                      <p:spPr>
                        <a:xfrm>
                          <a:off x="1610" y="3374"/>
                          <a:ext cx="272" cy="303"/>
                        </a:xfrm>
                        <a:prstGeom prst="rect">
                          <a:avLst/>
                        </a:prstGeom>
                        <a:solidFill>
                          <a:srgbClr val="92D050"/>
                        </a:solidFill>
                        <a:ln w="9525" cap="flat" cmpd="sng">
                          <a:solidFill>
                            <a:schemeClr val="accent1"/>
                          </a:solidFill>
                          <a:prstDash val="solid"/>
                          <a:miter/>
                          <a:headEnd type="none" w="med" len="med"/>
                          <a:tailEnd type="none" w="med" len="med"/>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55"/>
                                        </p:tgtEl>
                                        <p:attrNameLst>
                                          <p:attrName>style.visibility</p:attrName>
                                        </p:attrNameLst>
                                      </p:cBhvr>
                                      <p:to>
                                        <p:strVal val="visible"/>
                                      </p:to>
                                    </p:set>
                                    <p:animEffect transition="in" filter="wipe(left)">
                                      <p:cBhvr>
                                        <p:cTn id="12" dur="500"/>
                                        <p:tgtEl>
                                          <p:spTgt spid="358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5856"/>
                                        </p:tgtEl>
                                        <p:attrNameLst>
                                          <p:attrName>style.visibility</p:attrName>
                                        </p:attrNameLst>
                                      </p:cBhvr>
                                      <p:to>
                                        <p:strVal val="visible"/>
                                      </p:to>
                                    </p:set>
                                    <p:animEffect transition="in" filter="wipe(down)">
                                      <p:cBhvr>
                                        <p:cTn id="17" dur="500"/>
                                        <p:tgtEl>
                                          <p:spTgt spid="3585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5" grpId="0" animBg="1"/>
      <p:bldP spid="3585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Rectangle 3"/>
          <p:cNvSpPr>
            <a:spLocks noChangeArrowheads="1"/>
          </p:cNvSpPr>
          <p:nvPr/>
        </p:nvSpPr>
        <p:spPr bwMode="auto">
          <a:xfrm>
            <a:off x="5" y="217837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45058" name="Text Box 5"/>
          <p:cNvSpPr txBox="1"/>
          <p:nvPr/>
        </p:nvSpPr>
        <p:spPr>
          <a:xfrm>
            <a:off x="539750" y="303214"/>
            <a:ext cx="2376488" cy="523220"/>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dirty="0">
                <a:solidFill>
                  <a:srgbClr val="0000FF"/>
                </a:solidFill>
                <a:latin typeface="Arial" panose="020B0604020202020204" pitchFamily="34" charset="0"/>
                <a:ea typeface="宋体" panose="02010600030101010101" pitchFamily="2" charset="-122"/>
              </a:rPr>
              <a:t>离子浓度计算</a:t>
            </a:r>
          </a:p>
        </p:txBody>
      </p:sp>
      <p:sp>
        <p:nvSpPr>
          <p:cNvPr id="184326" name="Rectangle 6"/>
          <p:cNvSpPr>
            <a:spLocks noChangeArrowheads="1"/>
          </p:cNvSpPr>
          <p:nvPr/>
        </p:nvSpPr>
        <p:spPr bwMode="auto">
          <a:xfrm>
            <a:off x="5" y="227442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84327" name="Rectangle 7"/>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84328" name="Rectangle 8"/>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84330" name="Rectangle 10"/>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84332" name="Rectangle 12"/>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45064" name="Text Box 15"/>
          <p:cNvSpPr txBox="1"/>
          <p:nvPr/>
        </p:nvSpPr>
        <p:spPr>
          <a:xfrm>
            <a:off x="539750" y="411513"/>
            <a:ext cx="7920038" cy="2246769"/>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pt-BR" altLang="zh-CN" dirty="0">
                <a:latin typeface="Times New Roman" panose="02020603050405020304" pitchFamily="18" charset="0"/>
                <a:ea typeface="宋体" panose="02010600030101010101" pitchFamily="2" charset="-122"/>
              </a:rPr>
              <a:t>                                 HAc(aq)        H</a:t>
            </a:r>
            <a:r>
              <a:rPr lang="pt-BR" altLang="zh-CN" baseline="30000"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(aq)+Ac</a:t>
            </a:r>
            <a:r>
              <a:rPr lang="pt-BR" altLang="zh-CN" baseline="30000"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(aq)</a:t>
            </a:r>
          </a:p>
          <a:p>
            <a:pPr>
              <a:buClrTx/>
              <a:buFontTx/>
            </a:pPr>
            <a:r>
              <a:rPr lang="zh-CN" altLang="pt-BR" dirty="0">
                <a:latin typeface="Times New Roman" panose="02020603050405020304" pitchFamily="18" charset="0"/>
                <a:ea typeface="宋体" panose="02010600030101010101" pitchFamily="2" charset="-122"/>
              </a:rPr>
              <a:t>起始浓度</a:t>
            </a:r>
            <a:r>
              <a:rPr lang="pt-BR" altLang="zh-CN" dirty="0">
                <a:latin typeface="Times New Roman" panose="02020603050405020304" pitchFamily="18" charset="0"/>
                <a:ea typeface="宋体" panose="02010600030101010101" pitchFamily="2" charset="-122"/>
              </a:rPr>
              <a:t>/ mol·L</a:t>
            </a:r>
            <a:r>
              <a:rPr lang="pt-BR" altLang="zh-CN" baseline="30000" dirty="0">
                <a:latin typeface="Times New Roman" panose="02020603050405020304" pitchFamily="18" charset="0"/>
                <a:ea typeface="宋体" panose="02010600030101010101" pitchFamily="2" charset="-122"/>
              </a:rPr>
              <a:t>–1 </a:t>
            </a:r>
            <a:r>
              <a:rPr lang="pt-BR" altLang="zh-CN" dirty="0">
                <a:latin typeface="Times New Roman" panose="02020603050405020304" pitchFamily="18" charset="0"/>
                <a:ea typeface="宋体" panose="02010600030101010101" pitchFamily="2" charset="-122"/>
              </a:rPr>
              <a:t>      </a:t>
            </a:r>
            <a:r>
              <a:rPr lang="pt-BR" altLang="zh-CN" i="1" dirty="0">
                <a:latin typeface="Times New Roman" panose="02020603050405020304" pitchFamily="18" charset="0"/>
                <a:ea typeface="宋体" panose="02010600030101010101" pitchFamily="2" charset="-122"/>
              </a:rPr>
              <a:t>c         </a:t>
            </a:r>
            <a:r>
              <a:rPr lang="pt-BR" altLang="zh-CN" dirty="0">
                <a:latin typeface="Times New Roman" panose="02020603050405020304" pitchFamily="18" charset="0"/>
                <a:ea typeface="宋体" panose="02010600030101010101" pitchFamily="2" charset="-122"/>
              </a:rPr>
              <a:t>            0        0 </a:t>
            </a:r>
          </a:p>
          <a:p>
            <a:pPr>
              <a:buClrTx/>
              <a:buFontTx/>
            </a:pPr>
            <a:r>
              <a:rPr lang="zh-CN" altLang="pt-BR" dirty="0">
                <a:latin typeface="Times New Roman" panose="02020603050405020304" pitchFamily="18" charset="0"/>
                <a:ea typeface="宋体" panose="02010600030101010101" pitchFamily="2" charset="-122"/>
              </a:rPr>
              <a:t>平衡浓度</a:t>
            </a:r>
            <a:r>
              <a:rPr lang="pt-BR" altLang="zh-CN" dirty="0">
                <a:latin typeface="Times New Roman" panose="02020603050405020304" pitchFamily="18" charset="0"/>
                <a:ea typeface="宋体" panose="02010600030101010101" pitchFamily="2" charset="-122"/>
              </a:rPr>
              <a:t>/ mol·L</a:t>
            </a:r>
            <a:r>
              <a:rPr lang="pt-BR" altLang="zh-CN" baseline="30000" dirty="0">
                <a:latin typeface="Times New Roman" panose="02020603050405020304" pitchFamily="18" charset="0"/>
                <a:ea typeface="宋体" panose="02010600030101010101" pitchFamily="2" charset="-122"/>
              </a:rPr>
              <a:t>–1</a:t>
            </a:r>
            <a:r>
              <a:rPr lang="pt-BR" altLang="zh-CN" dirty="0">
                <a:latin typeface="Times New Roman" panose="02020603050405020304" pitchFamily="18" charset="0"/>
                <a:ea typeface="宋体" panose="02010600030101010101" pitchFamily="2" charset="-122"/>
              </a:rPr>
              <a:t>     </a:t>
            </a:r>
            <a:r>
              <a:rPr lang="pt-BR" altLang="zh-CN" i="1" dirty="0">
                <a:latin typeface="Times New Roman" panose="02020603050405020304" pitchFamily="18" charset="0"/>
                <a:ea typeface="宋体" panose="02010600030101010101" pitchFamily="2" charset="-122"/>
              </a:rPr>
              <a:t>c</a:t>
            </a:r>
            <a:r>
              <a:rPr lang="pt-BR" altLang="zh-CN" dirty="0">
                <a:latin typeface="Times New Roman" panose="02020603050405020304" pitchFamily="18" charset="0"/>
                <a:ea typeface="宋体" panose="02010600030101010101" pitchFamily="2" charset="-122"/>
              </a:rPr>
              <a:t>-</a:t>
            </a:r>
            <a:r>
              <a:rPr lang="pt-BR" altLang="zh-CN" i="1" dirty="0">
                <a:latin typeface="Times New Roman" panose="02020603050405020304" pitchFamily="18" charset="0"/>
                <a:ea typeface="宋体" panose="02010600030101010101" pitchFamily="2" charset="-122"/>
              </a:rPr>
              <a:t>c</a:t>
            </a:r>
            <a:r>
              <a:rPr lang="en-US" altLang="zh-CN" i="1" dirty="0">
                <a:latin typeface="Times New Roman" panose="02020603050405020304" pitchFamily="18" charset="0"/>
                <a:ea typeface="宋体" panose="02010600030101010101" pitchFamily="2" charset="-122"/>
              </a:rPr>
              <a:t>α</a:t>
            </a:r>
            <a:r>
              <a:rPr lang="pt-BR" altLang="zh-CN" dirty="0">
                <a:latin typeface="Times New Roman" panose="02020603050405020304" pitchFamily="18" charset="0"/>
                <a:ea typeface="宋体" panose="02010600030101010101" pitchFamily="2" charset="-122"/>
              </a:rPr>
              <a:t>               </a:t>
            </a:r>
            <a:r>
              <a:rPr lang="pt-BR" altLang="zh-CN" i="1" dirty="0">
                <a:latin typeface="Times New Roman" panose="02020603050405020304" pitchFamily="18" charset="0"/>
                <a:ea typeface="宋体" panose="02010600030101010101" pitchFamily="2" charset="-122"/>
              </a:rPr>
              <a:t>c</a:t>
            </a:r>
            <a:r>
              <a:rPr lang="en-US" altLang="zh-CN" i="1" dirty="0">
                <a:latin typeface="Times New Roman" panose="02020603050405020304" pitchFamily="18" charset="0"/>
                <a:ea typeface="宋体" panose="02010600030101010101" pitchFamily="2" charset="-122"/>
              </a:rPr>
              <a:t>α</a:t>
            </a:r>
            <a:r>
              <a:rPr lang="pt-BR" altLang="zh-CN" dirty="0">
                <a:latin typeface="Times New Roman" panose="02020603050405020304" pitchFamily="18" charset="0"/>
                <a:ea typeface="宋体" panose="02010600030101010101" pitchFamily="2" charset="-122"/>
              </a:rPr>
              <a:t>     </a:t>
            </a:r>
            <a:r>
              <a:rPr lang="pt-BR" altLang="zh-CN" i="1" dirty="0">
                <a:latin typeface="Times New Roman" panose="02020603050405020304" pitchFamily="18" charset="0"/>
                <a:ea typeface="宋体" panose="02010600030101010101" pitchFamily="2" charset="-122"/>
              </a:rPr>
              <a:t>c</a:t>
            </a:r>
            <a:r>
              <a:rPr lang="en-US" altLang="zh-CN" i="1" dirty="0">
                <a:latin typeface="Times New Roman" panose="02020603050405020304" pitchFamily="18" charset="0"/>
                <a:ea typeface="宋体" panose="02010600030101010101" pitchFamily="2" charset="-122"/>
              </a:rPr>
              <a:t>α</a:t>
            </a:r>
            <a:endParaRPr lang="en-US" altLang="zh-CN" dirty="0">
              <a:latin typeface="Times New Roman" panose="02020603050405020304" pitchFamily="18" charset="0"/>
              <a:ea typeface="宋体" panose="02010600030101010101" pitchFamily="2" charset="-122"/>
            </a:endParaRPr>
          </a:p>
          <a:p>
            <a:pPr>
              <a:buClrTx/>
              <a:buFontTx/>
            </a:pPr>
            <a:r>
              <a:rPr lang="zh-CN" altLang="en-US" dirty="0">
                <a:latin typeface="Times New Roman" panose="02020603050405020304" pitchFamily="18" charset="0"/>
                <a:ea typeface="宋体" panose="02010600030101010101" pitchFamily="2" charset="-122"/>
              </a:rPr>
              <a:t>则</a:t>
            </a:r>
            <a:endParaRPr lang="zh-CN" altLang="pt-BR" dirty="0">
              <a:latin typeface="Times New Roman" panose="02020603050405020304" pitchFamily="18" charset="0"/>
              <a:ea typeface="宋体" panose="02010600030101010101" pitchFamily="2" charset="-122"/>
            </a:endParaRPr>
          </a:p>
          <a:p>
            <a:pPr>
              <a:buClrTx/>
              <a:buFontTx/>
            </a:pPr>
            <a:r>
              <a:rPr lang="zh-CN" altLang="en-US" dirty="0">
                <a:latin typeface="Times New Roman" panose="02020603050405020304" pitchFamily="18" charset="0"/>
                <a:ea typeface="宋体" panose="02010600030101010101" pitchFamily="2" charset="-122"/>
              </a:rPr>
              <a:t>      </a:t>
            </a:r>
          </a:p>
        </p:txBody>
      </p:sp>
      <p:graphicFrame>
        <p:nvGraphicFramePr>
          <p:cNvPr id="45065" name="Object 16"/>
          <p:cNvGraphicFramePr>
            <a:graphicFrameLocks noChangeAspect="1"/>
          </p:cNvGraphicFramePr>
          <p:nvPr>
            <p:extLst>
              <p:ext uri="{D42A27DB-BD31-4B8C-83A1-F6EECF244321}">
                <p14:modId xmlns:p14="http://schemas.microsoft.com/office/powerpoint/2010/main" val="3002746918"/>
              </p:ext>
            </p:extLst>
          </p:nvPr>
        </p:nvGraphicFramePr>
        <p:xfrm>
          <a:off x="4860037" y="719139"/>
          <a:ext cx="649287" cy="107950"/>
        </p:xfrm>
        <a:graphic>
          <a:graphicData uri="http://schemas.openxmlformats.org/presentationml/2006/ole">
            <mc:AlternateContent xmlns:mc="http://schemas.openxmlformats.org/markup-compatibility/2006">
              <mc:Choice xmlns:v="urn:schemas-microsoft-com:vml" Requires="v">
                <p:oleObj r:id="rId2" imgW="676275" imgH="171450" progId="Equation.DSMT4">
                  <p:embed/>
                </p:oleObj>
              </mc:Choice>
              <mc:Fallback>
                <p:oleObj r:id="rId2" imgW="676275" imgH="171450" progId="Equation.DSMT4">
                  <p:embed/>
                  <p:pic>
                    <p:nvPicPr>
                      <p:cNvPr id="0" name="图片 3102"/>
                      <p:cNvPicPr/>
                      <p:nvPr/>
                    </p:nvPicPr>
                    <p:blipFill>
                      <a:blip r:embed="rId3"/>
                      <a:stretch>
                        <a:fillRect/>
                      </a:stretch>
                    </p:blipFill>
                    <p:spPr>
                      <a:xfrm>
                        <a:off x="4860037" y="719139"/>
                        <a:ext cx="649287" cy="107950"/>
                      </a:xfrm>
                      <a:prstGeom prst="rect">
                        <a:avLst/>
                      </a:prstGeom>
                      <a:noFill/>
                      <a:ln w="38100">
                        <a:noFill/>
                        <a:miter/>
                      </a:ln>
                    </p:spPr>
                  </p:pic>
                </p:oleObj>
              </mc:Fallback>
            </mc:AlternateContent>
          </a:graphicData>
        </a:graphic>
      </p:graphicFrame>
      <p:grpSp>
        <p:nvGrpSpPr>
          <p:cNvPr id="2" name="Group 28"/>
          <p:cNvGrpSpPr/>
          <p:nvPr/>
        </p:nvGrpSpPr>
        <p:grpSpPr>
          <a:xfrm>
            <a:off x="2411413" y="1924058"/>
            <a:ext cx="4248150" cy="576264"/>
            <a:chOff x="884" y="2659"/>
            <a:chExt cx="2676" cy="484"/>
          </a:xfrm>
        </p:grpSpPr>
        <p:graphicFrame>
          <p:nvGraphicFramePr>
            <p:cNvPr id="45067" name="Object 17"/>
            <p:cNvGraphicFramePr>
              <a:graphicFrameLocks noChangeAspect="1"/>
            </p:cNvGraphicFramePr>
            <p:nvPr/>
          </p:nvGraphicFramePr>
          <p:xfrm>
            <a:off x="884" y="2704"/>
            <a:ext cx="270" cy="296"/>
          </p:xfrm>
          <a:graphic>
            <a:graphicData uri="http://schemas.openxmlformats.org/presentationml/2006/ole">
              <mc:AlternateContent xmlns:mc="http://schemas.openxmlformats.org/markup-compatibility/2006">
                <mc:Choice xmlns:v="urn:schemas-microsoft-com:vml" Requires="v">
                  <p:oleObj r:id="rId4" imgW="211455" imgH="224790" progId="Equation.DSMT4">
                    <p:embed/>
                  </p:oleObj>
                </mc:Choice>
                <mc:Fallback>
                  <p:oleObj r:id="rId4" imgW="211455" imgH="224790" progId="Equation.DSMT4">
                    <p:embed/>
                    <p:pic>
                      <p:nvPicPr>
                        <p:cNvPr id="0" name="图片 3104"/>
                        <p:cNvPicPr/>
                        <p:nvPr/>
                      </p:nvPicPr>
                      <p:blipFill>
                        <a:blip r:embed="rId5"/>
                        <a:stretch>
                          <a:fillRect/>
                        </a:stretch>
                      </p:blipFill>
                      <p:spPr>
                        <a:xfrm>
                          <a:off x="884" y="2704"/>
                          <a:ext cx="270" cy="296"/>
                        </a:xfrm>
                        <a:prstGeom prst="rect">
                          <a:avLst/>
                        </a:prstGeom>
                        <a:noFill/>
                        <a:ln w="38100">
                          <a:noFill/>
                          <a:miter/>
                        </a:ln>
                      </p:spPr>
                    </p:pic>
                  </p:oleObj>
                </mc:Fallback>
              </mc:AlternateContent>
            </a:graphicData>
          </a:graphic>
        </p:graphicFrame>
        <p:graphicFrame>
          <p:nvGraphicFramePr>
            <p:cNvPr id="45068" name="Object 18"/>
            <p:cNvGraphicFramePr>
              <a:graphicFrameLocks noChangeAspect="1"/>
            </p:cNvGraphicFramePr>
            <p:nvPr/>
          </p:nvGraphicFramePr>
          <p:xfrm>
            <a:off x="1927" y="2659"/>
            <a:ext cx="1633" cy="454"/>
          </p:xfrm>
          <a:graphic>
            <a:graphicData uri="http://schemas.openxmlformats.org/presentationml/2006/ole">
              <mc:AlternateContent xmlns:mc="http://schemas.openxmlformats.org/markup-compatibility/2006">
                <mc:Choice xmlns:v="urn:schemas-microsoft-com:vml" Requires="v">
                  <p:oleObj r:id="rId6" imgW="1969135" imgH="444500" progId="Equation.DSMT4">
                    <p:embed/>
                  </p:oleObj>
                </mc:Choice>
                <mc:Fallback>
                  <p:oleObj r:id="rId6" imgW="1969135" imgH="444500" progId="Equation.DSMT4">
                    <p:embed/>
                    <p:pic>
                      <p:nvPicPr>
                        <p:cNvPr id="0" name="图片 3103"/>
                        <p:cNvPicPr/>
                        <p:nvPr/>
                      </p:nvPicPr>
                      <p:blipFill>
                        <a:blip r:embed="rId7"/>
                        <a:stretch>
                          <a:fillRect/>
                        </a:stretch>
                      </p:blipFill>
                      <p:spPr>
                        <a:xfrm>
                          <a:off x="1927" y="2659"/>
                          <a:ext cx="1633" cy="454"/>
                        </a:xfrm>
                        <a:prstGeom prst="rect">
                          <a:avLst/>
                        </a:prstGeom>
                        <a:noFill/>
                        <a:ln w="38100">
                          <a:noFill/>
                          <a:miter/>
                        </a:ln>
                      </p:spPr>
                    </p:pic>
                  </p:oleObj>
                </mc:Fallback>
              </mc:AlternateContent>
            </a:graphicData>
          </a:graphic>
        </p:graphicFrame>
        <p:sp>
          <p:nvSpPr>
            <p:cNvPr id="45069" name="Rectangle 27"/>
            <p:cNvSpPr/>
            <p:nvPr/>
          </p:nvSpPr>
          <p:spPr>
            <a:xfrm>
              <a:off x="1156" y="2704"/>
              <a:ext cx="789" cy="439"/>
            </a:xfrm>
            <a:prstGeom prst="rect">
              <a:avLst/>
            </a:prstGeom>
            <a:noFill/>
            <a:ln w="9525">
              <a:noFill/>
            </a:ln>
          </p:spPr>
          <p:txBody>
            <a:bodyPr wrap="none" anchor="t" anchorCtr="0">
              <a:spAutoFit/>
            </a:bodyPr>
            <a:lstStyle/>
            <a:p>
              <a:pPr>
                <a:buClrTx/>
                <a:buFontTx/>
              </a:pPr>
              <a:r>
                <a:rPr lang="pt-BR" altLang="zh-CN" sz="2400" dirty="0">
                  <a:latin typeface="Times New Roman" panose="02020603050405020304" pitchFamily="18" charset="0"/>
                  <a:ea typeface="宋体" panose="02010600030101010101" pitchFamily="2" charset="-122"/>
                </a:rPr>
                <a:t>(HAc)=</a:t>
              </a:r>
              <a:r>
                <a:rPr lang="pt-BR" altLang="zh-CN" dirty="0">
                  <a:latin typeface="Times New Roman" panose="02020603050405020304" pitchFamily="18" charset="0"/>
                  <a:ea typeface="宋体" panose="02010600030101010101" pitchFamily="2" charset="-122"/>
                </a:rPr>
                <a:t> </a:t>
              </a:r>
            </a:p>
          </p:txBody>
        </p:sp>
      </p:grpSp>
      <p:grpSp>
        <p:nvGrpSpPr>
          <p:cNvPr id="3" name="Group 39"/>
          <p:cNvGrpSpPr/>
          <p:nvPr/>
        </p:nvGrpSpPr>
        <p:grpSpPr>
          <a:xfrm>
            <a:off x="647700" y="2522539"/>
            <a:ext cx="7920038" cy="1424288"/>
            <a:chOff x="340" y="1104"/>
            <a:chExt cx="4989" cy="1196"/>
          </a:xfrm>
        </p:grpSpPr>
        <p:sp>
          <p:nvSpPr>
            <p:cNvPr id="45071" name="Text Box 40"/>
            <p:cNvSpPr txBox="1"/>
            <p:nvPr/>
          </p:nvSpPr>
          <p:spPr>
            <a:xfrm>
              <a:off x="340" y="1104"/>
              <a:ext cx="4989" cy="1111"/>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当</a:t>
              </a:r>
              <a:r>
                <a:rPr lang="en-US" altLang="zh-CN" sz="2400" dirty="0">
                  <a:latin typeface="Times New Roman" panose="02020603050405020304" pitchFamily="18" charset="0"/>
                  <a:ea typeface="宋体" panose="02010600030101010101" pitchFamily="2" charset="-122"/>
                </a:rPr>
                <a:t>c/      ≥500</a:t>
              </a:r>
              <a:r>
                <a:rPr lang="zh-CN" altLang="en-US" sz="2400" dirty="0">
                  <a:latin typeface="Times New Roman" panose="02020603050405020304" pitchFamily="18" charset="0"/>
                  <a:ea typeface="宋体" panose="02010600030101010101" pitchFamily="2" charset="-122"/>
                </a:rPr>
                <a:t>时，取</a:t>
              </a:r>
              <a:r>
                <a:rPr lang="en-US" altLang="zh-CN" sz="24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α</a:t>
              </a:r>
              <a:r>
                <a:rPr lang="en-US" altLang="zh-CN" sz="2400" dirty="0">
                  <a:latin typeface="Times New Roman" panose="02020603050405020304" pitchFamily="18" charset="0"/>
                  <a:ea typeface="宋体" panose="02010600030101010101" pitchFamily="2" charset="-122"/>
                </a:rPr>
                <a:t> ≈ 1</a:t>
              </a:r>
              <a:r>
                <a:rPr lang="zh-CN" altLang="en-US" sz="2400" dirty="0">
                  <a:latin typeface="Times New Roman" panose="02020603050405020304" pitchFamily="18" charset="0"/>
                  <a:ea typeface="宋体" panose="02010600030101010101" pitchFamily="2" charset="-122"/>
                </a:rPr>
                <a:t>，其误差小于</a:t>
              </a:r>
              <a:r>
                <a:rPr lang="en-US" altLang="zh-CN" sz="2400" dirty="0">
                  <a:latin typeface="Times New Roman" panose="02020603050405020304" pitchFamily="18" charset="0"/>
                  <a:ea typeface="宋体" panose="02010600030101010101" pitchFamily="2" charset="-122"/>
                </a:rPr>
                <a:t>0.2</a:t>
              </a:r>
              <a:r>
                <a:rPr lang="zh-CN" altLang="en-US" sz="2400" dirty="0">
                  <a:latin typeface="Times New Roman" panose="02020603050405020304" pitchFamily="18" charset="0"/>
                  <a:ea typeface="宋体" panose="02010600030101010101" pitchFamily="2" charset="-122"/>
                </a:rPr>
                <a:t>％，小于测量误差，则有</a:t>
              </a:r>
            </a:p>
            <a:p>
              <a:pPr>
                <a:buClrTx/>
                <a:buFontTx/>
              </a:pPr>
              <a:endParaRPr lang="zh-CN" altLang="en-US" dirty="0">
                <a:latin typeface="Times New Roman" panose="02020603050405020304" pitchFamily="18" charset="0"/>
                <a:ea typeface="宋体" panose="02010600030101010101" pitchFamily="2" charset="-122"/>
              </a:endParaRPr>
            </a:p>
          </p:txBody>
        </p:sp>
        <p:grpSp>
          <p:nvGrpSpPr>
            <p:cNvPr id="45072" name="Group 41"/>
            <p:cNvGrpSpPr/>
            <p:nvPr/>
          </p:nvGrpSpPr>
          <p:grpSpPr>
            <a:xfrm>
              <a:off x="1038" y="1237"/>
              <a:ext cx="3139" cy="1063"/>
              <a:chOff x="1038" y="2585"/>
              <a:chExt cx="3139" cy="1063"/>
            </a:xfrm>
          </p:grpSpPr>
          <p:graphicFrame>
            <p:nvGraphicFramePr>
              <p:cNvPr id="45073" name="Object 42"/>
              <p:cNvGraphicFramePr>
                <a:graphicFrameLocks noChangeAspect="1"/>
              </p:cNvGraphicFramePr>
              <p:nvPr>
                <p:extLst>
                  <p:ext uri="{D42A27DB-BD31-4B8C-83A1-F6EECF244321}">
                    <p14:modId xmlns:p14="http://schemas.microsoft.com/office/powerpoint/2010/main" val="1449381467"/>
                  </p:ext>
                </p:extLst>
              </p:nvPr>
            </p:nvGraphicFramePr>
            <p:xfrm>
              <a:off x="1162" y="3168"/>
              <a:ext cx="850" cy="480"/>
            </p:xfrm>
            <a:graphic>
              <a:graphicData uri="http://schemas.openxmlformats.org/presentationml/2006/ole">
                <mc:AlternateContent xmlns:mc="http://schemas.openxmlformats.org/markup-compatibility/2006">
                  <mc:Choice xmlns:v="urn:schemas-microsoft-com:vml" Requires="v">
                    <p:oleObj name="Equation" r:id="rId8" imgW="571320" imgH="457200" progId="Equation.DSMT4">
                      <p:embed/>
                    </p:oleObj>
                  </mc:Choice>
                  <mc:Fallback>
                    <p:oleObj name="Equation" r:id="rId8" imgW="571320" imgH="457200" progId="Equation.DSMT4">
                      <p:embed/>
                      <p:pic>
                        <p:nvPicPr>
                          <p:cNvPr id="0" name="图片 3105"/>
                          <p:cNvPicPr/>
                          <p:nvPr/>
                        </p:nvPicPr>
                        <p:blipFill>
                          <a:blip r:embed="rId9"/>
                          <a:stretch>
                            <a:fillRect/>
                          </a:stretch>
                        </p:blipFill>
                        <p:spPr>
                          <a:xfrm>
                            <a:off x="1162" y="3168"/>
                            <a:ext cx="850" cy="480"/>
                          </a:xfrm>
                          <a:prstGeom prst="rect">
                            <a:avLst/>
                          </a:prstGeom>
                          <a:solidFill>
                            <a:srgbClr val="00B0F0"/>
                          </a:solidFill>
                          <a:ln w="38100">
                            <a:noFill/>
                            <a:miter/>
                          </a:ln>
                        </p:spPr>
                      </p:pic>
                    </p:oleObj>
                  </mc:Fallback>
                </mc:AlternateContent>
              </a:graphicData>
            </a:graphic>
          </p:graphicFrame>
          <p:graphicFrame>
            <p:nvGraphicFramePr>
              <p:cNvPr id="45074" name="Object 43"/>
              <p:cNvGraphicFramePr>
                <a:graphicFrameLocks noChangeAspect="1"/>
              </p:cNvGraphicFramePr>
              <p:nvPr/>
            </p:nvGraphicFramePr>
            <p:xfrm>
              <a:off x="1038" y="2585"/>
              <a:ext cx="227" cy="317"/>
            </p:xfrm>
            <a:graphic>
              <a:graphicData uri="http://schemas.openxmlformats.org/presentationml/2006/ole">
                <mc:AlternateContent xmlns:mc="http://schemas.openxmlformats.org/markup-compatibility/2006">
                  <mc:Choice xmlns:v="urn:schemas-microsoft-com:vml" Requires="v">
                    <p:oleObj r:id="rId10" imgW="213360" imgH="226695" progId="Equation.3">
                      <p:embed/>
                    </p:oleObj>
                  </mc:Choice>
                  <mc:Fallback>
                    <p:oleObj r:id="rId10" imgW="213360" imgH="226695" progId="Equation.3">
                      <p:embed/>
                      <p:pic>
                        <p:nvPicPr>
                          <p:cNvPr id="0" name="图片 3106"/>
                          <p:cNvPicPr/>
                          <p:nvPr/>
                        </p:nvPicPr>
                        <p:blipFill>
                          <a:blip r:embed="rId11"/>
                          <a:stretch>
                            <a:fillRect/>
                          </a:stretch>
                        </p:blipFill>
                        <p:spPr>
                          <a:xfrm>
                            <a:off x="1038" y="2585"/>
                            <a:ext cx="227" cy="317"/>
                          </a:xfrm>
                          <a:prstGeom prst="rect">
                            <a:avLst/>
                          </a:prstGeom>
                          <a:noFill/>
                          <a:ln w="38100">
                            <a:noFill/>
                            <a:miter/>
                          </a:ln>
                        </p:spPr>
                      </p:pic>
                    </p:oleObj>
                  </mc:Fallback>
                </mc:AlternateContent>
              </a:graphicData>
            </a:graphic>
          </p:graphicFrame>
          <p:graphicFrame>
            <p:nvGraphicFramePr>
              <p:cNvPr id="45075" name="Object 44"/>
              <p:cNvGraphicFramePr>
                <a:graphicFrameLocks noChangeAspect="1"/>
              </p:cNvGraphicFramePr>
              <p:nvPr>
                <p:extLst>
                  <p:ext uri="{D42A27DB-BD31-4B8C-83A1-F6EECF244321}">
                    <p14:modId xmlns:p14="http://schemas.microsoft.com/office/powerpoint/2010/main" val="597070526"/>
                  </p:ext>
                </p:extLst>
              </p:nvPr>
            </p:nvGraphicFramePr>
            <p:xfrm>
              <a:off x="2767" y="3098"/>
              <a:ext cx="1410" cy="492"/>
            </p:xfrm>
            <a:graphic>
              <a:graphicData uri="http://schemas.openxmlformats.org/presentationml/2006/ole">
                <mc:AlternateContent xmlns:mc="http://schemas.openxmlformats.org/markup-compatibility/2006">
                  <mc:Choice xmlns:v="urn:schemas-microsoft-com:vml" Requires="v">
                    <p:oleObj name="Equation" r:id="rId12" imgW="1130040" imgH="291960" progId="Equation.DSMT4">
                      <p:embed/>
                    </p:oleObj>
                  </mc:Choice>
                  <mc:Fallback>
                    <p:oleObj name="Equation" r:id="rId12" imgW="1130040" imgH="291960" progId="Equation.DSMT4">
                      <p:embed/>
                      <p:pic>
                        <p:nvPicPr>
                          <p:cNvPr id="0" name="图片 3107"/>
                          <p:cNvPicPr/>
                          <p:nvPr/>
                        </p:nvPicPr>
                        <p:blipFill>
                          <a:blip r:embed="rId13"/>
                          <a:stretch>
                            <a:fillRect/>
                          </a:stretch>
                        </p:blipFill>
                        <p:spPr>
                          <a:xfrm>
                            <a:off x="2767" y="3098"/>
                            <a:ext cx="1410" cy="492"/>
                          </a:xfrm>
                          <a:prstGeom prst="rect">
                            <a:avLst/>
                          </a:prstGeom>
                          <a:solidFill>
                            <a:srgbClr val="00B0F0">
                              <a:alpha val="78000"/>
                            </a:srgbClr>
                          </a:solidFill>
                          <a:ln w="38100">
                            <a:noFill/>
                            <a:miter/>
                          </a:ln>
                        </p:spPr>
                      </p:pic>
                    </p:oleObj>
                  </mc:Fallback>
                </mc:AlternateContent>
              </a:graphicData>
            </a:graphic>
          </p:graphicFrame>
        </p:grpSp>
      </p:grpSp>
      <p:sp>
        <p:nvSpPr>
          <p:cNvPr id="184365" name="Rectangle 45"/>
          <p:cNvSpPr/>
          <p:nvPr/>
        </p:nvSpPr>
        <p:spPr>
          <a:xfrm>
            <a:off x="539750" y="4084641"/>
            <a:ext cx="8135938" cy="954107"/>
          </a:xfrm>
          <a:prstGeom prst="rect">
            <a:avLst/>
          </a:prstGeom>
          <a:noFill/>
          <a:ln w="9525">
            <a:noFill/>
          </a:ln>
        </p:spPr>
        <p:txBody>
          <a:bodyPr anchor="t" anchorCtr="0">
            <a:spAutoFit/>
          </a:bodyPr>
          <a:lstStyle/>
          <a:p>
            <a:pPr>
              <a:buClrTx/>
              <a:buFontTx/>
            </a:pPr>
            <a:r>
              <a:rPr lang="zh-CN" altLang="en-US" dirty="0">
                <a:latin typeface="Times New Roman" panose="02020603050405020304" pitchFamily="18" charset="0"/>
                <a:ea typeface="幼圆" pitchFamily="49" charset="-122"/>
              </a:rPr>
              <a:t>       弱电解质的浓度越稀，解离度越大。这一规律称为</a:t>
            </a:r>
            <a:r>
              <a:rPr lang="zh-CN" altLang="en-US" dirty="0">
                <a:solidFill>
                  <a:srgbClr val="FF0066"/>
                </a:solidFill>
                <a:latin typeface="Times New Roman" panose="02020603050405020304" pitchFamily="18" charset="0"/>
                <a:ea typeface="幼圆" pitchFamily="49" charset="-122"/>
              </a:rPr>
              <a:t>稀释定律</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4365"/>
                                        </p:tgtEl>
                                        <p:attrNameLst>
                                          <p:attrName>style.visibility</p:attrName>
                                        </p:attrNameLst>
                                      </p:cBhvr>
                                      <p:to>
                                        <p:strVal val="visible"/>
                                      </p:to>
                                    </p:set>
                                    <p:animEffect transition="in" filter="dissolve">
                                      <p:cBhvr>
                                        <p:cTn id="17" dur="500"/>
                                        <p:tgtEl>
                                          <p:spTgt spid="184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p:nvPr/>
        </p:nvGrpSpPr>
        <p:grpSpPr>
          <a:xfrm>
            <a:off x="468319" y="1168398"/>
            <a:ext cx="7488237" cy="584199"/>
            <a:chOff x="295" y="981"/>
            <a:chExt cx="4717" cy="491"/>
          </a:xfrm>
        </p:grpSpPr>
        <p:sp>
          <p:nvSpPr>
            <p:cNvPr id="46082" name="Text Box 16"/>
            <p:cNvSpPr txBox="1"/>
            <p:nvPr/>
          </p:nvSpPr>
          <p:spPr>
            <a:xfrm>
              <a:off x="295" y="981"/>
              <a:ext cx="4717" cy="491"/>
            </a:xfrm>
            <a:prstGeom prst="rect">
              <a:avLst/>
            </a:prstGeom>
            <a:gradFill rotWithShape="1">
              <a:gsLst>
                <a:gs pos="0">
                  <a:srgbClr val="005E47"/>
                </a:gs>
                <a:gs pos="50000">
                  <a:srgbClr val="00CC99"/>
                </a:gs>
                <a:gs pos="100000">
                  <a:srgbClr val="005E47"/>
                </a:gs>
              </a:gsLst>
              <a:lin ang="5400000" scaled="1"/>
              <a:tileRect/>
            </a:gradFill>
            <a:ln w="9525">
              <a:noFill/>
            </a:ln>
          </p:spPr>
          <p:txBody>
            <a:bodyPr anchor="t" anchorCtr="0">
              <a:spAutoFit/>
            </a:bodyPr>
            <a:lstStyle/>
            <a:p>
              <a:pPr algn="ctr">
                <a:buClrTx/>
                <a:buFontTx/>
              </a:pPr>
              <a:r>
                <a:rPr lang="el-GR" altLang="zh-CN" sz="3200" i="1" dirty="0">
                  <a:solidFill>
                    <a:srgbClr val="FFFF00"/>
                  </a:solidFill>
                  <a:latin typeface="Times New Roman" panose="02020603050405020304" pitchFamily="18" charset="0"/>
                  <a:ea typeface="宋体" panose="02010600030101010101" pitchFamily="2" charset="-122"/>
                </a:rPr>
                <a:t>α</a:t>
              </a:r>
              <a:r>
                <a:rPr lang="zh-CN" altLang="el-GR" sz="3200" dirty="0">
                  <a:solidFill>
                    <a:srgbClr val="FFFF00"/>
                  </a:solidFill>
                  <a:latin typeface="Times New Roman" panose="02020603050405020304" pitchFamily="18" charset="0"/>
                  <a:ea typeface="宋体" panose="02010600030101010101" pitchFamily="2" charset="-122"/>
                </a:rPr>
                <a:t>与 </a:t>
              </a:r>
              <a:r>
                <a:rPr lang="en-US" altLang="zh-CN" sz="3200" i="1" dirty="0">
                  <a:solidFill>
                    <a:srgbClr val="FFFF00"/>
                  </a:solidFill>
                  <a:latin typeface="Times New Roman" panose="02020603050405020304" pitchFamily="18" charset="0"/>
                  <a:ea typeface="宋体" panose="02010600030101010101" pitchFamily="2" charset="-122"/>
                </a:rPr>
                <a:t>c </a:t>
              </a:r>
              <a:r>
                <a:rPr lang="zh-CN" altLang="en-US" sz="3200" dirty="0">
                  <a:solidFill>
                    <a:srgbClr val="FFFF00"/>
                  </a:solidFill>
                  <a:latin typeface="Times New Roman" panose="02020603050405020304" pitchFamily="18" charset="0"/>
                  <a:ea typeface="宋体" panose="02010600030101010101" pitchFamily="2" charset="-122"/>
                </a:rPr>
                <a:t>有关，</a:t>
              </a:r>
              <a:r>
                <a:rPr lang="en-US" altLang="zh-CN" sz="3200" dirty="0">
                  <a:solidFill>
                    <a:srgbClr val="FFFF00"/>
                  </a:solidFill>
                  <a:latin typeface="Times New Roman" panose="02020603050405020304" pitchFamily="18" charset="0"/>
                  <a:ea typeface="宋体" panose="02010600030101010101" pitchFamily="2" charset="-122"/>
                </a:rPr>
                <a:t>    </a:t>
              </a:r>
              <a:r>
                <a:rPr lang="zh-CN" altLang="en-US" sz="3200" dirty="0">
                  <a:solidFill>
                    <a:srgbClr val="FFFF00"/>
                  </a:solidFill>
                  <a:latin typeface="Times New Roman" panose="02020603050405020304" pitchFamily="18" charset="0"/>
                  <a:ea typeface="宋体" panose="02010600030101010101" pitchFamily="2" charset="-122"/>
                </a:rPr>
                <a:t>与 </a:t>
              </a:r>
              <a:r>
                <a:rPr lang="en-US" altLang="zh-CN" sz="3200" i="1" dirty="0">
                  <a:solidFill>
                    <a:srgbClr val="FFFF00"/>
                  </a:solidFill>
                  <a:latin typeface="Times New Roman" panose="02020603050405020304" pitchFamily="18" charset="0"/>
                  <a:ea typeface="宋体" panose="02010600030101010101" pitchFamily="2" charset="-122"/>
                </a:rPr>
                <a:t>c </a:t>
              </a:r>
              <a:r>
                <a:rPr lang="zh-CN" altLang="en-US" sz="3200" dirty="0">
                  <a:solidFill>
                    <a:srgbClr val="FFFF00"/>
                  </a:solidFill>
                  <a:latin typeface="Times New Roman" panose="02020603050405020304" pitchFamily="18" charset="0"/>
                  <a:ea typeface="宋体" panose="02010600030101010101" pitchFamily="2" charset="-122"/>
                </a:rPr>
                <a:t>无关</a:t>
              </a:r>
            </a:p>
          </p:txBody>
        </p:sp>
        <p:graphicFrame>
          <p:nvGraphicFramePr>
            <p:cNvPr id="46083" name="Object 17"/>
            <p:cNvGraphicFramePr>
              <a:graphicFrameLocks noChangeAspect="1"/>
            </p:cNvGraphicFramePr>
            <p:nvPr/>
          </p:nvGraphicFramePr>
          <p:xfrm>
            <a:off x="2638" y="1058"/>
            <a:ext cx="341" cy="319"/>
          </p:xfrm>
          <a:graphic>
            <a:graphicData uri="http://schemas.openxmlformats.org/presentationml/2006/ole">
              <mc:AlternateContent xmlns:mc="http://schemas.openxmlformats.org/markup-compatibility/2006">
                <mc:Choice xmlns:v="urn:schemas-microsoft-com:vml" Requires="v">
                  <p:oleObj r:id="rId2" imgW="217170" imgH="255905" progId="Equation.DSMT4">
                    <p:embed/>
                  </p:oleObj>
                </mc:Choice>
                <mc:Fallback>
                  <p:oleObj r:id="rId2" imgW="217170" imgH="255905" progId="Equation.DSMT4">
                    <p:embed/>
                    <p:pic>
                      <p:nvPicPr>
                        <p:cNvPr id="0" name="图片 3108"/>
                        <p:cNvPicPr/>
                        <p:nvPr/>
                      </p:nvPicPr>
                      <p:blipFill>
                        <a:blip r:embed="rId3"/>
                        <a:stretch>
                          <a:fillRect/>
                        </a:stretch>
                      </p:blipFill>
                      <p:spPr>
                        <a:xfrm>
                          <a:off x="2638" y="1058"/>
                          <a:ext cx="341" cy="319"/>
                        </a:xfrm>
                        <a:prstGeom prst="rect">
                          <a:avLst/>
                        </a:prstGeom>
                        <a:solidFill>
                          <a:srgbClr val="92D050"/>
                        </a:solidFill>
                        <a:ln w="38100">
                          <a:noFill/>
                          <a:miter/>
                        </a:ln>
                      </p:spPr>
                    </p:pic>
                  </p:oleObj>
                </mc:Fallback>
              </mc:AlternateContent>
            </a:graphicData>
          </a:graphic>
        </p:graphicFrame>
      </p:grpSp>
      <p:sp>
        <p:nvSpPr>
          <p:cNvPr id="36886" name="Rectangle 22"/>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46086" name="Text Box 18"/>
          <p:cNvSpPr txBox="1"/>
          <p:nvPr/>
        </p:nvSpPr>
        <p:spPr>
          <a:xfrm>
            <a:off x="323850" y="259741"/>
            <a:ext cx="7416800" cy="1031051"/>
          </a:xfrm>
          <a:prstGeom prst="rect">
            <a:avLst/>
          </a:prstGeom>
          <a:noFill/>
          <a:ln w="9525">
            <a:noFill/>
          </a:ln>
          <a:effectLst>
            <a:prstShdw prst="shdw17" dist="17961" dir="13499999">
              <a:srgbClr val="5C5C99"/>
            </a:prstShdw>
          </a:effectLst>
        </p:spPr>
        <p:txBody>
          <a:bodyPr anchor="t" anchorCtr="0">
            <a:spAutoFit/>
          </a:bodyPr>
          <a:lstStyle/>
          <a:p>
            <a:pPr>
              <a:spcBef>
                <a:spcPts val="600"/>
              </a:spcBef>
              <a:buClrTx/>
              <a:buFontTx/>
            </a:pPr>
            <a:r>
              <a:rPr lang="zh-CN" altLang="en-US" dirty="0">
                <a:latin typeface="Times New Roman" panose="02020603050405020304" pitchFamily="18" charset="0"/>
                <a:ea typeface="宋体" panose="02010600030101010101" pitchFamily="2" charset="-122"/>
              </a:rPr>
              <a:t>同理可推出一元弱碱中 </a:t>
            </a:r>
            <a:r>
              <a:rPr lang="en-US" altLang="zh-CN" dirty="0">
                <a:latin typeface="Times New Roman" panose="02020603050405020304" pitchFamily="18" charset="0"/>
                <a:ea typeface="宋体" panose="02010600030101010101" pitchFamily="2" charset="-122"/>
              </a:rPr>
              <a:t> </a:t>
            </a:r>
          </a:p>
          <a:p>
            <a:pPr>
              <a:spcBef>
                <a:spcPts val="600"/>
              </a:spcBef>
              <a:buClrTx/>
              <a:buFontTx/>
            </a:pPr>
            <a:r>
              <a:rPr lang="en-US" altLang="zh-CN" i="1"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36890" name="Rectangle 26"/>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6894" name="Rectangle 30"/>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6896" name="Rectangle 32"/>
          <p:cNvSpPr>
            <a:spLocks noChangeArrowheads="1"/>
          </p:cNvSpPr>
          <p:nvPr/>
        </p:nvSpPr>
        <p:spPr bwMode="auto">
          <a:xfrm>
            <a:off x="5" y="214186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6898" name="Rectangle 34"/>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4" name="Group 36"/>
          <p:cNvGrpSpPr/>
          <p:nvPr/>
        </p:nvGrpSpPr>
        <p:grpSpPr>
          <a:xfrm>
            <a:off x="323856" y="2441576"/>
            <a:ext cx="8101013" cy="2492772"/>
            <a:chOff x="204" y="1888"/>
            <a:chExt cx="5103" cy="2093"/>
          </a:xfrm>
        </p:grpSpPr>
        <p:sp>
          <p:nvSpPr>
            <p:cNvPr id="46094" name="Text Box 28"/>
            <p:cNvSpPr txBox="1"/>
            <p:nvPr/>
          </p:nvSpPr>
          <p:spPr>
            <a:xfrm>
              <a:off x="204" y="1888"/>
              <a:ext cx="5103" cy="2093"/>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sz="2400" dirty="0">
                  <a:latin typeface="Times New Roman" panose="02020603050405020304" pitchFamily="18" charset="0"/>
                  <a:ea typeface="幼圆" pitchFamily="49" charset="-122"/>
                </a:rPr>
                <a:t>解</a:t>
              </a:r>
              <a:r>
                <a:rPr lang="en-US" altLang="zh-CN" sz="24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设解离平衡时</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的浓度为</a:t>
              </a:r>
              <a:r>
                <a:rPr lang="en-US" altLang="zh-CN" sz="2400" i="1" dirty="0">
                  <a:latin typeface="Times New Roman" panose="02020603050405020304" pitchFamily="18" charset="0"/>
                  <a:ea typeface="幼圆" pitchFamily="49" charset="-122"/>
                </a:rPr>
                <a:t>x </a:t>
              </a:r>
              <a:r>
                <a:rPr lang="en-US" altLang="zh-CN" sz="2400" dirty="0">
                  <a:latin typeface="Times New Roman" panose="02020603050405020304" pitchFamily="18" charset="0"/>
                  <a:ea typeface="幼圆" pitchFamily="49" charset="-122"/>
                </a:rPr>
                <a:t>mol·L</a:t>
              </a:r>
              <a:r>
                <a:rPr lang="en-US" altLang="zh-CN" sz="2400" baseline="30000" dirty="0">
                  <a:latin typeface="Times New Roman" panose="02020603050405020304" pitchFamily="18" charset="0"/>
                  <a:ea typeface="幼圆" pitchFamily="49" charset="-122"/>
                </a:rPr>
                <a:t>-1</a:t>
              </a:r>
              <a:r>
                <a:rPr lang="zh-CN" altLang="en-US" sz="2400" dirty="0">
                  <a:latin typeface="Times New Roman" panose="02020603050405020304" pitchFamily="18" charset="0"/>
                  <a:ea typeface="幼圆" pitchFamily="49" charset="-122"/>
                </a:rPr>
                <a:t>，则有</a:t>
              </a:r>
            </a:p>
            <a:p>
              <a:pPr>
                <a:buClrTx/>
                <a:buFontTx/>
              </a:pPr>
              <a:r>
                <a:rPr lang="zh-CN" altLang="en-US" sz="2400" dirty="0">
                  <a:latin typeface="Times New Roman" panose="02020603050405020304" pitchFamily="18" charset="0"/>
                  <a:ea typeface="幼圆" pitchFamily="49" charset="-122"/>
                </a:rPr>
                <a:t>                                       </a:t>
              </a:r>
              <a:r>
                <a:rPr lang="pt-BR" altLang="zh-CN" sz="2400" dirty="0">
                  <a:latin typeface="Times New Roman" panose="02020603050405020304" pitchFamily="18" charset="0"/>
                  <a:ea typeface="幼圆" pitchFamily="49" charset="-122"/>
                </a:rPr>
                <a:t>HAc(aq)        H</a:t>
              </a:r>
              <a:r>
                <a:rPr lang="pt-BR" altLang="zh-CN" sz="2400" baseline="30000" dirty="0">
                  <a:latin typeface="Times New Roman" panose="02020603050405020304" pitchFamily="18" charset="0"/>
                  <a:ea typeface="幼圆" pitchFamily="49" charset="-122"/>
                </a:rPr>
                <a:t>+</a:t>
              </a:r>
              <a:r>
                <a:rPr lang="pt-BR" altLang="zh-CN" sz="2400" dirty="0">
                  <a:latin typeface="Times New Roman" panose="02020603050405020304" pitchFamily="18" charset="0"/>
                  <a:ea typeface="幼圆" pitchFamily="49" charset="-122"/>
                </a:rPr>
                <a:t>(aq)+Ac</a:t>
              </a:r>
              <a:r>
                <a:rPr lang="pt-BR" altLang="zh-CN" sz="2400" baseline="30000" dirty="0">
                  <a:latin typeface="Times New Roman" panose="02020603050405020304" pitchFamily="18" charset="0"/>
                  <a:ea typeface="幼圆" pitchFamily="49" charset="-122"/>
                </a:rPr>
                <a:t>-</a:t>
              </a:r>
              <a:r>
                <a:rPr lang="pt-BR" altLang="zh-CN" sz="2400" dirty="0">
                  <a:latin typeface="Times New Roman" panose="02020603050405020304" pitchFamily="18" charset="0"/>
                  <a:ea typeface="幼圆" pitchFamily="49" charset="-122"/>
                </a:rPr>
                <a:t>(aq)</a:t>
              </a:r>
            </a:p>
            <a:p>
              <a:pPr>
                <a:buClrTx/>
                <a:buFontTx/>
              </a:pPr>
              <a:r>
                <a:rPr lang="zh-CN" altLang="pt-BR" sz="2400" dirty="0">
                  <a:latin typeface="Times New Roman" panose="02020603050405020304" pitchFamily="18" charset="0"/>
                  <a:ea typeface="幼圆" pitchFamily="49" charset="-122"/>
                </a:rPr>
                <a:t>初始浓度</a:t>
              </a:r>
              <a:r>
                <a:rPr lang="en-US" altLang="zh-CN" sz="2400" dirty="0">
                  <a:latin typeface="Times New Roman" panose="02020603050405020304" pitchFamily="18" charset="0"/>
                  <a:ea typeface="幼圆" pitchFamily="49" charset="-122"/>
                </a:rPr>
                <a:t>/mol·L</a:t>
              </a:r>
              <a:r>
                <a:rPr lang="en-US" altLang="zh-CN" sz="2400" baseline="30000" dirty="0">
                  <a:latin typeface="Times New Roman" panose="02020603050405020304" pitchFamily="18" charset="0"/>
                  <a:ea typeface="幼圆" pitchFamily="49" charset="-122"/>
                </a:rPr>
                <a:t>-1</a:t>
              </a:r>
              <a:r>
                <a:rPr lang="en-US" altLang="zh-CN" sz="2400" dirty="0">
                  <a:latin typeface="Times New Roman" panose="02020603050405020304" pitchFamily="18" charset="0"/>
                  <a:ea typeface="幼圆" pitchFamily="49" charset="-122"/>
                </a:rPr>
                <a:t>            0.100             0          0</a:t>
              </a:r>
            </a:p>
            <a:p>
              <a:pPr>
                <a:buClrTx/>
                <a:buFontTx/>
              </a:pPr>
              <a:r>
                <a:rPr lang="zh-CN" altLang="en-US" sz="2400" dirty="0">
                  <a:latin typeface="Times New Roman" panose="02020603050405020304" pitchFamily="18" charset="0"/>
                  <a:ea typeface="幼圆" pitchFamily="49" charset="-122"/>
                </a:rPr>
                <a:t>平衡浓度</a:t>
              </a:r>
              <a:r>
                <a:rPr lang="en-US" altLang="zh-CN" sz="2400" dirty="0">
                  <a:latin typeface="Times New Roman" panose="02020603050405020304" pitchFamily="18" charset="0"/>
                  <a:ea typeface="幼圆" pitchFamily="49" charset="-122"/>
                </a:rPr>
                <a:t>/mol·L</a:t>
              </a:r>
              <a:r>
                <a:rPr lang="en-US" altLang="zh-CN" sz="2400" baseline="30000" dirty="0">
                  <a:latin typeface="Times New Roman" panose="02020603050405020304" pitchFamily="18" charset="0"/>
                  <a:ea typeface="幼圆" pitchFamily="49" charset="-122"/>
                </a:rPr>
                <a:t>-1</a:t>
              </a:r>
              <a:r>
                <a:rPr lang="en-US" altLang="zh-CN" sz="2400" dirty="0">
                  <a:latin typeface="Times New Roman" panose="02020603050405020304" pitchFamily="18" charset="0"/>
                  <a:ea typeface="幼圆" pitchFamily="49" charset="-122"/>
                </a:rPr>
                <a:t>         0.100 - </a:t>
              </a:r>
              <a:r>
                <a:rPr lang="en-US" altLang="zh-CN" sz="2400" i="1" dirty="0">
                  <a:latin typeface="Times New Roman" panose="02020603050405020304" pitchFamily="18" charset="0"/>
                  <a:ea typeface="幼圆" pitchFamily="49" charset="-122"/>
                </a:rPr>
                <a:t>x</a:t>
              </a:r>
              <a:r>
                <a:rPr lang="en-US" altLang="zh-CN" sz="2400" dirty="0">
                  <a:latin typeface="Times New Roman" panose="02020603050405020304" pitchFamily="18" charset="0"/>
                  <a:ea typeface="幼圆" pitchFamily="49" charset="-122"/>
                </a:rPr>
                <a:t>           </a:t>
              </a:r>
              <a:r>
                <a:rPr lang="en-US" altLang="zh-CN" sz="2400" i="1" dirty="0">
                  <a:latin typeface="Times New Roman" panose="02020603050405020304" pitchFamily="18" charset="0"/>
                  <a:ea typeface="幼圆" pitchFamily="49" charset="-122"/>
                </a:rPr>
                <a:t>x</a:t>
              </a:r>
              <a:r>
                <a:rPr lang="en-US" altLang="zh-CN" sz="2400" dirty="0">
                  <a:latin typeface="Times New Roman" panose="02020603050405020304" pitchFamily="18" charset="0"/>
                  <a:ea typeface="幼圆" pitchFamily="49" charset="-122"/>
                </a:rPr>
                <a:t>           </a:t>
              </a:r>
              <a:r>
                <a:rPr lang="en-US" altLang="zh-CN" sz="2400" i="1" dirty="0">
                  <a:latin typeface="Times New Roman" panose="02020603050405020304" pitchFamily="18" charset="0"/>
                  <a:ea typeface="幼圆" pitchFamily="49" charset="-122"/>
                </a:rPr>
                <a:t>x</a:t>
              </a:r>
              <a:endParaRPr lang="en-US" altLang="zh-CN" sz="2400" dirty="0">
                <a:latin typeface="Times New Roman" panose="02020603050405020304" pitchFamily="18" charset="0"/>
                <a:ea typeface="幼圆" pitchFamily="49" charset="-122"/>
              </a:endParaRPr>
            </a:p>
            <a:p>
              <a:pPr>
                <a:buClrTx/>
                <a:buFontTx/>
              </a:pPr>
              <a:r>
                <a:rPr lang="en-US" altLang="zh-CN" sz="2400" dirty="0">
                  <a:latin typeface="Times New Roman" panose="02020603050405020304" pitchFamily="18" charset="0"/>
                  <a:ea typeface="幼圆" pitchFamily="49" charset="-122"/>
                </a:rPr>
                <a:t>                                                   </a:t>
              </a:r>
            </a:p>
            <a:p>
              <a:pPr>
                <a:lnSpc>
                  <a:spcPct val="150000"/>
                </a:lnSpc>
                <a:buClrTx/>
                <a:buFontTx/>
              </a:pPr>
              <a:r>
                <a:rPr lang="en-US" altLang="zh-CN" sz="2400" dirty="0">
                  <a:latin typeface="Times New Roman" panose="02020603050405020304" pitchFamily="18" charset="0"/>
                  <a:ea typeface="幼圆" pitchFamily="49" charset="-122"/>
                </a:rPr>
                <a:t>                                  1.8×10</a:t>
              </a:r>
              <a:r>
                <a:rPr lang="en-US" altLang="zh-CN" sz="2400" baseline="30000" dirty="0">
                  <a:latin typeface="Times New Roman" panose="02020603050405020304" pitchFamily="18" charset="0"/>
                  <a:ea typeface="幼圆" pitchFamily="49" charset="-122"/>
                </a:rPr>
                <a:t>-5</a:t>
              </a:r>
              <a:r>
                <a:rPr lang="en-US" altLang="zh-CN" sz="2400" dirty="0">
                  <a:latin typeface="Times New Roman" panose="02020603050405020304" pitchFamily="18" charset="0"/>
                  <a:ea typeface="幼圆" pitchFamily="49" charset="-122"/>
                </a:rPr>
                <a:t> = </a:t>
              </a:r>
              <a:endParaRPr lang="zh-CN" altLang="en-US" sz="2400" dirty="0">
                <a:latin typeface="Times New Roman" panose="02020603050405020304" pitchFamily="18" charset="0"/>
                <a:ea typeface="幼圆" pitchFamily="49" charset="-122"/>
              </a:endParaRPr>
            </a:p>
          </p:txBody>
        </p:sp>
        <p:graphicFrame>
          <p:nvGraphicFramePr>
            <p:cNvPr id="46095" name="Object 29"/>
            <p:cNvGraphicFramePr>
              <a:graphicFrameLocks noChangeAspect="1"/>
            </p:cNvGraphicFramePr>
            <p:nvPr>
              <p:extLst>
                <p:ext uri="{D42A27DB-BD31-4B8C-83A1-F6EECF244321}">
                  <p14:modId xmlns:p14="http://schemas.microsoft.com/office/powerpoint/2010/main" val="2415155292"/>
                </p:ext>
              </p:extLst>
            </p:nvPr>
          </p:nvGraphicFramePr>
          <p:xfrm>
            <a:off x="2880" y="2360"/>
            <a:ext cx="273" cy="101"/>
          </p:xfrm>
          <a:graphic>
            <a:graphicData uri="http://schemas.openxmlformats.org/presentationml/2006/ole">
              <mc:AlternateContent xmlns:mc="http://schemas.openxmlformats.org/markup-compatibility/2006">
                <mc:Choice xmlns:v="urn:schemas-microsoft-com:vml" Requires="v">
                  <p:oleObj name="Equation" r:id="rId4" imgW="676275" imgH="171450" progId="Equation.DSMT4">
                    <p:embed/>
                  </p:oleObj>
                </mc:Choice>
                <mc:Fallback>
                  <p:oleObj name="Equation" r:id="rId4" imgW="676275" imgH="171450" progId="Equation.DSMT4">
                    <p:embed/>
                    <p:pic>
                      <p:nvPicPr>
                        <p:cNvPr id="0" name="图片 3111"/>
                        <p:cNvPicPr/>
                        <p:nvPr/>
                      </p:nvPicPr>
                      <p:blipFill>
                        <a:blip r:embed="rId5"/>
                        <a:stretch>
                          <a:fillRect/>
                        </a:stretch>
                      </p:blipFill>
                      <p:spPr>
                        <a:xfrm>
                          <a:off x="2880" y="2360"/>
                          <a:ext cx="273" cy="101"/>
                        </a:xfrm>
                        <a:prstGeom prst="rect">
                          <a:avLst/>
                        </a:prstGeom>
                        <a:noFill/>
                        <a:ln w="38100">
                          <a:noFill/>
                          <a:miter/>
                        </a:ln>
                      </p:spPr>
                    </p:pic>
                  </p:oleObj>
                </mc:Fallback>
              </mc:AlternateContent>
            </a:graphicData>
          </a:graphic>
        </p:graphicFrame>
        <p:graphicFrame>
          <p:nvGraphicFramePr>
            <p:cNvPr id="46096" name="Object 31"/>
            <p:cNvGraphicFramePr>
              <a:graphicFrameLocks noChangeAspect="1"/>
            </p:cNvGraphicFramePr>
            <p:nvPr/>
          </p:nvGraphicFramePr>
          <p:xfrm>
            <a:off x="2021" y="3085"/>
            <a:ext cx="1678" cy="453"/>
          </p:xfrm>
          <a:graphic>
            <a:graphicData uri="http://schemas.openxmlformats.org/presentationml/2006/ole">
              <mc:AlternateContent xmlns:mc="http://schemas.openxmlformats.org/markup-compatibility/2006">
                <mc:Choice xmlns:v="urn:schemas-microsoft-com:vml" Requires="v">
                  <p:oleObj r:id="rId6" imgW="1579245" imgH="445770" progId="Equation.KSEE3">
                    <p:embed/>
                  </p:oleObj>
                </mc:Choice>
                <mc:Fallback>
                  <p:oleObj r:id="rId6" imgW="1579245" imgH="445770" progId="Equation.KSEE3">
                    <p:embed/>
                    <p:pic>
                      <p:nvPicPr>
                        <p:cNvPr id="0" name="图片 3112"/>
                        <p:cNvPicPr/>
                        <p:nvPr/>
                      </p:nvPicPr>
                      <p:blipFill>
                        <a:blip r:embed="rId7"/>
                        <a:stretch>
                          <a:fillRect/>
                        </a:stretch>
                      </p:blipFill>
                      <p:spPr>
                        <a:xfrm>
                          <a:off x="2021" y="3085"/>
                          <a:ext cx="1678" cy="453"/>
                        </a:xfrm>
                        <a:prstGeom prst="rect">
                          <a:avLst/>
                        </a:prstGeom>
                        <a:noFill/>
                        <a:ln w="38100">
                          <a:noFill/>
                          <a:miter/>
                        </a:ln>
                      </p:spPr>
                    </p:pic>
                  </p:oleObj>
                </mc:Fallback>
              </mc:AlternateContent>
            </a:graphicData>
          </a:graphic>
        </p:graphicFrame>
        <p:graphicFrame>
          <p:nvGraphicFramePr>
            <p:cNvPr id="46097" name="Object 33"/>
            <p:cNvGraphicFramePr>
              <a:graphicFrameLocks noChangeAspect="1"/>
            </p:cNvGraphicFramePr>
            <p:nvPr/>
          </p:nvGraphicFramePr>
          <p:xfrm>
            <a:off x="2789" y="3460"/>
            <a:ext cx="907" cy="499"/>
          </p:xfrm>
          <a:graphic>
            <a:graphicData uri="http://schemas.openxmlformats.org/presentationml/2006/ole">
              <mc:AlternateContent xmlns:mc="http://schemas.openxmlformats.org/markup-compatibility/2006">
                <mc:Choice xmlns:v="urn:schemas-microsoft-com:vml" Requires="v">
                  <p:oleObj r:id="rId8" imgW="540385" imgH="386080" progId="Equation.DSMT4">
                    <p:embed/>
                  </p:oleObj>
                </mc:Choice>
                <mc:Fallback>
                  <p:oleObj r:id="rId8" imgW="540385" imgH="386080" progId="Equation.DSMT4">
                    <p:embed/>
                    <p:pic>
                      <p:nvPicPr>
                        <p:cNvPr id="0" name="图片 3113"/>
                        <p:cNvPicPr/>
                        <p:nvPr/>
                      </p:nvPicPr>
                      <p:blipFill>
                        <a:blip r:embed="rId9"/>
                        <a:stretch>
                          <a:fillRect/>
                        </a:stretch>
                      </p:blipFill>
                      <p:spPr>
                        <a:xfrm>
                          <a:off x="2789" y="3460"/>
                          <a:ext cx="907" cy="499"/>
                        </a:xfrm>
                        <a:prstGeom prst="rect">
                          <a:avLst/>
                        </a:prstGeom>
                        <a:noFill/>
                        <a:ln w="38100">
                          <a:noFill/>
                          <a:miter/>
                        </a:ln>
                      </p:spPr>
                    </p:pic>
                  </p:oleObj>
                </mc:Fallback>
              </mc:AlternateContent>
            </a:graphicData>
          </a:graphic>
        </p:graphicFrame>
      </p:grpSp>
      <p:pic>
        <p:nvPicPr>
          <p:cNvPr id="36903" name="Group 39"/>
          <p:cNvPicPr/>
          <p:nvPr/>
        </p:nvPicPr>
        <p:blipFill>
          <a:blip r:embed="rId10"/>
          <a:stretch>
            <a:fillRect/>
          </a:stretch>
        </p:blipFill>
        <p:spPr>
          <a:xfrm>
            <a:off x="-34925" y="1752601"/>
            <a:ext cx="9150350" cy="901700"/>
          </a:xfrm>
          <a:prstGeom prst="rect">
            <a:avLst/>
          </a:prstGeom>
          <a:noFill/>
          <a:ln w="9525">
            <a:noFill/>
          </a:ln>
        </p:spPr>
      </p:pic>
      <p:graphicFrame>
        <p:nvGraphicFramePr>
          <p:cNvPr id="20" name="Object 42"/>
          <p:cNvGraphicFramePr>
            <a:graphicFrameLocks noChangeAspect="1"/>
          </p:cNvGraphicFramePr>
          <p:nvPr>
            <p:extLst>
              <p:ext uri="{D42A27DB-BD31-4B8C-83A1-F6EECF244321}">
                <p14:modId xmlns:p14="http://schemas.microsoft.com/office/powerpoint/2010/main" val="2296775766"/>
              </p:ext>
            </p:extLst>
          </p:nvPr>
        </p:nvGraphicFramePr>
        <p:xfrm>
          <a:off x="4032256" y="489072"/>
          <a:ext cx="1349375" cy="571620"/>
        </p:xfrm>
        <a:graphic>
          <a:graphicData uri="http://schemas.openxmlformats.org/presentationml/2006/ole">
            <mc:AlternateContent xmlns:mc="http://schemas.openxmlformats.org/markup-compatibility/2006">
              <mc:Choice xmlns:v="urn:schemas-microsoft-com:vml" Requires="v">
                <p:oleObj name="Equation" r:id="rId11" imgW="571320" imgH="457200" progId="Equation.DSMT4">
                  <p:embed/>
                </p:oleObj>
              </mc:Choice>
              <mc:Fallback>
                <p:oleObj name="Equation" r:id="rId11" imgW="571320" imgH="457200" progId="Equation.DSMT4">
                  <p:embed/>
                  <p:pic>
                    <p:nvPicPr>
                      <p:cNvPr id="0" name=""/>
                      <p:cNvPicPr/>
                      <p:nvPr/>
                    </p:nvPicPr>
                    <p:blipFill>
                      <a:blip r:embed="rId12"/>
                      <a:stretch>
                        <a:fillRect/>
                      </a:stretch>
                    </p:blipFill>
                    <p:spPr>
                      <a:xfrm>
                        <a:off x="4032256" y="489072"/>
                        <a:ext cx="1349375" cy="571620"/>
                      </a:xfrm>
                      <a:prstGeom prst="rect">
                        <a:avLst/>
                      </a:prstGeom>
                      <a:solidFill>
                        <a:srgbClr val="00B0F0"/>
                      </a:solidFill>
                      <a:ln w="38100">
                        <a:noFill/>
                        <a:miter/>
                      </a:ln>
                    </p:spPr>
                  </p:pic>
                </p:oleObj>
              </mc:Fallback>
            </mc:AlternateContent>
          </a:graphicData>
        </a:graphic>
      </p:graphicFrame>
      <p:graphicFrame>
        <p:nvGraphicFramePr>
          <p:cNvPr id="21" name="Object 44"/>
          <p:cNvGraphicFramePr>
            <a:graphicFrameLocks noChangeAspect="1"/>
          </p:cNvGraphicFramePr>
          <p:nvPr>
            <p:extLst>
              <p:ext uri="{D42A27DB-BD31-4B8C-83A1-F6EECF244321}">
                <p14:modId xmlns:p14="http://schemas.microsoft.com/office/powerpoint/2010/main" val="3565796232"/>
              </p:ext>
            </p:extLst>
          </p:nvPr>
        </p:nvGraphicFramePr>
        <p:xfrm>
          <a:off x="6300192" y="481990"/>
          <a:ext cx="2389188" cy="585788"/>
        </p:xfrm>
        <a:graphic>
          <a:graphicData uri="http://schemas.openxmlformats.org/presentationml/2006/ole">
            <mc:AlternateContent xmlns:mc="http://schemas.openxmlformats.org/markup-compatibility/2006">
              <mc:Choice xmlns:v="urn:schemas-microsoft-com:vml" Requires="v">
                <p:oleObj name="Equation" r:id="rId13" imgW="1206360" imgH="291960" progId="Equation.DSMT4">
                  <p:embed/>
                </p:oleObj>
              </mc:Choice>
              <mc:Fallback>
                <p:oleObj name="Equation" r:id="rId13" imgW="1206360" imgH="291960" progId="Equation.DSMT4">
                  <p:embed/>
                  <p:pic>
                    <p:nvPicPr>
                      <p:cNvPr id="0" name=""/>
                      <p:cNvPicPr/>
                      <p:nvPr/>
                    </p:nvPicPr>
                    <p:blipFill>
                      <a:blip r:embed="rId14"/>
                      <a:stretch>
                        <a:fillRect/>
                      </a:stretch>
                    </p:blipFill>
                    <p:spPr>
                      <a:xfrm>
                        <a:off x="6300192" y="481990"/>
                        <a:ext cx="2389188" cy="585788"/>
                      </a:xfrm>
                      <a:prstGeom prst="rect">
                        <a:avLst/>
                      </a:prstGeom>
                      <a:solidFill>
                        <a:srgbClr val="00B0F0">
                          <a:alpha val="78000"/>
                        </a:srgbClr>
                      </a:solid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903"/>
                                        </p:tgtEl>
                                        <p:attrNameLst>
                                          <p:attrName>style.visibility</p:attrName>
                                        </p:attrNameLst>
                                      </p:cBhvr>
                                      <p:to>
                                        <p:strVal val="visible"/>
                                      </p:to>
                                    </p:set>
                                    <p:anim calcmode="lin" valueType="num">
                                      <p:cBhvr additive="base">
                                        <p:cTn id="13" dur="500" fill="hold"/>
                                        <p:tgtEl>
                                          <p:spTgt spid="36903"/>
                                        </p:tgtEl>
                                        <p:attrNameLst>
                                          <p:attrName>ppt_x</p:attrName>
                                        </p:attrNameLst>
                                      </p:cBhvr>
                                      <p:tavLst>
                                        <p:tav tm="0">
                                          <p:val>
                                            <p:strVal val="#ppt_x"/>
                                          </p:val>
                                        </p:tav>
                                        <p:tav tm="100000">
                                          <p:val>
                                            <p:strVal val="#ppt_x"/>
                                          </p:val>
                                        </p:tav>
                                      </p:tavLst>
                                    </p:anim>
                                    <p:anim calcmode="lin" valueType="num">
                                      <p:cBhvr additive="base">
                                        <p:cTn id="14" dur="500" fill="hold"/>
                                        <p:tgtEl>
                                          <p:spTgt spid="3690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ox(in)">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4" name="Rectangle 18"/>
          <p:cNvSpPr>
            <a:spLocks noChangeArrowheads="1"/>
          </p:cNvSpPr>
          <p:nvPr/>
        </p:nvSpPr>
        <p:spPr bwMode="auto">
          <a:xfrm>
            <a:off x="5" y="217837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9956" name="Rectangle 20"/>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9958" name="Rectangle 22"/>
          <p:cNvSpPr>
            <a:spLocks noChangeArrowheads="1"/>
          </p:cNvSpPr>
          <p:nvPr/>
        </p:nvSpPr>
        <p:spPr bwMode="auto">
          <a:xfrm>
            <a:off x="5" y="2221242"/>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9960" name="Rectangle 24"/>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9962" name="Rectangle 26"/>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9964" name="Rectangle 28"/>
          <p:cNvSpPr>
            <a:spLocks noChangeArrowheads="1"/>
          </p:cNvSpPr>
          <p:nvPr/>
        </p:nvSpPr>
        <p:spPr bwMode="auto">
          <a:xfrm>
            <a:off x="5" y="216012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2" name="Group 30"/>
          <p:cNvGrpSpPr/>
          <p:nvPr/>
        </p:nvGrpSpPr>
        <p:grpSpPr>
          <a:xfrm>
            <a:off x="198438" y="1198563"/>
            <a:ext cx="8748712" cy="2165350"/>
            <a:chOff x="113" y="1162"/>
            <a:chExt cx="5511" cy="1819"/>
          </a:xfrm>
        </p:grpSpPr>
        <p:sp>
          <p:nvSpPr>
            <p:cNvPr id="47112" name="Text Box 16"/>
            <p:cNvSpPr txBox="1"/>
            <p:nvPr/>
          </p:nvSpPr>
          <p:spPr>
            <a:xfrm>
              <a:off x="113" y="1197"/>
              <a:ext cx="5511" cy="1784"/>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dirty="0">
                  <a:latin typeface="Times New Roman" panose="02020603050405020304" pitchFamily="18" charset="0"/>
                  <a:ea typeface="幼圆" pitchFamily="49" charset="-122"/>
                </a:rPr>
                <a:t>因为</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                 ≥500</a:t>
              </a:r>
              <a:r>
                <a:rPr lang="zh-CN" altLang="en-US" dirty="0">
                  <a:latin typeface="Times New Roman" panose="02020603050405020304" pitchFamily="18" charset="0"/>
                  <a:ea typeface="幼圆" pitchFamily="49" charset="-122"/>
                </a:rPr>
                <a:t>，可作近似计算</a:t>
              </a:r>
              <a:r>
                <a:rPr lang="en-US" altLang="zh-CN" dirty="0">
                  <a:latin typeface="Times New Roman" panose="02020603050405020304" pitchFamily="18" charset="0"/>
                  <a:ea typeface="幼圆" pitchFamily="49" charset="-122"/>
                </a:rPr>
                <a:t>0.100-</a:t>
              </a:r>
              <a:r>
                <a:rPr lang="en-US" altLang="zh-CN" i="1" dirty="0">
                  <a:latin typeface="Times New Roman" panose="02020603050405020304" pitchFamily="18" charset="0"/>
                  <a:ea typeface="幼圆" pitchFamily="49" charset="-122"/>
                </a:rPr>
                <a:t>x</a:t>
              </a:r>
              <a:r>
                <a:rPr lang="en-US" altLang="zh-CN" dirty="0">
                  <a:latin typeface="Times New Roman" panose="02020603050405020304" pitchFamily="18" charset="0"/>
                  <a:ea typeface="幼圆" pitchFamily="49" charset="-122"/>
                </a:rPr>
                <a:t> ≈ 0.100</a:t>
              </a:r>
            </a:p>
            <a:p>
              <a:pPr>
                <a:spcBef>
                  <a:spcPts val="1200"/>
                </a:spcBef>
                <a:buClrTx/>
                <a:buFontTx/>
              </a:pPr>
              <a:r>
                <a:rPr lang="en-US" altLang="zh-CN" dirty="0">
                  <a:latin typeface="Times New Roman" panose="02020603050405020304" pitchFamily="18" charset="0"/>
                  <a:ea typeface="幼圆" pitchFamily="49" charset="-122"/>
                </a:rPr>
                <a:t>                         </a:t>
              </a:r>
              <a:r>
                <a:rPr lang="pt-BR" altLang="zh-CN" dirty="0">
                  <a:latin typeface="Times New Roman" panose="02020603050405020304" pitchFamily="18" charset="0"/>
                  <a:ea typeface="幼圆" pitchFamily="49" charset="-122"/>
                </a:rPr>
                <a:t>1.8×10</a:t>
              </a:r>
              <a:r>
                <a:rPr lang="pt-BR" altLang="zh-CN" baseline="30000" dirty="0">
                  <a:latin typeface="Times New Roman" panose="02020603050405020304" pitchFamily="18" charset="0"/>
                  <a:ea typeface="幼圆" pitchFamily="49" charset="-122"/>
                </a:rPr>
                <a:t>-5</a:t>
              </a:r>
              <a:r>
                <a:rPr lang="pt-BR" altLang="zh-CN" dirty="0">
                  <a:latin typeface="Times New Roman" panose="02020603050405020304" pitchFamily="18" charset="0"/>
                  <a:ea typeface="幼圆" pitchFamily="49" charset="-122"/>
                </a:rPr>
                <a:t>  =</a:t>
              </a:r>
            </a:p>
            <a:p>
              <a:pPr>
                <a:spcBef>
                  <a:spcPts val="600"/>
                </a:spcBef>
                <a:buClrTx/>
                <a:buFontTx/>
              </a:pPr>
              <a:r>
                <a:rPr lang="pt-BR" altLang="zh-CN" i="1" dirty="0">
                  <a:latin typeface="Times New Roman" panose="02020603050405020304" pitchFamily="18" charset="0"/>
                  <a:ea typeface="幼圆" pitchFamily="49" charset="-122"/>
                </a:rPr>
                <a:t>                            x</a:t>
              </a:r>
              <a:r>
                <a:rPr lang="pt-BR" altLang="zh-CN" dirty="0">
                  <a:latin typeface="Times New Roman" panose="02020603050405020304" pitchFamily="18" charset="0"/>
                  <a:ea typeface="幼圆" pitchFamily="49" charset="-122"/>
                </a:rPr>
                <a:t>=                          ≈1.34×10</a:t>
              </a:r>
              <a:r>
                <a:rPr lang="pt-BR" altLang="zh-CN" baseline="30000" dirty="0">
                  <a:latin typeface="Times New Roman" panose="02020603050405020304" pitchFamily="18" charset="0"/>
                  <a:ea typeface="幼圆" pitchFamily="49" charset="-122"/>
                </a:rPr>
                <a:t>-3</a:t>
              </a:r>
            </a:p>
            <a:p>
              <a:pPr>
                <a:spcBef>
                  <a:spcPts val="600"/>
                </a:spcBef>
                <a:buClrTx/>
                <a:buFontTx/>
              </a:pPr>
              <a:r>
                <a:rPr lang="pt-BR" altLang="zh-CN" dirty="0">
                  <a:latin typeface="Times New Roman" panose="02020603050405020304" pitchFamily="18" charset="0"/>
                  <a:ea typeface="幼圆" pitchFamily="49" charset="-122"/>
                </a:rPr>
                <a:t>                                 </a:t>
              </a:r>
              <a:r>
                <a:rPr lang="pt-BR" altLang="zh-CN" sz="2400" i="1" dirty="0">
                  <a:latin typeface="Times New Roman" panose="02020603050405020304" pitchFamily="18" charset="0"/>
                  <a:ea typeface="幼圆" pitchFamily="49" charset="-122"/>
                </a:rPr>
                <a:t>c</a:t>
              </a:r>
              <a:r>
                <a:rPr lang="pt-BR" altLang="zh-CN" sz="2400" dirty="0">
                  <a:latin typeface="Times New Roman" panose="02020603050405020304" pitchFamily="18" charset="0"/>
                  <a:ea typeface="幼圆" pitchFamily="49" charset="-122"/>
                </a:rPr>
                <a:t>(H</a:t>
              </a:r>
              <a:r>
                <a:rPr lang="pt-BR" altLang="zh-CN" sz="2400" baseline="30000" dirty="0">
                  <a:latin typeface="Times New Roman" panose="02020603050405020304" pitchFamily="18" charset="0"/>
                  <a:ea typeface="幼圆" pitchFamily="49" charset="-122"/>
                </a:rPr>
                <a:t>+</a:t>
              </a:r>
              <a:r>
                <a:rPr lang="pt-BR" altLang="zh-CN" sz="2400" dirty="0">
                  <a:latin typeface="Times New Roman" panose="02020603050405020304" pitchFamily="18" charset="0"/>
                  <a:ea typeface="幼圆" pitchFamily="49" charset="-122"/>
                </a:rPr>
                <a:t>) ≈1.34×10</a:t>
              </a:r>
              <a:r>
                <a:rPr lang="pt-BR" altLang="zh-CN" sz="2400" baseline="30000" dirty="0">
                  <a:latin typeface="Times New Roman" panose="02020603050405020304" pitchFamily="18" charset="0"/>
                  <a:ea typeface="幼圆" pitchFamily="49" charset="-122"/>
                </a:rPr>
                <a:t>-3</a:t>
              </a:r>
              <a:r>
                <a:rPr lang="pt-BR" altLang="zh-CN" sz="2400" dirty="0">
                  <a:latin typeface="Times New Roman" panose="02020603050405020304" pitchFamily="18" charset="0"/>
                  <a:ea typeface="幼圆" pitchFamily="49" charset="-122"/>
                </a:rPr>
                <a:t>mol·L</a:t>
              </a:r>
              <a:r>
                <a:rPr lang="pt-BR" altLang="zh-CN" sz="2400" baseline="30000" dirty="0">
                  <a:latin typeface="Times New Roman" panose="02020603050405020304" pitchFamily="18" charset="0"/>
                  <a:ea typeface="幼圆" pitchFamily="49" charset="-122"/>
                </a:rPr>
                <a:t>-1</a:t>
              </a:r>
              <a:endParaRPr lang="zh-CN" altLang="en-US" dirty="0">
                <a:latin typeface="Times New Roman" panose="02020603050405020304" pitchFamily="18" charset="0"/>
                <a:ea typeface="幼圆" pitchFamily="49" charset="-122"/>
              </a:endParaRPr>
            </a:p>
          </p:txBody>
        </p:sp>
        <p:graphicFrame>
          <p:nvGraphicFramePr>
            <p:cNvPr id="47113" name="Object 17"/>
            <p:cNvGraphicFramePr>
              <a:graphicFrameLocks noChangeAspect="1"/>
            </p:cNvGraphicFramePr>
            <p:nvPr/>
          </p:nvGraphicFramePr>
          <p:xfrm>
            <a:off x="748" y="1162"/>
            <a:ext cx="953" cy="518"/>
          </p:xfrm>
          <a:graphic>
            <a:graphicData uri="http://schemas.openxmlformats.org/presentationml/2006/ole">
              <mc:AlternateContent xmlns:mc="http://schemas.openxmlformats.org/markup-compatibility/2006">
                <mc:Choice xmlns:v="urn:schemas-microsoft-com:vml" Requires="v">
                  <p:oleObj r:id="rId3" imgW="857885" imgH="358140" progId="Equation.KSEE3">
                    <p:embed/>
                  </p:oleObj>
                </mc:Choice>
                <mc:Fallback>
                  <p:oleObj r:id="rId3" imgW="857885" imgH="358140" progId="Equation.KSEE3">
                    <p:embed/>
                    <p:pic>
                      <p:nvPicPr>
                        <p:cNvPr id="0" name="图片 3094"/>
                        <p:cNvPicPr/>
                        <p:nvPr/>
                      </p:nvPicPr>
                      <p:blipFill>
                        <a:blip r:embed="rId4"/>
                        <a:stretch>
                          <a:fillRect/>
                        </a:stretch>
                      </p:blipFill>
                      <p:spPr>
                        <a:xfrm>
                          <a:off x="748" y="1162"/>
                          <a:ext cx="953" cy="518"/>
                        </a:xfrm>
                        <a:prstGeom prst="rect">
                          <a:avLst/>
                        </a:prstGeom>
                        <a:noFill/>
                        <a:ln w="38100">
                          <a:noFill/>
                          <a:miter/>
                        </a:ln>
                      </p:spPr>
                    </p:pic>
                  </p:oleObj>
                </mc:Fallback>
              </mc:AlternateContent>
            </a:graphicData>
          </a:graphic>
        </p:graphicFrame>
        <p:graphicFrame>
          <p:nvGraphicFramePr>
            <p:cNvPr id="47114" name="Object 19"/>
            <p:cNvGraphicFramePr>
              <a:graphicFrameLocks noChangeAspect="1"/>
            </p:cNvGraphicFramePr>
            <p:nvPr/>
          </p:nvGraphicFramePr>
          <p:xfrm>
            <a:off x="2686" y="1676"/>
            <a:ext cx="907" cy="514"/>
          </p:xfrm>
          <a:graphic>
            <a:graphicData uri="http://schemas.openxmlformats.org/presentationml/2006/ole">
              <mc:AlternateContent xmlns:mc="http://schemas.openxmlformats.org/markup-compatibility/2006">
                <mc:Choice xmlns:v="urn:schemas-microsoft-com:vml" Requires="v">
                  <p:oleObj r:id="rId5" imgW="430530" imgH="430530" progId="Equation.KSEE3">
                    <p:embed/>
                  </p:oleObj>
                </mc:Choice>
                <mc:Fallback>
                  <p:oleObj r:id="rId5" imgW="430530" imgH="430530" progId="Equation.KSEE3">
                    <p:embed/>
                    <p:pic>
                      <p:nvPicPr>
                        <p:cNvPr id="0" name="图片 3114"/>
                        <p:cNvPicPr/>
                        <p:nvPr/>
                      </p:nvPicPr>
                      <p:blipFill>
                        <a:blip r:embed="rId6"/>
                        <a:stretch>
                          <a:fillRect/>
                        </a:stretch>
                      </p:blipFill>
                      <p:spPr>
                        <a:xfrm>
                          <a:off x="2686" y="1676"/>
                          <a:ext cx="907" cy="514"/>
                        </a:xfrm>
                        <a:prstGeom prst="rect">
                          <a:avLst/>
                        </a:prstGeom>
                        <a:noFill/>
                        <a:ln w="38100">
                          <a:noFill/>
                          <a:miter/>
                        </a:ln>
                      </p:spPr>
                    </p:pic>
                  </p:oleObj>
                </mc:Fallback>
              </mc:AlternateContent>
            </a:graphicData>
          </a:graphic>
        </p:graphicFrame>
        <p:graphicFrame>
          <p:nvGraphicFramePr>
            <p:cNvPr id="47115" name="Object 21"/>
            <p:cNvGraphicFramePr>
              <a:graphicFrameLocks noChangeAspect="1"/>
            </p:cNvGraphicFramePr>
            <p:nvPr/>
          </p:nvGraphicFramePr>
          <p:xfrm>
            <a:off x="1960" y="2190"/>
            <a:ext cx="1406" cy="378"/>
          </p:xfrm>
          <a:graphic>
            <a:graphicData uri="http://schemas.openxmlformats.org/presentationml/2006/ole">
              <mc:AlternateContent xmlns:mc="http://schemas.openxmlformats.org/markup-compatibility/2006">
                <mc:Choice xmlns:v="urn:schemas-microsoft-com:vml" Requires="v">
                  <p:oleObj r:id="rId7" imgW="1011555" imgH="243205" progId="Equation.KSEE3">
                    <p:embed/>
                  </p:oleObj>
                </mc:Choice>
                <mc:Fallback>
                  <p:oleObj r:id="rId7" imgW="1011555" imgH="243205" progId="Equation.KSEE3">
                    <p:embed/>
                    <p:pic>
                      <p:nvPicPr>
                        <p:cNvPr id="0" name="图片 3115"/>
                        <p:cNvPicPr/>
                        <p:nvPr/>
                      </p:nvPicPr>
                      <p:blipFill>
                        <a:blip r:embed="rId8"/>
                        <a:stretch>
                          <a:fillRect/>
                        </a:stretch>
                      </p:blipFill>
                      <p:spPr>
                        <a:xfrm>
                          <a:off x="1960" y="2190"/>
                          <a:ext cx="1406" cy="378"/>
                        </a:xfrm>
                        <a:prstGeom prst="rect">
                          <a:avLst/>
                        </a:prstGeom>
                        <a:noFill/>
                        <a:ln w="38100">
                          <a:noFill/>
                          <a:miter/>
                        </a:ln>
                      </p:spPr>
                    </p:pic>
                  </p:oleObj>
                </mc:Fallback>
              </mc:AlternateContent>
            </a:graphicData>
          </a:graphic>
        </p:graphicFrame>
      </p:grpSp>
      <p:pic>
        <p:nvPicPr>
          <p:cNvPr id="47116" name="Group 34"/>
          <p:cNvPicPr/>
          <p:nvPr/>
        </p:nvPicPr>
        <p:blipFill>
          <a:blip r:embed="rId9"/>
          <a:stretch>
            <a:fillRect/>
          </a:stretch>
        </p:blipFill>
        <p:spPr>
          <a:xfrm>
            <a:off x="-19050" y="293690"/>
            <a:ext cx="9150350" cy="904875"/>
          </a:xfrm>
          <a:prstGeom prst="rect">
            <a:avLst/>
          </a:prstGeom>
          <a:noFill/>
          <a:ln w="9525">
            <a:noFill/>
          </a:ln>
        </p:spPr>
      </p:pic>
      <p:grpSp>
        <p:nvGrpSpPr>
          <p:cNvPr id="3" name="组合 2"/>
          <p:cNvGrpSpPr/>
          <p:nvPr/>
        </p:nvGrpSpPr>
        <p:grpSpPr>
          <a:xfrm>
            <a:off x="331144" y="3436935"/>
            <a:ext cx="8748713" cy="1528762"/>
            <a:chOff x="331138" y="3436938"/>
            <a:chExt cx="8748713" cy="1528762"/>
          </a:xfrm>
        </p:grpSpPr>
        <p:grpSp>
          <p:nvGrpSpPr>
            <p:cNvPr id="33" name="Group 30"/>
            <p:cNvGrpSpPr/>
            <p:nvPr/>
          </p:nvGrpSpPr>
          <p:grpSpPr>
            <a:xfrm>
              <a:off x="331138" y="3436938"/>
              <a:ext cx="8748713" cy="1528762"/>
              <a:chOff x="158" y="2916"/>
              <a:chExt cx="5511" cy="1284"/>
            </a:xfrm>
          </p:grpSpPr>
          <p:sp>
            <p:nvSpPr>
              <p:cNvPr id="47118" name="Text Box 16"/>
              <p:cNvSpPr txBox="1"/>
              <p:nvPr/>
            </p:nvSpPr>
            <p:spPr>
              <a:xfrm>
                <a:off x="158" y="3037"/>
                <a:ext cx="5511" cy="1163"/>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en-US" altLang="zh-CN" i="1" dirty="0">
                    <a:latin typeface="Times New Roman" panose="02020603050405020304" pitchFamily="18" charset="0"/>
                    <a:ea typeface="幼圆" pitchFamily="49" charset="-122"/>
                  </a:rPr>
                  <a:t>       α =</a:t>
                </a:r>
                <a:r>
                  <a:rPr lang="en-US" altLang="zh-CN" dirty="0">
                    <a:latin typeface="Times New Roman" panose="02020603050405020304" pitchFamily="18" charset="0"/>
                    <a:ea typeface="幼圆" pitchFamily="49" charset="-122"/>
                  </a:rPr>
                  <a:t> </a:t>
                </a:r>
                <a:endParaRPr lang="pt-BR" altLang="zh-CN" dirty="0">
                  <a:latin typeface="Times New Roman" panose="02020603050405020304" pitchFamily="18" charset="0"/>
                  <a:ea typeface="幼圆" pitchFamily="49" charset="-122"/>
                </a:endParaRPr>
              </a:p>
              <a:p>
                <a:pPr>
                  <a:buClrTx/>
                  <a:buFontTx/>
                </a:pPr>
                <a:r>
                  <a:rPr lang="pt-BR" altLang="zh-CN" dirty="0">
                    <a:latin typeface="Times New Roman" panose="02020603050405020304" pitchFamily="18" charset="0"/>
                    <a:ea typeface="幼圆" pitchFamily="49" charset="-122"/>
                  </a:rPr>
                  <a:t>                          </a:t>
                </a:r>
                <a:r>
                  <a:rPr lang="zh-CN" altLang="en-US" dirty="0">
                    <a:latin typeface="Times New Roman" panose="02020603050405020304" pitchFamily="18" charset="0"/>
                    <a:ea typeface="幼圆" pitchFamily="49" charset="-122"/>
                  </a:rPr>
                  <a:t>    </a:t>
                </a:r>
              </a:p>
              <a:p>
                <a:pPr>
                  <a:buClrTx/>
                  <a:buFontTx/>
                </a:pPr>
                <a:r>
                  <a:rPr lang="zh-CN" altLang="en-US" dirty="0">
                    <a:latin typeface="Times New Roman" panose="02020603050405020304" pitchFamily="18" charset="0"/>
                    <a:ea typeface="幼圆" pitchFamily="49" charset="-122"/>
                  </a:rPr>
                  <a:t> 或根据稀释定律                   </a:t>
                </a:r>
                <a:r>
                  <a:rPr lang="en-US" altLang="zh-CN" dirty="0">
                    <a:latin typeface="Times New Roman" panose="02020603050405020304" pitchFamily="18" charset="0"/>
                    <a:ea typeface="幼圆" pitchFamily="49" charset="-122"/>
                  </a:rPr>
                  <a:t>=              ×100%=1.34%</a:t>
                </a:r>
                <a:endParaRPr lang="zh-CN" altLang="en-US" dirty="0">
                  <a:latin typeface="Times New Roman" panose="02020603050405020304" pitchFamily="18" charset="0"/>
                  <a:ea typeface="幼圆" pitchFamily="49" charset="-122"/>
                </a:endParaRPr>
              </a:p>
            </p:txBody>
          </p:sp>
          <p:graphicFrame>
            <p:nvGraphicFramePr>
              <p:cNvPr id="47119" name="Object 23"/>
              <p:cNvGraphicFramePr>
                <a:graphicFrameLocks noChangeAspect="1"/>
              </p:cNvGraphicFramePr>
              <p:nvPr/>
            </p:nvGraphicFramePr>
            <p:xfrm>
              <a:off x="929" y="2916"/>
              <a:ext cx="4603" cy="605"/>
            </p:xfrm>
            <a:graphic>
              <a:graphicData uri="http://schemas.openxmlformats.org/presentationml/2006/ole">
                <mc:AlternateContent xmlns:mc="http://schemas.openxmlformats.org/markup-compatibility/2006">
                  <mc:Choice xmlns:v="urn:schemas-microsoft-com:vml" Requires="v">
                    <p:oleObj r:id="rId10" imgW="2655570" imgH="419100" progId="Equation.DSMT4">
                      <p:embed/>
                    </p:oleObj>
                  </mc:Choice>
                  <mc:Fallback>
                    <p:oleObj r:id="rId10" imgW="2655570" imgH="419100" progId="Equation.DSMT4">
                      <p:embed/>
                      <p:pic>
                        <p:nvPicPr>
                          <p:cNvPr id="0" name="图片 3116"/>
                          <p:cNvPicPr/>
                          <p:nvPr/>
                        </p:nvPicPr>
                        <p:blipFill>
                          <a:blip r:embed="rId11"/>
                          <a:stretch>
                            <a:fillRect/>
                          </a:stretch>
                        </p:blipFill>
                        <p:spPr>
                          <a:xfrm>
                            <a:off x="929" y="2916"/>
                            <a:ext cx="4603" cy="605"/>
                          </a:xfrm>
                          <a:prstGeom prst="rect">
                            <a:avLst/>
                          </a:prstGeom>
                          <a:noFill/>
                          <a:ln w="38100">
                            <a:noFill/>
                            <a:miter/>
                          </a:ln>
                        </p:spPr>
                      </p:pic>
                    </p:oleObj>
                  </mc:Fallback>
                </mc:AlternateContent>
              </a:graphicData>
            </a:graphic>
          </p:graphicFrame>
          <p:graphicFrame>
            <p:nvGraphicFramePr>
              <p:cNvPr id="47121" name="Object 27"/>
              <p:cNvGraphicFramePr>
                <a:graphicFrameLocks noChangeAspect="1"/>
              </p:cNvGraphicFramePr>
              <p:nvPr/>
            </p:nvGraphicFramePr>
            <p:xfrm>
              <a:off x="3049" y="3557"/>
              <a:ext cx="862" cy="545"/>
            </p:xfrm>
            <a:graphic>
              <a:graphicData uri="http://schemas.openxmlformats.org/presentationml/2006/ole">
                <mc:AlternateContent xmlns:mc="http://schemas.openxmlformats.org/markup-compatibility/2006">
                  <mc:Choice xmlns:v="urn:schemas-microsoft-com:vml" Requires="v">
                    <p:oleObj r:id="rId12" imgW="653415" imgH="422910" progId="Equation.DSMT4">
                      <p:embed/>
                    </p:oleObj>
                  </mc:Choice>
                  <mc:Fallback>
                    <p:oleObj r:id="rId12" imgW="653415" imgH="422910" progId="Equation.DSMT4">
                      <p:embed/>
                      <p:pic>
                        <p:nvPicPr>
                          <p:cNvPr id="0" name="图片 3118"/>
                          <p:cNvPicPr/>
                          <p:nvPr/>
                        </p:nvPicPr>
                        <p:blipFill>
                          <a:blip r:embed="rId13"/>
                          <a:stretch>
                            <a:fillRect/>
                          </a:stretch>
                        </p:blipFill>
                        <p:spPr>
                          <a:xfrm>
                            <a:off x="3049" y="3557"/>
                            <a:ext cx="862" cy="545"/>
                          </a:xfrm>
                          <a:prstGeom prst="rect">
                            <a:avLst/>
                          </a:prstGeom>
                          <a:noFill/>
                          <a:ln w="38100">
                            <a:noFill/>
                            <a:miter/>
                          </a:ln>
                        </p:spPr>
                      </p:pic>
                    </p:oleObj>
                  </mc:Fallback>
                </mc:AlternateContent>
              </a:graphicData>
            </a:graphic>
          </p:graphicFrame>
        </p:grpSp>
        <p:graphicFrame>
          <p:nvGraphicFramePr>
            <p:cNvPr id="19" name="Object 42"/>
            <p:cNvGraphicFramePr>
              <a:graphicFrameLocks noChangeAspect="1"/>
            </p:cNvGraphicFramePr>
            <p:nvPr>
              <p:extLst>
                <p:ext uri="{D42A27DB-BD31-4B8C-83A1-F6EECF244321}">
                  <p14:modId xmlns:p14="http://schemas.microsoft.com/office/powerpoint/2010/main" val="4172773875"/>
                </p:ext>
              </p:extLst>
            </p:nvPr>
          </p:nvGraphicFramePr>
          <p:xfrm>
            <a:off x="3185054" y="4273352"/>
            <a:ext cx="1349375" cy="571620"/>
          </p:xfrm>
          <a:graphic>
            <a:graphicData uri="http://schemas.openxmlformats.org/presentationml/2006/ole">
              <mc:AlternateContent xmlns:mc="http://schemas.openxmlformats.org/markup-compatibility/2006">
                <mc:Choice xmlns:v="urn:schemas-microsoft-com:vml" Requires="v">
                  <p:oleObj name="Equation" r:id="rId14" imgW="571320" imgH="457200" progId="Equation.DSMT4">
                    <p:embed/>
                  </p:oleObj>
                </mc:Choice>
                <mc:Fallback>
                  <p:oleObj name="Equation" r:id="rId14" imgW="571320" imgH="457200" progId="Equation.DSMT4">
                    <p:embed/>
                    <p:pic>
                      <p:nvPicPr>
                        <p:cNvPr id="0" name=""/>
                        <p:cNvPicPr/>
                        <p:nvPr/>
                      </p:nvPicPr>
                      <p:blipFill>
                        <a:blip r:embed="rId15"/>
                        <a:stretch>
                          <a:fillRect/>
                        </a:stretch>
                      </p:blipFill>
                      <p:spPr>
                        <a:xfrm>
                          <a:off x="3185054" y="4273352"/>
                          <a:ext cx="1349375" cy="571620"/>
                        </a:xfrm>
                        <a:prstGeom prst="rect">
                          <a:avLst/>
                        </a:prstGeom>
                        <a:solidFill>
                          <a:srgbClr val="00B0F0"/>
                        </a:solid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ChangeArrowheads="1"/>
          </p:cNvSpPr>
          <p:nvPr/>
        </p:nvSpPr>
        <p:spPr bwMode="auto">
          <a:xfrm>
            <a:off x="323856" y="249239"/>
            <a:ext cx="4530407" cy="523220"/>
          </a:xfrm>
          <a:prstGeom prst="rect">
            <a:avLst/>
          </a:prstGeom>
          <a:solidFill>
            <a:schemeClr val="bg2">
              <a:lumMod val="20000"/>
              <a:lumOff val="80000"/>
            </a:schemeClr>
          </a:solidFill>
          <a:ln w="12700">
            <a:noFill/>
            <a:miter lim="800000"/>
            <a:headEnd type="none" w="sm" len="sm"/>
            <a:tailEnd type="none" w="sm" len="sm"/>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bg2">
                    <a:lumMod val="40000"/>
                    <a:lumOff val="60000"/>
                  </a:schemeClr>
                </a:solidFill>
                <a:effectLst/>
                <a:uLnTx/>
                <a:uFillTx/>
                <a:latin typeface="华文新魏" pitchFamily="2" charset="-122"/>
                <a:ea typeface="华文新魏" pitchFamily="2" charset="-122"/>
                <a:cs typeface="+mn-cs"/>
              </a:rPr>
              <a:t>3.</a:t>
            </a:r>
            <a:r>
              <a:rPr kumimoji="0" lang="zh-CN" altLang="en-US" sz="2800" b="1" i="0" u="none" strike="noStrike" kern="1200" cap="none" spc="0" normalizeH="0" baseline="0" noProof="0" dirty="0">
                <a:ln>
                  <a:noFill/>
                </a:ln>
                <a:solidFill>
                  <a:schemeClr val="bg2">
                    <a:lumMod val="40000"/>
                    <a:lumOff val="60000"/>
                  </a:schemeClr>
                </a:solidFill>
                <a:effectLst/>
                <a:uLnTx/>
                <a:uFillTx/>
                <a:latin typeface="华文新魏" pitchFamily="2" charset="-122"/>
                <a:ea typeface="华文新魏" pitchFamily="2" charset="-122"/>
                <a:cs typeface="+mn-cs"/>
              </a:rPr>
              <a:t>多元弱电解质的解离平衡</a:t>
            </a:r>
            <a:r>
              <a:rPr kumimoji="0" lang="zh-CN" altLang="en-US" sz="2800" b="0" i="0" u="none" strike="noStrike" kern="1200" cap="none" spc="0" normalizeH="0" baseline="0" noProof="0" dirty="0">
                <a:ln>
                  <a:noFill/>
                </a:ln>
                <a:solidFill>
                  <a:schemeClr val="bg2">
                    <a:lumMod val="40000"/>
                    <a:lumOff val="60000"/>
                  </a:schemeClr>
                </a:solidFill>
                <a:effectLst/>
                <a:uLnTx/>
                <a:uFillTx/>
                <a:latin typeface="华文新魏" pitchFamily="2" charset="-122"/>
                <a:ea typeface="华文新魏" pitchFamily="2" charset="-122"/>
                <a:cs typeface="+mn-cs"/>
              </a:rPr>
              <a:t> </a:t>
            </a:r>
          </a:p>
        </p:txBody>
      </p:sp>
      <p:sp>
        <p:nvSpPr>
          <p:cNvPr id="2" name="Text Box 12"/>
          <p:cNvSpPr txBox="1"/>
          <p:nvPr/>
        </p:nvSpPr>
        <p:spPr>
          <a:xfrm>
            <a:off x="539756" y="779466"/>
            <a:ext cx="5832475" cy="461665"/>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2400" dirty="0">
                <a:latin typeface="Arial" panose="020B0604020202020204" pitchFamily="34" charset="0"/>
                <a:ea typeface="幼圆" pitchFamily="49" charset="-122"/>
              </a:rPr>
              <a:t>多元弱酸在水溶液中</a:t>
            </a:r>
            <a:r>
              <a:rPr lang="zh-CN" altLang="en-US" sz="2400" dirty="0">
                <a:solidFill>
                  <a:srgbClr val="0000FF"/>
                </a:solidFill>
                <a:latin typeface="Arial" panose="020B0604020202020204" pitchFamily="34" charset="0"/>
                <a:ea typeface="幼圆" pitchFamily="49" charset="-122"/>
              </a:rPr>
              <a:t>分步解离</a:t>
            </a:r>
          </a:p>
        </p:txBody>
      </p:sp>
      <p:sp>
        <p:nvSpPr>
          <p:cNvPr id="48131" name="Text Box 14"/>
          <p:cNvSpPr txBox="1"/>
          <p:nvPr/>
        </p:nvSpPr>
        <p:spPr>
          <a:xfrm>
            <a:off x="184150" y="1068389"/>
            <a:ext cx="8351838" cy="523220"/>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如</a:t>
            </a:r>
            <a:r>
              <a:rPr lang="zh-CN" altLang="en-US"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H</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S        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 HS</a:t>
            </a:r>
            <a:r>
              <a:rPr lang="en-US" altLang="zh-CN" sz="2400" baseline="300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HS</a:t>
            </a:r>
            <a:r>
              <a:rPr lang="en-US" altLang="zh-CN" sz="2400" baseline="300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 S</a:t>
            </a:r>
            <a:r>
              <a:rPr lang="en-US" altLang="zh-CN" sz="2400" baseline="30000" dirty="0">
                <a:latin typeface="Times New Roman" panose="02020603050405020304" pitchFamily="18" charset="0"/>
                <a:ea typeface="宋体" panose="02010600030101010101" pitchFamily="2" charset="-122"/>
              </a:rPr>
              <a:t>2-</a:t>
            </a:r>
            <a:endParaRPr lang="en-US" altLang="zh-CN" sz="2400" b="0" dirty="0">
              <a:latin typeface="Times New Roman" panose="02020603050405020304" pitchFamily="18" charset="0"/>
              <a:ea typeface="宋体" panose="02010600030101010101" pitchFamily="2" charset="-122"/>
            </a:endParaRPr>
          </a:p>
        </p:txBody>
      </p:sp>
      <p:grpSp>
        <p:nvGrpSpPr>
          <p:cNvPr id="48132" name="Group 15"/>
          <p:cNvGrpSpPr/>
          <p:nvPr/>
        </p:nvGrpSpPr>
        <p:grpSpPr>
          <a:xfrm>
            <a:off x="2578100" y="1301750"/>
            <a:ext cx="598488" cy="142875"/>
            <a:chOff x="657" y="1752"/>
            <a:chExt cx="425" cy="121"/>
          </a:xfrm>
        </p:grpSpPr>
        <p:grpSp>
          <p:nvGrpSpPr>
            <p:cNvPr id="48133" name="Group 16"/>
            <p:cNvGrpSpPr/>
            <p:nvPr/>
          </p:nvGrpSpPr>
          <p:grpSpPr>
            <a:xfrm>
              <a:off x="657" y="1752"/>
              <a:ext cx="409" cy="45"/>
              <a:chOff x="657" y="1752"/>
              <a:chExt cx="409" cy="45"/>
            </a:xfrm>
          </p:grpSpPr>
          <p:sp>
            <p:nvSpPr>
              <p:cNvPr id="48134" name="Line 17"/>
              <p:cNvSpPr/>
              <p:nvPr/>
            </p:nvSpPr>
            <p:spPr>
              <a:xfrm>
                <a:off x="657" y="1797"/>
                <a:ext cx="409" cy="0"/>
              </a:xfrm>
              <a:prstGeom prst="line">
                <a:avLst/>
              </a:prstGeom>
              <a:ln w="9525" cap="flat" cmpd="sng">
                <a:solidFill>
                  <a:schemeClr val="tx1"/>
                </a:solidFill>
                <a:prstDash val="solid"/>
                <a:round/>
                <a:headEnd type="none" w="med" len="med"/>
                <a:tailEnd type="none" w="med" len="med"/>
              </a:ln>
            </p:spPr>
          </p:sp>
          <p:sp>
            <p:nvSpPr>
              <p:cNvPr id="48135" name="Line 18"/>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nvGrpSpPr>
            <p:cNvPr id="48136" name="Group 19"/>
            <p:cNvGrpSpPr/>
            <p:nvPr/>
          </p:nvGrpSpPr>
          <p:grpSpPr>
            <a:xfrm flipH="1" flipV="1">
              <a:off x="657" y="1828"/>
              <a:ext cx="425" cy="45"/>
              <a:chOff x="641" y="1752"/>
              <a:chExt cx="425" cy="45"/>
            </a:xfrm>
          </p:grpSpPr>
          <p:sp>
            <p:nvSpPr>
              <p:cNvPr id="48137" name="Line 20"/>
              <p:cNvSpPr/>
              <p:nvPr/>
            </p:nvSpPr>
            <p:spPr>
              <a:xfrm>
                <a:off x="641" y="1779"/>
                <a:ext cx="409" cy="0"/>
              </a:xfrm>
              <a:prstGeom prst="line">
                <a:avLst/>
              </a:prstGeom>
              <a:ln w="9525" cap="flat" cmpd="sng">
                <a:solidFill>
                  <a:schemeClr val="tx1"/>
                </a:solidFill>
                <a:prstDash val="solid"/>
                <a:round/>
                <a:headEnd type="none" w="med" len="med"/>
                <a:tailEnd type="none" w="med" len="med"/>
              </a:ln>
            </p:spPr>
          </p:sp>
          <p:sp>
            <p:nvSpPr>
              <p:cNvPr id="48138" name="Line 21"/>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grpSp>
        <p:nvGrpSpPr>
          <p:cNvPr id="48139" name="Group 22"/>
          <p:cNvGrpSpPr/>
          <p:nvPr/>
        </p:nvGrpSpPr>
        <p:grpSpPr>
          <a:xfrm>
            <a:off x="5524501" y="1293813"/>
            <a:ext cx="576263" cy="195262"/>
            <a:chOff x="657" y="1753"/>
            <a:chExt cx="409" cy="120"/>
          </a:xfrm>
        </p:grpSpPr>
        <p:grpSp>
          <p:nvGrpSpPr>
            <p:cNvPr id="48140" name="Group 23"/>
            <p:cNvGrpSpPr/>
            <p:nvPr/>
          </p:nvGrpSpPr>
          <p:grpSpPr>
            <a:xfrm>
              <a:off x="657" y="1753"/>
              <a:ext cx="409" cy="45"/>
              <a:chOff x="657" y="1753"/>
              <a:chExt cx="409" cy="45"/>
            </a:xfrm>
          </p:grpSpPr>
          <p:sp>
            <p:nvSpPr>
              <p:cNvPr id="48141" name="Line 24"/>
              <p:cNvSpPr/>
              <p:nvPr/>
            </p:nvSpPr>
            <p:spPr>
              <a:xfrm>
                <a:off x="657" y="1796"/>
                <a:ext cx="409" cy="0"/>
              </a:xfrm>
              <a:prstGeom prst="line">
                <a:avLst/>
              </a:prstGeom>
              <a:ln w="9525" cap="flat" cmpd="sng">
                <a:solidFill>
                  <a:schemeClr val="tx1"/>
                </a:solidFill>
                <a:prstDash val="solid"/>
                <a:round/>
                <a:headEnd type="none" w="med" len="med"/>
                <a:tailEnd type="none" w="med" len="med"/>
              </a:ln>
            </p:spPr>
          </p:sp>
          <p:sp>
            <p:nvSpPr>
              <p:cNvPr id="48142" name="Line 25"/>
              <p:cNvSpPr/>
              <p:nvPr/>
            </p:nvSpPr>
            <p:spPr>
              <a:xfrm>
                <a:off x="1020" y="1753"/>
                <a:ext cx="46" cy="45"/>
              </a:xfrm>
              <a:prstGeom prst="line">
                <a:avLst/>
              </a:prstGeom>
              <a:ln w="9525" cap="flat" cmpd="sng">
                <a:solidFill>
                  <a:schemeClr val="tx1"/>
                </a:solidFill>
                <a:prstDash val="solid"/>
                <a:round/>
                <a:headEnd type="none" w="med" len="med"/>
                <a:tailEnd type="none" w="med" len="med"/>
              </a:ln>
            </p:spPr>
          </p:sp>
        </p:grpSp>
        <p:grpSp>
          <p:nvGrpSpPr>
            <p:cNvPr id="48143" name="Group 26"/>
            <p:cNvGrpSpPr/>
            <p:nvPr/>
          </p:nvGrpSpPr>
          <p:grpSpPr>
            <a:xfrm flipH="1" flipV="1">
              <a:off x="657" y="1828"/>
              <a:ext cx="409" cy="45"/>
              <a:chOff x="657" y="1752"/>
              <a:chExt cx="409" cy="45"/>
            </a:xfrm>
          </p:grpSpPr>
          <p:sp>
            <p:nvSpPr>
              <p:cNvPr id="48144" name="Line 27"/>
              <p:cNvSpPr/>
              <p:nvPr/>
            </p:nvSpPr>
            <p:spPr>
              <a:xfrm>
                <a:off x="657" y="1796"/>
                <a:ext cx="409" cy="0"/>
              </a:xfrm>
              <a:prstGeom prst="line">
                <a:avLst/>
              </a:prstGeom>
              <a:ln w="9525" cap="flat" cmpd="sng">
                <a:solidFill>
                  <a:schemeClr val="tx1"/>
                </a:solidFill>
                <a:prstDash val="solid"/>
                <a:round/>
                <a:headEnd type="none" w="med" len="med"/>
                <a:tailEnd type="none" w="med" len="med"/>
              </a:ln>
            </p:spPr>
          </p:sp>
          <p:sp>
            <p:nvSpPr>
              <p:cNvPr id="48145" name="Line 28"/>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grpSp>
        <p:nvGrpSpPr>
          <p:cNvPr id="48146" name="Group 102"/>
          <p:cNvGrpSpPr/>
          <p:nvPr/>
        </p:nvGrpSpPr>
        <p:grpSpPr>
          <a:xfrm>
            <a:off x="714375" y="1241419"/>
            <a:ext cx="8280400" cy="1100138"/>
            <a:chOff x="363" y="1663"/>
            <a:chExt cx="5216" cy="924"/>
          </a:xfrm>
        </p:grpSpPr>
        <p:sp>
          <p:nvSpPr>
            <p:cNvPr id="48147" name="Line 35"/>
            <p:cNvSpPr/>
            <p:nvPr/>
          </p:nvSpPr>
          <p:spPr>
            <a:xfrm>
              <a:off x="3951" y="1663"/>
              <a:ext cx="44" cy="0"/>
            </a:xfrm>
            <a:prstGeom prst="line">
              <a:avLst/>
            </a:prstGeom>
            <a:ln w="9525" cap="flat" cmpd="sng">
              <a:solidFill>
                <a:schemeClr val="tx1"/>
              </a:solidFill>
              <a:prstDash val="solid"/>
              <a:round/>
              <a:headEnd type="none" w="med" len="med"/>
              <a:tailEnd type="none" w="med" len="med"/>
            </a:ln>
          </p:spPr>
        </p:sp>
        <p:grpSp>
          <p:nvGrpSpPr>
            <p:cNvPr id="48148" name="Group 92"/>
            <p:cNvGrpSpPr/>
            <p:nvPr/>
          </p:nvGrpSpPr>
          <p:grpSpPr>
            <a:xfrm>
              <a:off x="363" y="1951"/>
              <a:ext cx="5216" cy="636"/>
              <a:chOff x="363" y="1678"/>
              <a:chExt cx="5216" cy="636"/>
            </a:xfrm>
          </p:grpSpPr>
          <p:sp>
            <p:nvSpPr>
              <p:cNvPr id="48149" name="Text Box 37"/>
              <p:cNvSpPr txBox="1"/>
              <p:nvPr/>
            </p:nvSpPr>
            <p:spPr>
              <a:xfrm>
                <a:off x="363" y="1785"/>
                <a:ext cx="5216" cy="388"/>
              </a:xfrm>
              <a:prstGeom prst="rect">
                <a:avLst/>
              </a:prstGeom>
              <a:noFill/>
              <a:ln w="9525">
                <a:noFill/>
              </a:ln>
            </p:spPr>
            <p:txBody>
              <a:bodyPr anchor="t" anchorCtr="0">
                <a:spAutoFit/>
              </a:bodyPr>
              <a:lstStyle/>
              <a:p>
                <a:pPr>
                  <a:spcBef>
                    <a:spcPct val="50000"/>
                  </a:spcBef>
                  <a:buClrTx/>
                  <a:buFontTx/>
                </a:pPr>
                <a:r>
                  <a:rPr lang="en-US" altLang="zh-CN" sz="2400" i="1" dirty="0">
                    <a:latin typeface="Times New Roman" panose="02020603050405020304" pitchFamily="18" charset="0"/>
                    <a:ea typeface="幼圆" pitchFamily="49" charset="-122"/>
                  </a:rPr>
                  <a:t>    K</a:t>
                </a:r>
                <a:r>
                  <a:rPr lang="el-GR" altLang="zh-CN" sz="2400" b="0" baseline="30000" dirty="0">
                    <a:latin typeface="Times New Roman" panose="02020603050405020304" pitchFamily="18" charset="0"/>
                    <a:ea typeface="幼圆" pitchFamily="49" charset="-122"/>
                  </a:rPr>
                  <a:t> </a:t>
                </a:r>
                <a:r>
                  <a:rPr lang="en-US" altLang="zh-CN" sz="2400" baseline="-25000" dirty="0">
                    <a:latin typeface="Times New Roman" panose="02020603050405020304" pitchFamily="18" charset="0"/>
                    <a:ea typeface="幼圆" pitchFamily="49" charset="-122"/>
                  </a:rPr>
                  <a:t>a1</a:t>
                </a:r>
                <a:r>
                  <a:rPr lang="en-US" altLang="zh-CN" sz="2400" dirty="0">
                    <a:latin typeface="Times New Roman" panose="02020603050405020304" pitchFamily="18" charset="0"/>
                    <a:ea typeface="幼圆" pitchFamily="49" charset="-122"/>
                  </a:rPr>
                  <a:t>=                                      =1.1</a:t>
                </a:r>
                <a:r>
                  <a:rPr lang="en-US" altLang="zh-CN" sz="2400" dirty="0">
                    <a:latin typeface="幼圆" pitchFamily="49" charset="-122"/>
                    <a:ea typeface="幼圆" pitchFamily="49" charset="-122"/>
                  </a:rPr>
                  <a:t>×</a:t>
                </a:r>
                <a:r>
                  <a:rPr lang="en-US" altLang="zh-CN" sz="2400" dirty="0">
                    <a:latin typeface="Times New Roman" panose="02020603050405020304" pitchFamily="18" charset="0"/>
                    <a:ea typeface="幼圆" pitchFamily="49" charset="-122"/>
                  </a:rPr>
                  <a:t>10</a:t>
                </a:r>
                <a:r>
                  <a:rPr lang="en-US" altLang="zh-CN" sz="2400" baseline="30000" dirty="0">
                    <a:latin typeface="Times New Roman" panose="02020603050405020304" pitchFamily="18" charset="0"/>
                    <a:ea typeface="幼圆" pitchFamily="49" charset="-122"/>
                  </a:rPr>
                  <a:t>-7</a:t>
                </a:r>
                <a:endParaRPr lang="en-US" altLang="zh-CN" sz="2400" b="0" dirty="0">
                  <a:latin typeface="Arial" panose="020B0604020202020204" pitchFamily="34" charset="0"/>
                  <a:ea typeface="宋体" panose="02010600030101010101" pitchFamily="2" charset="-122"/>
                </a:endParaRPr>
              </a:p>
            </p:txBody>
          </p:sp>
          <p:sp>
            <p:nvSpPr>
              <p:cNvPr id="48150" name="Text Box 39"/>
              <p:cNvSpPr txBox="1"/>
              <p:nvPr/>
            </p:nvSpPr>
            <p:spPr>
              <a:xfrm>
                <a:off x="838" y="1678"/>
                <a:ext cx="2631" cy="636"/>
              </a:xfrm>
              <a:prstGeom prst="rect">
                <a:avLst/>
              </a:prstGeom>
              <a:noFill/>
              <a:ln w="9525">
                <a:noFill/>
              </a:ln>
            </p:spPr>
            <p:txBody>
              <a:bodyPr anchor="t" anchorCtr="0">
                <a:spAutoFit/>
              </a:bodyPr>
              <a:lstStyle/>
              <a:p>
                <a:pPr>
                  <a:spcBef>
                    <a:spcPct val="50000"/>
                  </a:spcBef>
                  <a:buClrTx/>
                  <a:buFontTx/>
                </a:pPr>
                <a:r>
                  <a:rPr lang="en-US" altLang="zh-CN" sz="2400" dirty="0">
                    <a:latin typeface="Times New Roman" panose="02020603050405020304" pitchFamily="18" charset="0"/>
                    <a:ea typeface="幼圆" pitchFamily="49" charset="-122"/>
                  </a:rPr>
                  <a:t>     [</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a:t>
                </a:r>
                <a:r>
                  <a:rPr lang="en-US" altLang="zh-CN" sz="2400" i="1" dirty="0">
                    <a:latin typeface="Times New Roman" panose="02020603050405020304" pitchFamily="18" charset="0"/>
                    <a:ea typeface="幼圆" pitchFamily="49" charset="-122"/>
                  </a:rPr>
                  <a:t>c</a:t>
                </a:r>
                <a:r>
                  <a:rPr lang="el-GR" altLang="zh-CN" sz="2400" b="0" baseline="30000" dirty="0">
                    <a:latin typeface="Times New Roman" panose="02020603050405020304" pitchFamily="18" charset="0"/>
                    <a:ea typeface="幼圆" pitchFamily="49" charset="-122"/>
                  </a:rPr>
                  <a:t> θ</a:t>
                </a:r>
                <a:r>
                  <a:rPr lang="en-US" altLang="zh-CN" sz="2400" dirty="0">
                    <a:latin typeface="Times New Roman" panose="02020603050405020304" pitchFamily="18" charset="0"/>
                    <a:ea typeface="幼圆" pitchFamily="49" charset="-122"/>
                  </a:rPr>
                  <a:t>][</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(HS</a:t>
                </a:r>
                <a:r>
                  <a:rPr lang="en-US" altLang="zh-CN" sz="2400" baseline="30000" dirty="0">
                    <a:latin typeface="幼圆" pitchFamily="49" charset="-122"/>
                    <a:ea typeface="幼圆" pitchFamily="49" charset="-122"/>
                  </a:rPr>
                  <a:t>-</a:t>
                </a:r>
                <a:r>
                  <a:rPr lang="en-US" altLang="zh-CN" sz="2400" dirty="0">
                    <a:latin typeface="Times New Roman" panose="02020603050405020304" pitchFamily="18" charset="0"/>
                    <a:ea typeface="幼圆" pitchFamily="49" charset="-122"/>
                  </a:rPr>
                  <a:t>)/</a:t>
                </a:r>
                <a:r>
                  <a:rPr lang="en-US" altLang="zh-CN" sz="2400" i="1" dirty="0">
                    <a:latin typeface="Times New Roman" panose="02020603050405020304" pitchFamily="18" charset="0"/>
                    <a:ea typeface="幼圆" pitchFamily="49" charset="-122"/>
                  </a:rPr>
                  <a:t>c </a:t>
                </a:r>
                <a:r>
                  <a:rPr lang="en-US" altLang="zh-CN" sz="2400" dirty="0">
                    <a:latin typeface="Times New Roman" panose="02020603050405020304" pitchFamily="18" charset="0"/>
                    <a:ea typeface="幼圆" pitchFamily="49" charset="-122"/>
                  </a:rPr>
                  <a:t>] </a:t>
                </a:r>
                <a:endParaRPr lang="en-US" altLang="zh-CN" sz="2400" b="0" dirty="0">
                  <a:latin typeface="Times New Roman" panose="02020603050405020304" pitchFamily="18" charset="0"/>
                  <a:ea typeface="ˎ̥"/>
                </a:endParaRPr>
              </a:p>
              <a:p>
                <a:pPr>
                  <a:lnSpc>
                    <a:spcPct val="30000"/>
                  </a:lnSpc>
                  <a:spcBef>
                    <a:spcPct val="50000"/>
                  </a:spcBef>
                  <a:buClrTx/>
                  <a:buFontTx/>
                </a:pPr>
                <a:r>
                  <a:rPr lang="en-US" altLang="zh-CN" sz="2400" dirty="0">
                    <a:latin typeface="Times New Roman" panose="02020603050405020304" pitchFamily="18" charset="0"/>
                    <a:ea typeface="幼圆" pitchFamily="49" charset="-122"/>
                  </a:rPr>
                  <a:t>        [</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(H</a:t>
                </a:r>
                <a:r>
                  <a:rPr lang="en-US" altLang="zh-CN" sz="2400" baseline="-25000" dirty="0">
                    <a:latin typeface="Times New Roman" panose="02020603050405020304" pitchFamily="18" charset="0"/>
                    <a:ea typeface="幼圆" pitchFamily="49" charset="-122"/>
                  </a:rPr>
                  <a:t>2</a:t>
                </a:r>
                <a:r>
                  <a:rPr lang="en-US" altLang="zh-CN" sz="2400" dirty="0">
                    <a:latin typeface="Times New Roman" panose="02020603050405020304" pitchFamily="18" charset="0"/>
                    <a:ea typeface="幼圆" pitchFamily="49" charset="-122"/>
                  </a:rPr>
                  <a:t>S)/</a:t>
                </a:r>
                <a:r>
                  <a:rPr lang="en-US" altLang="zh-CN" sz="2400" i="1" dirty="0">
                    <a:latin typeface="Times New Roman" panose="02020603050405020304" pitchFamily="18" charset="0"/>
                    <a:ea typeface="幼圆" pitchFamily="49" charset="-122"/>
                  </a:rPr>
                  <a:t>c</a:t>
                </a:r>
                <a:r>
                  <a:rPr lang="el-GR" altLang="zh-CN" sz="2400" b="0" baseline="30000" dirty="0">
                    <a:latin typeface="Times New Roman" panose="02020603050405020304" pitchFamily="18" charset="0"/>
                    <a:ea typeface="幼圆" pitchFamily="49" charset="-122"/>
                  </a:rPr>
                  <a:t>θ</a:t>
                </a:r>
                <a:r>
                  <a:rPr lang="en-US" altLang="zh-CN" sz="2400" dirty="0">
                    <a:latin typeface="Times New Roman" panose="02020603050405020304" pitchFamily="18" charset="0"/>
                    <a:ea typeface="幼圆" pitchFamily="49" charset="-122"/>
                  </a:rPr>
                  <a:t> ]</a:t>
                </a:r>
                <a:endParaRPr lang="en-US" altLang="zh-CN" sz="2400" b="0" dirty="0">
                  <a:latin typeface="Arial" panose="020B0604020202020204" pitchFamily="34" charset="0"/>
                  <a:ea typeface="宋体" panose="02010600030101010101" pitchFamily="2" charset="-122"/>
                </a:endParaRPr>
              </a:p>
            </p:txBody>
          </p:sp>
          <p:sp>
            <p:nvSpPr>
              <p:cNvPr id="48151" name="Line 49"/>
              <p:cNvSpPr/>
              <p:nvPr/>
            </p:nvSpPr>
            <p:spPr>
              <a:xfrm flipV="1">
                <a:off x="1111" y="2013"/>
                <a:ext cx="1735" cy="8"/>
              </a:xfrm>
              <a:prstGeom prst="line">
                <a:avLst/>
              </a:prstGeom>
              <a:ln w="9525" cap="flat" cmpd="sng">
                <a:solidFill>
                  <a:schemeClr val="tx1"/>
                </a:solidFill>
                <a:prstDash val="solid"/>
                <a:round/>
                <a:headEnd type="none" w="med" len="med"/>
                <a:tailEnd type="none" w="med" len="med"/>
              </a:ln>
            </p:spPr>
          </p:sp>
        </p:grpSp>
      </p:grpSp>
      <p:grpSp>
        <p:nvGrpSpPr>
          <p:cNvPr id="48152" name="Group 51"/>
          <p:cNvGrpSpPr/>
          <p:nvPr/>
        </p:nvGrpSpPr>
        <p:grpSpPr>
          <a:xfrm>
            <a:off x="1395413" y="1893890"/>
            <a:ext cx="69850" cy="85725"/>
            <a:chOff x="806" y="2683"/>
            <a:chExt cx="90" cy="91"/>
          </a:xfrm>
        </p:grpSpPr>
        <p:sp>
          <p:nvSpPr>
            <p:cNvPr id="48153" name="Oval 52"/>
            <p:cNvSpPr/>
            <p:nvPr/>
          </p:nvSpPr>
          <p:spPr>
            <a:xfrm>
              <a:off x="806" y="2683"/>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8154" name="Line 53"/>
            <p:cNvSpPr/>
            <p:nvPr/>
          </p:nvSpPr>
          <p:spPr>
            <a:xfrm>
              <a:off x="806" y="2728"/>
              <a:ext cx="90" cy="0"/>
            </a:xfrm>
            <a:prstGeom prst="line">
              <a:avLst/>
            </a:prstGeom>
            <a:ln w="9525" cap="flat" cmpd="sng">
              <a:solidFill>
                <a:schemeClr val="tx1"/>
              </a:solidFill>
              <a:prstDash val="solid"/>
              <a:round/>
              <a:headEnd type="none" w="med" len="med"/>
              <a:tailEnd type="none" w="med" len="med"/>
            </a:ln>
          </p:spPr>
        </p:sp>
      </p:grpSp>
      <p:sp>
        <p:nvSpPr>
          <p:cNvPr id="48155" name="Text Box 55"/>
          <p:cNvSpPr txBox="1"/>
          <p:nvPr/>
        </p:nvSpPr>
        <p:spPr>
          <a:xfrm>
            <a:off x="568325" y="2584453"/>
            <a:ext cx="8280400" cy="461665"/>
          </a:xfrm>
          <a:prstGeom prst="rect">
            <a:avLst/>
          </a:prstGeom>
          <a:noFill/>
          <a:ln w="9525">
            <a:noFill/>
          </a:ln>
        </p:spPr>
        <p:txBody>
          <a:bodyPr anchor="t" anchorCtr="0">
            <a:spAutoFit/>
          </a:bodyPr>
          <a:lstStyle/>
          <a:p>
            <a:pPr>
              <a:spcBef>
                <a:spcPct val="50000"/>
              </a:spcBef>
              <a:buClrTx/>
              <a:buFontTx/>
            </a:pPr>
            <a:r>
              <a:rPr lang="en-US" altLang="zh-CN" sz="2400" i="1" dirty="0">
                <a:latin typeface="Times New Roman" panose="02020603050405020304" pitchFamily="18" charset="0"/>
                <a:ea typeface="幼圆" pitchFamily="49" charset="-122"/>
              </a:rPr>
              <a:t>     K</a:t>
            </a:r>
            <a:r>
              <a:rPr lang="en-US" altLang="zh-CN" sz="2400" baseline="-25000" dirty="0">
                <a:latin typeface="Times New Roman" panose="02020603050405020304" pitchFamily="18" charset="0"/>
                <a:ea typeface="幼圆" pitchFamily="49" charset="-122"/>
              </a:rPr>
              <a:t>a2</a:t>
            </a:r>
            <a:r>
              <a:rPr lang="en-US" altLang="zh-CN" sz="2400" dirty="0">
                <a:latin typeface="Times New Roman" panose="02020603050405020304" pitchFamily="18" charset="0"/>
                <a:ea typeface="幼圆" pitchFamily="49" charset="-122"/>
              </a:rPr>
              <a:t>=                                       =1.3</a:t>
            </a:r>
            <a:r>
              <a:rPr lang="en-US" altLang="zh-CN" sz="2400" dirty="0">
                <a:latin typeface="幼圆" pitchFamily="49" charset="-122"/>
                <a:ea typeface="幼圆" pitchFamily="49" charset="-122"/>
              </a:rPr>
              <a:t>×</a:t>
            </a:r>
            <a:r>
              <a:rPr lang="en-US" altLang="zh-CN" sz="2400" dirty="0">
                <a:latin typeface="Times New Roman" panose="02020603050405020304" pitchFamily="18" charset="0"/>
                <a:ea typeface="幼圆" pitchFamily="49" charset="-122"/>
              </a:rPr>
              <a:t>10</a:t>
            </a:r>
            <a:r>
              <a:rPr lang="en-US" altLang="zh-CN" sz="2400" baseline="30000" dirty="0">
                <a:latin typeface="Times New Roman" panose="02020603050405020304" pitchFamily="18" charset="0"/>
                <a:ea typeface="幼圆" pitchFamily="49" charset="-122"/>
              </a:rPr>
              <a:t>-13</a:t>
            </a:r>
            <a:endParaRPr lang="en-US" altLang="zh-CN" sz="2400" b="0" dirty="0">
              <a:latin typeface="Arial" panose="020B0604020202020204" pitchFamily="34" charset="0"/>
              <a:ea typeface="宋体" panose="02010600030101010101" pitchFamily="2" charset="-122"/>
            </a:endParaRPr>
          </a:p>
        </p:txBody>
      </p:sp>
      <p:sp>
        <p:nvSpPr>
          <p:cNvPr id="48156" name="Text Box 56"/>
          <p:cNvSpPr txBox="1"/>
          <p:nvPr/>
        </p:nvSpPr>
        <p:spPr>
          <a:xfrm>
            <a:off x="1733554" y="2365375"/>
            <a:ext cx="4176713" cy="757130"/>
          </a:xfrm>
          <a:prstGeom prst="rect">
            <a:avLst/>
          </a:prstGeom>
          <a:noFill/>
          <a:ln w="9525">
            <a:noFill/>
          </a:ln>
        </p:spPr>
        <p:txBody>
          <a:bodyPr anchor="t" anchorCtr="0">
            <a:spAutoFit/>
          </a:bodyPr>
          <a:lstStyle/>
          <a:p>
            <a:pPr>
              <a:spcBef>
                <a:spcPct val="50000"/>
              </a:spcBef>
              <a:buClrTx/>
              <a:buFontTx/>
            </a:pPr>
            <a:r>
              <a:rPr lang="en-US" altLang="zh-CN" sz="2400" dirty="0">
                <a:latin typeface="Times New Roman" panose="02020603050405020304" pitchFamily="18" charset="0"/>
                <a:ea typeface="幼圆" pitchFamily="49" charset="-122"/>
              </a:rPr>
              <a:t>[</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 ][</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(S</a:t>
            </a:r>
            <a:r>
              <a:rPr lang="en-US" altLang="zh-CN" sz="2400" baseline="30000" dirty="0">
                <a:latin typeface="幼圆" pitchFamily="49" charset="-122"/>
                <a:ea typeface="幼圆" pitchFamily="49" charset="-122"/>
              </a:rPr>
              <a:t>2-</a:t>
            </a:r>
            <a:r>
              <a:rPr lang="en-US" altLang="zh-CN" sz="2400" dirty="0">
                <a:latin typeface="Times New Roman" panose="02020603050405020304" pitchFamily="18" charset="0"/>
                <a:ea typeface="幼圆" pitchFamily="49" charset="-122"/>
              </a:rPr>
              <a:t>)/</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  ] </a:t>
            </a:r>
            <a:endParaRPr lang="en-US" altLang="zh-CN" sz="2400" b="0" dirty="0">
              <a:latin typeface="Times New Roman" panose="02020603050405020304" pitchFamily="18" charset="0"/>
              <a:ea typeface="ˎ̥"/>
            </a:endParaRPr>
          </a:p>
          <a:p>
            <a:pPr>
              <a:lnSpc>
                <a:spcPct val="30000"/>
              </a:lnSpc>
              <a:spcBef>
                <a:spcPct val="50000"/>
              </a:spcBef>
              <a:buClrTx/>
              <a:buFontTx/>
            </a:pPr>
            <a:r>
              <a:rPr lang="en-US" altLang="zh-CN" sz="2400" dirty="0">
                <a:latin typeface="Times New Roman" panose="02020603050405020304" pitchFamily="18" charset="0"/>
                <a:ea typeface="幼圆" pitchFamily="49" charset="-122"/>
              </a:rPr>
              <a:t>        [</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(HS</a:t>
            </a:r>
            <a:r>
              <a:rPr lang="en-US" altLang="zh-CN" sz="2400" baseline="30000" dirty="0">
                <a:latin typeface="幼圆" pitchFamily="49" charset="-122"/>
                <a:ea typeface="幼圆" pitchFamily="49" charset="-122"/>
              </a:rPr>
              <a:t>-</a:t>
            </a:r>
            <a:r>
              <a:rPr lang="en-US" altLang="zh-CN" sz="2400" dirty="0">
                <a:latin typeface="Times New Roman" panose="02020603050405020304" pitchFamily="18" charset="0"/>
                <a:ea typeface="幼圆" pitchFamily="49" charset="-122"/>
              </a:rPr>
              <a:t>)/</a:t>
            </a:r>
            <a:r>
              <a:rPr lang="en-US" altLang="zh-CN" sz="2400" i="1" dirty="0">
                <a:latin typeface="Times New Roman" panose="02020603050405020304" pitchFamily="18" charset="0"/>
                <a:ea typeface="幼圆" pitchFamily="49" charset="-122"/>
              </a:rPr>
              <a:t>c</a:t>
            </a:r>
            <a:r>
              <a:rPr lang="en-US" altLang="zh-CN" sz="2400" dirty="0">
                <a:latin typeface="Times New Roman" panose="02020603050405020304" pitchFamily="18" charset="0"/>
                <a:ea typeface="幼圆" pitchFamily="49" charset="-122"/>
              </a:rPr>
              <a:t>  ]</a:t>
            </a:r>
            <a:endParaRPr lang="en-US" altLang="zh-CN" sz="2400" b="0" dirty="0">
              <a:latin typeface="Arial" panose="020B0604020202020204" pitchFamily="34" charset="0"/>
              <a:ea typeface="宋体" panose="02010600030101010101" pitchFamily="2" charset="-122"/>
            </a:endParaRPr>
          </a:p>
        </p:txBody>
      </p:sp>
      <p:grpSp>
        <p:nvGrpSpPr>
          <p:cNvPr id="48157" name="Group 57"/>
          <p:cNvGrpSpPr/>
          <p:nvPr/>
        </p:nvGrpSpPr>
        <p:grpSpPr>
          <a:xfrm>
            <a:off x="2830515" y="2487616"/>
            <a:ext cx="71437" cy="109537"/>
            <a:chOff x="567" y="3294"/>
            <a:chExt cx="90" cy="91"/>
          </a:xfrm>
        </p:grpSpPr>
        <p:sp>
          <p:nvSpPr>
            <p:cNvPr id="48158" name="Oval 58"/>
            <p:cNvSpPr/>
            <p:nvPr/>
          </p:nvSpPr>
          <p:spPr>
            <a:xfrm>
              <a:off x="567" y="3294"/>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8159" name="Line 59"/>
            <p:cNvSpPr/>
            <p:nvPr/>
          </p:nvSpPr>
          <p:spPr>
            <a:xfrm>
              <a:off x="567" y="3339"/>
              <a:ext cx="90" cy="0"/>
            </a:xfrm>
            <a:prstGeom prst="line">
              <a:avLst/>
            </a:prstGeom>
            <a:ln w="9525" cap="flat" cmpd="sng">
              <a:solidFill>
                <a:schemeClr val="tx1"/>
              </a:solidFill>
              <a:prstDash val="solid"/>
              <a:round/>
              <a:headEnd type="none" w="med" len="med"/>
              <a:tailEnd type="none" w="med" len="med"/>
            </a:ln>
          </p:spPr>
        </p:sp>
      </p:grpSp>
      <p:grpSp>
        <p:nvGrpSpPr>
          <p:cNvPr id="48160" name="Group 60"/>
          <p:cNvGrpSpPr/>
          <p:nvPr/>
        </p:nvGrpSpPr>
        <p:grpSpPr>
          <a:xfrm>
            <a:off x="4125913" y="2516191"/>
            <a:ext cx="82550" cy="109537"/>
            <a:chOff x="42" y="3343"/>
            <a:chExt cx="90" cy="91"/>
          </a:xfrm>
        </p:grpSpPr>
        <p:sp>
          <p:nvSpPr>
            <p:cNvPr id="48161" name="Oval 61"/>
            <p:cNvSpPr/>
            <p:nvPr/>
          </p:nvSpPr>
          <p:spPr>
            <a:xfrm>
              <a:off x="42" y="3343"/>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8162" name="Line 62"/>
            <p:cNvSpPr/>
            <p:nvPr/>
          </p:nvSpPr>
          <p:spPr>
            <a:xfrm>
              <a:off x="42" y="3390"/>
              <a:ext cx="90" cy="0"/>
            </a:xfrm>
            <a:prstGeom prst="line">
              <a:avLst/>
            </a:prstGeom>
            <a:ln w="9525" cap="flat" cmpd="sng">
              <a:solidFill>
                <a:schemeClr val="tx1"/>
              </a:solidFill>
              <a:prstDash val="solid"/>
              <a:round/>
              <a:headEnd type="none" w="med" len="med"/>
              <a:tailEnd type="none" w="med" len="med"/>
            </a:ln>
          </p:spPr>
        </p:sp>
      </p:grpSp>
      <p:grpSp>
        <p:nvGrpSpPr>
          <p:cNvPr id="48163" name="Group 63"/>
          <p:cNvGrpSpPr/>
          <p:nvPr/>
        </p:nvGrpSpPr>
        <p:grpSpPr>
          <a:xfrm>
            <a:off x="3635375" y="2878141"/>
            <a:ext cx="71438" cy="98425"/>
            <a:chOff x="231" y="3340"/>
            <a:chExt cx="90" cy="91"/>
          </a:xfrm>
        </p:grpSpPr>
        <p:sp>
          <p:nvSpPr>
            <p:cNvPr id="48164" name="Oval 64"/>
            <p:cNvSpPr/>
            <p:nvPr/>
          </p:nvSpPr>
          <p:spPr>
            <a:xfrm>
              <a:off x="231" y="3340"/>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8165" name="Line 65"/>
            <p:cNvSpPr/>
            <p:nvPr/>
          </p:nvSpPr>
          <p:spPr>
            <a:xfrm>
              <a:off x="231" y="3385"/>
              <a:ext cx="90" cy="0"/>
            </a:xfrm>
            <a:prstGeom prst="line">
              <a:avLst/>
            </a:prstGeom>
            <a:ln w="9525" cap="flat" cmpd="sng">
              <a:solidFill>
                <a:schemeClr val="tx1"/>
              </a:solidFill>
              <a:prstDash val="solid"/>
              <a:round/>
              <a:headEnd type="none" w="med" len="med"/>
              <a:tailEnd type="none" w="med" len="med"/>
            </a:ln>
          </p:spPr>
        </p:sp>
      </p:grpSp>
      <p:sp>
        <p:nvSpPr>
          <p:cNvPr id="48166" name="Line 66"/>
          <p:cNvSpPr/>
          <p:nvPr/>
        </p:nvSpPr>
        <p:spPr>
          <a:xfrm>
            <a:off x="1714500" y="2827338"/>
            <a:ext cx="2732088" cy="0"/>
          </a:xfrm>
          <a:prstGeom prst="line">
            <a:avLst/>
          </a:prstGeom>
          <a:ln w="9525" cap="flat" cmpd="sng">
            <a:solidFill>
              <a:schemeClr val="tx1"/>
            </a:solidFill>
            <a:prstDash val="solid"/>
            <a:round/>
            <a:headEnd type="none" w="med" len="med"/>
            <a:tailEnd type="none" w="med" len="med"/>
          </a:ln>
        </p:spPr>
      </p:sp>
      <p:sp>
        <p:nvSpPr>
          <p:cNvPr id="37986" name="Text Box 98"/>
          <p:cNvSpPr txBox="1"/>
          <p:nvPr/>
        </p:nvSpPr>
        <p:spPr>
          <a:xfrm>
            <a:off x="468319" y="3113089"/>
            <a:ext cx="7488237" cy="523220"/>
          </a:xfrm>
          <a:prstGeom prst="rect">
            <a:avLst/>
          </a:prstGeom>
          <a:gradFill rotWithShape="1">
            <a:gsLst>
              <a:gs pos="0">
                <a:srgbClr val="005E47"/>
              </a:gs>
              <a:gs pos="50000">
                <a:srgbClr val="00CC99"/>
              </a:gs>
              <a:gs pos="100000">
                <a:srgbClr val="005E47"/>
              </a:gs>
            </a:gsLst>
            <a:lin ang="5400000" scaled="1"/>
            <a:tileRect/>
          </a:gradFill>
          <a:ln w="9525">
            <a:noFill/>
          </a:ln>
        </p:spPr>
        <p:txBody>
          <a:bodyPr anchor="t" anchorCtr="0">
            <a:spAutoFit/>
          </a:bodyPr>
          <a:lstStyle/>
          <a:p>
            <a:pPr algn="ctr">
              <a:spcBef>
                <a:spcPct val="10000"/>
              </a:spcBef>
              <a:spcAft>
                <a:spcPct val="10000"/>
              </a:spcAft>
              <a:buClrTx/>
              <a:buFontTx/>
            </a:pPr>
            <a:r>
              <a:rPr lang="zh-CN" altLang="en-US" dirty="0">
                <a:solidFill>
                  <a:srgbClr val="FFFF00"/>
                </a:solidFill>
                <a:latin typeface="Arial" panose="020B0604020202020204" pitchFamily="34" charset="0"/>
                <a:ea typeface="宋体" panose="02010600030101010101" pitchFamily="2" charset="-122"/>
              </a:rPr>
              <a:t>分级解离常数逐级减小  </a:t>
            </a:r>
            <a:endParaRPr lang="zh-CN" altLang="en-US" dirty="0">
              <a:solidFill>
                <a:srgbClr val="FFFF00"/>
              </a:solidFill>
              <a:latin typeface="Times New Roman" panose="02020603050405020304" pitchFamily="18" charset="0"/>
              <a:ea typeface="幼圆" pitchFamily="49" charset="-122"/>
            </a:endParaRPr>
          </a:p>
        </p:txBody>
      </p:sp>
      <p:sp>
        <p:nvSpPr>
          <p:cNvPr id="37989" name="Rectangle 101"/>
          <p:cNvSpPr>
            <a:spLocks noChangeArrowheads="1"/>
          </p:cNvSpPr>
          <p:nvPr/>
        </p:nvSpPr>
        <p:spPr bwMode="auto">
          <a:xfrm>
            <a:off x="5" y="2221242"/>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22" name="Group 104"/>
          <p:cNvGrpSpPr/>
          <p:nvPr/>
        </p:nvGrpSpPr>
        <p:grpSpPr>
          <a:xfrm>
            <a:off x="828675" y="4570428"/>
            <a:ext cx="7488238" cy="523477"/>
            <a:chOff x="385" y="3475"/>
            <a:chExt cx="4717" cy="440"/>
          </a:xfrm>
        </p:grpSpPr>
        <p:sp>
          <p:nvSpPr>
            <p:cNvPr id="48170" name="Text Box 99"/>
            <p:cNvSpPr txBox="1"/>
            <p:nvPr/>
          </p:nvSpPr>
          <p:spPr>
            <a:xfrm>
              <a:off x="385" y="3475"/>
              <a:ext cx="4717" cy="440"/>
            </a:xfrm>
            <a:prstGeom prst="rect">
              <a:avLst/>
            </a:prstGeom>
            <a:gradFill rotWithShape="1">
              <a:gsLst>
                <a:gs pos="0">
                  <a:srgbClr val="005E47"/>
                </a:gs>
                <a:gs pos="50000">
                  <a:srgbClr val="00CC99"/>
                </a:gs>
                <a:gs pos="100000">
                  <a:srgbClr val="005E47"/>
                </a:gs>
              </a:gsLst>
              <a:lin ang="5400000" scaled="1"/>
              <a:tileRect/>
            </a:gradFill>
            <a:ln w="9525">
              <a:noFill/>
            </a:ln>
          </p:spPr>
          <p:txBody>
            <a:bodyPr anchor="t" anchorCtr="0">
              <a:spAutoFit/>
            </a:bodyPr>
            <a:lstStyle/>
            <a:p>
              <a:pPr algn="ctr">
                <a:spcBef>
                  <a:spcPct val="10000"/>
                </a:spcBef>
                <a:spcAft>
                  <a:spcPct val="10000"/>
                </a:spcAft>
                <a:buClrTx/>
                <a:buFontTx/>
              </a:pPr>
              <a:r>
                <a:rPr lang="zh-CN" altLang="en-US" dirty="0">
                  <a:solidFill>
                    <a:srgbClr val="FFFF00"/>
                  </a:solidFill>
                  <a:latin typeface="Arial" panose="020B0604020202020204" pitchFamily="34" charset="0"/>
                  <a:ea typeface="宋体" panose="02010600030101010101" pitchFamily="2" charset="-122"/>
                </a:rPr>
                <a:t>多元弱酸的强弱主要取决于</a:t>
              </a:r>
            </a:p>
          </p:txBody>
        </p:sp>
        <p:graphicFrame>
          <p:nvGraphicFramePr>
            <p:cNvPr id="48171" name="Object 100"/>
            <p:cNvGraphicFramePr>
              <a:graphicFrameLocks noChangeAspect="1"/>
            </p:cNvGraphicFramePr>
            <p:nvPr/>
          </p:nvGraphicFramePr>
          <p:xfrm>
            <a:off x="4337" y="3506"/>
            <a:ext cx="362" cy="394"/>
          </p:xfrm>
          <a:graphic>
            <a:graphicData uri="http://schemas.openxmlformats.org/presentationml/2006/ole">
              <mc:AlternateContent xmlns:mc="http://schemas.openxmlformats.org/markup-compatibility/2006">
                <mc:Choice xmlns:v="urn:schemas-microsoft-com:vml" Requires="v">
                  <p:oleObj r:id="rId2" imgW="249555" imgH="249555" progId="Equation.3">
                    <p:embed/>
                  </p:oleObj>
                </mc:Choice>
                <mc:Fallback>
                  <p:oleObj r:id="rId2" imgW="249555" imgH="249555" progId="Equation.3">
                    <p:embed/>
                    <p:pic>
                      <p:nvPicPr>
                        <p:cNvPr id="0" name="图片 3119"/>
                        <p:cNvPicPr/>
                        <p:nvPr/>
                      </p:nvPicPr>
                      <p:blipFill>
                        <a:blip r:embed="rId3"/>
                        <a:stretch>
                          <a:fillRect/>
                        </a:stretch>
                      </p:blipFill>
                      <p:spPr>
                        <a:xfrm>
                          <a:off x="4337" y="3506"/>
                          <a:ext cx="362" cy="394"/>
                        </a:xfrm>
                        <a:prstGeom prst="rect">
                          <a:avLst/>
                        </a:prstGeom>
                        <a:noFill/>
                        <a:ln w="38100">
                          <a:noFill/>
                          <a:miter/>
                        </a:ln>
                      </p:spPr>
                    </p:pic>
                  </p:oleObj>
                </mc:Fallback>
              </mc:AlternateContent>
            </a:graphicData>
          </a:graphic>
        </p:graphicFrame>
      </p:grpSp>
      <p:sp>
        <p:nvSpPr>
          <p:cNvPr id="37996" name="Rectangle 108"/>
          <p:cNvSpPr>
            <a:spLocks noChangeArrowheads="1"/>
          </p:cNvSpPr>
          <p:nvPr/>
        </p:nvSpPr>
        <p:spPr bwMode="auto">
          <a:xfrm>
            <a:off x="5" y="2221242"/>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000" name="Rectangle 112"/>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pic>
        <p:nvPicPr>
          <p:cNvPr id="48174" name="Picture 114" descr="next">
            <a:hlinkClick r:id="rId4" action="ppaction://hlinksldjump"/>
          </p:cNvPr>
          <p:cNvPicPr>
            <a:picLocks noChangeAspect="1"/>
          </p:cNvPicPr>
          <p:nvPr/>
        </p:nvPicPr>
        <p:blipFill>
          <a:blip r:embed="rId5"/>
          <a:stretch>
            <a:fillRect/>
          </a:stretch>
        </p:blipFill>
        <p:spPr>
          <a:xfrm>
            <a:off x="8316919" y="4570415"/>
            <a:ext cx="515937" cy="401637"/>
          </a:xfrm>
          <a:prstGeom prst="rect">
            <a:avLst/>
          </a:prstGeom>
          <a:noFill/>
          <a:ln w="9525">
            <a:noFill/>
          </a:ln>
        </p:spPr>
      </p:pic>
      <p:grpSp>
        <p:nvGrpSpPr>
          <p:cNvPr id="48175" name="Group 51"/>
          <p:cNvGrpSpPr/>
          <p:nvPr/>
        </p:nvGrpSpPr>
        <p:grpSpPr>
          <a:xfrm>
            <a:off x="1398588" y="2647952"/>
            <a:ext cx="69850" cy="85725"/>
            <a:chOff x="806" y="2683"/>
            <a:chExt cx="90" cy="91"/>
          </a:xfrm>
        </p:grpSpPr>
        <p:sp>
          <p:nvSpPr>
            <p:cNvPr id="48176" name="Oval 52"/>
            <p:cNvSpPr/>
            <p:nvPr/>
          </p:nvSpPr>
          <p:spPr>
            <a:xfrm>
              <a:off x="806" y="2683"/>
              <a:ext cx="90" cy="91"/>
            </a:xfrm>
            <a:prstGeom prst="ellipse">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48177" name="Line 53"/>
            <p:cNvSpPr/>
            <p:nvPr/>
          </p:nvSpPr>
          <p:spPr>
            <a:xfrm>
              <a:off x="806" y="2728"/>
              <a:ext cx="90" cy="0"/>
            </a:xfrm>
            <a:prstGeom prst="line">
              <a:avLst/>
            </a:prstGeom>
            <a:ln w="9525" cap="flat" cmpd="sng">
              <a:solidFill>
                <a:schemeClr val="tx1"/>
              </a:solidFill>
              <a:prstDash val="solid"/>
              <a:round/>
              <a:headEnd type="none" w="med" len="med"/>
              <a:tailEnd type="none" w="med" len="med"/>
            </a:ln>
          </p:spPr>
        </p:sp>
      </p:grpSp>
      <p:grpSp>
        <p:nvGrpSpPr>
          <p:cNvPr id="4" name="组合 3"/>
          <p:cNvGrpSpPr/>
          <p:nvPr/>
        </p:nvGrpSpPr>
        <p:grpSpPr>
          <a:xfrm>
            <a:off x="6" y="3543303"/>
            <a:ext cx="8893175" cy="1208088"/>
            <a:chOff x="1" y="3543301"/>
            <a:chExt cx="8893175" cy="1208485"/>
          </a:xfrm>
        </p:grpSpPr>
        <p:grpSp>
          <p:nvGrpSpPr>
            <p:cNvPr id="48179" name="Group 113"/>
            <p:cNvGrpSpPr/>
            <p:nvPr/>
          </p:nvGrpSpPr>
          <p:grpSpPr>
            <a:xfrm>
              <a:off x="1" y="3543301"/>
              <a:ext cx="8893175" cy="1208485"/>
              <a:chOff x="0" y="2976"/>
              <a:chExt cx="5602" cy="1015"/>
            </a:xfrm>
          </p:grpSpPr>
          <p:sp>
            <p:nvSpPr>
              <p:cNvPr id="48180" name="Text Box 106"/>
              <p:cNvSpPr txBox="1"/>
              <p:nvPr/>
            </p:nvSpPr>
            <p:spPr>
              <a:xfrm>
                <a:off x="0" y="2976"/>
                <a:ext cx="5602" cy="1015"/>
              </a:xfrm>
              <a:prstGeom prst="rect">
                <a:avLst/>
              </a:prstGeom>
              <a:noFill/>
              <a:ln w="9525">
                <a:noFill/>
              </a:ln>
              <a:effectLst>
                <a:prstShdw prst="shdw17" dist="17961" dir="13499999">
                  <a:srgbClr val="5C5C99"/>
                </a:prstShdw>
              </a:effectLst>
            </p:spPr>
            <p:txBody>
              <a:bodyPr anchor="t" anchorCtr="0">
                <a:spAutoFit/>
              </a:bodyPr>
              <a:lstStyle/>
              <a:p>
                <a:pPr algn="ctr">
                  <a:lnSpc>
                    <a:spcPts val="2875"/>
                  </a:lnSpc>
                  <a:buClrTx/>
                  <a:buFontTx/>
                </a:pPr>
                <a:r>
                  <a:rPr lang="zh-CN" altLang="pt-BR" sz="2400" dirty="0">
                    <a:latin typeface="Times New Roman" panose="02020603050405020304" pitchFamily="18" charset="0"/>
                    <a:ea typeface="宋体" panose="02010600030101010101" pitchFamily="2" charset="-122"/>
                  </a:rPr>
                  <a:t>因        </a:t>
                </a:r>
                <a:r>
                  <a:rPr lang="pt-BR" altLang="zh-CN" sz="2400" dirty="0">
                    <a:latin typeface="Times New Roman" panose="02020603050405020304" pitchFamily="18" charset="0"/>
                    <a:ea typeface="宋体" panose="02010600030101010101" pitchFamily="2" charset="-122"/>
                  </a:rPr>
                  <a:t>(H</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S)»      (H</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S)</a:t>
                </a:r>
                <a:r>
                  <a:rPr lang="pt-BR" altLang="zh-CN" sz="3200" b="0" dirty="0">
                    <a:latin typeface="Arial" panose="020B0604020202020204" pitchFamily="34" charset="0"/>
                    <a:ea typeface="宋体" panose="02010600030101010101" pitchFamily="2" charset="-122"/>
                  </a:rPr>
                  <a:t> </a:t>
                </a:r>
                <a:r>
                  <a:rPr lang="zh-CN" altLang="pt-BR" sz="3200" b="0" dirty="0">
                    <a:latin typeface="Arial" panose="020B0604020202020204" pitchFamily="34" charset="0"/>
                    <a:ea typeface="宋体" panose="02010600030101010101" pitchFamily="2" charset="-122"/>
                  </a:rPr>
                  <a:t>，</a:t>
                </a:r>
                <a:r>
                  <a:rPr lang="zh-CN" altLang="pt-BR" sz="2400" dirty="0">
                    <a:latin typeface="Arial" panose="020B0604020202020204" pitchFamily="34" charset="0"/>
                    <a:ea typeface="宋体" panose="02010600030101010101" pitchFamily="2" charset="-122"/>
                  </a:rPr>
                  <a:t>故</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(HS</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(HS</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(HS</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(HS</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t>
                </a:r>
                <a:r>
                  <a:rPr lang="en-US" altLang="zh-CN" sz="2400" baseline="-25000" dirty="0">
                    <a:latin typeface="Times New Roman" panose="02020603050405020304" pitchFamily="18" charset="0"/>
                    <a:ea typeface="宋体" panose="02010600030101010101" pitchFamily="2" charset="-122"/>
                  </a:rPr>
                  <a:t>1</a:t>
                </a:r>
              </a:p>
              <a:p>
                <a:pPr algn="ctr">
                  <a:lnSpc>
                    <a:spcPts val="2875"/>
                  </a:lnSpc>
                  <a:buClrTx/>
                  <a:buFontTx/>
                </a:pP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a:t>
                </a:r>
                <a:r>
                  <a:rPr lang="en-US" altLang="zh-CN" sz="2400" baseline="-25000" dirty="0">
                    <a:latin typeface="Times New Roman" panose="02020603050405020304" pitchFamily="18" charset="0"/>
                    <a:ea typeface="宋体" panose="02010600030101010101" pitchFamily="2" charset="-122"/>
                  </a:rPr>
                  <a:t>2</a:t>
                </a:r>
                <a:r>
                  <a:rPr lang="en-US" altLang="zh-CN" sz="3200" b="0" dirty="0">
                    <a:latin typeface="Arial" panose="020B0604020202020204" pitchFamily="34" charset="0"/>
                    <a:ea typeface="宋体" panose="02010600030101010101" pitchFamily="2" charset="-122"/>
                  </a:rPr>
                  <a:t> </a:t>
                </a:r>
                <a:endParaRPr lang="zh-CN" altLang="en-US" sz="3200" b="0" dirty="0">
                  <a:latin typeface="Arial" panose="020B0604020202020204" pitchFamily="34" charset="0"/>
                  <a:ea typeface="宋体" panose="02010600030101010101" pitchFamily="2" charset="-122"/>
                </a:endParaRPr>
              </a:p>
            </p:txBody>
          </p:sp>
          <p:graphicFrame>
            <p:nvGraphicFramePr>
              <p:cNvPr id="48181" name="Object 107"/>
              <p:cNvGraphicFramePr>
                <a:graphicFrameLocks noChangeAspect="1"/>
              </p:cNvGraphicFramePr>
              <p:nvPr/>
            </p:nvGraphicFramePr>
            <p:xfrm>
              <a:off x="522" y="3074"/>
              <a:ext cx="357" cy="319"/>
            </p:xfrm>
            <a:graphic>
              <a:graphicData uri="http://schemas.openxmlformats.org/presentationml/2006/ole">
                <mc:AlternateContent xmlns:mc="http://schemas.openxmlformats.org/markup-compatibility/2006">
                  <mc:Choice xmlns:v="urn:schemas-microsoft-com:vml" Requires="v">
                    <p:oleObj r:id="rId6" imgW="241300" imgH="241300" progId="Equation.DSMT4">
                      <p:embed/>
                    </p:oleObj>
                  </mc:Choice>
                  <mc:Fallback>
                    <p:oleObj r:id="rId6" imgW="241300" imgH="241300" progId="Equation.DSMT4">
                      <p:embed/>
                      <p:pic>
                        <p:nvPicPr>
                          <p:cNvPr id="0" name="图片 3120"/>
                          <p:cNvPicPr/>
                          <p:nvPr/>
                        </p:nvPicPr>
                        <p:blipFill>
                          <a:blip r:embed="rId7"/>
                          <a:stretch>
                            <a:fillRect/>
                          </a:stretch>
                        </p:blipFill>
                        <p:spPr>
                          <a:xfrm>
                            <a:off x="522" y="3074"/>
                            <a:ext cx="357" cy="319"/>
                          </a:xfrm>
                          <a:prstGeom prst="rect">
                            <a:avLst/>
                          </a:prstGeom>
                          <a:noFill/>
                          <a:ln w="38100">
                            <a:noFill/>
                            <a:miter/>
                          </a:ln>
                        </p:spPr>
                      </p:pic>
                    </p:oleObj>
                  </mc:Fallback>
                </mc:AlternateContent>
              </a:graphicData>
            </a:graphic>
          </p:graphicFrame>
        </p:grpSp>
        <p:graphicFrame>
          <p:nvGraphicFramePr>
            <p:cNvPr id="48182" name="Object 107"/>
            <p:cNvGraphicFramePr>
              <a:graphicFrameLocks noChangeAspect="1"/>
            </p:cNvGraphicFramePr>
            <p:nvPr/>
          </p:nvGraphicFramePr>
          <p:xfrm>
            <a:off x="2219033" y="3635514"/>
            <a:ext cx="588962" cy="368300"/>
          </p:xfrm>
          <a:graphic>
            <a:graphicData uri="http://schemas.openxmlformats.org/presentationml/2006/ole">
              <mc:AlternateContent xmlns:mc="http://schemas.openxmlformats.org/markup-compatibility/2006">
                <mc:Choice xmlns:v="urn:schemas-microsoft-com:vml" Requires="v">
                  <p:oleObj r:id="rId8" imgW="251460" imgH="251460" progId="Equation.DSMT4">
                    <p:embed/>
                  </p:oleObj>
                </mc:Choice>
                <mc:Fallback>
                  <p:oleObj r:id="rId8" imgW="251460" imgH="251460" progId="Equation.DSMT4">
                    <p:embed/>
                    <p:pic>
                      <p:nvPicPr>
                        <p:cNvPr id="0" name="图片 3121"/>
                        <p:cNvPicPr/>
                        <p:nvPr/>
                      </p:nvPicPr>
                      <p:blipFill>
                        <a:blip r:embed="rId9"/>
                        <a:stretch>
                          <a:fillRect/>
                        </a:stretch>
                      </p:blipFill>
                      <p:spPr>
                        <a:xfrm>
                          <a:off x="2219033" y="3635514"/>
                          <a:ext cx="588962" cy="368300"/>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986"/>
                                        </p:tgtEl>
                                        <p:attrNameLst>
                                          <p:attrName>style.visibility</p:attrName>
                                        </p:attrNameLst>
                                      </p:cBhvr>
                                      <p:to>
                                        <p:strVal val="visible"/>
                                      </p:to>
                                    </p:set>
                                    <p:anim calcmode="lin" valueType="num">
                                      <p:cBhvr additive="base">
                                        <p:cTn id="7" dur="500" fill="hold"/>
                                        <p:tgtEl>
                                          <p:spTgt spid="37986"/>
                                        </p:tgtEl>
                                        <p:attrNameLst>
                                          <p:attrName>ppt_x</p:attrName>
                                        </p:attrNameLst>
                                      </p:cBhvr>
                                      <p:tavLst>
                                        <p:tav tm="0">
                                          <p:val>
                                            <p:strVal val="0-#ppt_w/2"/>
                                          </p:val>
                                        </p:tav>
                                        <p:tav tm="100000">
                                          <p:val>
                                            <p:strVal val="#ppt_x"/>
                                          </p:val>
                                        </p:tav>
                                      </p:tavLst>
                                    </p:anim>
                                    <p:anim calcmode="lin" valueType="num">
                                      <p:cBhvr additive="base">
                                        <p:cTn id="8" dur="500" fill="hold"/>
                                        <p:tgtEl>
                                          <p:spTgt spid="379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0-#ppt_w/2"/>
                                          </p:val>
                                        </p:tav>
                                        <p:tav tm="100000">
                                          <p:val>
                                            <p:strVal val="#ppt_x"/>
                                          </p:val>
                                        </p:tav>
                                      </p:tavLst>
                                    </p:anim>
                                    <p:anim calcmode="lin" valueType="num">
                                      <p:cBhvr additive="base">
                                        <p:cTn id="19"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8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51" name="Rectangle 39"/>
          <p:cNvSpPr>
            <a:spLocks noChangeArrowheads="1"/>
          </p:cNvSpPr>
          <p:nvPr/>
        </p:nvSpPr>
        <p:spPr bwMode="auto">
          <a:xfrm>
            <a:off x="5" y="2221242"/>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53" name="Rectangle 41"/>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pic>
        <p:nvPicPr>
          <p:cNvPr id="49155" name="Group 42"/>
          <p:cNvPicPr/>
          <p:nvPr/>
        </p:nvPicPr>
        <p:blipFill>
          <a:blip r:embed="rId2"/>
          <a:stretch>
            <a:fillRect/>
          </a:stretch>
        </p:blipFill>
        <p:spPr>
          <a:xfrm>
            <a:off x="85731" y="-49211"/>
            <a:ext cx="8882063" cy="1201737"/>
          </a:xfrm>
          <a:prstGeom prst="rect">
            <a:avLst/>
          </a:prstGeom>
          <a:noFill/>
          <a:ln w="9525">
            <a:noFill/>
          </a:ln>
        </p:spPr>
      </p:pic>
      <p:sp>
        <p:nvSpPr>
          <p:cNvPr id="38957" name="Rectangle 45"/>
          <p:cNvSpPr>
            <a:spLocks noChangeArrowheads="1"/>
          </p:cNvSpPr>
          <p:nvPr/>
        </p:nvSpPr>
        <p:spPr bwMode="auto">
          <a:xfrm>
            <a:off x="5" y="2221242"/>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59" name="Rectangle 47"/>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61" name="Rectangle 49"/>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63" name="Rectangle 51"/>
          <p:cNvSpPr>
            <a:spLocks noChangeArrowheads="1"/>
          </p:cNvSpPr>
          <p:nvPr/>
        </p:nvSpPr>
        <p:spPr bwMode="auto">
          <a:xfrm>
            <a:off x="5" y="225616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65" name="Rectangle 53"/>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67" name="Rectangle 55"/>
          <p:cNvSpPr>
            <a:spLocks noChangeArrowheads="1"/>
          </p:cNvSpPr>
          <p:nvPr/>
        </p:nvSpPr>
        <p:spPr bwMode="auto">
          <a:xfrm>
            <a:off x="5" y="2181555"/>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71" name="Rectangle 59"/>
          <p:cNvSpPr>
            <a:spLocks noChangeArrowheads="1"/>
          </p:cNvSpPr>
          <p:nvPr/>
        </p:nvSpPr>
        <p:spPr bwMode="auto">
          <a:xfrm>
            <a:off x="5" y="2164092"/>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74" name="Rectangle 62"/>
          <p:cNvSpPr>
            <a:spLocks noChangeArrowheads="1"/>
          </p:cNvSpPr>
          <p:nvPr/>
        </p:nvSpPr>
        <p:spPr bwMode="auto">
          <a:xfrm>
            <a:off x="5" y="2167266"/>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76" name="Rectangle 64"/>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78" name="Rectangle 66"/>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38980" name="Rectangle 68"/>
          <p:cNvSpPr>
            <a:spLocks noChangeArrowheads="1"/>
          </p:cNvSpPr>
          <p:nvPr/>
        </p:nvSpPr>
        <p:spPr bwMode="auto">
          <a:xfrm>
            <a:off x="5" y="2152980"/>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12" name="组合 11"/>
          <p:cNvGrpSpPr/>
          <p:nvPr/>
        </p:nvGrpSpPr>
        <p:grpSpPr>
          <a:xfrm>
            <a:off x="277813" y="1197769"/>
            <a:ext cx="8615362" cy="1938992"/>
            <a:chOff x="323146" y="1347624"/>
            <a:chExt cx="8615363" cy="1940183"/>
          </a:xfrm>
        </p:grpSpPr>
        <p:sp>
          <p:nvSpPr>
            <p:cNvPr id="49168" name="Text Box 43"/>
            <p:cNvSpPr txBox="1"/>
            <p:nvPr/>
          </p:nvSpPr>
          <p:spPr>
            <a:xfrm>
              <a:off x="323146" y="1347624"/>
              <a:ext cx="8615363" cy="1940183"/>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解</a:t>
              </a:r>
              <a:r>
                <a:rPr lang="zh-CN" altLang="pt-BR" sz="2400" dirty="0">
                  <a:latin typeface="Times New Roman" panose="02020603050405020304" pitchFamily="18" charset="0"/>
                  <a:ea typeface="宋体" panose="02010600030101010101" pitchFamily="2" charset="-122"/>
                </a:rPr>
                <a:t>：由于     </a:t>
              </a:r>
              <a:r>
                <a:rPr lang="pt-BR" altLang="zh-CN" sz="2400" dirty="0">
                  <a:latin typeface="Times New Roman" panose="02020603050405020304" pitchFamily="18" charset="0"/>
                  <a:ea typeface="宋体" panose="02010600030101010101" pitchFamily="2" charset="-122"/>
                </a:rPr>
                <a:t>(H</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S) »       (H</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S)</a:t>
              </a:r>
              <a:r>
                <a:rPr lang="zh-CN" altLang="pt-BR" sz="2400" dirty="0">
                  <a:latin typeface="Times New Roman" panose="02020603050405020304" pitchFamily="18" charset="0"/>
                  <a:ea typeface="宋体" panose="02010600030101010101" pitchFamily="2" charset="-122"/>
                </a:rPr>
                <a:t>，因此可根据一级解离平衡计算。设解离平衡时</a:t>
              </a:r>
              <a:r>
                <a:rPr lang="pt-BR" altLang="zh-CN" sz="2400" dirty="0">
                  <a:latin typeface="Times New Roman" panose="02020603050405020304" pitchFamily="18" charset="0"/>
                  <a:ea typeface="宋体" panose="02010600030101010101" pitchFamily="2" charset="-122"/>
                </a:rPr>
                <a:t>H</a:t>
              </a:r>
              <a:r>
                <a:rPr lang="pt-BR" altLang="zh-CN" sz="2400" baseline="30000" dirty="0">
                  <a:latin typeface="Times New Roman" panose="02020603050405020304" pitchFamily="18" charset="0"/>
                  <a:ea typeface="宋体" panose="02010600030101010101" pitchFamily="2" charset="-122"/>
                </a:rPr>
                <a:t>+</a:t>
              </a:r>
              <a:r>
                <a:rPr lang="zh-CN" altLang="pt-BR" sz="2400" dirty="0">
                  <a:latin typeface="Times New Roman" panose="02020603050405020304" pitchFamily="18" charset="0"/>
                  <a:ea typeface="宋体" panose="02010600030101010101" pitchFamily="2" charset="-122"/>
                </a:rPr>
                <a:t>的浓度为</a:t>
              </a:r>
              <a:r>
                <a:rPr lang="en-US" altLang="zh-CN" sz="2400" i="1" dirty="0">
                  <a:solidFill>
                    <a:srgbClr val="FF0000"/>
                  </a:solidFill>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 </a:t>
              </a:r>
              <a:r>
                <a:rPr lang="pt-BR" altLang="zh-CN" sz="2400" dirty="0">
                  <a:latin typeface="Times New Roman" panose="02020603050405020304" pitchFamily="18" charset="0"/>
                  <a:ea typeface="宋体" panose="02010600030101010101" pitchFamily="2" charset="-122"/>
                </a:rPr>
                <a:t>mol·L</a:t>
              </a:r>
              <a:r>
                <a:rPr lang="pt-BR" altLang="zh-CN" sz="2400" baseline="30000" dirty="0">
                  <a:latin typeface="Times New Roman" panose="02020603050405020304" pitchFamily="18" charset="0"/>
                  <a:ea typeface="宋体" panose="02010600030101010101" pitchFamily="2" charset="-122"/>
                </a:rPr>
                <a:t>-1</a:t>
              </a:r>
              <a:r>
                <a:rPr lang="zh-CN" altLang="pt-BR" sz="2400" dirty="0">
                  <a:latin typeface="Times New Roman" panose="02020603050405020304" pitchFamily="18" charset="0"/>
                  <a:ea typeface="宋体" panose="02010600030101010101" pitchFamily="2" charset="-122"/>
                </a:rPr>
                <a:t>，则有        </a:t>
              </a:r>
            </a:p>
            <a:p>
              <a:pPr>
                <a:buClrTx/>
                <a:buFontTx/>
              </a:pPr>
              <a:r>
                <a:rPr lang="zh-CN" altLang="pt-BR" sz="2400" dirty="0">
                  <a:latin typeface="Times New Roman" panose="02020603050405020304" pitchFamily="18" charset="0"/>
                  <a:ea typeface="宋体" panose="02010600030101010101" pitchFamily="2" charset="-122"/>
                </a:rPr>
                <a:t>                                        </a:t>
              </a:r>
              <a:r>
                <a:rPr lang="pt-BR" altLang="zh-CN" sz="2400" dirty="0">
                  <a:latin typeface="Times New Roman" panose="02020603050405020304" pitchFamily="18" charset="0"/>
                  <a:ea typeface="宋体" panose="02010600030101010101" pitchFamily="2" charset="-122"/>
                </a:rPr>
                <a:t>H</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S(aq)</a:t>
              </a:r>
              <a:r>
                <a:rPr lang="en-US" altLang="zh-CN" sz="2400" dirty="0">
                  <a:latin typeface="Times New Roman" panose="02020603050405020304" pitchFamily="18" charset="0"/>
                  <a:ea typeface="宋体" panose="02010600030101010101" pitchFamily="2" charset="-122"/>
                </a:rPr>
                <a:t>           </a:t>
              </a:r>
              <a:r>
                <a:rPr lang="pt-BR" altLang="zh-CN" sz="2400" dirty="0">
                  <a:latin typeface="Times New Roman" panose="02020603050405020304" pitchFamily="18" charset="0"/>
                  <a:ea typeface="宋体" panose="02010600030101010101" pitchFamily="2" charset="-122"/>
                </a:rPr>
                <a:t>H</a:t>
              </a:r>
              <a:r>
                <a:rPr lang="pt-BR" altLang="zh-CN" sz="2400" baseline="300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(aq) + HS</a:t>
              </a:r>
              <a:r>
                <a:rPr lang="pt-BR" altLang="zh-CN" sz="2400" baseline="300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(aq)</a:t>
              </a:r>
            </a:p>
            <a:p>
              <a:pPr>
                <a:buClrTx/>
                <a:buFontTx/>
              </a:pPr>
              <a:r>
                <a:rPr lang="pt-BR" altLang="zh-CN" sz="2400" dirty="0">
                  <a:latin typeface="Times New Roman" panose="02020603050405020304" pitchFamily="18" charset="0"/>
                  <a:ea typeface="宋体" panose="02010600030101010101" pitchFamily="2" charset="-122"/>
                </a:rPr>
                <a:t>    </a:t>
              </a:r>
              <a:r>
                <a:rPr lang="zh-CN" altLang="pt-BR" sz="2400" dirty="0">
                  <a:latin typeface="Times New Roman" panose="02020603050405020304" pitchFamily="18" charset="0"/>
                  <a:ea typeface="宋体" panose="02010600030101010101" pitchFamily="2" charset="-122"/>
                </a:rPr>
                <a:t>初始浓度</a:t>
              </a:r>
              <a:r>
                <a:rPr lang="pt-BR" altLang="zh-CN" sz="2400" dirty="0">
                  <a:latin typeface="Times New Roman" panose="02020603050405020304" pitchFamily="18" charset="0"/>
                  <a:ea typeface="宋体" panose="02010600030101010101" pitchFamily="2" charset="-122"/>
                </a:rPr>
                <a:t>/molL</a:t>
              </a:r>
              <a:r>
                <a:rPr lang="pt-BR" altLang="zh-CN" sz="2400" baseline="30000" dirty="0">
                  <a:latin typeface="Times New Roman" panose="02020603050405020304" pitchFamily="18" charset="0"/>
                  <a:ea typeface="宋体" panose="02010600030101010101" pitchFamily="2" charset="-122"/>
                </a:rPr>
                <a:t>-1</a:t>
              </a:r>
              <a:r>
                <a:rPr lang="pt-BR" altLang="zh-CN" sz="2400" dirty="0">
                  <a:latin typeface="Times New Roman" panose="02020603050405020304" pitchFamily="18" charset="0"/>
                  <a:ea typeface="宋体" panose="02010600030101010101" pitchFamily="2" charset="-122"/>
                </a:rPr>
                <a:t>           0.10                   0           0</a:t>
              </a:r>
            </a:p>
            <a:p>
              <a:pPr>
                <a:buClrTx/>
                <a:buFontTx/>
              </a:pPr>
              <a:r>
                <a:rPr lang="zh-CN" altLang="pt-BR" sz="2400" dirty="0">
                  <a:latin typeface="Times New Roman" panose="02020603050405020304" pitchFamily="18" charset="0"/>
                  <a:ea typeface="宋体" panose="02010600030101010101" pitchFamily="2" charset="-122"/>
                </a:rPr>
                <a:t>    平衡浓度</a:t>
              </a:r>
              <a:r>
                <a:rPr lang="pt-BR" altLang="zh-CN" sz="2400" dirty="0">
                  <a:latin typeface="Times New Roman" panose="02020603050405020304" pitchFamily="18" charset="0"/>
                  <a:ea typeface="宋体" panose="02010600030101010101" pitchFamily="2" charset="-122"/>
                </a:rPr>
                <a:t>/molL</a:t>
              </a:r>
              <a:r>
                <a:rPr lang="pt-BR" altLang="zh-CN" sz="2400" baseline="30000" dirty="0">
                  <a:latin typeface="Times New Roman" panose="02020603050405020304" pitchFamily="18" charset="0"/>
                  <a:ea typeface="宋体" panose="02010600030101010101" pitchFamily="2" charset="-122"/>
                </a:rPr>
                <a:t>-1</a:t>
              </a:r>
              <a:r>
                <a:rPr lang="pt-BR" altLang="zh-CN" sz="2400" dirty="0">
                  <a:latin typeface="Times New Roman" panose="02020603050405020304" pitchFamily="18" charset="0"/>
                  <a:ea typeface="宋体" panose="02010600030101010101" pitchFamily="2" charset="-122"/>
                </a:rPr>
                <a:t>         0.10-</a:t>
              </a:r>
              <a:r>
                <a:rPr lang="pt-BR" altLang="zh-CN" sz="2400" i="1" dirty="0">
                  <a:latin typeface="Times New Roman" panose="02020603050405020304" pitchFamily="18" charset="0"/>
                  <a:ea typeface="宋体" panose="02010600030101010101" pitchFamily="2" charset="-122"/>
                </a:rPr>
                <a:t>x</a:t>
              </a:r>
              <a:r>
                <a:rPr lang="pt-BR" altLang="zh-CN" sz="2400" dirty="0">
                  <a:latin typeface="Times New Roman" panose="02020603050405020304" pitchFamily="18" charset="0"/>
                  <a:ea typeface="宋体" panose="02010600030101010101" pitchFamily="2" charset="-122"/>
                </a:rPr>
                <a:t>                  </a:t>
              </a:r>
              <a:r>
                <a:rPr lang="pt-BR" altLang="zh-CN" sz="2400" i="1" dirty="0">
                  <a:latin typeface="Times New Roman" panose="02020603050405020304" pitchFamily="18" charset="0"/>
                  <a:ea typeface="宋体" panose="02010600030101010101" pitchFamily="2" charset="-122"/>
                </a:rPr>
                <a:t>x</a:t>
              </a:r>
              <a:r>
                <a:rPr lang="pt-BR" altLang="zh-CN" sz="2400" dirty="0">
                  <a:latin typeface="Times New Roman" panose="02020603050405020304" pitchFamily="18" charset="0"/>
                  <a:ea typeface="宋体" panose="02010600030101010101" pitchFamily="2" charset="-122"/>
                </a:rPr>
                <a:t>           </a:t>
              </a:r>
              <a:r>
                <a:rPr lang="pt-BR" altLang="zh-CN" sz="2400" i="1" dirty="0">
                  <a:latin typeface="Times New Roman" panose="02020603050405020304" pitchFamily="18" charset="0"/>
                  <a:ea typeface="宋体" panose="02010600030101010101" pitchFamily="2" charset="-122"/>
                </a:rPr>
                <a:t>x</a:t>
              </a:r>
              <a:endParaRPr lang="pt-BR" altLang="zh-CN" sz="2400" dirty="0">
                <a:latin typeface="Times New Roman" panose="02020603050405020304" pitchFamily="18" charset="0"/>
                <a:ea typeface="宋体" panose="02010600030101010101" pitchFamily="2" charset="-122"/>
              </a:endParaRPr>
            </a:p>
          </p:txBody>
        </p:sp>
        <p:grpSp>
          <p:nvGrpSpPr>
            <p:cNvPr id="49169" name="组合 10"/>
            <p:cNvGrpSpPr/>
            <p:nvPr/>
          </p:nvGrpSpPr>
          <p:grpSpPr>
            <a:xfrm>
              <a:off x="1619920" y="1419185"/>
              <a:ext cx="3573477" cy="931026"/>
              <a:chOff x="1619920" y="1419185"/>
              <a:chExt cx="3573477" cy="931026"/>
            </a:xfrm>
          </p:grpSpPr>
          <p:graphicFrame>
            <p:nvGraphicFramePr>
              <p:cNvPr id="49170" name="Object 44"/>
              <p:cNvGraphicFramePr>
                <a:graphicFrameLocks noChangeAspect="1"/>
              </p:cNvGraphicFramePr>
              <p:nvPr>
                <p:extLst>
                  <p:ext uri="{D42A27DB-BD31-4B8C-83A1-F6EECF244321}">
                    <p14:modId xmlns:p14="http://schemas.microsoft.com/office/powerpoint/2010/main" val="4069180379"/>
                  </p:ext>
                </p:extLst>
              </p:nvPr>
            </p:nvGraphicFramePr>
            <p:xfrm>
              <a:off x="1619920" y="1419185"/>
              <a:ext cx="503238" cy="377428"/>
            </p:xfrm>
            <a:graphic>
              <a:graphicData uri="http://schemas.openxmlformats.org/presentationml/2006/ole">
                <mc:AlternateContent xmlns:mc="http://schemas.openxmlformats.org/markup-compatibility/2006">
                  <mc:Choice xmlns:v="urn:schemas-microsoft-com:vml" Requires="v">
                    <p:oleObj r:id="rId3" imgW="251460" imgH="251460" progId="Equation.KSEE3">
                      <p:embed/>
                    </p:oleObj>
                  </mc:Choice>
                  <mc:Fallback>
                    <p:oleObj r:id="rId3" imgW="251460" imgH="251460" progId="Equation.KSEE3">
                      <p:embed/>
                      <p:pic>
                        <p:nvPicPr>
                          <p:cNvPr id="0" name="图片 3122"/>
                          <p:cNvPicPr/>
                          <p:nvPr/>
                        </p:nvPicPr>
                        <p:blipFill>
                          <a:blip r:embed="rId4"/>
                          <a:stretch>
                            <a:fillRect/>
                          </a:stretch>
                        </p:blipFill>
                        <p:spPr>
                          <a:xfrm>
                            <a:off x="1619920" y="1419185"/>
                            <a:ext cx="503238" cy="377428"/>
                          </a:xfrm>
                          <a:prstGeom prst="rect">
                            <a:avLst/>
                          </a:prstGeom>
                          <a:noFill/>
                          <a:ln w="38100">
                            <a:noFill/>
                            <a:miter/>
                          </a:ln>
                        </p:spPr>
                      </p:pic>
                    </p:oleObj>
                  </mc:Fallback>
                </mc:AlternateContent>
              </a:graphicData>
            </a:graphic>
          </p:graphicFrame>
          <p:graphicFrame>
            <p:nvGraphicFramePr>
              <p:cNvPr id="49171" name="Object 46"/>
              <p:cNvGraphicFramePr>
                <a:graphicFrameLocks noChangeAspect="1"/>
              </p:cNvGraphicFramePr>
              <p:nvPr>
                <p:extLst>
                  <p:ext uri="{D42A27DB-BD31-4B8C-83A1-F6EECF244321}">
                    <p14:modId xmlns:p14="http://schemas.microsoft.com/office/powerpoint/2010/main" val="2832070445"/>
                  </p:ext>
                </p:extLst>
              </p:nvPr>
            </p:nvGraphicFramePr>
            <p:xfrm>
              <a:off x="2988072" y="1419185"/>
              <a:ext cx="504825" cy="361950"/>
            </p:xfrm>
            <a:graphic>
              <a:graphicData uri="http://schemas.openxmlformats.org/presentationml/2006/ole">
                <mc:AlternateContent xmlns:mc="http://schemas.openxmlformats.org/markup-compatibility/2006">
                  <mc:Choice xmlns:v="urn:schemas-microsoft-com:vml" Requires="v">
                    <p:oleObj r:id="rId5" imgW="236220" imgH="222885" progId="Equation.KSEE3">
                      <p:embed/>
                    </p:oleObj>
                  </mc:Choice>
                  <mc:Fallback>
                    <p:oleObj r:id="rId5" imgW="236220" imgH="222885" progId="Equation.KSEE3">
                      <p:embed/>
                      <p:pic>
                        <p:nvPicPr>
                          <p:cNvPr id="0" name="图片 3123"/>
                          <p:cNvPicPr/>
                          <p:nvPr/>
                        </p:nvPicPr>
                        <p:blipFill>
                          <a:blip r:embed="rId6"/>
                          <a:stretch>
                            <a:fillRect/>
                          </a:stretch>
                        </p:blipFill>
                        <p:spPr>
                          <a:xfrm>
                            <a:off x="2988072" y="1419185"/>
                            <a:ext cx="504825" cy="361950"/>
                          </a:xfrm>
                          <a:prstGeom prst="rect">
                            <a:avLst/>
                          </a:prstGeom>
                          <a:noFill/>
                          <a:ln w="38100">
                            <a:noFill/>
                            <a:miter/>
                          </a:ln>
                        </p:spPr>
                      </p:pic>
                    </p:oleObj>
                  </mc:Fallback>
                </mc:AlternateContent>
              </a:graphicData>
            </a:graphic>
          </p:graphicFrame>
          <p:graphicFrame>
            <p:nvGraphicFramePr>
              <p:cNvPr id="49172" name="Object 48"/>
              <p:cNvGraphicFramePr>
                <a:graphicFrameLocks noChangeAspect="1"/>
              </p:cNvGraphicFramePr>
              <p:nvPr>
                <p:extLst>
                  <p:ext uri="{D42A27DB-BD31-4B8C-83A1-F6EECF244321}">
                    <p14:modId xmlns:p14="http://schemas.microsoft.com/office/powerpoint/2010/main" val="3842955674"/>
                  </p:ext>
                </p:extLst>
              </p:nvPr>
            </p:nvGraphicFramePr>
            <p:xfrm>
              <a:off x="4652459" y="2193152"/>
              <a:ext cx="540938" cy="157059"/>
            </p:xfrm>
            <a:graphic>
              <a:graphicData uri="http://schemas.openxmlformats.org/presentationml/2006/ole">
                <mc:AlternateContent xmlns:mc="http://schemas.openxmlformats.org/markup-compatibility/2006">
                  <mc:Choice xmlns:v="urn:schemas-microsoft-com:vml" Requires="v">
                    <p:oleObj r:id="rId7" imgW="676275" imgH="171450" progId="Equation.DSMT4">
                      <p:embed/>
                    </p:oleObj>
                  </mc:Choice>
                  <mc:Fallback>
                    <p:oleObj r:id="rId7" imgW="676275" imgH="171450" progId="Equation.DSMT4">
                      <p:embed/>
                      <p:pic>
                        <p:nvPicPr>
                          <p:cNvPr id="0" name="图片 3124"/>
                          <p:cNvPicPr/>
                          <p:nvPr/>
                        </p:nvPicPr>
                        <p:blipFill>
                          <a:blip r:embed="rId8"/>
                          <a:stretch>
                            <a:fillRect/>
                          </a:stretch>
                        </p:blipFill>
                        <p:spPr>
                          <a:xfrm>
                            <a:off x="4652459" y="2193152"/>
                            <a:ext cx="540938" cy="157059"/>
                          </a:xfrm>
                          <a:prstGeom prst="rect">
                            <a:avLst/>
                          </a:prstGeom>
                          <a:noFill/>
                          <a:ln w="38100">
                            <a:noFill/>
                            <a:miter/>
                          </a:ln>
                        </p:spPr>
                      </p:pic>
                    </p:oleObj>
                  </mc:Fallback>
                </mc:AlternateContent>
              </a:graphicData>
            </a:graphic>
          </p:graphicFrame>
        </p:grpSp>
      </p:grpSp>
      <p:sp>
        <p:nvSpPr>
          <p:cNvPr id="49173" name="Rectangle 72"/>
          <p:cNvSpPr/>
          <p:nvPr/>
        </p:nvSpPr>
        <p:spPr>
          <a:xfrm>
            <a:off x="228606" y="0"/>
            <a:ext cx="8664575" cy="1112838"/>
          </a:xfrm>
          <a:prstGeom prst="rect">
            <a:avLst/>
          </a:prstGeom>
          <a:noFill/>
          <a:ln w="38100"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nvGrpSpPr>
          <p:cNvPr id="3" name="组合 2"/>
          <p:cNvGrpSpPr/>
          <p:nvPr/>
        </p:nvGrpSpPr>
        <p:grpSpPr>
          <a:xfrm>
            <a:off x="780261" y="3219822"/>
            <a:ext cx="7561263" cy="1585048"/>
            <a:chOff x="780255" y="3219822"/>
            <a:chExt cx="7561263" cy="1585047"/>
          </a:xfrm>
        </p:grpSpPr>
        <p:grpSp>
          <p:nvGrpSpPr>
            <p:cNvPr id="2" name="组合 1"/>
            <p:cNvGrpSpPr/>
            <p:nvPr/>
          </p:nvGrpSpPr>
          <p:grpSpPr>
            <a:xfrm>
              <a:off x="780255" y="3219822"/>
              <a:ext cx="7561263" cy="1585047"/>
              <a:chOff x="780255" y="3219822"/>
              <a:chExt cx="7561263" cy="1585047"/>
            </a:xfrm>
          </p:grpSpPr>
          <p:grpSp>
            <p:nvGrpSpPr>
              <p:cNvPr id="49176" name="组合 5"/>
              <p:cNvGrpSpPr/>
              <p:nvPr/>
            </p:nvGrpSpPr>
            <p:grpSpPr>
              <a:xfrm>
                <a:off x="780255" y="3219822"/>
                <a:ext cx="7561263" cy="1585047"/>
                <a:chOff x="2739357" y="213322"/>
                <a:chExt cx="7560840" cy="1585026"/>
              </a:xfrm>
            </p:grpSpPr>
            <p:graphicFrame>
              <p:nvGraphicFramePr>
                <p:cNvPr id="49177" name="Object 54"/>
                <p:cNvGraphicFramePr>
                  <a:graphicFrameLocks noChangeAspect="1"/>
                </p:cNvGraphicFramePr>
                <p:nvPr/>
              </p:nvGraphicFramePr>
              <p:xfrm>
                <a:off x="4427984" y="324597"/>
                <a:ext cx="1027113" cy="448866"/>
              </p:xfrm>
              <a:graphic>
                <a:graphicData uri="http://schemas.openxmlformats.org/presentationml/2006/ole">
                  <mc:AlternateContent xmlns:mc="http://schemas.openxmlformats.org/markup-compatibility/2006">
                    <mc:Choice xmlns:v="urn:schemas-microsoft-com:vml" Requires="v">
                      <p:oleObj r:id="rId9" imgW="611505" imgH="394970" progId="Equation.DSMT4">
                        <p:embed/>
                      </p:oleObj>
                    </mc:Choice>
                    <mc:Fallback>
                      <p:oleObj r:id="rId9" imgW="611505" imgH="394970" progId="Equation.DSMT4">
                        <p:embed/>
                        <p:pic>
                          <p:nvPicPr>
                            <p:cNvPr id="0" name="图片 3125"/>
                            <p:cNvPicPr/>
                            <p:nvPr/>
                          </p:nvPicPr>
                          <p:blipFill>
                            <a:blip r:embed="rId10"/>
                            <a:stretch>
                              <a:fillRect/>
                            </a:stretch>
                          </p:blipFill>
                          <p:spPr>
                            <a:xfrm>
                              <a:off x="4427984" y="324597"/>
                              <a:ext cx="1027113" cy="448866"/>
                            </a:xfrm>
                            <a:prstGeom prst="rect">
                              <a:avLst/>
                            </a:prstGeom>
                            <a:noFill/>
                            <a:ln w="38100">
                              <a:noFill/>
                              <a:miter/>
                            </a:ln>
                          </p:spPr>
                        </p:pic>
                      </p:oleObj>
                    </mc:Fallback>
                  </mc:AlternateContent>
                </a:graphicData>
              </a:graphic>
            </p:graphicFrame>
            <p:grpSp>
              <p:nvGrpSpPr>
                <p:cNvPr id="49178" name="组合 4"/>
                <p:cNvGrpSpPr/>
                <p:nvPr/>
              </p:nvGrpSpPr>
              <p:grpSpPr>
                <a:xfrm>
                  <a:off x="2739357" y="213322"/>
                  <a:ext cx="7560840" cy="1585026"/>
                  <a:chOff x="2739357" y="213322"/>
                  <a:chExt cx="7560840" cy="1585026"/>
                </a:xfrm>
              </p:grpSpPr>
              <p:graphicFrame>
                <p:nvGraphicFramePr>
                  <p:cNvPr id="49179" name="Object 60"/>
                  <p:cNvGraphicFramePr>
                    <a:graphicFrameLocks noChangeAspect="1"/>
                  </p:cNvGraphicFramePr>
                  <p:nvPr/>
                </p:nvGraphicFramePr>
                <p:xfrm>
                  <a:off x="2987824" y="758205"/>
                  <a:ext cx="527050" cy="395288"/>
                </p:xfrm>
                <a:graphic>
                  <a:graphicData uri="http://schemas.openxmlformats.org/presentationml/2006/ole">
                    <mc:AlternateContent xmlns:mc="http://schemas.openxmlformats.org/markup-compatibility/2006">
                      <mc:Choice xmlns:v="urn:schemas-microsoft-com:vml" Requires="v">
                        <p:oleObj r:id="rId11" imgW="251460" imgH="251460" progId="Equation.DSMT4">
                          <p:embed/>
                        </p:oleObj>
                      </mc:Choice>
                      <mc:Fallback>
                        <p:oleObj r:id="rId11" imgW="251460" imgH="251460" progId="Equation.DSMT4">
                          <p:embed/>
                          <p:pic>
                            <p:nvPicPr>
                              <p:cNvPr id="0" name="图片 3126"/>
                              <p:cNvPicPr/>
                              <p:nvPr/>
                            </p:nvPicPr>
                            <p:blipFill>
                              <a:blip r:embed="rId4"/>
                              <a:stretch>
                                <a:fillRect/>
                              </a:stretch>
                            </p:blipFill>
                            <p:spPr>
                              <a:xfrm>
                                <a:off x="2987824" y="758205"/>
                                <a:ext cx="527050" cy="395288"/>
                              </a:xfrm>
                              <a:prstGeom prst="rect">
                                <a:avLst/>
                              </a:prstGeom>
                              <a:noFill/>
                              <a:ln w="38100">
                                <a:noFill/>
                                <a:miter/>
                              </a:ln>
                            </p:spPr>
                          </p:pic>
                        </p:oleObj>
                      </mc:Fallback>
                    </mc:AlternateContent>
                  </a:graphicData>
                </a:graphic>
              </p:graphicFrame>
              <p:grpSp>
                <p:nvGrpSpPr>
                  <p:cNvPr id="49180" name="组合 3"/>
                  <p:cNvGrpSpPr/>
                  <p:nvPr/>
                </p:nvGrpSpPr>
                <p:grpSpPr>
                  <a:xfrm>
                    <a:off x="2739357" y="213322"/>
                    <a:ext cx="7560840" cy="1585026"/>
                    <a:chOff x="2739357" y="213322"/>
                    <a:chExt cx="7560840" cy="1585026"/>
                  </a:xfrm>
                </p:grpSpPr>
                <p:graphicFrame>
                  <p:nvGraphicFramePr>
                    <p:cNvPr id="49181" name="Object 58"/>
                    <p:cNvGraphicFramePr>
                      <a:graphicFrameLocks noChangeAspect="1"/>
                    </p:cNvGraphicFramePr>
                    <p:nvPr/>
                  </p:nvGraphicFramePr>
                  <p:xfrm>
                    <a:off x="4427984" y="675456"/>
                    <a:ext cx="1368425" cy="560785"/>
                  </p:xfrm>
                  <a:graphic>
                    <a:graphicData uri="http://schemas.openxmlformats.org/presentationml/2006/ole">
                      <mc:AlternateContent xmlns:mc="http://schemas.openxmlformats.org/markup-compatibility/2006">
                        <mc:Choice xmlns:v="urn:schemas-microsoft-com:vml" Requires="v">
                          <p:oleObj r:id="rId12" imgW="865505" imgH="458470" progId="Equation.DSMT4">
                            <p:embed/>
                          </p:oleObj>
                        </mc:Choice>
                        <mc:Fallback>
                          <p:oleObj r:id="rId12" imgW="865505" imgH="458470" progId="Equation.DSMT4">
                            <p:embed/>
                            <p:pic>
                              <p:nvPicPr>
                                <p:cNvPr id="0" name="图片 3127"/>
                                <p:cNvPicPr/>
                                <p:nvPr/>
                              </p:nvPicPr>
                              <p:blipFill>
                                <a:blip r:embed="rId13"/>
                                <a:stretch>
                                  <a:fillRect/>
                                </a:stretch>
                              </p:blipFill>
                              <p:spPr>
                                <a:xfrm>
                                  <a:off x="4427984" y="675456"/>
                                  <a:ext cx="1368425" cy="560785"/>
                                </a:xfrm>
                                <a:prstGeom prst="rect">
                                  <a:avLst/>
                                </a:prstGeom>
                                <a:noFill/>
                                <a:ln w="38100">
                                  <a:noFill/>
                                  <a:miter/>
                                </a:ln>
                              </p:spPr>
                            </p:pic>
                          </p:oleObj>
                        </mc:Fallback>
                      </mc:AlternateContent>
                    </a:graphicData>
                  </a:graphic>
                </p:graphicFrame>
                <p:grpSp>
                  <p:nvGrpSpPr>
                    <p:cNvPr id="49182" name="组合 2"/>
                    <p:cNvGrpSpPr/>
                    <p:nvPr/>
                  </p:nvGrpSpPr>
                  <p:grpSpPr>
                    <a:xfrm>
                      <a:off x="2739357" y="213322"/>
                      <a:ext cx="7560840" cy="1585026"/>
                      <a:chOff x="2739357" y="213322"/>
                      <a:chExt cx="7560840" cy="1585026"/>
                    </a:xfrm>
                  </p:grpSpPr>
                  <p:graphicFrame>
                    <p:nvGraphicFramePr>
                      <p:cNvPr id="49183" name="Object 63"/>
                      <p:cNvGraphicFramePr>
                        <a:graphicFrameLocks noChangeAspect="1"/>
                      </p:cNvGraphicFramePr>
                      <p:nvPr/>
                    </p:nvGraphicFramePr>
                    <p:xfrm>
                      <a:off x="7452320" y="732011"/>
                      <a:ext cx="719138" cy="447675"/>
                    </p:xfrm>
                    <a:graphic>
                      <a:graphicData uri="http://schemas.openxmlformats.org/presentationml/2006/ole">
                        <mc:AlternateContent xmlns:mc="http://schemas.openxmlformats.org/markup-compatibility/2006">
                          <mc:Choice xmlns:v="urn:schemas-microsoft-com:vml" Requires="v">
                            <p:oleObj r:id="rId14" imgW="297180" imgH="387350" progId="Equation.DSMT4">
                              <p:embed/>
                            </p:oleObj>
                          </mc:Choice>
                          <mc:Fallback>
                            <p:oleObj r:id="rId14" imgW="297180" imgH="387350" progId="Equation.DSMT4">
                              <p:embed/>
                              <p:pic>
                                <p:nvPicPr>
                                  <p:cNvPr id="0" name="图片 3128"/>
                                  <p:cNvPicPr/>
                                  <p:nvPr/>
                                </p:nvPicPr>
                                <p:blipFill>
                                  <a:blip r:embed="rId15"/>
                                  <a:stretch>
                                    <a:fillRect/>
                                  </a:stretch>
                                </p:blipFill>
                                <p:spPr>
                                  <a:xfrm>
                                    <a:off x="7452320" y="732011"/>
                                    <a:ext cx="719138" cy="447675"/>
                                  </a:xfrm>
                                  <a:prstGeom prst="rect">
                                    <a:avLst/>
                                  </a:prstGeom>
                                  <a:noFill/>
                                  <a:ln w="38100">
                                    <a:noFill/>
                                    <a:miter/>
                                  </a:ln>
                                </p:spPr>
                              </p:pic>
                            </p:oleObj>
                          </mc:Fallback>
                        </mc:AlternateContent>
                      </a:graphicData>
                    </a:graphic>
                  </p:graphicFrame>
                  <p:sp>
                    <p:nvSpPr>
                      <p:cNvPr id="49184" name="Text Box 43"/>
                      <p:cNvSpPr txBox="1"/>
                      <p:nvPr/>
                    </p:nvSpPr>
                    <p:spPr>
                      <a:xfrm>
                        <a:off x="2739357" y="213322"/>
                        <a:ext cx="7560840" cy="1585026"/>
                      </a:xfrm>
                      <a:prstGeom prst="rect">
                        <a:avLst/>
                      </a:prstGeom>
                      <a:noFill/>
                      <a:ln w="9525">
                        <a:noFill/>
                      </a:ln>
                      <a:effectLst>
                        <a:prstShdw prst="shdw17" dist="17961" dir="13499999">
                          <a:srgbClr val="5C5C99"/>
                        </a:prstShdw>
                      </a:effectLst>
                    </p:spPr>
                    <p:txBody>
                      <a:bodyPr anchor="t" anchorCtr="0">
                        <a:spAutoFit/>
                      </a:bodyPr>
                      <a:lstStyle/>
                      <a:p>
                        <a:pPr>
                          <a:spcAft>
                            <a:spcPts val="600"/>
                          </a:spcAft>
                          <a:buClrTx/>
                          <a:buFontTx/>
                        </a:pPr>
                        <a:r>
                          <a:rPr lang="zh-CN" altLang="pt-BR" sz="2400" dirty="0">
                            <a:latin typeface="Times New Roman" panose="02020603050405020304" pitchFamily="18" charset="0"/>
                            <a:ea typeface="宋体" panose="02010600030101010101" pitchFamily="2" charset="-122"/>
                          </a:rPr>
                          <a:t>又 </a:t>
                        </a:r>
                        <a:r>
                          <a:rPr lang="pt-BR" altLang="zh-CN" sz="2400" i="1" dirty="0">
                            <a:latin typeface="Times New Roman" panose="02020603050405020304" pitchFamily="18" charset="0"/>
                            <a:ea typeface="宋体" panose="02010600030101010101" pitchFamily="2" charset="-122"/>
                          </a:rPr>
                          <a:t>c</a:t>
                        </a:r>
                        <a:r>
                          <a:rPr lang="pt-BR" altLang="zh-CN" sz="2400" dirty="0">
                            <a:latin typeface="Times New Roman" panose="02020603050405020304" pitchFamily="18" charset="0"/>
                            <a:ea typeface="宋体" panose="02010600030101010101" pitchFamily="2" charset="-122"/>
                          </a:rPr>
                          <a:t> /      =   </a:t>
                        </a:r>
                        <a:r>
                          <a:rPr lang="en-US" altLang="zh-CN" sz="2400" dirty="0">
                            <a:latin typeface="Times New Roman" panose="02020603050405020304" pitchFamily="18" charset="0"/>
                            <a:ea typeface="宋体" panose="02010600030101010101" pitchFamily="2" charset="-122"/>
                          </a:rPr>
                          <a:t>               </a:t>
                        </a:r>
                        <a:r>
                          <a:rPr lang="pt-BR" altLang="zh-CN" sz="2400" dirty="0">
                            <a:latin typeface="Times New Roman" panose="02020603050405020304" pitchFamily="18" charset="0"/>
                            <a:ea typeface="宋体" panose="02010600030101010101" pitchFamily="2" charset="-122"/>
                          </a:rPr>
                          <a:t>≥500           0.10- </a:t>
                        </a:r>
                        <a:r>
                          <a:rPr lang="pt-BR" altLang="zh-CN" sz="2400" i="1" dirty="0">
                            <a:latin typeface="Times New Roman" panose="02020603050405020304" pitchFamily="18" charset="0"/>
                            <a:ea typeface="宋体" panose="02010600030101010101" pitchFamily="2" charset="-122"/>
                          </a:rPr>
                          <a:t>x</a:t>
                        </a:r>
                        <a:r>
                          <a:rPr lang="zh-CN" altLang="pt-BR" sz="3200" b="0" dirty="0">
                            <a:latin typeface="Arial" panose="020B0604020202020204" pitchFamily="34" charset="0"/>
                            <a:ea typeface="宋体" panose="02010600030101010101" pitchFamily="2" charset="-122"/>
                          </a:rPr>
                          <a:t> </a:t>
                        </a:r>
                        <a:r>
                          <a:rPr lang="zh-CN" altLang="pt-BR" sz="24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0.10</a:t>
                        </a:r>
                      </a:p>
                      <a:p>
                        <a:pPr>
                          <a:buClrTx/>
                          <a:buFontTx/>
                        </a:pPr>
                        <a:r>
                          <a:rPr lang="pt-BR" altLang="zh-CN" sz="2400" dirty="0">
                            <a:latin typeface="Times New Roman" panose="02020603050405020304" pitchFamily="18" charset="0"/>
                            <a:ea typeface="宋体" panose="02010600030101010101" pitchFamily="2" charset="-122"/>
                          </a:rPr>
                          <a:t>        (H</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S)=                   =               ≈             =1.1×10</a:t>
                        </a:r>
                        <a:r>
                          <a:rPr lang="pt-BR" altLang="zh-CN" sz="2400" baseline="30000" dirty="0">
                            <a:latin typeface="Times New Roman" panose="02020603050405020304" pitchFamily="18" charset="0"/>
                            <a:ea typeface="宋体" panose="02010600030101010101" pitchFamily="2" charset="-122"/>
                          </a:rPr>
                          <a:t>-7</a:t>
                        </a:r>
                      </a:p>
                      <a:p>
                        <a:pPr>
                          <a:lnSpc>
                            <a:spcPct val="150000"/>
                          </a:lnSpc>
                          <a:buClrTx/>
                          <a:buFontTx/>
                        </a:pPr>
                        <a:r>
                          <a:rPr lang="pt-BR" altLang="zh-CN" sz="2400" dirty="0">
                            <a:latin typeface="Times New Roman" panose="02020603050405020304" pitchFamily="18" charset="0"/>
                            <a:ea typeface="宋体" panose="02010600030101010101" pitchFamily="2" charset="-122"/>
                          </a:rPr>
                          <a:t> </a:t>
                        </a:r>
                        <a:r>
                          <a:rPr lang="zh-CN" altLang="pt-BR" sz="2400" dirty="0">
                            <a:latin typeface="Times New Roman" panose="02020603050405020304" pitchFamily="18" charset="0"/>
                            <a:ea typeface="宋体" panose="02010600030101010101" pitchFamily="2" charset="-122"/>
                          </a:rPr>
                          <a:t>       则    </a:t>
                        </a:r>
                        <a:r>
                          <a:rPr lang="pt-BR" altLang="zh-CN" sz="2400" i="1" dirty="0">
                            <a:solidFill>
                              <a:srgbClr val="C00000"/>
                            </a:solidFill>
                            <a:latin typeface="Times New Roman" panose="02020603050405020304" pitchFamily="18" charset="0"/>
                            <a:ea typeface="宋体" panose="02010600030101010101" pitchFamily="2" charset="-122"/>
                          </a:rPr>
                          <a:t>x</a:t>
                        </a:r>
                        <a:r>
                          <a:rPr lang="pt-BR" altLang="zh-CN" sz="2400" dirty="0">
                            <a:latin typeface="Times New Roman" panose="02020603050405020304" pitchFamily="18" charset="0"/>
                            <a:ea typeface="宋体" panose="02010600030101010101" pitchFamily="2" charset="-122"/>
                          </a:rPr>
                          <a:t> =1.0×10</a:t>
                        </a:r>
                        <a:r>
                          <a:rPr lang="pt-BR" altLang="zh-CN" sz="2400" baseline="30000" dirty="0">
                            <a:latin typeface="Times New Roman" panose="02020603050405020304" pitchFamily="18" charset="0"/>
                            <a:ea typeface="宋体" panose="02010600030101010101" pitchFamily="2" charset="-122"/>
                          </a:rPr>
                          <a:t>-4</a:t>
                        </a:r>
                        <a:r>
                          <a:rPr lang="zh-CN" altLang="pt-BR" sz="2400" dirty="0">
                            <a:latin typeface="Times New Roman" panose="02020603050405020304" pitchFamily="18" charset="0"/>
                            <a:ea typeface="宋体" panose="02010600030101010101" pitchFamily="2" charset="-122"/>
                          </a:rPr>
                          <a:t>，   </a:t>
                        </a:r>
                        <a:r>
                          <a:rPr lang="pt-BR" altLang="zh-CN" sz="2400" i="1" dirty="0">
                            <a:latin typeface="Times New Roman" panose="02020603050405020304" pitchFamily="18" charset="0"/>
                            <a:ea typeface="宋体" panose="02010600030101010101" pitchFamily="2" charset="-122"/>
                          </a:rPr>
                          <a:t>c</a:t>
                        </a:r>
                        <a:r>
                          <a:rPr lang="pt-BR" altLang="zh-CN" sz="2400" dirty="0">
                            <a:latin typeface="Times New Roman" panose="02020603050405020304" pitchFamily="18" charset="0"/>
                            <a:ea typeface="宋体" panose="02010600030101010101" pitchFamily="2" charset="-122"/>
                          </a:rPr>
                          <a:t>(H</a:t>
                        </a:r>
                        <a:r>
                          <a:rPr lang="pt-BR" altLang="zh-CN" sz="2400" baseline="300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 =1.0×10</a:t>
                        </a:r>
                        <a:r>
                          <a:rPr lang="pt-BR" altLang="zh-CN" sz="2400" baseline="30000" dirty="0">
                            <a:latin typeface="Times New Roman" panose="02020603050405020304" pitchFamily="18" charset="0"/>
                            <a:ea typeface="宋体" panose="02010600030101010101" pitchFamily="2" charset="-122"/>
                          </a:rPr>
                          <a:t>-4</a:t>
                        </a:r>
                        <a:r>
                          <a:rPr lang="pt-BR" altLang="zh-CN" sz="2400" dirty="0">
                            <a:latin typeface="Times New Roman" panose="02020603050405020304" pitchFamily="18" charset="0"/>
                            <a:ea typeface="宋体" panose="02010600030101010101" pitchFamily="2" charset="-122"/>
                          </a:rPr>
                          <a:t>mol·L</a:t>
                        </a:r>
                        <a:r>
                          <a:rPr lang="pt-BR" altLang="zh-CN" sz="2400" baseline="30000" dirty="0">
                            <a:latin typeface="Times New Roman" panose="02020603050405020304" pitchFamily="18" charset="0"/>
                            <a:ea typeface="宋体" panose="02010600030101010101" pitchFamily="2" charset="-122"/>
                          </a:rPr>
                          <a:t>-1</a:t>
                        </a:r>
                        <a:endParaRPr lang="zh-CN" altLang="en-US" sz="3200" b="0" dirty="0">
                          <a:latin typeface="Arial" panose="020B0604020202020204" pitchFamily="34" charset="0"/>
                          <a:ea typeface="宋体" panose="02010600030101010101" pitchFamily="2" charset="-122"/>
                        </a:endParaRPr>
                      </a:p>
                    </p:txBody>
                  </p:sp>
                </p:grpSp>
              </p:grpSp>
            </p:grpSp>
          </p:grpSp>
          <p:graphicFrame>
            <p:nvGraphicFramePr>
              <p:cNvPr id="49185" name="Object 61"/>
              <p:cNvGraphicFramePr>
                <a:graphicFrameLocks noChangeAspect="1"/>
              </p:cNvGraphicFramePr>
              <p:nvPr>
                <p:extLst>
                  <p:ext uri="{D42A27DB-BD31-4B8C-83A1-F6EECF244321}">
                    <p14:modId xmlns:p14="http://schemas.microsoft.com/office/powerpoint/2010/main" val="4154734291"/>
                  </p:ext>
                </p:extLst>
              </p:nvPr>
            </p:nvGraphicFramePr>
            <p:xfrm>
              <a:off x="4138462" y="3651870"/>
              <a:ext cx="776587" cy="648081"/>
            </p:xfrm>
            <a:graphic>
              <a:graphicData uri="http://schemas.openxmlformats.org/presentationml/2006/ole">
                <mc:AlternateContent xmlns:mc="http://schemas.openxmlformats.org/markup-compatibility/2006">
                  <mc:Choice xmlns:v="urn:schemas-microsoft-com:vml" Requires="v">
                    <p:oleObj r:id="rId16" imgW="477520" imgH="387350" progId="Equation.DSMT4">
                      <p:embed/>
                    </p:oleObj>
                  </mc:Choice>
                  <mc:Fallback>
                    <p:oleObj r:id="rId16" imgW="477520" imgH="387350" progId="Equation.DSMT4">
                      <p:embed/>
                      <p:pic>
                        <p:nvPicPr>
                          <p:cNvPr id="0" name="图片 3129"/>
                          <p:cNvPicPr/>
                          <p:nvPr/>
                        </p:nvPicPr>
                        <p:blipFill>
                          <a:blip r:embed="rId17"/>
                          <a:stretch>
                            <a:fillRect/>
                          </a:stretch>
                        </p:blipFill>
                        <p:spPr>
                          <a:xfrm>
                            <a:off x="4138462" y="3651870"/>
                            <a:ext cx="776587" cy="648081"/>
                          </a:xfrm>
                          <a:prstGeom prst="rect">
                            <a:avLst/>
                          </a:prstGeom>
                          <a:noFill/>
                          <a:ln w="38100">
                            <a:noFill/>
                            <a:miter/>
                          </a:ln>
                        </p:spPr>
                      </p:pic>
                    </p:oleObj>
                  </mc:Fallback>
                </mc:AlternateContent>
              </a:graphicData>
            </a:graphic>
          </p:graphicFrame>
        </p:grpSp>
        <p:graphicFrame>
          <p:nvGraphicFramePr>
            <p:cNvPr id="49186" name="Object 52"/>
            <p:cNvGraphicFramePr>
              <a:graphicFrameLocks noChangeAspect="1"/>
            </p:cNvGraphicFramePr>
            <p:nvPr>
              <p:extLst>
                <p:ext uri="{D42A27DB-BD31-4B8C-83A1-F6EECF244321}">
                  <p14:modId xmlns:p14="http://schemas.microsoft.com/office/powerpoint/2010/main" val="3658379099"/>
                </p:ext>
              </p:extLst>
            </p:nvPr>
          </p:nvGraphicFramePr>
          <p:xfrm>
            <a:off x="1547664" y="3363838"/>
            <a:ext cx="431824" cy="431806"/>
          </p:xfrm>
          <a:graphic>
            <a:graphicData uri="http://schemas.openxmlformats.org/presentationml/2006/ole">
              <mc:AlternateContent xmlns:mc="http://schemas.openxmlformats.org/markup-compatibility/2006">
                <mc:Choice xmlns:v="urn:schemas-microsoft-com:vml" Requires="v">
                  <p:oleObj r:id="rId18" imgW="251460" imgH="251460" progId="Equation.DSMT4">
                    <p:embed/>
                  </p:oleObj>
                </mc:Choice>
                <mc:Fallback>
                  <p:oleObj r:id="rId18" imgW="251460" imgH="251460" progId="Equation.DSMT4">
                    <p:embed/>
                    <p:pic>
                      <p:nvPicPr>
                        <p:cNvPr id="0" name="图片 3130"/>
                        <p:cNvPicPr/>
                        <p:nvPr/>
                      </p:nvPicPr>
                      <p:blipFill>
                        <a:blip r:embed="rId4"/>
                        <a:stretch>
                          <a:fillRect/>
                        </a:stretch>
                      </p:blipFill>
                      <p:spPr>
                        <a:xfrm>
                          <a:off x="1547664" y="3363838"/>
                          <a:ext cx="431824" cy="431806"/>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4" name="Rectangle 44"/>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5" name="Group 51"/>
          <p:cNvGrpSpPr/>
          <p:nvPr/>
        </p:nvGrpSpPr>
        <p:grpSpPr>
          <a:xfrm>
            <a:off x="468313" y="3724270"/>
            <a:ext cx="8362950" cy="954087"/>
            <a:chOff x="503" y="2808"/>
            <a:chExt cx="5268" cy="801"/>
          </a:xfrm>
        </p:grpSpPr>
        <p:sp>
          <p:nvSpPr>
            <p:cNvPr id="50179" name="Text Box 33"/>
            <p:cNvSpPr txBox="1"/>
            <p:nvPr/>
          </p:nvSpPr>
          <p:spPr>
            <a:xfrm>
              <a:off x="503" y="2808"/>
              <a:ext cx="5268" cy="801"/>
            </a:xfrm>
            <a:prstGeom prst="rect">
              <a:avLst/>
            </a:prstGeom>
            <a:solidFill>
              <a:srgbClr val="008080"/>
            </a:solidFill>
            <a:ln w="12700">
              <a:noFill/>
            </a:ln>
            <a:effectLst>
              <a:prstShdw prst="shdw17" dist="17961" dir="13499999">
                <a:srgbClr val="004D4D"/>
              </a:prstShdw>
            </a:effectLst>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  </a:t>
              </a:r>
              <a:r>
                <a:rPr lang="zh-CN" altLang="en-US" dirty="0">
                  <a:solidFill>
                    <a:srgbClr val="FF99FF"/>
                  </a:solidFill>
                  <a:latin typeface="Times New Roman" panose="02020603050405020304" pitchFamily="18" charset="0"/>
                  <a:ea typeface="幼圆" pitchFamily="49" charset="-122"/>
                </a:rPr>
                <a:t>     </a:t>
              </a:r>
              <a:r>
                <a:rPr lang="zh-CN" altLang="en-US" dirty="0">
                  <a:solidFill>
                    <a:schemeClr val="bg1">
                      <a:lumMod val="95000"/>
                    </a:schemeClr>
                  </a:solidFill>
                  <a:latin typeface="Times New Roman" panose="02020603050405020304" pitchFamily="18" charset="0"/>
                  <a:ea typeface="幼圆" pitchFamily="49" charset="-122"/>
                </a:rPr>
                <a:t>计算结果表明，二元弱酸溶液中酸根离子浓度</a:t>
              </a:r>
              <a:r>
                <a:rPr lang="en-US" altLang="zh-CN" i="1" dirty="0">
                  <a:solidFill>
                    <a:schemeClr val="bg1">
                      <a:lumMod val="95000"/>
                    </a:schemeClr>
                  </a:solidFill>
                  <a:latin typeface="Times New Roman" panose="02020603050405020304" pitchFamily="18" charset="0"/>
                  <a:ea typeface="幼圆" pitchFamily="49" charset="-122"/>
                </a:rPr>
                <a:t>c</a:t>
              </a:r>
              <a:r>
                <a:rPr lang="en-US" altLang="zh-CN" dirty="0">
                  <a:solidFill>
                    <a:schemeClr val="bg1">
                      <a:lumMod val="95000"/>
                    </a:schemeClr>
                  </a:solidFill>
                  <a:latin typeface="Times New Roman" panose="02020603050405020304" pitchFamily="18" charset="0"/>
                  <a:ea typeface="幼圆" pitchFamily="49" charset="-122"/>
                </a:rPr>
                <a:t>(S</a:t>
              </a:r>
              <a:r>
                <a:rPr lang="en-US" altLang="zh-CN" baseline="30000" dirty="0">
                  <a:solidFill>
                    <a:schemeClr val="bg1">
                      <a:lumMod val="95000"/>
                    </a:schemeClr>
                  </a:solidFill>
                  <a:latin typeface="Times New Roman" panose="02020603050405020304" pitchFamily="18" charset="0"/>
                  <a:ea typeface="幼圆" pitchFamily="49" charset="-122"/>
                </a:rPr>
                <a:t>2-</a:t>
              </a:r>
              <a:r>
                <a:rPr lang="en-US" altLang="zh-CN" dirty="0">
                  <a:solidFill>
                    <a:schemeClr val="bg1">
                      <a:lumMod val="95000"/>
                    </a:schemeClr>
                  </a:solidFill>
                  <a:latin typeface="Times New Roman" panose="02020603050405020304" pitchFamily="18" charset="0"/>
                  <a:ea typeface="幼圆" pitchFamily="49" charset="-122"/>
                </a:rPr>
                <a:t>)</a:t>
              </a:r>
              <a:r>
                <a:rPr lang="zh-CN" altLang="en-US" dirty="0">
                  <a:solidFill>
                    <a:schemeClr val="bg1">
                      <a:lumMod val="95000"/>
                    </a:schemeClr>
                  </a:solidFill>
                  <a:latin typeface="Times New Roman" panose="02020603050405020304" pitchFamily="18" charset="0"/>
                  <a:ea typeface="幼圆" pitchFamily="49" charset="-122"/>
                </a:rPr>
                <a:t>近似等于       ，与弱酸的浓度关系不大。</a:t>
              </a:r>
            </a:p>
          </p:txBody>
        </p:sp>
        <p:graphicFrame>
          <p:nvGraphicFramePr>
            <p:cNvPr id="50180" name="Object 43"/>
            <p:cNvGraphicFramePr>
              <a:graphicFrameLocks noChangeAspect="1"/>
            </p:cNvGraphicFramePr>
            <p:nvPr/>
          </p:nvGraphicFramePr>
          <p:xfrm>
            <a:off x="1954" y="3176"/>
            <a:ext cx="363" cy="348"/>
          </p:xfrm>
          <a:graphic>
            <a:graphicData uri="http://schemas.openxmlformats.org/presentationml/2006/ole">
              <mc:AlternateContent xmlns:mc="http://schemas.openxmlformats.org/markup-compatibility/2006">
                <mc:Choice xmlns:v="urn:schemas-microsoft-com:vml" Requires="v">
                  <p:oleObj r:id="rId2" imgW="236220" imgH="222885" progId="Equation.KSEE3">
                    <p:embed/>
                  </p:oleObj>
                </mc:Choice>
                <mc:Fallback>
                  <p:oleObj r:id="rId2" imgW="236220" imgH="222885" progId="Equation.KSEE3">
                    <p:embed/>
                    <p:pic>
                      <p:nvPicPr>
                        <p:cNvPr id="0" name="图片 3131"/>
                        <p:cNvPicPr/>
                        <p:nvPr/>
                      </p:nvPicPr>
                      <p:blipFill>
                        <a:blip r:embed="rId3"/>
                        <a:stretch>
                          <a:fillRect/>
                        </a:stretch>
                      </p:blipFill>
                      <p:spPr>
                        <a:xfrm>
                          <a:off x="1954" y="3176"/>
                          <a:ext cx="363" cy="348"/>
                        </a:xfrm>
                        <a:prstGeom prst="rect">
                          <a:avLst/>
                        </a:prstGeom>
                        <a:noFill/>
                        <a:ln w="38100">
                          <a:noFill/>
                          <a:miter/>
                        </a:ln>
                      </p:spPr>
                    </p:pic>
                  </p:oleObj>
                </mc:Fallback>
              </mc:AlternateContent>
            </a:graphicData>
          </a:graphic>
        </p:graphicFrame>
      </p:grpSp>
      <p:sp>
        <p:nvSpPr>
          <p:cNvPr id="50181" name="矩形 1"/>
          <p:cNvSpPr/>
          <p:nvPr/>
        </p:nvSpPr>
        <p:spPr>
          <a:xfrm>
            <a:off x="403225" y="195266"/>
            <a:ext cx="5130800" cy="1508105"/>
          </a:xfrm>
          <a:prstGeom prst="rect">
            <a:avLst/>
          </a:prstGeom>
          <a:noFill/>
          <a:ln w="9525">
            <a:noFill/>
          </a:ln>
        </p:spPr>
        <p:txBody>
          <a:bodyPr anchor="t" anchorCtr="0">
            <a:spAutoFit/>
          </a:bodyPr>
          <a:lstStyle/>
          <a:p>
            <a:r>
              <a:rPr lang="pt-BR" altLang="zh-CN" dirty="0">
                <a:latin typeface="Times New Roman" panose="02020603050405020304" pitchFamily="18" charset="0"/>
                <a:ea typeface="宋体" panose="02010600030101010101" pitchFamily="2" charset="-122"/>
              </a:rPr>
              <a:t> </a:t>
            </a:r>
            <a:r>
              <a:rPr lang="pt-BR" altLang="zh-CN" sz="2400" i="1" dirty="0">
                <a:latin typeface="Times New Roman" panose="02020603050405020304" pitchFamily="18" charset="0"/>
                <a:ea typeface="宋体" panose="02010600030101010101" pitchFamily="2" charset="-122"/>
              </a:rPr>
              <a:t>c</a:t>
            </a:r>
            <a:r>
              <a:rPr lang="pt-BR" altLang="zh-CN" sz="2400" dirty="0">
                <a:latin typeface="Times New Roman" panose="02020603050405020304" pitchFamily="18" charset="0"/>
                <a:ea typeface="宋体" panose="02010600030101010101" pitchFamily="2" charset="-122"/>
              </a:rPr>
              <a:t>(S</a:t>
            </a:r>
            <a:r>
              <a:rPr lang="pt-BR" altLang="zh-CN" sz="2400" baseline="30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 </a:t>
            </a:r>
            <a:r>
              <a:rPr lang="zh-CN" altLang="pt-BR" sz="2400" dirty="0">
                <a:latin typeface="Times New Roman" panose="02020603050405020304" pitchFamily="18" charset="0"/>
                <a:ea typeface="宋体" panose="02010600030101010101" pitchFamily="2" charset="-122"/>
              </a:rPr>
              <a:t>可根据二级解离平衡计算</a:t>
            </a:r>
            <a:endParaRPr lang="zh-CN" altLang="en-US" sz="2400" i="1"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                          </a:t>
            </a:r>
          </a:p>
          <a:p>
            <a:r>
              <a:rPr lang="zh-CN" altLang="en-US" sz="2400" b="0" dirty="0">
                <a:latin typeface="Arial" panose="020B0604020202020204" pitchFamily="34"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t>
            </a:r>
            <a:r>
              <a:rPr lang="en-US" altLang="zh-CN" sz="3600" b="0" dirty="0">
                <a:latin typeface="Arial" panose="020B0604020202020204" pitchFamily="34" charset="0"/>
                <a:ea typeface="宋体" panose="02010600030101010101" pitchFamily="2" charset="-122"/>
              </a:rPr>
              <a:t> </a:t>
            </a:r>
            <a:endParaRPr lang="zh-CN" altLang="en-US" dirty="0">
              <a:latin typeface="Times New Roman" panose="02020603050405020304" pitchFamily="18" charset="0"/>
              <a:ea typeface="幼圆" pitchFamily="49" charset="-122"/>
            </a:endParaRPr>
          </a:p>
        </p:txBody>
      </p:sp>
      <p:graphicFrame>
        <p:nvGraphicFramePr>
          <p:cNvPr id="50182" name="Object 65"/>
          <p:cNvGraphicFramePr>
            <a:graphicFrameLocks noChangeAspect="1"/>
          </p:cNvGraphicFramePr>
          <p:nvPr/>
        </p:nvGraphicFramePr>
        <p:xfrm>
          <a:off x="3203575" y="625475"/>
          <a:ext cx="2592388" cy="647700"/>
        </p:xfrm>
        <a:graphic>
          <a:graphicData uri="http://schemas.openxmlformats.org/presentationml/2006/ole">
            <mc:AlternateContent xmlns:mc="http://schemas.openxmlformats.org/markup-compatibility/2006">
              <mc:Choice xmlns:v="urn:schemas-microsoft-com:vml" Requires="v">
                <p:oleObj r:id="rId4" imgW="1386205" imgH="423545" progId="Equation.KSEE3">
                  <p:embed/>
                </p:oleObj>
              </mc:Choice>
              <mc:Fallback>
                <p:oleObj r:id="rId4" imgW="1386205" imgH="423545" progId="Equation.KSEE3">
                  <p:embed/>
                  <p:pic>
                    <p:nvPicPr>
                      <p:cNvPr id="0" name="图片 3132"/>
                      <p:cNvPicPr/>
                      <p:nvPr/>
                    </p:nvPicPr>
                    <p:blipFill>
                      <a:blip r:embed="rId5"/>
                      <a:stretch>
                        <a:fillRect/>
                      </a:stretch>
                    </p:blipFill>
                    <p:spPr>
                      <a:xfrm>
                        <a:off x="3203575" y="625475"/>
                        <a:ext cx="2592388" cy="647700"/>
                      </a:xfrm>
                      <a:prstGeom prst="rect">
                        <a:avLst/>
                      </a:prstGeom>
                      <a:noFill/>
                      <a:ln w="38100">
                        <a:noFill/>
                        <a:miter/>
                      </a:ln>
                    </p:spPr>
                  </p:pic>
                </p:oleObj>
              </mc:Fallback>
            </mc:AlternateContent>
          </a:graphicData>
        </a:graphic>
      </p:graphicFrame>
      <p:graphicFrame>
        <p:nvGraphicFramePr>
          <p:cNvPr id="50183" name="Object 67"/>
          <p:cNvGraphicFramePr>
            <a:graphicFrameLocks noChangeAspect="1"/>
          </p:cNvGraphicFramePr>
          <p:nvPr/>
        </p:nvGraphicFramePr>
        <p:xfrm>
          <a:off x="3563938" y="1131891"/>
          <a:ext cx="1873250" cy="719137"/>
        </p:xfrm>
        <a:graphic>
          <a:graphicData uri="http://schemas.openxmlformats.org/presentationml/2006/ole">
            <mc:AlternateContent xmlns:mc="http://schemas.openxmlformats.org/markup-compatibility/2006">
              <mc:Choice xmlns:v="urn:schemas-microsoft-com:vml" Requires="v">
                <p:oleObj r:id="rId6" imgW="973455" imgH="422275" progId="Equation.KSEE3">
                  <p:embed/>
                </p:oleObj>
              </mc:Choice>
              <mc:Fallback>
                <p:oleObj r:id="rId6" imgW="973455" imgH="422275" progId="Equation.KSEE3">
                  <p:embed/>
                  <p:pic>
                    <p:nvPicPr>
                      <p:cNvPr id="0" name="图片 3133"/>
                      <p:cNvPicPr/>
                      <p:nvPr/>
                    </p:nvPicPr>
                    <p:blipFill>
                      <a:blip r:embed="rId7"/>
                      <a:stretch>
                        <a:fillRect/>
                      </a:stretch>
                    </p:blipFill>
                    <p:spPr>
                      <a:xfrm>
                        <a:off x="3563938" y="1131891"/>
                        <a:ext cx="1873250" cy="719137"/>
                      </a:xfrm>
                      <a:prstGeom prst="rect">
                        <a:avLst/>
                      </a:prstGeom>
                      <a:noFill/>
                      <a:ln w="38100">
                        <a:noFill/>
                        <a:miter/>
                      </a:ln>
                    </p:spPr>
                  </p:pic>
                </p:oleObj>
              </mc:Fallback>
            </mc:AlternateContent>
          </a:graphicData>
        </a:graphic>
      </p:graphicFrame>
      <p:pic>
        <p:nvPicPr>
          <p:cNvPr id="104450" name="Picture 2"/>
          <p:cNvPicPr>
            <a:picLocks noChangeAspect="1"/>
          </p:cNvPicPr>
          <p:nvPr/>
        </p:nvPicPr>
        <p:blipFill>
          <a:blip r:embed="rId8"/>
          <a:srcRect b="15744"/>
          <a:stretch>
            <a:fillRect/>
          </a:stretch>
        </p:blipFill>
        <p:spPr>
          <a:xfrm>
            <a:off x="468313" y="1857378"/>
            <a:ext cx="8616950" cy="17875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wipe(left)">
                                      <p:cBhvr>
                                        <p:cTn id="7" dur="500"/>
                                        <p:tgtEl>
                                          <p:spTgt spid="10445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10" name="Text Box 26"/>
          <p:cNvSpPr txBox="1"/>
          <p:nvPr/>
        </p:nvSpPr>
        <p:spPr>
          <a:xfrm>
            <a:off x="106998" y="3723961"/>
            <a:ext cx="8964612" cy="1384995"/>
          </a:xfrm>
          <a:prstGeom prst="rect">
            <a:avLst/>
          </a:prstGeom>
          <a:solidFill>
            <a:srgbClr val="003300"/>
          </a:solidFill>
          <a:ln w="12700">
            <a:noFill/>
          </a:ln>
          <a:effectLst>
            <a:prstShdw prst="shdw17" dist="17961" dir="13499999">
              <a:srgbClr val="001F00"/>
            </a:prstShdw>
          </a:effectLst>
        </p:spPr>
        <p:txBody>
          <a:bodyPr anchor="t" anchorCtr="0">
            <a:spAutoFit/>
          </a:bodyPr>
          <a:lstStyle/>
          <a:p>
            <a:pPr>
              <a:spcBef>
                <a:spcPct val="50000"/>
              </a:spcBef>
              <a:buClrTx/>
              <a:buFontTx/>
            </a:pPr>
            <a:r>
              <a:rPr lang="zh-CN" altLang="en-US" dirty="0">
                <a:latin typeface="幼圆" pitchFamily="49" charset="-122"/>
                <a:ea typeface="幼圆" pitchFamily="49" charset="-122"/>
              </a:rPr>
              <a:t>    </a:t>
            </a:r>
            <a:r>
              <a:rPr lang="zh-CN" altLang="en-US" dirty="0">
                <a:solidFill>
                  <a:srgbClr val="FFCCFF"/>
                </a:solidFill>
                <a:latin typeface="幼圆" pitchFamily="49" charset="-122"/>
                <a:ea typeface="幼圆" pitchFamily="49" charset="-122"/>
              </a:rPr>
              <a:t>这种在弱电解质溶液中加入含有相同离子的易溶强电解质，使弱电解质解离度降低的现象，称为同离子效应。</a:t>
            </a:r>
            <a:endParaRPr lang="en-US" altLang="zh-CN" dirty="0">
              <a:solidFill>
                <a:srgbClr val="FFCCFF"/>
              </a:solidFill>
              <a:latin typeface="幼圆" pitchFamily="49" charset="-122"/>
              <a:ea typeface="幼圆" pitchFamily="49" charset="-122"/>
            </a:endParaRPr>
          </a:p>
        </p:txBody>
      </p:sp>
      <p:grpSp>
        <p:nvGrpSpPr>
          <p:cNvPr id="2" name="Group 30"/>
          <p:cNvGrpSpPr/>
          <p:nvPr/>
        </p:nvGrpSpPr>
        <p:grpSpPr>
          <a:xfrm>
            <a:off x="251460" y="741683"/>
            <a:ext cx="8369068" cy="2926265"/>
            <a:chOff x="295" y="631"/>
            <a:chExt cx="4736" cy="2369"/>
          </a:xfrm>
        </p:grpSpPr>
        <p:sp>
          <p:nvSpPr>
            <p:cNvPr id="51203" name="Text Box 21"/>
            <p:cNvSpPr txBox="1"/>
            <p:nvPr/>
          </p:nvSpPr>
          <p:spPr>
            <a:xfrm>
              <a:off x="295" y="631"/>
              <a:ext cx="1586" cy="473"/>
            </a:xfrm>
            <a:prstGeom prst="rect">
              <a:avLst/>
            </a:prstGeom>
            <a:solidFill>
              <a:srgbClr val="B2B2FF"/>
            </a:solidFill>
            <a:ln w="9525">
              <a:noFill/>
            </a:ln>
            <a:effectLst>
              <a:prstShdw prst="shdw17" dist="17961" dir="13499999">
                <a:srgbClr val="5C5C99"/>
              </a:prstShdw>
            </a:effectLst>
          </p:spPr>
          <p:txBody>
            <a:bodyPr wrap="square" anchor="t" anchorCtr="0">
              <a:spAutoFit/>
            </a:bodyPr>
            <a:lstStyle/>
            <a:p>
              <a:pPr>
                <a:buClrTx/>
                <a:buFontTx/>
              </a:pPr>
              <a:r>
                <a:rPr lang="en-US" altLang="zh-CN" sz="3200" dirty="0">
                  <a:solidFill>
                    <a:schemeClr val="tx1"/>
                  </a:solidFill>
                  <a:latin typeface="华文新魏" pitchFamily="2" charset="-122"/>
                  <a:ea typeface="华文新魏" pitchFamily="2" charset="-122"/>
                </a:rPr>
                <a:t>1.</a:t>
              </a:r>
              <a:r>
                <a:rPr lang="zh-CN" altLang="en-US" sz="3200" dirty="0">
                  <a:solidFill>
                    <a:schemeClr val="tx1"/>
                  </a:solidFill>
                  <a:latin typeface="华文新魏" pitchFamily="2" charset="-122"/>
                  <a:ea typeface="华文新魏" pitchFamily="2" charset="-122"/>
                </a:rPr>
                <a:t>同离子效应</a:t>
              </a:r>
            </a:p>
          </p:txBody>
        </p:sp>
        <p:grpSp>
          <p:nvGrpSpPr>
            <p:cNvPr id="51204" name="Group 29"/>
            <p:cNvGrpSpPr/>
            <p:nvPr/>
          </p:nvGrpSpPr>
          <p:grpSpPr>
            <a:xfrm>
              <a:off x="976" y="1102"/>
              <a:ext cx="2914" cy="479"/>
              <a:chOff x="976" y="1102"/>
              <a:chExt cx="2914" cy="479"/>
            </a:xfrm>
          </p:grpSpPr>
          <p:sp>
            <p:nvSpPr>
              <p:cNvPr id="42007" name="Rectangle 23"/>
              <p:cNvSpPr>
                <a:spLocks noChangeArrowheads="1"/>
              </p:cNvSpPr>
              <p:nvPr/>
            </p:nvSpPr>
            <p:spPr bwMode="auto">
              <a:xfrm>
                <a:off x="976" y="1102"/>
                <a:ext cx="952" cy="424"/>
              </a:xfrm>
              <a:prstGeom prst="rect">
                <a:avLst/>
              </a:prstGeom>
              <a:noFill/>
              <a:ln>
                <a:noFill/>
              </a:ln>
              <a:effectLst>
                <a:prstShdw prst="shdw18" dist="17961" dir="13500000">
                  <a:schemeClr val="accent1">
                    <a:gamma/>
                    <a:shade val="60000"/>
                    <a:invGamma/>
                  </a:schemeClr>
                </a:prstShdw>
              </a:effec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pt-BR" altLang="zh-CN"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HAc(aq)</a:t>
                </a:r>
                <a:endParaRPr kumimoji="0" lang="pt-BR" altLang="zh-CN" sz="2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51206" name="Object 22"/>
              <p:cNvGraphicFramePr>
                <a:graphicFrameLocks noChangeAspect="1"/>
              </p:cNvGraphicFramePr>
              <p:nvPr/>
            </p:nvGraphicFramePr>
            <p:xfrm>
              <a:off x="1871" y="1437"/>
              <a:ext cx="318" cy="106"/>
            </p:xfrm>
            <a:graphic>
              <a:graphicData uri="http://schemas.openxmlformats.org/presentationml/2006/ole">
                <mc:AlternateContent xmlns:mc="http://schemas.openxmlformats.org/markup-compatibility/2006">
                  <mc:Choice xmlns:v="urn:schemas-microsoft-com:vml" Requires="v">
                    <p:oleObj r:id="rId2" imgW="676275" imgH="171450" progId="Equation.DSMT4">
                      <p:embed/>
                    </p:oleObj>
                  </mc:Choice>
                  <mc:Fallback>
                    <p:oleObj r:id="rId2" imgW="676275" imgH="171450" progId="Equation.DSMT4">
                      <p:embed/>
                      <p:pic>
                        <p:nvPicPr>
                          <p:cNvPr id="0" name="图片 3134"/>
                          <p:cNvPicPr/>
                          <p:nvPr/>
                        </p:nvPicPr>
                        <p:blipFill>
                          <a:blip r:embed="rId3"/>
                          <a:stretch>
                            <a:fillRect/>
                          </a:stretch>
                        </p:blipFill>
                        <p:spPr>
                          <a:xfrm>
                            <a:off x="1871" y="1437"/>
                            <a:ext cx="318" cy="106"/>
                          </a:xfrm>
                          <a:prstGeom prst="rect">
                            <a:avLst/>
                          </a:prstGeom>
                          <a:noFill/>
                          <a:ln w="38100">
                            <a:noFill/>
                            <a:miter/>
                          </a:ln>
                        </p:spPr>
                      </p:pic>
                    </p:oleObj>
                  </mc:Fallback>
                </mc:AlternateContent>
              </a:graphicData>
            </a:graphic>
          </p:graphicFrame>
          <p:sp>
            <p:nvSpPr>
              <p:cNvPr id="42008" name="Rectangle 24"/>
              <p:cNvSpPr>
                <a:spLocks noChangeArrowheads="1"/>
              </p:cNvSpPr>
              <p:nvPr/>
            </p:nvSpPr>
            <p:spPr bwMode="auto">
              <a:xfrm>
                <a:off x="2292" y="1157"/>
                <a:ext cx="1598" cy="424"/>
              </a:xfrm>
              <a:prstGeom prst="rect">
                <a:avLst/>
              </a:prstGeom>
              <a:noFill/>
              <a:ln>
                <a:noFill/>
              </a:ln>
              <a:effectLst>
                <a:prstShdw prst="shdw18" dist="17961" dir="13500000">
                  <a:schemeClr val="accent1">
                    <a:gamma/>
                    <a:shade val="60000"/>
                    <a:invGamma/>
                  </a:schemeClr>
                </a:prstShdw>
              </a:effectLst>
            </p:spPr>
            <p:txBody>
              <a:bodyPr wrap="square"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pt-BR" altLang="zh-CN"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H</a:t>
                </a:r>
                <a:r>
                  <a:rPr kumimoji="0" lang="pt-BR" altLang="zh-CN" sz="2800" b="0" i="0" u="none" strike="noStrike" kern="1200" cap="none" spc="0" normalizeH="0" baseline="3000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(aq)+Ac</a:t>
                </a:r>
                <a:r>
                  <a:rPr kumimoji="0" lang="pt-BR" altLang="zh-CN" sz="2800" b="0" i="0" u="none" strike="noStrike" kern="1200" cap="none" spc="0" normalizeH="0" baseline="3000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pt-BR" altLang="zh-CN"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(aq)</a:t>
                </a:r>
                <a:r>
                  <a:rPr kumimoji="0" lang="pt-BR" altLang="zh-CN" sz="2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 </a:t>
                </a:r>
              </a:p>
            </p:txBody>
          </p:sp>
        </p:grpSp>
        <p:sp>
          <p:nvSpPr>
            <p:cNvPr id="51208" name="Text Box 27"/>
            <p:cNvSpPr txBox="1"/>
            <p:nvPr/>
          </p:nvSpPr>
          <p:spPr>
            <a:xfrm>
              <a:off x="449" y="1530"/>
              <a:ext cx="4582" cy="1470"/>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       在弱电解质</a:t>
              </a:r>
              <a:r>
                <a:rPr lang="en-US" altLang="zh-CN" dirty="0">
                  <a:latin typeface="Times New Roman" panose="02020603050405020304" pitchFamily="18" charset="0"/>
                  <a:ea typeface="幼圆" pitchFamily="49" charset="-122"/>
                </a:rPr>
                <a:t>HAc</a:t>
              </a:r>
              <a:r>
                <a:rPr lang="zh-CN" altLang="en-US" dirty="0">
                  <a:latin typeface="Times New Roman" panose="02020603050405020304" pitchFamily="18" charset="0"/>
                  <a:ea typeface="幼圆" pitchFamily="49" charset="-122"/>
                </a:rPr>
                <a:t>溶液中，加入易溶的强电解质</a:t>
              </a:r>
              <a:r>
                <a:rPr lang="en-US" altLang="zh-CN" dirty="0">
                  <a:latin typeface="Times New Roman" panose="02020603050405020304" pitchFamily="18" charset="0"/>
                  <a:ea typeface="幼圆" pitchFamily="49" charset="-122"/>
                </a:rPr>
                <a:t>NaAc</a:t>
              </a:r>
              <a:r>
                <a:rPr lang="zh-CN" altLang="en-US" dirty="0">
                  <a:latin typeface="Times New Roman" panose="02020603050405020304" pitchFamily="18" charset="0"/>
                  <a:ea typeface="幼圆" pitchFamily="49" charset="-122"/>
                </a:rPr>
                <a:t>，由于</a:t>
              </a:r>
              <a:r>
                <a:rPr lang="en-US" altLang="zh-CN" dirty="0">
                  <a:latin typeface="Times New Roman" panose="02020603050405020304" pitchFamily="18" charset="0"/>
                  <a:ea typeface="幼圆" pitchFamily="49" charset="-122"/>
                </a:rPr>
                <a:t>NaAc</a:t>
              </a:r>
              <a:r>
                <a:rPr lang="zh-CN" altLang="en-US" dirty="0">
                  <a:latin typeface="Times New Roman" panose="02020603050405020304" pitchFamily="18" charset="0"/>
                  <a:ea typeface="幼圆" pitchFamily="49" charset="-122"/>
                </a:rPr>
                <a:t>全部解离，产生</a:t>
              </a:r>
              <a:r>
                <a:rPr lang="en-US" altLang="zh-CN" dirty="0">
                  <a:latin typeface="Times New Roman" panose="02020603050405020304" pitchFamily="18" charset="0"/>
                  <a:ea typeface="幼圆" pitchFamily="49" charset="-122"/>
                </a:rPr>
                <a:t>Na</a:t>
              </a:r>
              <a:r>
                <a:rPr lang="en-US" altLang="zh-CN" baseline="30000" dirty="0">
                  <a:latin typeface="Times New Roman" panose="02020603050405020304" pitchFamily="18" charset="0"/>
                  <a:ea typeface="幼圆" pitchFamily="49" charset="-122"/>
                </a:rPr>
                <a:t>+</a:t>
              </a:r>
              <a:r>
                <a:rPr lang="zh-CN" altLang="en-US" dirty="0">
                  <a:latin typeface="Times New Roman" panose="02020603050405020304" pitchFamily="18" charset="0"/>
                  <a:ea typeface="幼圆" pitchFamily="49" charset="-122"/>
                </a:rPr>
                <a:t>和</a:t>
              </a:r>
              <a:r>
                <a:rPr lang="en-US" altLang="zh-CN" dirty="0">
                  <a:latin typeface="Times New Roman" panose="02020603050405020304" pitchFamily="18" charset="0"/>
                  <a:ea typeface="幼圆" pitchFamily="49" charset="-122"/>
                </a:rPr>
                <a:t>Ac</a:t>
              </a:r>
              <a:r>
                <a:rPr lang="en-US" altLang="zh-CN" baseline="30000" dirty="0">
                  <a:latin typeface="Times New Roman" panose="02020603050405020304" pitchFamily="18" charset="0"/>
                  <a:ea typeface="幼圆" pitchFamily="49" charset="-122"/>
                </a:rPr>
                <a:t>-</a:t>
              </a:r>
              <a:r>
                <a:rPr lang="zh-CN" altLang="en-US" dirty="0">
                  <a:latin typeface="Times New Roman" panose="02020603050405020304" pitchFamily="18" charset="0"/>
                  <a:ea typeface="幼圆" pitchFamily="49" charset="-122"/>
                </a:rPr>
                <a:t>，使溶液中的</a:t>
              </a:r>
              <a:r>
                <a:rPr lang="en-US" altLang="zh-CN" dirty="0">
                  <a:latin typeface="Times New Roman" panose="02020603050405020304" pitchFamily="18" charset="0"/>
                  <a:ea typeface="幼圆" pitchFamily="49" charset="-122"/>
                </a:rPr>
                <a:t>Ac</a:t>
              </a:r>
              <a:r>
                <a:rPr lang="en-US" altLang="zh-CN" baseline="30000" dirty="0">
                  <a:latin typeface="Times New Roman" panose="02020603050405020304" pitchFamily="18" charset="0"/>
                  <a:ea typeface="幼圆" pitchFamily="49" charset="-122"/>
                </a:rPr>
                <a:t>-</a:t>
              </a:r>
              <a:r>
                <a:rPr lang="zh-CN" altLang="en-US" dirty="0">
                  <a:latin typeface="Times New Roman" panose="02020603050405020304" pitchFamily="18" charset="0"/>
                  <a:ea typeface="幼圆" pitchFamily="49" charset="-122"/>
                </a:rPr>
                <a:t>增多，从而使</a:t>
              </a:r>
              <a:r>
                <a:rPr lang="en-US" altLang="zh-CN" dirty="0">
                  <a:latin typeface="Times New Roman" panose="02020603050405020304" pitchFamily="18" charset="0"/>
                  <a:ea typeface="幼圆" pitchFamily="49" charset="-122"/>
                </a:rPr>
                <a:t>HAc</a:t>
              </a:r>
              <a:r>
                <a:rPr lang="zh-CN" altLang="en-US" dirty="0">
                  <a:latin typeface="Times New Roman" panose="02020603050405020304" pitchFamily="18" charset="0"/>
                  <a:ea typeface="幼圆" pitchFamily="49" charset="-122"/>
                </a:rPr>
                <a:t>的解离平衡向左移动，</a:t>
              </a:r>
              <a:r>
                <a:rPr lang="en-US" altLang="zh-CN" dirty="0">
                  <a:latin typeface="Times New Roman" panose="02020603050405020304" pitchFamily="18" charset="0"/>
                  <a:ea typeface="幼圆" pitchFamily="49" charset="-122"/>
                </a:rPr>
                <a:t>HAc</a:t>
              </a:r>
              <a:r>
                <a:rPr lang="zh-CN" altLang="en-US" dirty="0">
                  <a:latin typeface="Times New Roman" panose="02020603050405020304" pitchFamily="18" charset="0"/>
                  <a:ea typeface="幼圆" pitchFamily="49" charset="-122"/>
                </a:rPr>
                <a:t>的解离度降低。 </a:t>
              </a:r>
            </a:p>
          </p:txBody>
        </p:sp>
      </p:grpSp>
      <p:sp>
        <p:nvSpPr>
          <p:cNvPr id="12" name="Rectangle 27"/>
          <p:cNvSpPr/>
          <p:nvPr/>
        </p:nvSpPr>
        <p:spPr>
          <a:xfrm>
            <a:off x="-36830" y="-315"/>
            <a:ext cx="6427788" cy="584775"/>
          </a:xfrm>
          <a:prstGeom prst="rect">
            <a:avLst/>
          </a:prstGeom>
          <a:solidFill>
            <a:srgbClr val="FFFF00">
              <a:alpha val="69019"/>
            </a:srgbClr>
          </a:solidFill>
          <a:ln w="9525">
            <a:noFill/>
          </a:ln>
        </p:spPr>
        <p:txBody>
          <a:bodyPr anchor="t" anchorCtr="0">
            <a:spAutoFit/>
          </a:bodyPr>
          <a:lstStyle/>
          <a:p>
            <a:pPr>
              <a:spcBef>
                <a:spcPts val="600"/>
              </a:spcBef>
              <a:spcAft>
                <a:spcPts val="600"/>
              </a:spcAft>
              <a:buClr>
                <a:schemeClr val="bg2"/>
              </a:buClr>
              <a:buSzPct val="75000"/>
              <a:buFont typeface="Wingdings" panose="05000000000000000000" pitchFamily="2" charset="2"/>
            </a:pPr>
            <a:r>
              <a:rPr lang="en-US" altLang="zh-CN" sz="3200" dirty="0">
                <a:latin typeface="华文新魏" pitchFamily="2" charset="-122"/>
                <a:ea typeface="华文新魏" pitchFamily="2" charset="-122"/>
              </a:rPr>
              <a:t>3.3.3 </a:t>
            </a:r>
            <a:r>
              <a:rPr lang="zh-CN" altLang="en-US" sz="3200" dirty="0">
                <a:latin typeface="华文新魏" pitchFamily="2" charset="-122"/>
                <a:ea typeface="华文新魏" pitchFamily="2" charset="-122"/>
              </a:rPr>
              <a:t>同离子效应和缓冲溶液</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42010"/>
                                        </p:tgtEl>
                                        <p:attrNameLst>
                                          <p:attrName>style.visibility</p:attrName>
                                        </p:attrNameLst>
                                      </p:cBhvr>
                                      <p:to>
                                        <p:strVal val="visible"/>
                                      </p:to>
                                    </p:set>
                                    <p:animEffect transition="in" filter="blinds(horizontal)">
                                      <p:cBhvr>
                                        <p:cTn id="19" dur="500"/>
                                        <p:tgtEl>
                                          <p:spTgt spid="42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0" grpId="0" bldLvl="0" animBg="1"/>
      <p:bldP spid="12"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ext Box 5"/>
          <p:cNvSpPr txBox="1"/>
          <p:nvPr/>
        </p:nvSpPr>
        <p:spPr>
          <a:xfrm>
            <a:off x="34925" y="141290"/>
            <a:ext cx="8858250" cy="830997"/>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例</a:t>
            </a:r>
            <a:r>
              <a:rPr lang="en-US" altLang="zh-CN" sz="2400" dirty="0">
                <a:latin typeface="Times New Roman" panose="02020603050405020304" pitchFamily="18" charset="0"/>
                <a:ea typeface="宋体" panose="02010600030101010101" pitchFamily="2" charset="-122"/>
              </a:rPr>
              <a:t>3.4]   </a:t>
            </a:r>
            <a:r>
              <a:rPr lang="zh-CN" altLang="en-US" sz="2400" dirty="0">
                <a:latin typeface="Times New Roman" panose="02020603050405020304" pitchFamily="18" charset="0"/>
                <a:ea typeface="宋体" panose="02010600030101010101" pitchFamily="2" charset="-122"/>
              </a:rPr>
              <a:t>在</a:t>
            </a:r>
            <a:r>
              <a:rPr lang="en-US" altLang="zh-CN" sz="2400" dirty="0">
                <a:latin typeface="Times New Roman" panose="02020603050405020304" pitchFamily="18" charset="0"/>
                <a:ea typeface="宋体" panose="02010600030101010101" pitchFamily="2" charset="-122"/>
              </a:rPr>
              <a:t>0.100 mol·L</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HAc</a:t>
            </a:r>
            <a:r>
              <a:rPr lang="zh-CN" altLang="en-US" sz="2400" dirty="0">
                <a:latin typeface="Times New Roman" panose="02020603050405020304" pitchFamily="18" charset="0"/>
                <a:ea typeface="宋体" panose="02010600030101010101" pitchFamily="2" charset="-122"/>
              </a:rPr>
              <a:t>溶液中，加入</a:t>
            </a:r>
            <a:r>
              <a:rPr lang="en-US" altLang="zh-CN" sz="2400" dirty="0">
                <a:latin typeface="Times New Roman" panose="02020603050405020304" pitchFamily="18" charset="0"/>
                <a:ea typeface="宋体" panose="02010600030101010101" pitchFamily="2" charset="-122"/>
              </a:rPr>
              <a:t>NaAc</a:t>
            </a:r>
            <a:r>
              <a:rPr lang="zh-CN" altLang="en-US" sz="2400" dirty="0">
                <a:latin typeface="Times New Roman" panose="02020603050405020304" pitchFamily="18" charset="0"/>
                <a:ea typeface="宋体" panose="02010600030101010101" pitchFamily="2" charset="-122"/>
              </a:rPr>
              <a:t>固体，使其溶解后的浓度为</a:t>
            </a:r>
            <a:r>
              <a:rPr lang="en-US" altLang="zh-CN" sz="2400" dirty="0">
                <a:latin typeface="Times New Roman" panose="02020603050405020304" pitchFamily="18" charset="0"/>
                <a:ea typeface="宋体" panose="02010600030101010101" pitchFamily="2" charset="-122"/>
              </a:rPr>
              <a:t>0.100 mol·L</a:t>
            </a:r>
            <a:r>
              <a:rPr lang="en-US" altLang="zh-CN" sz="2400" baseline="300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，求混合溶液中</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和</a:t>
            </a:r>
            <a:r>
              <a:rPr lang="en-US" altLang="zh-CN" sz="2400" dirty="0">
                <a:latin typeface="Times New Roman" panose="02020603050405020304" pitchFamily="18" charset="0"/>
                <a:ea typeface="宋体" panose="02010600030101010101" pitchFamily="2" charset="-122"/>
              </a:rPr>
              <a:t>HAc</a:t>
            </a:r>
            <a:r>
              <a:rPr lang="zh-CN" altLang="en-US" sz="2400" dirty="0">
                <a:latin typeface="Times New Roman" panose="02020603050405020304" pitchFamily="18" charset="0"/>
                <a:ea typeface="宋体" panose="02010600030101010101" pitchFamily="2" charset="-122"/>
              </a:rPr>
              <a:t>的解离度。</a:t>
            </a:r>
          </a:p>
        </p:txBody>
      </p:sp>
      <p:sp>
        <p:nvSpPr>
          <p:cNvPr id="6152" name="Rectangle 8"/>
          <p:cNvSpPr>
            <a:spLocks noChangeArrowheads="1"/>
          </p:cNvSpPr>
          <p:nvPr/>
        </p:nvSpPr>
        <p:spPr bwMode="auto">
          <a:xfrm>
            <a:off x="5" y="214186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6154" name="Rectangle 10"/>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6167" name="Rectangle 23"/>
          <p:cNvSpPr>
            <a:spLocks noChangeArrowheads="1"/>
          </p:cNvSpPr>
          <p:nvPr/>
        </p:nvSpPr>
        <p:spPr bwMode="auto">
          <a:xfrm>
            <a:off x="5" y="217837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6169" name="Rectangle 25"/>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52230" name="Rectangle 27"/>
          <p:cNvSpPr/>
          <p:nvPr/>
        </p:nvSpPr>
        <p:spPr>
          <a:xfrm>
            <a:off x="107956" y="107950"/>
            <a:ext cx="8856663" cy="788988"/>
          </a:xfrm>
          <a:prstGeom prst="rect">
            <a:avLst/>
          </a:prstGeom>
          <a:noFill/>
          <a:ln w="38100" cap="flat" cmpd="sng">
            <a:solidFill>
              <a:srgbClr val="9900CC"/>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6174" name="Rectangle 30"/>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52232" name="Text Box 38"/>
          <p:cNvSpPr txBox="1"/>
          <p:nvPr/>
        </p:nvSpPr>
        <p:spPr>
          <a:xfrm>
            <a:off x="58738" y="1058864"/>
            <a:ext cx="9085262" cy="1938992"/>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   解</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由于</a:t>
            </a:r>
            <a:r>
              <a:rPr lang="en-US" altLang="zh-CN" sz="2400" dirty="0">
                <a:latin typeface="Times New Roman" panose="02020603050405020304" pitchFamily="18" charset="0"/>
                <a:ea typeface="宋体" panose="02010600030101010101" pitchFamily="2" charset="-122"/>
              </a:rPr>
              <a:t>NaAc</a:t>
            </a:r>
            <a:r>
              <a:rPr lang="zh-CN" altLang="en-US" sz="2400" dirty="0">
                <a:latin typeface="Times New Roman" panose="02020603050405020304" pitchFamily="18" charset="0"/>
                <a:ea typeface="宋体" panose="02010600030101010101" pitchFamily="2" charset="-122"/>
              </a:rPr>
              <a:t>为强电解质，在溶液中完全解离，则其解离出的</a:t>
            </a:r>
            <a:r>
              <a:rPr lang="en-US" altLang="zh-CN" sz="2400" dirty="0">
                <a:latin typeface="Times New Roman" panose="02020603050405020304" pitchFamily="18" charset="0"/>
                <a:ea typeface="宋体" panose="02010600030101010101" pitchFamily="2" charset="-122"/>
              </a:rPr>
              <a:t>Ac</a:t>
            </a:r>
            <a:r>
              <a:rPr lang="en-US" altLang="zh-CN" sz="2400" baseline="300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浓度为</a:t>
            </a:r>
            <a:r>
              <a:rPr lang="en-US" altLang="zh-CN" sz="2400" dirty="0">
                <a:latin typeface="Times New Roman" panose="02020603050405020304" pitchFamily="18" charset="0"/>
                <a:ea typeface="宋体" panose="02010600030101010101" pitchFamily="2" charset="-122"/>
              </a:rPr>
              <a:t>0.100mol·L</a:t>
            </a:r>
            <a:r>
              <a:rPr lang="en-US" altLang="zh-CN" sz="2400" baseline="300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。设平衡时</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，则</a:t>
            </a:r>
          </a:p>
          <a:p>
            <a:pPr>
              <a:buClrTx/>
              <a:buFontTx/>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HAc(aq)        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(aq) +Ac</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(aq)                                                                                                        </a:t>
            </a:r>
          </a:p>
          <a:p>
            <a:pPr>
              <a:buClrTx/>
              <a:buFontTx/>
            </a:pPr>
            <a:r>
              <a:rPr lang="zh-CN" altLang="en-US" sz="2400" dirty="0">
                <a:latin typeface="Times New Roman" panose="02020603050405020304" pitchFamily="18" charset="0"/>
                <a:ea typeface="宋体" panose="02010600030101010101" pitchFamily="2" charset="-122"/>
              </a:rPr>
              <a:t>初始浓度</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0.100              0        0.100</a:t>
            </a:r>
          </a:p>
          <a:p>
            <a:pPr>
              <a:buClrTx/>
              <a:buFontTx/>
            </a:pPr>
            <a:r>
              <a:rPr lang="zh-CN" altLang="en-US" sz="2400" dirty="0">
                <a:latin typeface="Times New Roman" panose="02020603050405020304" pitchFamily="18" charset="0"/>
                <a:ea typeface="宋体" panose="02010600030101010101" pitchFamily="2" charset="-122"/>
              </a:rPr>
              <a:t>平衡浓度</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0.100-</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      0.100+</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a:t>
            </a:r>
            <a:endParaRPr lang="zh-CN" altLang="en-US" sz="3200" b="0" dirty="0">
              <a:latin typeface="Arial" panose="020B0604020202020204" pitchFamily="34" charset="0"/>
              <a:ea typeface="宋体" panose="02010600030101010101" pitchFamily="2" charset="-122"/>
            </a:endParaRPr>
          </a:p>
        </p:txBody>
      </p:sp>
      <p:graphicFrame>
        <p:nvGraphicFramePr>
          <p:cNvPr id="21507" name="Object 39"/>
          <p:cNvGraphicFramePr>
            <a:graphicFrameLocks noChangeAspect="1"/>
          </p:cNvGraphicFramePr>
          <p:nvPr/>
        </p:nvGraphicFramePr>
        <p:xfrm>
          <a:off x="3068638" y="3003550"/>
          <a:ext cx="3065462" cy="647700"/>
        </p:xfrm>
        <a:graphic>
          <a:graphicData uri="http://schemas.openxmlformats.org/presentationml/2006/ole">
            <mc:AlternateContent xmlns:mc="http://schemas.openxmlformats.org/markup-compatibility/2006">
              <mc:Choice xmlns:v="urn:schemas-microsoft-com:vml" Requires="v">
                <p:oleObj r:id="rId3" imgW="1579245" imgH="445770" progId="Equation.DSMT4">
                  <p:embed/>
                </p:oleObj>
              </mc:Choice>
              <mc:Fallback>
                <p:oleObj r:id="rId3" imgW="1579245" imgH="445770" progId="Equation.DSMT4">
                  <p:embed/>
                  <p:pic>
                    <p:nvPicPr>
                      <p:cNvPr id="0" name="图片 3135"/>
                      <p:cNvPicPr/>
                      <p:nvPr/>
                    </p:nvPicPr>
                    <p:blipFill>
                      <a:blip r:embed="rId4"/>
                      <a:stretch>
                        <a:fillRect/>
                      </a:stretch>
                    </p:blipFill>
                    <p:spPr>
                      <a:xfrm>
                        <a:off x="3068638" y="3003550"/>
                        <a:ext cx="3065462" cy="647700"/>
                      </a:xfrm>
                      <a:prstGeom prst="rect">
                        <a:avLst/>
                      </a:prstGeom>
                      <a:solidFill>
                        <a:schemeClr val="accent1"/>
                      </a:solidFill>
                      <a:ln w="38100">
                        <a:noFill/>
                        <a:miter/>
                      </a:ln>
                    </p:spPr>
                  </p:pic>
                </p:oleObj>
              </mc:Fallback>
            </mc:AlternateContent>
          </a:graphicData>
        </a:graphic>
      </p:graphicFrame>
      <p:graphicFrame>
        <p:nvGraphicFramePr>
          <p:cNvPr id="5" name="对象 4"/>
          <p:cNvGraphicFramePr>
            <a:graphicFrameLocks noChangeAspect="1"/>
          </p:cNvGraphicFramePr>
          <p:nvPr/>
        </p:nvGraphicFramePr>
        <p:xfrm>
          <a:off x="2836234" y="3655698"/>
          <a:ext cx="3482975" cy="606425"/>
        </p:xfrm>
        <a:graphic>
          <a:graphicData uri="http://schemas.openxmlformats.org/presentationml/2006/ole">
            <mc:AlternateContent xmlns:mc="http://schemas.openxmlformats.org/markup-compatibility/2006">
              <mc:Choice xmlns:v="urn:schemas-microsoft-com:vml" Requires="v">
                <p:oleObj r:id="rId5" imgW="1536065" imgH="393700" progId="Equation.DSMT4">
                  <p:embed/>
                </p:oleObj>
              </mc:Choice>
              <mc:Fallback>
                <p:oleObj r:id="rId5" imgW="1536065" imgH="393700" progId="Equation.DSMT4">
                  <p:embed/>
                  <p:pic>
                    <p:nvPicPr>
                      <p:cNvPr id="0" name="图片 3136"/>
                      <p:cNvPicPr/>
                      <p:nvPr/>
                    </p:nvPicPr>
                    <p:blipFill>
                      <a:blip r:embed="rId6"/>
                      <a:stretch>
                        <a:fillRect/>
                      </a:stretch>
                    </p:blipFill>
                    <p:spPr>
                      <a:xfrm>
                        <a:off x="2836234" y="3655698"/>
                        <a:ext cx="3482975" cy="606425"/>
                      </a:xfrm>
                      <a:prstGeom prst="rect">
                        <a:avLst/>
                      </a:prstGeom>
                      <a:noFill/>
                      <a:ln w="38100">
                        <a:noFill/>
                        <a:miter/>
                      </a:ln>
                    </p:spPr>
                  </p:pic>
                </p:oleObj>
              </mc:Fallback>
            </mc:AlternateContent>
          </a:graphicData>
        </a:graphic>
      </p:graphicFrame>
      <p:grpSp>
        <p:nvGrpSpPr>
          <p:cNvPr id="7" name="组合 6"/>
          <p:cNvGrpSpPr/>
          <p:nvPr/>
        </p:nvGrpSpPr>
        <p:grpSpPr>
          <a:xfrm>
            <a:off x="19056" y="4084007"/>
            <a:ext cx="9117013" cy="942425"/>
            <a:chOff x="19571" y="4083283"/>
            <a:chExt cx="9116693" cy="942883"/>
          </a:xfrm>
        </p:grpSpPr>
        <p:sp>
          <p:nvSpPr>
            <p:cNvPr id="52236" name="矩形 5"/>
            <p:cNvSpPr/>
            <p:nvPr/>
          </p:nvSpPr>
          <p:spPr>
            <a:xfrm>
              <a:off x="19571" y="4194765"/>
              <a:ext cx="9116693" cy="831401"/>
            </a:xfrm>
            <a:prstGeom prst="rect">
              <a:avLst/>
            </a:prstGeom>
            <a:noFill/>
            <a:ln w="9525">
              <a:noFill/>
            </a:ln>
          </p:spPr>
          <p:txBody>
            <a:bodyPr anchor="t" anchorCtr="0">
              <a:spAutoFit/>
            </a:bodyPr>
            <a:lstStyle/>
            <a:p>
              <a:r>
                <a:rPr lang="zh-CN" altLang="en-US" sz="2400" dirty="0">
                  <a:latin typeface="Times New Roman" panose="02020603050405020304" pitchFamily="18" charset="0"/>
                  <a:ea typeface="宋体" panose="02010600030101010101" pitchFamily="2" charset="-122"/>
                </a:rPr>
                <a:t>因为</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                  ≥500</a:t>
              </a:r>
              <a:r>
                <a:rPr lang="zh-CN" altLang="en-US" sz="2400" dirty="0">
                  <a:latin typeface="Times New Roman" panose="02020603050405020304" pitchFamily="18" charset="0"/>
                  <a:ea typeface="宋体" panose="02010600030101010101" pitchFamily="2" charset="-122"/>
                </a:rPr>
                <a:t>，再加上</a:t>
              </a:r>
              <a:r>
                <a:rPr lang="en-US" altLang="zh-CN" sz="2400" dirty="0">
                  <a:latin typeface="Times New Roman" panose="02020603050405020304" pitchFamily="18" charset="0"/>
                  <a:ea typeface="宋体" panose="02010600030101010101" pitchFamily="2" charset="-122"/>
                </a:rPr>
                <a:t>NaAc</a:t>
              </a:r>
              <a:r>
                <a:rPr lang="zh-CN" altLang="en-US" sz="2400" dirty="0">
                  <a:latin typeface="Times New Roman" panose="02020603050405020304" pitchFamily="18" charset="0"/>
                  <a:ea typeface="宋体" panose="02010600030101010101" pitchFamily="2" charset="-122"/>
                </a:rPr>
                <a:t>的加入，大大抑制了</a:t>
              </a:r>
              <a:r>
                <a:rPr lang="en-US" altLang="zh-CN" sz="2400" dirty="0">
                  <a:latin typeface="Times New Roman" panose="02020603050405020304" pitchFamily="18" charset="0"/>
                  <a:ea typeface="宋体" panose="02010600030101010101" pitchFamily="2" charset="-122"/>
                </a:rPr>
                <a:t>HAc</a:t>
              </a:r>
              <a:r>
                <a:rPr lang="zh-CN" altLang="en-US" sz="2400" dirty="0">
                  <a:latin typeface="Times New Roman" panose="02020603050405020304" pitchFamily="18" charset="0"/>
                  <a:ea typeface="宋体" panose="02010600030101010101" pitchFamily="2" charset="-122"/>
                </a:rPr>
                <a:t>的解离，使得</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«0.100</a:t>
              </a:r>
              <a:r>
                <a:rPr lang="zh-CN" altLang="en-US" sz="2400" dirty="0">
                  <a:latin typeface="Times New Roman" panose="02020603050405020304" pitchFamily="18" charset="0"/>
                  <a:ea typeface="宋体" panose="02010600030101010101" pitchFamily="2" charset="-122"/>
                </a:rPr>
                <a:t>，从而</a:t>
              </a:r>
              <a:r>
                <a:rPr lang="en-US" altLang="zh-CN" sz="2400" dirty="0">
                  <a:latin typeface="Times New Roman" panose="02020603050405020304" pitchFamily="18" charset="0"/>
                  <a:ea typeface="宋体" panose="02010600030101010101" pitchFamily="2" charset="-122"/>
                </a:rPr>
                <a:t>0.100+ </a:t>
              </a:r>
              <a:r>
                <a:rPr lang="en-US" altLang="zh-CN" sz="2400" i="1" dirty="0">
                  <a:latin typeface="Times New Roman" panose="02020603050405020304" pitchFamily="18" charset="0"/>
                  <a:ea typeface="宋体" panose="02010600030101010101" pitchFamily="2" charset="-122"/>
                </a:rPr>
                <a:t>x </a:t>
              </a:r>
              <a:r>
                <a:rPr lang="en-US" altLang="zh-CN" sz="2400" dirty="0">
                  <a:latin typeface="Times New Roman" panose="02020603050405020304" pitchFamily="18" charset="0"/>
                  <a:ea typeface="宋体" panose="02010600030101010101" pitchFamily="2" charset="-122"/>
                </a:rPr>
                <a:t>≈0.100</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0.100-</a:t>
              </a:r>
              <a:r>
                <a:rPr lang="en-US" altLang="zh-CN" sz="2400" i="1" dirty="0">
                  <a:latin typeface="Times New Roman" panose="02020603050405020304" pitchFamily="18" charset="0"/>
                  <a:ea typeface="宋体" panose="02010600030101010101" pitchFamily="2" charset="-122"/>
                </a:rPr>
                <a:t>x </a:t>
              </a:r>
              <a:r>
                <a:rPr lang="en-US" altLang="zh-CN" sz="2400" dirty="0">
                  <a:latin typeface="Times New Roman" panose="02020603050405020304" pitchFamily="18" charset="0"/>
                  <a:ea typeface="宋体" panose="02010600030101010101" pitchFamily="2" charset="-122"/>
                </a:rPr>
                <a:t>≈ 0.100 </a:t>
              </a:r>
            </a:p>
          </p:txBody>
        </p:sp>
        <p:graphicFrame>
          <p:nvGraphicFramePr>
            <p:cNvPr id="52237" name="Object 41"/>
            <p:cNvGraphicFramePr>
              <a:graphicFrameLocks noChangeAspect="1"/>
            </p:cNvGraphicFramePr>
            <p:nvPr/>
          </p:nvGraphicFramePr>
          <p:xfrm>
            <a:off x="899592" y="4083283"/>
            <a:ext cx="1410457" cy="606147"/>
          </p:xfrm>
          <a:graphic>
            <a:graphicData uri="http://schemas.openxmlformats.org/presentationml/2006/ole">
              <mc:AlternateContent xmlns:mc="http://schemas.openxmlformats.org/markup-compatibility/2006">
                <mc:Choice xmlns:v="urn:schemas-microsoft-com:vml" Requires="v">
                  <p:oleObj r:id="rId7" imgW="857885" imgH="358140" progId="Equation.DSMT4">
                    <p:embed/>
                  </p:oleObj>
                </mc:Choice>
                <mc:Fallback>
                  <p:oleObj r:id="rId7" imgW="857885" imgH="358140" progId="Equation.DSMT4">
                    <p:embed/>
                    <p:pic>
                      <p:nvPicPr>
                        <p:cNvPr id="0" name="图片 3137"/>
                        <p:cNvPicPr/>
                        <p:nvPr/>
                      </p:nvPicPr>
                      <p:blipFill>
                        <a:blip r:embed="rId8"/>
                        <a:stretch>
                          <a:fillRect/>
                        </a:stretch>
                      </p:blipFill>
                      <p:spPr>
                        <a:xfrm>
                          <a:off x="899592" y="4083283"/>
                          <a:ext cx="1410457" cy="606147"/>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wipe(left)">
                                      <p:cBhvr>
                                        <p:cTn id="7" dur="500"/>
                                        <p:tgtEl>
                                          <p:spTgt spid="215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ext Box 5"/>
          <p:cNvSpPr txBox="1"/>
          <p:nvPr/>
        </p:nvSpPr>
        <p:spPr>
          <a:xfrm>
            <a:off x="34925" y="141290"/>
            <a:ext cx="8858250" cy="830997"/>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例</a:t>
            </a:r>
            <a:r>
              <a:rPr lang="en-US" altLang="zh-CN" sz="2400" dirty="0">
                <a:latin typeface="Times New Roman" panose="02020603050405020304" pitchFamily="18" charset="0"/>
                <a:ea typeface="宋体" panose="02010600030101010101" pitchFamily="2" charset="-122"/>
              </a:rPr>
              <a:t>3.4]   </a:t>
            </a:r>
            <a:r>
              <a:rPr lang="zh-CN" altLang="en-US" sz="2400" dirty="0">
                <a:latin typeface="Times New Roman" panose="02020603050405020304" pitchFamily="18" charset="0"/>
                <a:ea typeface="宋体" panose="02010600030101010101" pitchFamily="2" charset="-122"/>
              </a:rPr>
              <a:t>在</a:t>
            </a:r>
            <a:r>
              <a:rPr lang="en-US" altLang="zh-CN" sz="2400" dirty="0">
                <a:latin typeface="Times New Roman" panose="02020603050405020304" pitchFamily="18" charset="0"/>
                <a:ea typeface="宋体" panose="02010600030101010101" pitchFamily="2" charset="-122"/>
              </a:rPr>
              <a:t>0.100 mol·L</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HAc</a:t>
            </a:r>
            <a:r>
              <a:rPr lang="zh-CN" altLang="en-US" sz="2400" dirty="0">
                <a:latin typeface="Times New Roman" panose="02020603050405020304" pitchFamily="18" charset="0"/>
                <a:ea typeface="宋体" panose="02010600030101010101" pitchFamily="2" charset="-122"/>
              </a:rPr>
              <a:t>溶液中，加入</a:t>
            </a:r>
            <a:r>
              <a:rPr lang="en-US" altLang="zh-CN" sz="2400" dirty="0">
                <a:latin typeface="Times New Roman" panose="02020603050405020304" pitchFamily="18" charset="0"/>
                <a:ea typeface="宋体" panose="02010600030101010101" pitchFamily="2" charset="-122"/>
              </a:rPr>
              <a:t>NaAc</a:t>
            </a:r>
            <a:r>
              <a:rPr lang="zh-CN" altLang="en-US" sz="2400" dirty="0">
                <a:latin typeface="Times New Roman" panose="02020603050405020304" pitchFamily="18" charset="0"/>
                <a:ea typeface="宋体" panose="02010600030101010101" pitchFamily="2" charset="-122"/>
              </a:rPr>
              <a:t>固体，使其溶解后的浓度为</a:t>
            </a:r>
            <a:r>
              <a:rPr lang="en-US" altLang="zh-CN" sz="2400" dirty="0">
                <a:latin typeface="Times New Roman" panose="02020603050405020304" pitchFamily="18" charset="0"/>
                <a:ea typeface="宋体" panose="02010600030101010101" pitchFamily="2" charset="-122"/>
              </a:rPr>
              <a:t>0.100 mol·L</a:t>
            </a:r>
            <a:r>
              <a:rPr lang="en-US" altLang="zh-CN" sz="2400" baseline="300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，求混合溶液中</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(H</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和</a:t>
            </a:r>
            <a:r>
              <a:rPr lang="en-US" altLang="zh-CN" sz="2400" dirty="0">
                <a:latin typeface="Times New Roman" panose="02020603050405020304" pitchFamily="18" charset="0"/>
                <a:ea typeface="宋体" panose="02010600030101010101" pitchFamily="2" charset="-122"/>
              </a:rPr>
              <a:t>HAc</a:t>
            </a:r>
            <a:r>
              <a:rPr lang="zh-CN" altLang="en-US" sz="2400" dirty="0">
                <a:latin typeface="Times New Roman" panose="02020603050405020304" pitchFamily="18" charset="0"/>
                <a:ea typeface="宋体" panose="02010600030101010101" pitchFamily="2" charset="-122"/>
              </a:rPr>
              <a:t>的解离度。</a:t>
            </a:r>
          </a:p>
        </p:txBody>
      </p:sp>
      <p:sp>
        <p:nvSpPr>
          <p:cNvPr id="6152" name="Rectangle 8"/>
          <p:cNvSpPr>
            <a:spLocks noChangeArrowheads="1"/>
          </p:cNvSpPr>
          <p:nvPr/>
        </p:nvSpPr>
        <p:spPr bwMode="auto">
          <a:xfrm>
            <a:off x="5" y="214186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6154" name="Rectangle 10"/>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6167" name="Rectangle 23"/>
          <p:cNvSpPr>
            <a:spLocks noChangeArrowheads="1"/>
          </p:cNvSpPr>
          <p:nvPr/>
        </p:nvSpPr>
        <p:spPr bwMode="auto">
          <a:xfrm>
            <a:off x="5" y="217837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6169" name="Rectangle 25"/>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54278" name="Rectangle 27"/>
          <p:cNvSpPr/>
          <p:nvPr/>
        </p:nvSpPr>
        <p:spPr>
          <a:xfrm>
            <a:off x="107956" y="107950"/>
            <a:ext cx="8640763" cy="788988"/>
          </a:xfrm>
          <a:prstGeom prst="rect">
            <a:avLst/>
          </a:prstGeom>
          <a:noFill/>
          <a:ln w="38100" cap="flat" cmpd="sng">
            <a:solidFill>
              <a:srgbClr val="9900CC"/>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6174" name="Rectangle 30"/>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2" name="Group 37"/>
          <p:cNvGrpSpPr/>
          <p:nvPr/>
        </p:nvGrpSpPr>
        <p:grpSpPr>
          <a:xfrm>
            <a:off x="220669" y="1071566"/>
            <a:ext cx="8675687" cy="1093787"/>
            <a:chOff x="68" y="890"/>
            <a:chExt cx="5465" cy="918"/>
          </a:xfrm>
        </p:grpSpPr>
        <p:sp>
          <p:nvSpPr>
            <p:cNvPr id="54281" name="Text Box 38"/>
            <p:cNvSpPr txBox="1"/>
            <p:nvPr/>
          </p:nvSpPr>
          <p:spPr>
            <a:xfrm>
              <a:off x="68" y="890"/>
              <a:ext cx="5465" cy="904"/>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所以</a:t>
              </a:r>
              <a:r>
                <a:rPr lang="zh-CN" altLang="pt-BR" sz="2400" dirty="0">
                  <a:latin typeface="Times New Roman" panose="02020603050405020304" pitchFamily="18" charset="0"/>
                  <a:ea typeface="宋体" panose="02010600030101010101" pitchFamily="2" charset="-122"/>
                </a:rPr>
                <a:t> </a:t>
              </a:r>
              <a:r>
                <a:rPr lang="pt-BR" altLang="zh-CN" sz="2400" i="1" dirty="0">
                  <a:latin typeface="Times New Roman" panose="02020603050405020304" pitchFamily="18" charset="0"/>
                  <a:ea typeface="宋体" panose="02010600030101010101" pitchFamily="2" charset="-122"/>
                </a:rPr>
                <a:t>x=</a:t>
              </a:r>
              <a:r>
                <a:rPr lang="pt-BR" altLang="zh-CN" sz="2400" dirty="0">
                  <a:latin typeface="Times New Roman" panose="02020603050405020304" pitchFamily="18" charset="0"/>
                  <a:ea typeface="宋体" panose="02010600030101010101" pitchFamily="2" charset="-122"/>
                </a:rPr>
                <a:t>1.8×10</a:t>
              </a:r>
              <a:r>
                <a:rPr lang="pt-BR" altLang="zh-CN" sz="2400" baseline="30000" dirty="0">
                  <a:latin typeface="Times New Roman" panose="02020603050405020304" pitchFamily="18" charset="0"/>
                  <a:ea typeface="宋体" panose="02010600030101010101" pitchFamily="2" charset="-122"/>
                </a:rPr>
                <a:t>-5</a:t>
              </a:r>
              <a:r>
                <a:rPr lang="pt-BR" altLang="zh-CN" sz="2400" dirty="0">
                  <a:latin typeface="Times New Roman" panose="02020603050405020304" pitchFamily="18" charset="0"/>
                  <a:ea typeface="宋体" panose="02010600030101010101" pitchFamily="2" charset="-122"/>
                </a:rPr>
                <a:t>mol·L</a:t>
              </a:r>
              <a:r>
                <a:rPr lang="pt-BR" altLang="zh-CN" sz="2400" baseline="30000" dirty="0">
                  <a:latin typeface="Times New Roman" panose="02020603050405020304" pitchFamily="18" charset="0"/>
                  <a:ea typeface="宋体" panose="02010600030101010101" pitchFamily="2" charset="-122"/>
                </a:rPr>
                <a:t>-1</a:t>
              </a:r>
              <a:r>
                <a:rPr lang="pt-BR" altLang="zh-CN" sz="2400" dirty="0">
                  <a:latin typeface="Times New Roman" panose="02020603050405020304" pitchFamily="18" charset="0"/>
                  <a:ea typeface="宋体" panose="02010600030101010101" pitchFamily="2" charset="-122"/>
                </a:rPr>
                <a:t>   </a:t>
              </a:r>
              <a:r>
                <a:rPr lang="pt-BR" altLang="zh-CN" sz="2400" i="1" dirty="0">
                  <a:latin typeface="Times New Roman" panose="02020603050405020304" pitchFamily="18" charset="0"/>
                  <a:ea typeface="宋体" panose="02010600030101010101" pitchFamily="2" charset="-122"/>
                </a:rPr>
                <a:t>c</a:t>
              </a:r>
              <a:r>
                <a:rPr lang="pt-BR" altLang="zh-CN" sz="2400" dirty="0">
                  <a:latin typeface="Times New Roman" panose="02020603050405020304" pitchFamily="18" charset="0"/>
                  <a:ea typeface="宋体" panose="02010600030101010101" pitchFamily="2" charset="-122"/>
                </a:rPr>
                <a:t>(H</a:t>
              </a:r>
              <a:r>
                <a:rPr lang="pt-BR" altLang="zh-CN" sz="2400" baseline="300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 = 1.8×10</a:t>
              </a:r>
              <a:r>
                <a:rPr lang="pt-BR" altLang="zh-CN" sz="2400" baseline="30000" dirty="0">
                  <a:latin typeface="Times New Roman" panose="02020603050405020304" pitchFamily="18" charset="0"/>
                  <a:ea typeface="宋体" panose="02010600030101010101" pitchFamily="2" charset="-122"/>
                </a:rPr>
                <a:t>-5</a:t>
              </a:r>
              <a:r>
                <a:rPr lang="pt-BR" altLang="zh-CN" sz="2400" dirty="0">
                  <a:latin typeface="Times New Roman" panose="02020603050405020304" pitchFamily="18" charset="0"/>
                  <a:ea typeface="宋体" panose="02010600030101010101" pitchFamily="2" charset="-122"/>
                </a:rPr>
                <a:t>mol</a:t>
              </a:r>
              <a:r>
                <a:rPr lang="en-US" altLang="zh-CN" sz="20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L</a:t>
              </a:r>
              <a:r>
                <a:rPr lang="pt-BR" altLang="zh-CN" sz="2400" baseline="30000" dirty="0">
                  <a:latin typeface="Times New Roman" panose="02020603050405020304" pitchFamily="18" charset="0"/>
                  <a:ea typeface="宋体" panose="02010600030101010101" pitchFamily="2" charset="-122"/>
                </a:rPr>
                <a:t>-1</a:t>
              </a:r>
              <a:r>
                <a:rPr lang="pt-BR" altLang="zh-CN" sz="3200" b="0" dirty="0">
                  <a:latin typeface="Arial" panose="020B0604020202020204" pitchFamily="34" charset="0"/>
                  <a:ea typeface="宋体" panose="02010600030101010101" pitchFamily="2" charset="-122"/>
                </a:rPr>
                <a:t> </a:t>
              </a:r>
            </a:p>
            <a:p>
              <a:pPr>
                <a:buClrTx/>
                <a:buFontTx/>
              </a:pPr>
              <a:r>
                <a:rPr lang="en-US" altLang="zh-CN" sz="2400" b="0" i="1" dirty="0">
                  <a:latin typeface="Times New Roman" panose="02020603050405020304" pitchFamily="18" charset="0"/>
                  <a:ea typeface="宋体" panose="02010600030101010101" pitchFamily="2" charset="-122"/>
                </a:rPr>
                <a:t>    α</a:t>
              </a:r>
              <a:r>
                <a:rPr lang="en-US" altLang="zh-CN" sz="2400" b="0" baseline="-25000" dirty="0">
                  <a:latin typeface="Times New Roman" panose="02020603050405020304" pitchFamily="18" charset="0"/>
                  <a:ea typeface="宋体" panose="02010600030101010101" pitchFamily="2" charset="-122"/>
                </a:rPr>
                <a:t>2</a:t>
              </a:r>
              <a:r>
                <a:rPr lang="en-US" altLang="zh-CN" sz="2400" b="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1.8×10</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a:t>
              </a:r>
              <a:r>
                <a:rPr lang="en-US" altLang="zh-CN" sz="3200" b="0" dirty="0">
                  <a:latin typeface="Arial" panose="020B0604020202020204" pitchFamily="34" charset="0"/>
                  <a:ea typeface="宋体" panose="02010600030101010101" pitchFamily="2" charset="-122"/>
                </a:rPr>
                <a:t> </a:t>
              </a:r>
              <a:endParaRPr lang="zh-CN" altLang="en-US" sz="3200" b="0" dirty="0">
                <a:latin typeface="Arial" panose="020B0604020202020204" pitchFamily="34" charset="0"/>
                <a:ea typeface="宋体" panose="02010600030101010101" pitchFamily="2" charset="-122"/>
              </a:endParaRPr>
            </a:p>
          </p:txBody>
        </p:sp>
        <p:graphicFrame>
          <p:nvGraphicFramePr>
            <p:cNvPr id="54282" name="Object 42"/>
            <p:cNvGraphicFramePr>
              <a:graphicFrameLocks noChangeAspect="1"/>
            </p:cNvGraphicFramePr>
            <p:nvPr/>
          </p:nvGraphicFramePr>
          <p:xfrm>
            <a:off x="646" y="1355"/>
            <a:ext cx="1950" cy="453"/>
          </p:xfrm>
          <a:graphic>
            <a:graphicData uri="http://schemas.openxmlformats.org/presentationml/2006/ole">
              <mc:AlternateContent xmlns:mc="http://schemas.openxmlformats.org/markup-compatibility/2006">
                <mc:Choice xmlns:v="urn:schemas-microsoft-com:vml" Requires="v">
                  <p:oleObj r:id="rId2" imgW="1753235" imgH="381000" progId="Equation.KSEE3">
                    <p:embed/>
                  </p:oleObj>
                </mc:Choice>
                <mc:Fallback>
                  <p:oleObj r:id="rId2" imgW="1753235" imgH="381000" progId="Equation.KSEE3">
                    <p:embed/>
                    <p:pic>
                      <p:nvPicPr>
                        <p:cNvPr id="0" name="图片 3138"/>
                        <p:cNvPicPr/>
                        <p:nvPr/>
                      </p:nvPicPr>
                      <p:blipFill>
                        <a:blip r:embed="rId3"/>
                        <a:stretch>
                          <a:fillRect/>
                        </a:stretch>
                      </p:blipFill>
                      <p:spPr>
                        <a:xfrm>
                          <a:off x="646" y="1355"/>
                          <a:ext cx="1950" cy="453"/>
                        </a:xfrm>
                        <a:prstGeom prst="rect">
                          <a:avLst/>
                        </a:prstGeom>
                        <a:noFill/>
                        <a:ln w="38100">
                          <a:noFill/>
                          <a:miter/>
                        </a:ln>
                      </p:spPr>
                    </p:pic>
                  </p:oleObj>
                </mc:Fallback>
              </mc:AlternateContent>
            </a:graphicData>
          </a:graphic>
        </p:graphicFrame>
      </p:grpSp>
      <p:sp>
        <p:nvSpPr>
          <p:cNvPr id="18" name="Text Box 28"/>
          <p:cNvSpPr txBox="1"/>
          <p:nvPr/>
        </p:nvSpPr>
        <p:spPr>
          <a:xfrm>
            <a:off x="346081" y="3724279"/>
            <a:ext cx="8424863" cy="1015663"/>
          </a:xfrm>
          <a:prstGeom prst="rect">
            <a:avLst/>
          </a:prstGeom>
          <a:solidFill>
            <a:srgbClr val="008000"/>
          </a:solidFill>
          <a:ln w="12700" cap="sq" cmpd="sng">
            <a:solidFill>
              <a:srgbClr val="008000"/>
            </a:solidFill>
            <a:prstDash val="solid"/>
            <a:miter/>
            <a:headEnd type="none" w="sm" len="sm"/>
            <a:tailEnd type="none" w="sm" len="sm"/>
          </a:ln>
          <a:effectLst>
            <a:prstShdw prst="shdw17" dist="17961" dir="13499999">
              <a:srgbClr val="004D00"/>
            </a:prstShdw>
          </a:effectLst>
        </p:spPr>
        <p:txBody>
          <a:bodyPr anchor="t" anchorCtr="0">
            <a:spAutoFit/>
          </a:bodyPr>
          <a:lstStyle/>
          <a:p>
            <a:pPr>
              <a:buClrTx/>
              <a:buFontTx/>
            </a:pPr>
            <a:r>
              <a:rPr lang="zh-CN" altLang="en-US" sz="2000" dirty="0">
                <a:solidFill>
                  <a:srgbClr val="FFFF00"/>
                </a:solidFill>
                <a:latin typeface="Times New Roman" panose="02020603050405020304" pitchFamily="18" charset="0"/>
                <a:ea typeface="宋体" panose="02010600030101010101" pitchFamily="2" charset="-122"/>
              </a:rPr>
              <a:t>       解离度降低了</a:t>
            </a:r>
            <a:r>
              <a:rPr lang="en-US" altLang="zh-CN" sz="2000" dirty="0">
                <a:solidFill>
                  <a:srgbClr val="FFFF00"/>
                </a:solidFill>
                <a:latin typeface="Times New Roman" panose="02020603050405020304" pitchFamily="18" charset="0"/>
                <a:ea typeface="宋体" panose="02010600030101010101" pitchFamily="2" charset="-122"/>
              </a:rPr>
              <a:t>74.44</a:t>
            </a:r>
            <a:r>
              <a:rPr lang="zh-CN" altLang="en-US" sz="2000" dirty="0">
                <a:solidFill>
                  <a:srgbClr val="FFFF00"/>
                </a:solidFill>
                <a:latin typeface="Times New Roman" panose="02020603050405020304" pitchFamily="18" charset="0"/>
                <a:ea typeface="宋体" panose="02010600030101010101" pitchFamily="2" charset="-122"/>
              </a:rPr>
              <a:t>倍，可见同离子效应对平衡的影响很大。</a:t>
            </a:r>
            <a:r>
              <a:rPr lang="zh-CN" altLang="en-US" sz="2000" dirty="0">
                <a:solidFill>
                  <a:srgbClr val="FFFF00"/>
                </a:solidFill>
                <a:latin typeface="宋体" panose="02010600030101010101" pitchFamily="2" charset="-122"/>
                <a:ea typeface="宋体" panose="02010600030101010101" pitchFamily="2" charset="-122"/>
              </a:rPr>
              <a:t>利用同离子效应</a:t>
            </a:r>
            <a:r>
              <a:rPr lang="en-US" altLang="zh-CN" sz="2000" dirty="0">
                <a:solidFill>
                  <a:srgbClr val="FFFF00"/>
                </a:solidFill>
                <a:latin typeface="宋体" panose="02010600030101010101" pitchFamily="2" charset="-122"/>
                <a:ea typeface="宋体" panose="02010600030101010101" pitchFamily="2" charset="-122"/>
              </a:rPr>
              <a:t>,</a:t>
            </a:r>
            <a:r>
              <a:rPr lang="zh-CN" altLang="en-US" sz="2000" dirty="0">
                <a:solidFill>
                  <a:srgbClr val="FFFF00"/>
                </a:solidFill>
                <a:latin typeface="宋体" panose="02010600030101010101" pitchFamily="2" charset="-122"/>
                <a:ea typeface="宋体" panose="02010600030101010101" pitchFamily="2" charset="-122"/>
              </a:rPr>
              <a:t>调节溶液的酸碱性</a:t>
            </a:r>
            <a:r>
              <a:rPr lang="en-US" altLang="zh-CN" sz="2000" dirty="0">
                <a:solidFill>
                  <a:srgbClr val="FFFF00"/>
                </a:solidFill>
                <a:latin typeface="宋体" panose="02010600030101010101" pitchFamily="2" charset="-122"/>
                <a:ea typeface="宋体" panose="02010600030101010101" pitchFamily="2" charset="-122"/>
              </a:rPr>
              <a:t>,</a:t>
            </a:r>
            <a:r>
              <a:rPr lang="zh-CN" altLang="en-US" sz="2000" dirty="0">
                <a:solidFill>
                  <a:srgbClr val="FFFF00"/>
                </a:solidFill>
                <a:latin typeface="宋体" panose="02010600030101010101" pitchFamily="2" charset="-122"/>
                <a:ea typeface="宋体" panose="02010600030101010101" pitchFamily="2" charset="-122"/>
              </a:rPr>
              <a:t>可控制弱电解质溶液中有关离子的浓度，进行金属离子的分离和提纯。</a:t>
            </a:r>
          </a:p>
        </p:txBody>
      </p:sp>
      <p:graphicFrame>
        <p:nvGraphicFramePr>
          <p:cNvPr id="20" name="Object 29"/>
          <p:cNvGraphicFramePr>
            <a:graphicFrameLocks noChangeAspect="1"/>
          </p:cNvGraphicFramePr>
          <p:nvPr/>
        </p:nvGraphicFramePr>
        <p:xfrm>
          <a:off x="2771781" y="2859091"/>
          <a:ext cx="2968625" cy="631825"/>
        </p:xfrm>
        <a:graphic>
          <a:graphicData uri="http://schemas.openxmlformats.org/presentationml/2006/ole">
            <mc:AlternateContent xmlns:mc="http://schemas.openxmlformats.org/markup-compatibility/2006">
              <mc:Choice xmlns:v="urn:schemas-microsoft-com:vml" Requires="v">
                <p:oleObj r:id="rId4" imgW="1904365" imgH="393700" progId="Equation.DSMT4">
                  <p:embed/>
                </p:oleObj>
              </mc:Choice>
              <mc:Fallback>
                <p:oleObj r:id="rId4" imgW="1904365" imgH="393700" progId="Equation.DSMT4">
                  <p:embed/>
                  <p:pic>
                    <p:nvPicPr>
                      <p:cNvPr id="0" name="图片 3139"/>
                      <p:cNvPicPr/>
                      <p:nvPr/>
                    </p:nvPicPr>
                    <p:blipFill>
                      <a:blip r:embed="rId5"/>
                      <a:stretch>
                        <a:fillRect/>
                      </a:stretch>
                    </p:blipFill>
                    <p:spPr>
                      <a:xfrm>
                        <a:off x="2771781" y="2859091"/>
                        <a:ext cx="2968625" cy="631825"/>
                      </a:xfrm>
                      <a:prstGeom prst="rect">
                        <a:avLst/>
                      </a:prstGeom>
                      <a:noFill/>
                      <a:ln w="38100">
                        <a:noFill/>
                        <a:miter/>
                      </a:ln>
                    </p:spPr>
                  </p:pic>
                </p:oleObj>
              </mc:Fallback>
            </mc:AlternateContent>
          </a:graphicData>
        </a:graphic>
      </p:graphicFrame>
      <p:sp>
        <p:nvSpPr>
          <p:cNvPr id="21" name="Text Box 28"/>
          <p:cNvSpPr txBox="1"/>
          <p:nvPr/>
        </p:nvSpPr>
        <p:spPr>
          <a:xfrm>
            <a:off x="460381" y="2354263"/>
            <a:ext cx="8424863" cy="400110"/>
          </a:xfrm>
          <a:prstGeom prst="rect">
            <a:avLst/>
          </a:prstGeom>
          <a:solidFill>
            <a:srgbClr val="008000"/>
          </a:solidFill>
          <a:ln w="12700" cap="sq" cmpd="sng">
            <a:solidFill>
              <a:srgbClr val="008000"/>
            </a:solidFill>
            <a:prstDash val="solid"/>
            <a:miter/>
            <a:headEnd type="none" w="sm" len="sm"/>
            <a:tailEnd type="none" w="sm" len="sm"/>
          </a:ln>
          <a:effectLst>
            <a:prstShdw prst="shdw17" dist="17961" dir="13499999">
              <a:srgbClr val="004D00"/>
            </a:prstShdw>
          </a:effectLst>
        </p:spPr>
        <p:txBody>
          <a:bodyPr anchor="t" anchorCtr="0">
            <a:spAutoFit/>
          </a:bodyPr>
          <a:lstStyle/>
          <a:p>
            <a:pPr>
              <a:buClrTx/>
              <a:buFontTx/>
            </a:pPr>
            <a:r>
              <a:rPr lang="zh-CN" altLang="en-US" sz="2000" dirty="0">
                <a:solidFill>
                  <a:srgbClr val="FFFF00"/>
                </a:solidFill>
                <a:latin typeface="Times New Roman" panose="02020603050405020304" pitchFamily="18" charset="0"/>
                <a:ea typeface="宋体" panose="02010600030101010101" pitchFamily="2" charset="-122"/>
              </a:rPr>
              <a:t>由例</a:t>
            </a:r>
            <a:r>
              <a:rPr lang="en-US" altLang="zh-CN" sz="2000" dirty="0">
                <a:solidFill>
                  <a:srgbClr val="FFFF00"/>
                </a:solidFill>
                <a:latin typeface="Times New Roman" panose="02020603050405020304" pitchFamily="18" charset="0"/>
                <a:ea typeface="宋体" panose="02010600030101010101" pitchFamily="2" charset="-122"/>
              </a:rPr>
              <a:t>[3.2]</a:t>
            </a:r>
            <a:r>
              <a:rPr lang="zh-CN" altLang="en-US" sz="2000" dirty="0">
                <a:solidFill>
                  <a:srgbClr val="FFFF00"/>
                </a:solidFill>
                <a:latin typeface="Times New Roman" panose="02020603050405020304" pitchFamily="18" charset="0"/>
                <a:ea typeface="宋体" panose="02010600030101010101" pitchFamily="2" charset="-122"/>
              </a:rPr>
              <a:t>计算知，</a:t>
            </a:r>
            <a:r>
              <a:rPr lang="en-US" altLang="zh-CN" sz="2000" dirty="0">
                <a:solidFill>
                  <a:srgbClr val="FFFF00"/>
                </a:solidFill>
                <a:latin typeface="Times New Roman" panose="02020603050405020304" pitchFamily="18" charset="0"/>
                <a:ea typeface="宋体" panose="02010600030101010101" pitchFamily="2" charset="-122"/>
              </a:rPr>
              <a:t>0.100 mol·L</a:t>
            </a:r>
            <a:r>
              <a:rPr lang="en-US" altLang="zh-CN" sz="2000" baseline="30000" dirty="0">
                <a:solidFill>
                  <a:srgbClr val="FFFF00"/>
                </a:solidFill>
                <a:latin typeface="Times New Roman" panose="02020603050405020304" pitchFamily="18" charset="0"/>
                <a:ea typeface="宋体" panose="02010600030101010101" pitchFamily="2" charset="-122"/>
              </a:rPr>
              <a:t>–1</a:t>
            </a:r>
            <a:r>
              <a:rPr lang="en-US" altLang="zh-CN" sz="2000" dirty="0">
                <a:solidFill>
                  <a:srgbClr val="FFFF00"/>
                </a:solidFill>
                <a:latin typeface="Times New Roman" panose="02020603050405020304" pitchFamily="18" charset="0"/>
                <a:ea typeface="宋体" panose="02010600030101010101" pitchFamily="2" charset="-122"/>
              </a:rPr>
              <a:t>HAc</a:t>
            </a:r>
            <a:r>
              <a:rPr lang="zh-CN" altLang="en-US" sz="2000" dirty="0">
                <a:solidFill>
                  <a:srgbClr val="FFFF00"/>
                </a:solidFill>
                <a:latin typeface="Times New Roman" panose="02020603050405020304" pitchFamily="18" charset="0"/>
                <a:ea typeface="宋体" panose="02010600030101010101" pitchFamily="2" charset="-122"/>
              </a:rPr>
              <a:t>溶液的解离度</a:t>
            </a:r>
            <a:r>
              <a:rPr lang="en-US" altLang="zh-CN" sz="2000" i="1" dirty="0">
                <a:solidFill>
                  <a:srgbClr val="FFFF00"/>
                </a:solidFill>
                <a:latin typeface="Times New Roman" panose="02020603050405020304" pitchFamily="18" charset="0"/>
                <a:ea typeface="宋体" panose="02010600030101010101" pitchFamily="2" charset="-122"/>
              </a:rPr>
              <a:t>α</a:t>
            </a:r>
            <a:r>
              <a:rPr lang="zh-CN" altLang="en-US" sz="2000" dirty="0">
                <a:solidFill>
                  <a:srgbClr val="FFFF00"/>
                </a:solidFill>
                <a:latin typeface="Times New Roman" panose="02020603050405020304" pitchFamily="18" charset="0"/>
                <a:ea typeface="宋体" panose="02010600030101010101" pitchFamily="2" charset="-122"/>
              </a:rPr>
              <a:t>为</a:t>
            </a:r>
            <a:r>
              <a:rPr lang="en-US" altLang="zh-CN" sz="2000" dirty="0">
                <a:solidFill>
                  <a:srgbClr val="FFFF00"/>
                </a:solidFill>
                <a:latin typeface="Times New Roman" panose="02020603050405020304" pitchFamily="18" charset="0"/>
                <a:ea typeface="宋体" panose="02010600030101010101" pitchFamily="2" charset="-122"/>
              </a:rPr>
              <a:t>1.34%</a:t>
            </a:r>
            <a:r>
              <a:rPr lang="zh-CN" altLang="en-US" sz="2000" dirty="0">
                <a:solidFill>
                  <a:srgbClr val="FFFF00"/>
                </a:solidFill>
                <a:latin typeface="Times New Roman" panose="02020603050405020304" pitchFamily="18" charset="0"/>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ext Box 10"/>
          <p:cNvSpPr txBox="1"/>
          <p:nvPr/>
        </p:nvSpPr>
        <p:spPr>
          <a:xfrm>
            <a:off x="179388" y="141291"/>
            <a:ext cx="2519362" cy="584775"/>
          </a:xfrm>
          <a:prstGeom prst="rect">
            <a:avLst/>
          </a:prstGeom>
          <a:solidFill>
            <a:srgbClr val="B2B2FF"/>
          </a:solidFill>
          <a:ln w="9525">
            <a:noFill/>
          </a:ln>
        </p:spPr>
        <p:txBody>
          <a:bodyPr anchor="t" anchorCtr="0">
            <a:spAutoFit/>
          </a:bodyPr>
          <a:lstStyle/>
          <a:p>
            <a:pPr>
              <a:spcBef>
                <a:spcPct val="50000"/>
              </a:spcBef>
              <a:buClrTx/>
              <a:buFontTx/>
            </a:pPr>
            <a:r>
              <a:rPr lang="en-US" altLang="zh-CN" sz="3200" dirty="0">
                <a:latin typeface="华文新魏" pitchFamily="2" charset="-122"/>
                <a:ea typeface="华文新魏" pitchFamily="2" charset="-122"/>
              </a:rPr>
              <a:t>2.</a:t>
            </a:r>
            <a:r>
              <a:rPr lang="zh-CN" altLang="en-US" sz="3200" dirty="0">
                <a:latin typeface="华文新魏" pitchFamily="2" charset="-122"/>
                <a:ea typeface="华文新魏" pitchFamily="2" charset="-122"/>
                <a:hlinkClick r:id="rId2" action="ppaction://hlinkfile"/>
              </a:rPr>
              <a:t>缓冲溶液</a:t>
            </a:r>
            <a:r>
              <a:rPr lang="zh-CN" altLang="en-US" sz="3200" dirty="0">
                <a:solidFill>
                  <a:srgbClr val="0000FF"/>
                </a:solidFill>
                <a:latin typeface="华文新魏" pitchFamily="2" charset="-122"/>
                <a:ea typeface="华文新魏" pitchFamily="2" charset="-122"/>
              </a:rPr>
              <a:t> </a:t>
            </a:r>
          </a:p>
        </p:txBody>
      </p:sp>
      <p:sp>
        <p:nvSpPr>
          <p:cNvPr id="55298" name="Text Box 11"/>
          <p:cNvSpPr txBox="1"/>
          <p:nvPr/>
        </p:nvSpPr>
        <p:spPr>
          <a:xfrm>
            <a:off x="250831" y="820740"/>
            <a:ext cx="7921625" cy="830997"/>
          </a:xfrm>
          <a:prstGeom prst="rect">
            <a:avLst/>
          </a:prstGeom>
          <a:noFill/>
          <a:ln w="9525">
            <a:noFill/>
          </a:ln>
        </p:spPr>
        <p:txBody>
          <a:bodyPr anchor="t" anchorCtr="0">
            <a:spAutoFit/>
          </a:bodyPr>
          <a:lstStyle/>
          <a:p>
            <a:pPr>
              <a:spcBef>
                <a:spcPct val="50000"/>
              </a:spcBef>
              <a:buClrTx/>
              <a:buFontTx/>
            </a:pPr>
            <a:r>
              <a:rPr lang="zh-CN" altLang="en-US" sz="2400" dirty="0">
                <a:solidFill>
                  <a:srgbClr val="0000FF"/>
                </a:solidFill>
                <a:latin typeface="Times New Roman" panose="02020603050405020304" pitchFamily="18" charset="0"/>
                <a:ea typeface="幼圆" pitchFamily="49" charset="-122"/>
              </a:rPr>
              <a:t>缓冲作用</a:t>
            </a:r>
            <a:r>
              <a:rPr lang="zh-CN" altLang="en-US" sz="2400" dirty="0">
                <a:latin typeface="Times New Roman" panose="02020603050405020304" pitchFamily="18" charset="0"/>
                <a:ea typeface="幼圆" pitchFamily="49" charset="-122"/>
              </a:rPr>
              <a:t>：使溶液</a:t>
            </a:r>
            <a:r>
              <a:rPr lang="en-US" altLang="zh-CN" sz="2400" dirty="0">
                <a:latin typeface="Times New Roman" panose="02020603050405020304" pitchFamily="18" charset="0"/>
                <a:ea typeface="幼圆" pitchFamily="49" charset="-122"/>
              </a:rPr>
              <a:t>pH</a:t>
            </a:r>
            <a:r>
              <a:rPr lang="zh-CN" altLang="en-US" sz="2400" dirty="0">
                <a:latin typeface="Times New Roman" panose="02020603050405020304" pitchFamily="18" charset="0"/>
                <a:ea typeface="幼圆" pitchFamily="49" charset="-122"/>
              </a:rPr>
              <a:t>值基本保持不变的作用。具有缓冲作用的溶液，称为</a:t>
            </a:r>
            <a:r>
              <a:rPr lang="zh-CN" altLang="en-US" sz="2400" dirty="0">
                <a:solidFill>
                  <a:srgbClr val="0000FF"/>
                </a:solidFill>
                <a:latin typeface="Times New Roman" panose="02020603050405020304" pitchFamily="18" charset="0"/>
                <a:ea typeface="幼圆" pitchFamily="49" charset="-122"/>
              </a:rPr>
              <a:t>缓冲溶液</a:t>
            </a:r>
            <a:r>
              <a:rPr lang="zh-CN" altLang="en-US" sz="2400" dirty="0">
                <a:latin typeface="Times New Roman" panose="02020603050405020304" pitchFamily="18" charset="0"/>
                <a:ea typeface="幼圆" pitchFamily="49" charset="-122"/>
              </a:rPr>
              <a:t>。</a:t>
            </a:r>
            <a:endParaRPr lang="zh-CN" altLang="en-US" sz="2000" dirty="0">
              <a:latin typeface="Times New Roman" panose="02020603050405020304" pitchFamily="18" charset="0"/>
              <a:ea typeface="幼圆" pitchFamily="49" charset="-122"/>
            </a:endParaRPr>
          </a:p>
        </p:txBody>
      </p:sp>
      <p:grpSp>
        <p:nvGrpSpPr>
          <p:cNvPr id="2" name="Group 32"/>
          <p:cNvGrpSpPr/>
          <p:nvPr/>
        </p:nvGrpSpPr>
        <p:grpSpPr>
          <a:xfrm>
            <a:off x="579444" y="1902224"/>
            <a:ext cx="7426325" cy="1659335"/>
            <a:chOff x="379" y="1690"/>
            <a:chExt cx="4678" cy="1393"/>
          </a:xfrm>
        </p:grpSpPr>
        <p:sp>
          <p:nvSpPr>
            <p:cNvPr id="55300" name="Text Box 14"/>
            <p:cNvSpPr txBox="1"/>
            <p:nvPr/>
          </p:nvSpPr>
          <p:spPr>
            <a:xfrm>
              <a:off x="522" y="2069"/>
              <a:ext cx="4535" cy="388"/>
            </a:xfrm>
            <a:prstGeom prst="rect">
              <a:avLst/>
            </a:prstGeom>
            <a:noFill/>
            <a:ln w="9525">
              <a:noFill/>
            </a:ln>
          </p:spPr>
          <p:txBody>
            <a:bodyPr anchor="t" anchorCtr="0">
              <a:spAutoFit/>
            </a:bodyPr>
            <a:lstStyle/>
            <a:p>
              <a:pPr>
                <a:spcBef>
                  <a:spcPct val="50000"/>
                </a:spcBef>
                <a:buClrTx/>
                <a:buFontTx/>
              </a:pPr>
              <a:r>
                <a:rPr lang="en-US" altLang="zh-CN" sz="2400" dirty="0">
                  <a:latin typeface="Times New Roman" panose="02020603050405020304" pitchFamily="18" charset="0"/>
                  <a:ea typeface="幼圆" pitchFamily="49" charset="-122"/>
                </a:rPr>
                <a:t>        HAc       </a:t>
              </a:r>
              <a:r>
                <a:rPr lang="zh-CN" altLang="en-US" sz="2400" dirty="0">
                  <a:latin typeface="Times New Roman" panose="02020603050405020304" pitchFamily="18" charset="0"/>
                  <a:ea typeface="幼圆" pitchFamily="49" charset="-122"/>
                </a:rPr>
                <a:t>　　　</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 </a:t>
              </a:r>
              <a:r>
                <a:rPr lang="zh-CN" altLang="en-US" sz="2400" dirty="0">
                  <a:latin typeface="Times New Roman" panose="02020603050405020304" pitchFamily="18" charset="0"/>
                  <a:ea typeface="幼圆" pitchFamily="49" charset="-122"/>
                </a:rPr>
                <a:t>　</a:t>
              </a:r>
              <a:r>
                <a:rPr lang="en-US" altLang="zh-CN" sz="24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　   </a:t>
              </a:r>
              <a:r>
                <a:rPr lang="en-US" altLang="zh-CN" sz="2400" dirty="0">
                  <a:latin typeface="Times New Roman" panose="02020603050405020304" pitchFamily="18" charset="0"/>
                  <a:ea typeface="幼圆" pitchFamily="49" charset="-122"/>
                </a:rPr>
                <a:t>Ac</a:t>
              </a:r>
              <a:r>
                <a:rPr lang="en-US" altLang="zh-CN" sz="2400" baseline="30000" dirty="0">
                  <a:latin typeface="幼圆" pitchFamily="49" charset="-122"/>
                  <a:ea typeface="幼圆" pitchFamily="49" charset="-122"/>
                </a:rPr>
                <a:t>-               </a:t>
              </a:r>
              <a:endParaRPr lang="en-US" altLang="zh-CN" sz="2400" b="0" dirty="0">
                <a:latin typeface="Arial" panose="020B0604020202020204" pitchFamily="34" charset="0"/>
                <a:ea typeface="宋体" panose="02010600030101010101" pitchFamily="2" charset="-122"/>
              </a:endParaRPr>
            </a:p>
          </p:txBody>
        </p:sp>
        <p:sp>
          <p:nvSpPr>
            <p:cNvPr id="55301" name="Text Box 22"/>
            <p:cNvSpPr txBox="1"/>
            <p:nvPr/>
          </p:nvSpPr>
          <p:spPr>
            <a:xfrm>
              <a:off x="612" y="2344"/>
              <a:ext cx="4128" cy="388"/>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幼圆" pitchFamily="49" charset="-122"/>
                </a:rPr>
                <a:t>      大量  　　      极小量         大量 </a:t>
              </a:r>
              <a:endParaRPr lang="zh-CN" altLang="en-US" sz="2400" b="0" dirty="0">
                <a:latin typeface="Arial" panose="020B0604020202020204" pitchFamily="34" charset="0"/>
                <a:ea typeface="宋体" panose="02010600030101010101" pitchFamily="2" charset="-122"/>
              </a:endParaRPr>
            </a:p>
          </p:txBody>
        </p:sp>
        <p:grpSp>
          <p:nvGrpSpPr>
            <p:cNvPr id="55302" name="Group 31"/>
            <p:cNvGrpSpPr/>
            <p:nvPr/>
          </p:nvGrpSpPr>
          <p:grpSpPr>
            <a:xfrm>
              <a:off x="379" y="1690"/>
              <a:ext cx="4588" cy="1393"/>
              <a:chOff x="379" y="1706"/>
              <a:chExt cx="4588" cy="1393"/>
            </a:xfrm>
          </p:grpSpPr>
          <p:grpSp>
            <p:nvGrpSpPr>
              <p:cNvPr id="55303" name="Group 15"/>
              <p:cNvGrpSpPr/>
              <p:nvPr/>
            </p:nvGrpSpPr>
            <p:grpSpPr>
              <a:xfrm>
                <a:off x="1428" y="2160"/>
                <a:ext cx="726" cy="136"/>
                <a:chOff x="657" y="1752"/>
                <a:chExt cx="409" cy="121"/>
              </a:xfrm>
            </p:grpSpPr>
            <p:grpSp>
              <p:nvGrpSpPr>
                <p:cNvPr id="55304" name="Group 16"/>
                <p:cNvGrpSpPr/>
                <p:nvPr/>
              </p:nvGrpSpPr>
              <p:grpSpPr>
                <a:xfrm>
                  <a:off x="657" y="1752"/>
                  <a:ext cx="409" cy="45"/>
                  <a:chOff x="657" y="1752"/>
                  <a:chExt cx="409" cy="45"/>
                </a:xfrm>
              </p:grpSpPr>
              <p:sp>
                <p:nvSpPr>
                  <p:cNvPr id="55305" name="Line 17"/>
                  <p:cNvSpPr/>
                  <p:nvPr/>
                </p:nvSpPr>
                <p:spPr>
                  <a:xfrm>
                    <a:off x="657" y="1797"/>
                    <a:ext cx="409" cy="0"/>
                  </a:xfrm>
                  <a:prstGeom prst="line">
                    <a:avLst/>
                  </a:prstGeom>
                  <a:ln w="9525" cap="flat" cmpd="sng">
                    <a:solidFill>
                      <a:schemeClr val="tx1"/>
                    </a:solidFill>
                    <a:prstDash val="solid"/>
                    <a:round/>
                    <a:headEnd type="none" w="med" len="med"/>
                    <a:tailEnd type="none" w="med" len="med"/>
                  </a:ln>
                </p:spPr>
              </p:sp>
              <p:sp>
                <p:nvSpPr>
                  <p:cNvPr id="55306" name="Line 18"/>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nvGrpSpPr>
                <p:cNvPr id="55307" name="Group 19"/>
                <p:cNvGrpSpPr/>
                <p:nvPr/>
              </p:nvGrpSpPr>
              <p:grpSpPr>
                <a:xfrm flipH="1" flipV="1">
                  <a:off x="657" y="1828"/>
                  <a:ext cx="409" cy="45"/>
                  <a:chOff x="657" y="1752"/>
                  <a:chExt cx="409" cy="45"/>
                </a:xfrm>
              </p:grpSpPr>
              <p:sp>
                <p:nvSpPr>
                  <p:cNvPr id="55308" name="Line 20"/>
                  <p:cNvSpPr/>
                  <p:nvPr/>
                </p:nvSpPr>
                <p:spPr>
                  <a:xfrm>
                    <a:off x="657" y="1797"/>
                    <a:ext cx="409" cy="0"/>
                  </a:xfrm>
                  <a:prstGeom prst="line">
                    <a:avLst/>
                  </a:prstGeom>
                  <a:ln w="9525" cap="flat" cmpd="sng">
                    <a:solidFill>
                      <a:schemeClr val="tx1"/>
                    </a:solidFill>
                    <a:prstDash val="solid"/>
                    <a:round/>
                    <a:headEnd type="none" w="med" len="med"/>
                    <a:tailEnd type="none" w="med" len="med"/>
                  </a:ln>
                </p:spPr>
              </p:sp>
              <p:sp>
                <p:nvSpPr>
                  <p:cNvPr id="55309" name="Line 21"/>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sp>
            <p:nvSpPr>
              <p:cNvPr id="55310" name="Rectangle 23"/>
              <p:cNvSpPr/>
              <p:nvPr/>
            </p:nvSpPr>
            <p:spPr>
              <a:xfrm>
                <a:off x="515" y="2104"/>
                <a:ext cx="4128" cy="580"/>
              </a:xfrm>
              <a:prstGeom prst="rect">
                <a:avLst/>
              </a:prstGeom>
              <a:noFill/>
              <a:ln w="9525"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nvGrpSpPr>
              <p:cNvPr id="55311" name="Group 24"/>
              <p:cNvGrpSpPr/>
              <p:nvPr/>
            </p:nvGrpSpPr>
            <p:grpSpPr>
              <a:xfrm>
                <a:off x="470" y="2660"/>
                <a:ext cx="4497" cy="439"/>
                <a:chOff x="978" y="3537"/>
                <a:chExt cx="4497" cy="514"/>
              </a:xfrm>
            </p:grpSpPr>
            <p:sp>
              <p:nvSpPr>
                <p:cNvPr id="55312" name="Text Box 25"/>
                <p:cNvSpPr txBox="1"/>
                <p:nvPr/>
              </p:nvSpPr>
              <p:spPr>
                <a:xfrm>
                  <a:off x="984" y="3537"/>
                  <a:ext cx="4491" cy="514"/>
                </a:xfrm>
                <a:prstGeom prst="rect">
                  <a:avLst/>
                </a:prstGeom>
                <a:noFill/>
                <a:ln w="9525">
                  <a:noFill/>
                </a:ln>
              </p:spPr>
              <p:txBody>
                <a:bodyPr anchor="t" anchorCtr="0">
                  <a:spAutoFit/>
                </a:bodyPr>
                <a:lstStyle/>
                <a:p>
                  <a:pPr>
                    <a:spcBef>
                      <a:spcPct val="50000"/>
                    </a:spcBef>
                    <a:buClrTx/>
                    <a:buFontTx/>
                  </a:pPr>
                  <a:r>
                    <a:rPr lang="zh-CN" altLang="en-US" dirty="0">
                      <a:solidFill>
                        <a:srgbClr val="FF0000"/>
                      </a:solidFill>
                      <a:latin typeface="Times New Roman" panose="02020603050405020304" pitchFamily="18" charset="0"/>
                      <a:ea typeface="幼圆" pitchFamily="49" charset="-122"/>
                    </a:rPr>
                    <a:t>     外加适量酸</a:t>
                  </a:r>
                  <a:r>
                    <a:rPr lang="en-US" altLang="zh-CN" dirty="0">
                      <a:solidFill>
                        <a:srgbClr val="FF0000"/>
                      </a:solidFill>
                      <a:latin typeface="Times New Roman" panose="02020603050405020304" pitchFamily="18" charset="0"/>
                      <a:ea typeface="幼圆" pitchFamily="49" charset="-122"/>
                    </a:rPr>
                    <a:t>(H</a:t>
                  </a:r>
                  <a:r>
                    <a:rPr lang="zh-CN" altLang="en-US" baseline="30000" dirty="0">
                      <a:solidFill>
                        <a:srgbClr val="FF0000"/>
                      </a:solidFill>
                      <a:latin typeface="Times New Roman" panose="02020603050405020304" pitchFamily="18" charset="0"/>
                      <a:ea typeface="幼圆" pitchFamily="49" charset="-122"/>
                    </a:rPr>
                    <a:t>＋</a:t>
                  </a:r>
                  <a:r>
                    <a:rPr lang="en-US" altLang="zh-CN" dirty="0">
                      <a:solidFill>
                        <a:srgbClr val="FF0000"/>
                      </a:solidFill>
                      <a:latin typeface="Times New Roman" panose="02020603050405020304" pitchFamily="18" charset="0"/>
                      <a:ea typeface="幼圆" pitchFamily="49" charset="-122"/>
                    </a:rPr>
                    <a:t>)</a:t>
                  </a:r>
                  <a:r>
                    <a:rPr lang="zh-CN" altLang="en-US" dirty="0">
                      <a:solidFill>
                        <a:srgbClr val="FF0000"/>
                      </a:solidFill>
                      <a:latin typeface="Times New Roman" panose="02020603050405020304" pitchFamily="18" charset="0"/>
                      <a:ea typeface="幼圆" pitchFamily="49" charset="-122"/>
                    </a:rPr>
                    <a:t>，平衡向左移动</a:t>
                  </a:r>
                  <a:endParaRPr lang="zh-CN" altLang="en-US" b="0" dirty="0">
                    <a:latin typeface="Times New Roman" panose="02020603050405020304" pitchFamily="18" charset="0"/>
                    <a:ea typeface="幼圆" pitchFamily="49" charset="-122"/>
                  </a:endParaRPr>
                </a:p>
              </p:txBody>
            </p:sp>
            <p:sp>
              <p:nvSpPr>
                <p:cNvPr id="55313" name="Line 26"/>
                <p:cNvSpPr/>
                <p:nvPr/>
              </p:nvSpPr>
              <p:spPr>
                <a:xfrm flipH="1">
                  <a:off x="978" y="3566"/>
                  <a:ext cx="4127" cy="0"/>
                </a:xfrm>
                <a:prstGeom prst="line">
                  <a:avLst/>
                </a:prstGeom>
                <a:ln w="38100" cap="flat" cmpd="sng">
                  <a:solidFill>
                    <a:srgbClr val="FF0000"/>
                  </a:solidFill>
                  <a:prstDash val="solid"/>
                  <a:round/>
                  <a:headEnd type="none" w="med" len="med"/>
                  <a:tailEnd type="triangle" w="med" len="med"/>
                </a:ln>
              </p:spPr>
            </p:sp>
          </p:grpSp>
          <p:grpSp>
            <p:nvGrpSpPr>
              <p:cNvPr id="55314" name="Group 27"/>
              <p:cNvGrpSpPr/>
              <p:nvPr/>
            </p:nvGrpSpPr>
            <p:grpSpPr>
              <a:xfrm>
                <a:off x="379" y="1706"/>
                <a:ext cx="4491" cy="439"/>
                <a:chOff x="839" y="2384"/>
                <a:chExt cx="4491" cy="514"/>
              </a:xfrm>
            </p:grpSpPr>
            <p:sp>
              <p:nvSpPr>
                <p:cNvPr id="55315" name="Text Box 28"/>
                <p:cNvSpPr txBox="1"/>
                <p:nvPr/>
              </p:nvSpPr>
              <p:spPr>
                <a:xfrm>
                  <a:off x="839" y="2384"/>
                  <a:ext cx="4491" cy="514"/>
                </a:xfrm>
                <a:prstGeom prst="rect">
                  <a:avLst/>
                </a:prstGeom>
                <a:noFill/>
                <a:ln w="9525">
                  <a:noFill/>
                </a:ln>
              </p:spPr>
              <p:txBody>
                <a:bodyPr anchor="t" anchorCtr="0">
                  <a:spAutoFit/>
                </a:bodyPr>
                <a:lstStyle/>
                <a:p>
                  <a:pPr>
                    <a:spcBef>
                      <a:spcPct val="50000"/>
                    </a:spcBef>
                    <a:buClrTx/>
                    <a:buFontTx/>
                  </a:pPr>
                  <a:r>
                    <a:rPr lang="zh-CN" altLang="en-US" dirty="0">
                      <a:solidFill>
                        <a:srgbClr val="9900CC"/>
                      </a:solidFill>
                      <a:latin typeface="Times New Roman" panose="02020603050405020304" pitchFamily="18" charset="0"/>
                      <a:ea typeface="幼圆" pitchFamily="49" charset="-122"/>
                    </a:rPr>
                    <a:t>        外加适量碱</a:t>
                  </a:r>
                  <a:r>
                    <a:rPr lang="en-US" altLang="zh-CN" dirty="0">
                      <a:solidFill>
                        <a:srgbClr val="9900CC"/>
                      </a:solidFill>
                      <a:latin typeface="Times New Roman" panose="02020603050405020304" pitchFamily="18" charset="0"/>
                      <a:ea typeface="幼圆" pitchFamily="49" charset="-122"/>
                    </a:rPr>
                    <a:t>(OH</a:t>
                  </a:r>
                  <a:r>
                    <a:rPr lang="en-US" altLang="zh-CN" baseline="30000" dirty="0">
                      <a:solidFill>
                        <a:srgbClr val="9900CC"/>
                      </a:solidFill>
                      <a:latin typeface="Times New Roman" panose="02020603050405020304" pitchFamily="18" charset="0"/>
                      <a:ea typeface="幼圆" pitchFamily="49" charset="-122"/>
                    </a:rPr>
                    <a:t>-</a:t>
                  </a:r>
                  <a:r>
                    <a:rPr lang="en-US" altLang="zh-CN" dirty="0">
                      <a:solidFill>
                        <a:srgbClr val="9900CC"/>
                      </a:solidFill>
                      <a:latin typeface="Times New Roman" panose="02020603050405020304" pitchFamily="18" charset="0"/>
                      <a:ea typeface="幼圆" pitchFamily="49" charset="-122"/>
                    </a:rPr>
                    <a:t>)</a:t>
                  </a:r>
                  <a:r>
                    <a:rPr lang="zh-CN" altLang="en-US" dirty="0">
                      <a:solidFill>
                        <a:srgbClr val="9900CC"/>
                      </a:solidFill>
                      <a:latin typeface="Times New Roman" panose="02020603050405020304" pitchFamily="18" charset="0"/>
                      <a:ea typeface="幼圆" pitchFamily="49" charset="-122"/>
                    </a:rPr>
                    <a:t>，平衡向右移动</a:t>
                  </a:r>
                  <a:endParaRPr lang="zh-CN" altLang="en-US" dirty="0">
                    <a:latin typeface="Times New Roman" panose="02020603050405020304" pitchFamily="18" charset="0"/>
                    <a:ea typeface="幼圆" pitchFamily="49" charset="-122"/>
                  </a:endParaRPr>
                </a:p>
              </p:txBody>
            </p:sp>
            <p:sp>
              <p:nvSpPr>
                <p:cNvPr id="55316" name="Line 29"/>
                <p:cNvSpPr/>
                <p:nvPr/>
              </p:nvSpPr>
              <p:spPr>
                <a:xfrm>
                  <a:off x="975" y="2795"/>
                  <a:ext cx="4128" cy="0"/>
                </a:xfrm>
                <a:prstGeom prst="line">
                  <a:avLst/>
                </a:prstGeom>
                <a:ln w="38100" cap="flat" cmpd="sng">
                  <a:solidFill>
                    <a:srgbClr val="9900CC"/>
                  </a:solidFill>
                  <a:prstDash val="solid"/>
                  <a:round/>
                  <a:headEnd type="none" w="med" len="med"/>
                  <a:tailEnd type="triangle" w="med" len="med"/>
                </a:ln>
              </p:spPr>
            </p:sp>
          </p:grpSp>
        </p:grpSp>
      </p:grpSp>
      <p:sp>
        <p:nvSpPr>
          <p:cNvPr id="43041" name="Text Box 33"/>
          <p:cNvSpPr txBox="1"/>
          <p:nvPr/>
        </p:nvSpPr>
        <p:spPr>
          <a:xfrm>
            <a:off x="971556" y="3470275"/>
            <a:ext cx="5724525" cy="523220"/>
          </a:xfrm>
          <a:prstGeom prst="rect">
            <a:avLst/>
          </a:prstGeom>
          <a:noFill/>
          <a:ln w="9525">
            <a:noFill/>
          </a:ln>
        </p:spPr>
        <p:txBody>
          <a:bodyPr anchor="t" anchorCtr="0">
            <a:spAutoFit/>
          </a:bodyPr>
          <a:lstStyle/>
          <a:p>
            <a:pPr>
              <a:spcBef>
                <a:spcPct val="50000"/>
              </a:spcBef>
              <a:buClrTx/>
              <a:buFontTx/>
            </a:pPr>
            <a:r>
              <a:rPr lang="en-US" altLang="zh-CN" dirty="0">
                <a:latin typeface="Times New Roman" panose="02020603050405020304" pitchFamily="18" charset="0"/>
                <a:ea typeface="幼圆" pitchFamily="49" charset="-122"/>
              </a:rPr>
              <a:t>NaAc </a:t>
            </a:r>
            <a:r>
              <a:rPr lang="zh-CN" altLang="en-US" dirty="0">
                <a:latin typeface="Times New Roman" panose="02020603050405020304" pitchFamily="18" charset="0"/>
                <a:ea typeface="幼圆" pitchFamily="49" charset="-122"/>
              </a:rPr>
              <a:t>抵消</a:t>
            </a:r>
            <a:r>
              <a:rPr lang="en-US" altLang="zh-CN" dirty="0">
                <a:solidFill>
                  <a:srgbClr val="FF0000"/>
                </a:solidFill>
                <a:latin typeface="Times New Roman" panose="02020603050405020304" pitchFamily="18" charset="0"/>
                <a:ea typeface="幼圆" pitchFamily="49" charset="-122"/>
              </a:rPr>
              <a:t>H</a:t>
            </a:r>
            <a:r>
              <a:rPr lang="en-US" altLang="zh-CN" baseline="30000" dirty="0">
                <a:solidFill>
                  <a:srgbClr val="FF0000"/>
                </a:solidFill>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  HAc </a:t>
            </a:r>
            <a:r>
              <a:rPr lang="zh-CN" altLang="en-US" dirty="0">
                <a:latin typeface="Times New Roman" panose="02020603050405020304" pitchFamily="18" charset="0"/>
                <a:ea typeface="幼圆" pitchFamily="49" charset="-122"/>
              </a:rPr>
              <a:t>抵消</a:t>
            </a:r>
            <a:r>
              <a:rPr lang="en-US" altLang="zh-CN" dirty="0">
                <a:solidFill>
                  <a:srgbClr val="9900CC"/>
                </a:solidFill>
                <a:latin typeface="Times New Roman" panose="02020603050405020304" pitchFamily="18" charset="0"/>
                <a:ea typeface="幼圆" pitchFamily="49" charset="-122"/>
              </a:rPr>
              <a:t>OH</a:t>
            </a:r>
            <a:r>
              <a:rPr lang="en-US" altLang="zh-CN" baseline="30000" dirty="0">
                <a:solidFill>
                  <a:srgbClr val="9900CC"/>
                </a:solidFill>
                <a:latin typeface="Times New Roman" panose="02020603050405020304" pitchFamily="18" charset="0"/>
                <a:ea typeface="幼圆" pitchFamily="49" charset="-122"/>
              </a:rPr>
              <a:t>-</a:t>
            </a:r>
            <a:r>
              <a:rPr lang="en-US" altLang="zh-CN" dirty="0">
                <a:solidFill>
                  <a:srgbClr val="9900CC"/>
                </a:solidFill>
                <a:latin typeface="Times New Roman" panose="02020603050405020304" pitchFamily="18" charset="0"/>
                <a:ea typeface="幼圆" pitchFamily="49" charset="-122"/>
              </a:rPr>
              <a:t> </a:t>
            </a:r>
            <a:endParaRPr lang="en-US" altLang="zh-CN" dirty="0">
              <a:latin typeface="Times New Roman" panose="02020603050405020304" pitchFamily="18" charset="0"/>
              <a:ea typeface="幼圆" pitchFamily="49" charset="-122"/>
            </a:endParaRPr>
          </a:p>
        </p:txBody>
      </p:sp>
      <p:sp>
        <p:nvSpPr>
          <p:cNvPr id="43042" name="Text Box 34"/>
          <p:cNvSpPr txBox="1"/>
          <p:nvPr/>
        </p:nvSpPr>
        <p:spPr>
          <a:xfrm>
            <a:off x="107950" y="3975103"/>
            <a:ext cx="8928100" cy="954107"/>
          </a:xfrm>
          <a:prstGeom prst="rect">
            <a:avLst/>
          </a:prstGeom>
          <a:gradFill rotWithShape="1">
            <a:gsLst>
              <a:gs pos="0">
                <a:srgbClr val="5E005E"/>
              </a:gs>
              <a:gs pos="50000">
                <a:srgbClr val="CC00CC"/>
              </a:gs>
              <a:gs pos="100000">
                <a:srgbClr val="5E005E"/>
              </a:gs>
            </a:gsLst>
            <a:lin ang="5400000" scaled="1"/>
            <a:tileRect/>
          </a:gradFill>
          <a:ln w="9525">
            <a:noFill/>
          </a:ln>
        </p:spPr>
        <p:txBody>
          <a:bodyPr anchor="t" anchorCtr="0">
            <a:spAutoFit/>
          </a:bodyPr>
          <a:lstStyle/>
          <a:p>
            <a:pPr>
              <a:spcBef>
                <a:spcPct val="50000"/>
              </a:spcBef>
              <a:buClrTx/>
              <a:buFontTx/>
            </a:pPr>
            <a:r>
              <a:rPr lang="en-US" altLang="zh-CN" dirty="0">
                <a:solidFill>
                  <a:schemeClr val="bg1"/>
                </a:solidFill>
                <a:latin typeface="Times New Roman" panose="02020603050405020304" pitchFamily="18" charset="0"/>
                <a:ea typeface="幼圆" pitchFamily="49" charset="-122"/>
              </a:rPr>
              <a:t>       HAc+NaAc</a:t>
            </a:r>
            <a:r>
              <a:rPr lang="zh-CN" altLang="en-US" dirty="0">
                <a:solidFill>
                  <a:schemeClr val="bg1"/>
                </a:solidFill>
                <a:latin typeface="Times New Roman" panose="02020603050405020304" pitchFamily="18" charset="0"/>
                <a:ea typeface="幼圆" pitchFamily="49" charset="-122"/>
              </a:rPr>
              <a:t>混合溶液能抵抗少量外来酸、碱及少量水的稀释作用，而保持溶液</a:t>
            </a:r>
            <a:r>
              <a:rPr lang="en-US" altLang="zh-CN" dirty="0">
                <a:solidFill>
                  <a:schemeClr val="bg1"/>
                </a:solidFill>
                <a:latin typeface="Times New Roman" panose="02020603050405020304" pitchFamily="18" charset="0"/>
                <a:ea typeface="幼圆" pitchFamily="49" charset="-122"/>
              </a:rPr>
              <a:t>pH</a:t>
            </a:r>
            <a:r>
              <a:rPr lang="zh-CN" altLang="en-US" dirty="0">
                <a:solidFill>
                  <a:schemeClr val="bg1"/>
                </a:solidFill>
                <a:latin typeface="Times New Roman" panose="02020603050405020304" pitchFamily="18" charset="0"/>
                <a:ea typeface="幼圆" pitchFamily="49" charset="-122"/>
              </a:rPr>
              <a:t>值基本不变，为缓冲溶液。</a:t>
            </a:r>
            <a:endParaRPr lang="zh-CN" altLang="en-US" dirty="0">
              <a:latin typeface="Times New Roman" panose="02020603050405020304" pitchFamily="18" charset="0"/>
              <a:ea typeface="幼圆" pitchFamily="49" charset="-122"/>
            </a:endParaRPr>
          </a:p>
        </p:txBody>
      </p:sp>
      <p:sp>
        <p:nvSpPr>
          <p:cNvPr id="43043" name="Text Box 35"/>
          <p:cNvSpPr txBox="1"/>
          <p:nvPr/>
        </p:nvSpPr>
        <p:spPr>
          <a:xfrm>
            <a:off x="250826" y="1492253"/>
            <a:ext cx="7561263" cy="461665"/>
          </a:xfrm>
          <a:prstGeom prst="rect">
            <a:avLst/>
          </a:prstGeom>
          <a:noFill/>
          <a:ln w="9525">
            <a:noFill/>
          </a:ln>
        </p:spPr>
        <p:txBody>
          <a:bodyPr anchor="t" anchorCtr="0">
            <a:spAutoFit/>
          </a:bodyPr>
          <a:lstStyle/>
          <a:p>
            <a:pPr>
              <a:spcBef>
                <a:spcPct val="50000"/>
              </a:spcBef>
              <a:buClrTx/>
              <a:buFontTx/>
            </a:pPr>
            <a:r>
              <a:rPr lang="zh-CN" altLang="en-US" sz="2400" dirty="0">
                <a:solidFill>
                  <a:srgbClr val="0000FF"/>
                </a:solidFill>
                <a:latin typeface="Times New Roman" panose="02020603050405020304" pitchFamily="18" charset="0"/>
                <a:ea typeface="幼圆" pitchFamily="49" charset="-122"/>
              </a:rPr>
              <a:t>缓冲作用原理</a:t>
            </a:r>
            <a:r>
              <a:rPr lang="zh-CN" altLang="en-US" sz="2400" dirty="0">
                <a:latin typeface="Times New Roman" panose="02020603050405020304" pitchFamily="18" charset="0"/>
                <a:ea typeface="幼圆" pitchFamily="49" charset="-122"/>
              </a:rPr>
              <a:t>：如 </a:t>
            </a:r>
            <a:r>
              <a:rPr lang="en-US" altLang="zh-CN" sz="2400" dirty="0">
                <a:latin typeface="Times New Roman" panose="02020603050405020304" pitchFamily="18" charset="0"/>
                <a:ea typeface="幼圆" pitchFamily="49" charset="-122"/>
              </a:rPr>
              <a:t>HAc+NaAc</a:t>
            </a:r>
            <a:r>
              <a:rPr lang="zh-CN" altLang="en-US" sz="2400" dirty="0">
                <a:latin typeface="Times New Roman" panose="02020603050405020304" pitchFamily="18" charset="0"/>
                <a:ea typeface="幼圆" pitchFamily="49" charset="-122"/>
              </a:rPr>
              <a:t>混合液</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43"/>
                                        </p:tgtEl>
                                        <p:attrNameLst>
                                          <p:attrName>style.visibility</p:attrName>
                                        </p:attrNameLst>
                                      </p:cBhvr>
                                      <p:to>
                                        <p:strVal val="visible"/>
                                      </p:to>
                                    </p:set>
                                    <p:animEffect transition="in" filter="wipe(left)">
                                      <p:cBhvr>
                                        <p:cTn id="7" dur="500"/>
                                        <p:tgtEl>
                                          <p:spTgt spid="430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41"/>
                                        </p:tgtEl>
                                        <p:attrNameLst>
                                          <p:attrName>style.visibility</p:attrName>
                                        </p:attrNameLst>
                                      </p:cBhvr>
                                      <p:to>
                                        <p:strVal val="visible"/>
                                      </p:to>
                                    </p:set>
                                    <p:animEffect transition="in" filter="wipe(left)">
                                      <p:cBhvr>
                                        <p:cTn id="17" dur="500"/>
                                        <p:tgtEl>
                                          <p:spTgt spid="430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42"/>
                                        </p:tgtEl>
                                        <p:attrNameLst>
                                          <p:attrName>style.visibility</p:attrName>
                                        </p:attrNameLst>
                                      </p:cBhvr>
                                      <p:to>
                                        <p:strVal val="visible"/>
                                      </p:to>
                                    </p:set>
                                    <p:animEffect transition="in" filter="wipe(left)">
                                      <p:cBhvr>
                                        <p:cTn id="22" dur="500"/>
                                        <p:tgtEl>
                                          <p:spTgt spid="43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41" grpId="0"/>
      <p:bldP spid="43042" grpId="0" animBg="1"/>
      <p:bldP spid="4304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ext Box 13"/>
          <p:cNvSpPr txBox="1"/>
          <p:nvPr/>
        </p:nvSpPr>
        <p:spPr>
          <a:xfrm>
            <a:off x="250825" y="195267"/>
            <a:ext cx="8497888" cy="1461939"/>
          </a:xfrm>
          <a:prstGeom prst="rect">
            <a:avLst/>
          </a:prstGeom>
          <a:noFill/>
          <a:ln w="9525">
            <a:noFill/>
          </a:ln>
        </p:spPr>
        <p:txBody>
          <a:bodyPr anchor="t" anchorCtr="0">
            <a:spAutoFit/>
          </a:bodyPr>
          <a:lstStyle/>
          <a:p>
            <a:pPr>
              <a:spcBef>
                <a:spcPct val="50000"/>
              </a:spcBef>
              <a:spcAft>
                <a:spcPts val="600"/>
              </a:spcAft>
              <a:buClrTx/>
              <a:buFontTx/>
            </a:pPr>
            <a:r>
              <a:rPr lang="zh-CN" altLang="en-US" dirty="0">
                <a:solidFill>
                  <a:srgbClr val="0000FF"/>
                </a:solidFill>
                <a:latin typeface="幼圆" pitchFamily="49" charset="-122"/>
                <a:ea typeface="幼圆" pitchFamily="49" charset="-122"/>
              </a:rPr>
              <a:t>常见的缓冲溶液</a:t>
            </a:r>
            <a:r>
              <a:rPr lang="zh-CN" altLang="en-US" dirty="0">
                <a:latin typeface="幼圆" pitchFamily="49" charset="-122"/>
                <a:ea typeface="幼圆" pitchFamily="49" charset="-122"/>
              </a:rPr>
              <a:t> </a:t>
            </a:r>
            <a:endParaRPr lang="en-US" altLang="zh-CN" dirty="0">
              <a:latin typeface="幼圆" pitchFamily="49" charset="-122"/>
              <a:ea typeface="幼圆" pitchFamily="49" charset="-122"/>
            </a:endParaRPr>
          </a:p>
          <a:p>
            <a:pPr>
              <a:buClrTx/>
              <a:buFontTx/>
            </a:pPr>
            <a:r>
              <a:rPr lang="zh-CN" altLang="en-US" dirty="0">
                <a:latin typeface="幼圆" pitchFamily="49" charset="-122"/>
                <a:ea typeface="幼圆" pitchFamily="49" charset="-122"/>
              </a:rPr>
              <a:t>    如弱酸与弱酸盐、弱碱与弱碱盐等混合液，多元弱酸组成的两种不同酸度的盐混合液。</a:t>
            </a:r>
            <a:endParaRPr lang="en-US" altLang="zh-CN" dirty="0">
              <a:latin typeface="幼圆" pitchFamily="49" charset="-122"/>
              <a:ea typeface="幼圆" pitchFamily="49" charset="-122"/>
            </a:endParaRPr>
          </a:p>
        </p:txBody>
      </p:sp>
      <p:graphicFrame>
        <p:nvGraphicFramePr>
          <p:cNvPr id="44046" name="Group 14"/>
          <p:cNvGraphicFramePr>
            <a:graphicFrameLocks noGrp="1"/>
          </p:cNvGraphicFramePr>
          <p:nvPr/>
        </p:nvGraphicFramePr>
        <p:xfrm>
          <a:off x="285756" y="1554163"/>
          <a:ext cx="8569325" cy="2993232"/>
        </p:xfrm>
        <a:graphic>
          <a:graphicData uri="http://schemas.openxmlformats.org/drawingml/2006/table">
            <a:tbl>
              <a:tblPr/>
              <a:tblGrid>
                <a:gridCol w="3600450">
                  <a:extLst>
                    <a:ext uri="{9D8B030D-6E8A-4147-A177-3AD203B41FA5}">
                      <a16:colId xmlns:a16="http://schemas.microsoft.com/office/drawing/2014/main" val="20000"/>
                    </a:ext>
                  </a:extLst>
                </a:gridCol>
                <a:gridCol w="2112962">
                  <a:extLst>
                    <a:ext uri="{9D8B030D-6E8A-4147-A177-3AD203B41FA5}">
                      <a16:colId xmlns:a16="http://schemas.microsoft.com/office/drawing/2014/main" val="20001"/>
                    </a:ext>
                  </a:extLst>
                </a:gridCol>
                <a:gridCol w="2855913">
                  <a:extLst>
                    <a:ext uri="{9D8B030D-6E8A-4147-A177-3AD203B41FA5}">
                      <a16:colId xmlns:a16="http://schemas.microsoft.com/office/drawing/2014/main" val="20002"/>
                    </a:ext>
                  </a:extLst>
                </a:gridCol>
              </a:tblGrid>
              <a:tr h="48458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zh-CN" altLang="en-US" sz="2100" b="1" i="0" u="none" strike="noStrike" cap="none" normalizeH="0" baseline="0">
                          <a:ln>
                            <a:noFill/>
                          </a:ln>
                          <a:solidFill>
                            <a:schemeClr val="tx1"/>
                          </a:solidFill>
                          <a:effectLst/>
                          <a:latin typeface="Times New Roman" panose="02020603050405020304" pitchFamily="18" charset="0"/>
                          <a:ea typeface="幼圆" pitchFamily="49" charset="-122"/>
                        </a:rPr>
                        <a:t>缓冲溶液</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p</a:t>
                      </a:r>
                      <a:r>
                        <a:rPr kumimoji="1" lang="en-US" altLang="zh-CN" sz="2100" b="1" i="1" u="none" strike="noStrike" cap="none" normalizeH="0" baseline="0">
                          <a:ln>
                            <a:noFill/>
                          </a:ln>
                          <a:solidFill>
                            <a:schemeClr val="tx1"/>
                          </a:solidFill>
                          <a:effectLst/>
                          <a:latin typeface="Times New Roman" panose="02020603050405020304" pitchFamily="18" charset="0"/>
                          <a:ea typeface="幼圆" pitchFamily="49" charset="-122"/>
                        </a:rPr>
                        <a:t>K</a:t>
                      </a:r>
                      <a:r>
                        <a:rPr kumimoji="1" lang="en-US" altLang="zh-CN" sz="2100" b="1" i="1" u="none" strike="noStrike" cap="none" normalizeH="0" baseline="-25000">
                          <a:ln>
                            <a:noFill/>
                          </a:ln>
                          <a:solidFill>
                            <a:schemeClr val="tx1"/>
                          </a:solidFill>
                          <a:effectLst/>
                          <a:latin typeface="Times New Roman" panose="02020603050405020304" pitchFamily="18" charset="0"/>
                          <a:ea typeface="幼圆" pitchFamily="49" charset="-122"/>
                        </a:rPr>
                        <a:t>i</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pH</a:t>
                      </a:r>
                      <a:r>
                        <a:rPr kumimoji="1" lang="zh-CN" altLang="en-US" sz="2100" b="1" i="0" u="none" strike="noStrike" cap="none" normalizeH="0" baseline="0">
                          <a:ln>
                            <a:noFill/>
                          </a:ln>
                          <a:solidFill>
                            <a:schemeClr val="tx1"/>
                          </a:solidFill>
                          <a:effectLst/>
                          <a:latin typeface="Times New Roman" panose="02020603050405020304" pitchFamily="18" charset="0"/>
                          <a:ea typeface="幼圆" pitchFamily="49" charset="-122"/>
                        </a:rPr>
                        <a:t>值范围</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7206">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HAc-NaAc</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4.76</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3.6</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~5.6</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397">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NH</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H</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2</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O-NH</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Cl</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4.76</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8.3~10.3</a:t>
                      </a:r>
                      <a:endParaRPr kumimoji="0" lang="en-US" altLang="zh-CN" sz="2100" b="0" i="0" u="none" strike="noStrike" cap="none" normalizeH="0" baseline="0">
                        <a:ln>
                          <a:noFill/>
                        </a:ln>
                        <a:solidFill>
                          <a:schemeClr val="tx1"/>
                        </a:solidFill>
                        <a:effectLst/>
                        <a:latin typeface="Arial" panose="020B0604020202020204" pitchFamily="34" charset="0"/>
                        <a:ea typeface="幼圆" pitchFamily="49"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397">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NaHCO</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-Na</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2</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CO</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10.33</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9.2~11.0</a:t>
                      </a:r>
                      <a:endParaRPr kumimoji="0" lang="en-US" altLang="zh-CN" sz="2100" b="0" i="0" u="none" strike="noStrike" cap="none" normalizeH="0" baseline="0">
                        <a:ln>
                          <a:noFill/>
                        </a:ln>
                        <a:solidFill>
                          <a:schemeClr val="tx1"/>
                        </a:solidFill>
                        <a:effectLst/>
                        <a:latin typeface="Arial" panose="020B0604020202020204" pitchFamily="34" charset="0"/>
                        <a:ea typeface="幼圆" pitchFamily="49"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KH</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2</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PO</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-K</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2</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HPO</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7.20</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5.9~8.0</a:t>
                      </a:r>
                      <a:endParaRPr kumimoji="0" lang="en-US" altLang="zh-CN" sz="2100" b="0" i="0" u="none" strike="noStrike" cap="none" normalizeH="0" baseline="0">
                        <a:ln>
                          <a:noFill/>
                        </a:ln>
                        <a:solidFill>
                          <a:schemeClr val="tx1"/>
                        </a:solidFill>
                        <a:effectLst/>
                        <a:latin typeface="Arial" panose="020B0604020202020204" pitchFamily="34" charset="0"/>
                        <a:ea typeface="幼圆" pitchFamily="49"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397">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H</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BO</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-Na</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2</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B</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O</a:t>
                      </a:r>
                      <a:r>
                        <a:rPr kumimoji="1"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7</a:t>
                      </a: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9.2</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1" lang="en-US" altLang="zh-CN" sz="2100" b="1" i="0" u="none" strike="noStrike" cap="none" normalizeH="0" baseline="0" dirty="0">
                          <a:ln>
                            <a:noFill/>
                          </a:ln>
                          <a:solidFill>
                            <a:schemeClr val="tx1"/>
                          </a:solidFill>
                          <a:effectLst/>
                          <a:latin typeface="Times New Roman" panose="02020603050405020304" pitchFamily="18" charset="0"/>
                          <a:ea typeface="幼圆" pitchFamily="49" charset="-122"/>
                          <a:cs typeface="Times New Roman" panose="02020603050405020304" pitchFamily="18" charset="0"/>
                        </a:rPr>
                        <a:t>7.2~9.2</a:t>
                      </a:r>
                      <a:endParaRPr kumimoji="0" lang="en-US" altLang="zh-CN" sz="2100" b="0" i="0" u="none" strike="noStrike" cap="none" normalizeH="0" baseline="0" dirty="0">
                        <a:ln>
                          <a:noFill/>
                        </a:ln>
                        <a:solidFill>
                          <a:schemeClr val="tx1"/>
                        </a:solidFill>
                        <a:effectLst/>
                        <a:latin typeface="Arial" panose="020B0604020202020204" pitchFamily="34" charset="0"/>
                        <a:ea typeface="幼圆" pitchFamily="49"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Rectangle 3"/>
          <p:cNvSpPr>
            <a:spLocks noChangeArrowheads="1"/>
          </p:cNvSpPr>
          <p:nvPr/>
        </p:nvSpPr>
        <p:spPr bwMode="auto">
          <a:xfrm>
            <a:off x="5" y="2178378"/>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45058" name="Text Box 5"/>
          <p:cNvSpPr txBox="1"/>
          <p:nvPr/>
        </p:nvSpPr>
        <p:spPr>
          <a:xfrm>
            <a:off x="539750" y="303214"/>
            <a:ext cx="2376488" cy="523220"/>
          </a:xfrm>
          <a:prstGeom prst="rect">
            <a:avLst/>
          </a:prstGeom>
          <a:noFill/>
          <a:ln w="9525">
            <a:noFill/>
          </a:ln>
          <a:effectLst>
            <a:prstShdw prst="shdw17" dist="17961" dir="13499999">
              <a:srgbClr val="5C5C99"/>
            </a:prstShdw>
          </a:effectLst>
        </p:spPr>
        <p:txBody>
          <a:bodyPr anchor="t" anchorCtr="0">
            <a:spAutoFit/>
          </a:bodyPr>
          <a:lstStyle/>
          <a:p>
            <a:pPr>
              <a:spcBef>
                <a:spcPct val="50000"/>
              </a:spcBef>
              <a:buClrTx/>
              <a:buFontTx/>
            </a:pPr>
            <a:r>
              <a:rPr lang="zh-CN" altLang="en-US" dirty="0">
                <a:solidFill>
                  <a:srgbClr val="0000FF"/>
                </a:solidFill>
                <a:latin typeface="Arial" panose="020B0604020202020204" pitchFamily="34" charset="0"/>
                <a:ea typeface="宋体" panose="02010600030101010101" pitchFamily="2" charset="-122"/>
              </a:rPr>
              <a:t>离子浓度计算</a:t>
            </a:r>
          </a:p>
        </p:txBody>
      </p:sp>
      <p:sp>
        <p:nvSpPr>
          <p:cNvPr id="184326" name="Rectangle 6"/>
          <p:cNvSpPr>
            <a:spLocks noChangeArrowheads="1"/>
          </p:cNvSpPr>
          <p:nvPr/>
        </p:nvSpPr>
        <p:spPr bwMode="auto">
          <a:xfrm>
            <a:off x="5" y="227442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84327" name="Rectangle 7"/>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84328" name="Rectangle 8"/>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84330" name="Rectangle 10"/>
          <p:cNvSpPr>
            <a:spLocks noChangeArrowheads="1"/>
          </p:cNvSpPr>
          <p:nvPr/>
        </p:nvSpPr>
        <p:spPr bwMode="auto">
          <a:xfrm>
            <a:off x="5" y="2227593"/>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sp>
        <p:nvSpPr>
          <p:cNvPr id="184332" name="Rectangle 12"/>
          <p:cNvSpPr>
            <a:spLocks noChangeArrowheads="1"/>
          </p:cNvSpPr>
          <p:nvPr/>
        </p:nvSpPr>
        <p:spPr bwMode="auto">
          <a:xfrm>
            <a:off x="5" y="-261609"/>
            <a:ext cx="184731" cy="523220"/>
          </a:xfrm>
          <a:prstGeom prst="rect">
            <a:avLst/>
          </a:prstGeom>
          <a:noFill/>
          <a:ln>
            <a:noFill/>
          </a:ln>
          <a:effectLst>
            <a:prstShdw prst="shdw18" dist="17961" dir="135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幼圆" pitchFamily="49" charset="-122"/>
              <a:cs typeface="+mn-cs"/>
            </a:endParaRPr>
          </a:p>
        </p:txBody>
      </p:sp>
      <p:grpSp>
        <p:nvGrpSpPr>
          <p:cNvPr id="3" name="Group 39"/>
          <p:cNvGrpSpPr/>
          <p:nvPr/>
        </p:nvGrpSpPr>
        <p:grpSpPr>
          <a:xfrm>
            <a:off x="755650" y="915568"/>
            <a:ext cx="7920038" cy="1424288"/>
            <a:chOff x="340" y="1104"/>
            <a:chExt cx="4989" cy="1196"/>
          </a:xfrm>
        </p:grpSpPr>
        <p:sp>
          <p:nvSpPr>
            <p:cNvPr id="45071" name="Text Box 40"/>
            <p:cNvSpPr txBox="1"/>
            <p:nvPr/>
          </p:nvSpPr>
          <p:spPr>
            <a:xfrm>
              <a:off x="340" y="1104"/>
              <a:ext cx="4989" cy="1111"/>
            </a:xfrm>
            <a:prstGeom prst="rect">
              <a:avLst/>
            </a:prstGeom>
            <a:noFill/>
            <a:ln w="9525">
              <a:noFill/>
            </a:ln>
            <a:effectLst>
              <a:prstShdw prst="shdw17" dist="17961" dir="13499999">
                <a:srgbClr val="5C5C99"/>
              </a:prstShdw>
            </a:effectLst>
          </p:spPr>
          <p:txBody>
            <a:bodyPr anchor="t" anchorCtr="0">
              <a:spAutoFit/>
            </a:bodyPr>
            <a:lstStyle/>
            <a:p>
              <a:pPr>
                <a:buClrTx/>
                <a:buFontTx/>
              </a:pPr>
              <a:r>
                <a:rPr lang="zh-CN" altLang="en-US"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当</a:t>
              </a:r>
              <a:r>
                <a:rPr lang="en-US" altLang="zh-CN" sz="2400" dirty="0">
                  <a:latin typeface="Times New Roman" panose="02020603050405020304" pitchFamily="18" charset="0"/>
                  <a:ea typeface="宋体" panose="02010600030101010101" pitchFamily="2" charset="-122"/>
                </a:rPr>
                <a:t>c/      ≥500</a:t>
              </a:r>
              <a:r>
                <a:rPr lang="zh-CN" altLang="en-US" sz="2400" dirty="0">
                  <a:latin typeface="Times New Roman" panose="02020603050405020304" pitchFamily="18" charset="0"/>
                  <a:ea typeface="宋体" panose="02010600030101010101" pitchFamily="2" charset="-122"/>
                </a:rPr>
                <a:t>时，</a:t>
              </a:r>
              <a:r>
                <a:rPr lang="en-US" altLang="zh-CN" sz="2400" i="1" dirty="0">
                  <a:ea typeface="宋体" panose="02010600030101010101" pitchFamily="2" charset="-122"/>
                </a:rPr>
                <a:t> α&lt;5%,</a:t>
              </a:r>
              <a:r>
                <a:rPr lang="zh-CN" altLang="en-US" sz="2400" dirty="0">
                  <a:latin typeface="Times New Roman" panose="02020603050405020304" pitchFamily="18" charset="0"/>
                  <a:ea typeface="宋体" panose="02010600030101010101" pitchFamily="2" charset="-122"/>
                </a:rPr>
                <a:t>取</a:t>
              </a:r>
              <a:r>
                <a:rPr lang="en-US" altLang="zh-CN" sz="24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α</a:t>
              </a:r>
              <a:r>
                <a:rPr lang="en-US" altLang="zh-CN" sz="2400" dirty="0">
                  <a:latin typeface="Times New Roman" panose="02020603050405020304" pitchFamily="18" charset="0"/>
                  <a:ea typeface="宋体" panose="02010600030101010101" pitchFamily="2" charset="-122"/>
                </a:rPr>
                <a:t> ≈ 1</a:t>
              </a:r>
              <a:r>
                <a:rPr lang="zh-CN" altLang="en-US" sz="2400" dirty="0">
                  <a:latin typeface="Times New Roman" panose="02020603050405020304" pitchFamily="18" charset="0"/>
                  <a:ea typeface="宋体" panose="02010600030101010101" pitchFamily="2" charset="-122"/>
                </a:rPr>
                <a:t>，其误差小于</a:t>
              </a:r>
              <a:r>
                <a:rPr lang="en-US" altLang="zh-CN" sz="2400" dirty="0">
                  <a:latin typeface="Times New Roman" panose="02020603050405020304" pitchFamily="18" charset="0"/>
                  <a:ea typeface="宋体" panose="02010600030101010101" pitchFamily="2" charset="-122"/>
                </a:rPr>
                <a:t>0.2</a:t>
              </a:r>
              <a:r>
                <a:rPr lang="zh-CN" altLang="en-US" sz="2400" dirty="0">
                  <a:latin typeface="Times New Roman" panose="02020603050405020304" pitchFamily="18" charset="0"/>
                  <a:ea typeface="宋体" panose="02010600030101010101" pitchFamily="2" charset="-122"/>
                </a:rPr>
                <a:t>％，小于测量误差，则有</a:t>
              </a:r>
            </a:p>
            <a:p>
              <a:pPr>
                <a:buClrTx/>
                <a:buFontTx/>
              </a:pPr>
              <a:endParaRPr lang="zh-CN" altLang="en-US" dirty="0">
                <a:latin typeface="Times New Roman" panose="02020603050405020304" pitchFamily="18" charset="0"/>
                <a:ea typeface="宋体" panose="02010600030101010101" pitchFamily="2" charset="-122"/>
              </a:endParaRPr>
            </a:p>
          </p:txBody>
        </p:sp>
        <p:grpSp>
          <p:nvGrpSpPr>
            <p:cNvPr id="45072" name="Group 41"/>
            <p:cNvGrpSpPr/>
            <p:nvPr/>
          </p:nvGrpSpPr>
          <p:grpSpPr>
            <a:xfrm>
              <a:off x="1038" y="1237"/>
              <a:ext cx="3139" cy="1063"/>
              <a:chOff x="1038" y="2585"/>
              <a:chExt cx="3139" cy="1063"/>
            </a:xfrm>
          </p:grpSpPr>
          <p:graphicFrame>
            <p:nvGraphicFramePr>
              <p:cNvPr id="45073" name="Object 42"/>
              <p:cNvGraphicFramePr>
                <a:graphicFrameLocks noChangeAspect="1"/>
              </p:cNvGraphicFramePr>
              <p:nvPr>
                <p:extLst>
                  <p:ext uri="{D42A27DB-BD31-4B8C-83A1-F6EECF244321}">
                    <p14:modId xmlns:p14="http://schemas.microsoft.com/office/powerpoint/2010/main" val="3296946015"/>
                  </p:ext>
                </p:extLst>
              </p:nvPr>
            </p:nvGraphicFramePr>
            <p:xfrm>
              <a:off x="1162" y="3168"/>
              <a:ext cx="850" cy="480"/>
            </p:xfrm>
            <a:graphic>
              <a:graphicData uri="http://schemas.openxmlformats.org/presentationml/2006/ole">
                <mc:AlternateContent xmlns:mc="http://schemas.openxmlformats.org/markup-compatibility/2006">
                  <mc:Choice xmlns:v="urn:schemas-microsoft-com:vml" Requires="v">
                    <p:oleObj name="Equation" r:id="rId2" imgW="571320" imgH="457200" progId="Equation.DSMT4">
                      <p:embed/>
                    </p:oleObj>
                  </mc:Choice>
                  <mc:Fallback>
                    <p:oleObj name="Equation" r:id="rId2" imgW="571320" imgH="457200" progId="Equation.DSMT4">
                      <p:embed/>
                      <p:pic>
                        <p:nvPicPr>
                          <p:cNvPr id="0" name=""/>
                          <p:cNvPicPr/>
                          <p:nvPr/>
                        </p:nvPicPr>
                        <p:blipFill>
                          <a:blip r:embed="rId3"/>
                          <a:stretch>
                            <a:fillRect/>
                          </a:stretch>
                        </p:blipFill>
                        <p:spPr>
                          <a:xfrm>
                            <a:off x="1162" y="3168"/>
                            <a:ext cx="850" cy="480"/>
                          </a:xfrm>
                          <a:prstGeom prst="rect">
                            <a:avLst/>
                          </a:prstGeom>
                          <a:solidFill>
                            <a:srgbClr val="00B0F0"/>
                          </a:solidFill>
                          <a:ln w="38100">
                            <a:noFill/>
                            <a:miter/>
                          </a:ln>
                        </p:spPr>
                      </p:pic>
                    </p:oleObj>
                  </mc:Fallback>
                </mc:AlternateContent>
              </a:graphicData>
            </a:graphic>
          </p:graphicFrame>
          <p:graphicFrame>
            <p:nvGraphicFramePr>
              <p:cNvPr id="45074" name="Object 43"/>
              <p:cNvGraphicFramePr>
                <a:graphicFrameLocks noChangeAspect="1"/>
              </p:cNvGraphicFramePr>
              <p:nvPr/>
            </p:nvGraphicFramePr>
            <p:xfrm>
              <a:off x="1038" y="2585"/>
              <a:ext cx="227" cy="317"/>
            </p:xfrm>
            <a:graphic>
              <a:graphicData uri="http://schemas.openxmlformats.org/presentationml/2006/ole">
                <mc:AlternateContent xmlns:mc="http://schemas.openxmlformats.org/markup-compatibility/2006">
                  <mc:Choice xmlns:v="urn:schemas-microsoft-com:vml" Requires="v">
                    <p:oleObj r:id="rId4" imgW="213360" imgH="226695" progId="Equation.3">
                      <p:embed/>
                    </p:oleObj>
                  </mc:Choice>
                  <mc:Fallback>
                    <p:oleObj r:id="rId4" imgW="213360" imgH="226695" progId="Equation.3">
                      <p:embed/>
                      <p:pic>
                        <p:nvPicPr>
                          <p:cNvPr id="0" name=""/>
                          <p:cNvPicPr/>
                          <p:nvPr/>
                        </p:nvPicPr>
                        <p:blipFill>
                          <a:blip r:embed="rId5"/>
                          <a:stretch>
                            <a:fillRect/>
                          </a:stretch>
                        </p:blipFill>
                        <p:spPr>
                          <a:xfrm>
                            <a:off x="1038" y="2585"/>
                            <a:ext cx="227" cy="317"/>
                          </a:xfrm>
                          <a:prstGeom prst="rect">
                            <a:avLst/>
                          </a:prstGeom>
                          <a:noFill/>
                          <a:ln w="38100">
                            <a:noFill/>
                            <a:miter/>
                          </a:ln>
                        </p:spPr>
                      </p:pic>
                    </p:oleObj>
                  </mc:Fallback>
                </mc:AlternateContent>
              </a:graphicData>
            </a:graphic>
          </p:graphicFrame>
          <p:graphicFrame>
            <p:nvGraphicFramePr>
              <p:cNvPr id="45075" name="Object 44"/>
              <p:cNvGraphicFramePr>
                <a:graphicFrameLocks noChangeAspect="1"/>
              </p:cNvGraphicFramePr>
              <p:nvPr>
                <p:extLst>
                  <p:ext uri="{D42A27DB-BD31-4B8C-83A1-F6EECF244321}">
                    <p14:modId xmlns:p14="http://schemas.microsoft.com/office/powerpoint/2010/main" val="1650961583"/>
                  </p:ext>
                </p:extLst>
              </p:nvPr>
            </p:nvGraphicFramePr>
            <p:xfrm>
              <a:off x="2767" y="3098"/>
              <a:ext cx="1410" cy="492"/>
            </p:xfrm>
            <a:graphic>
              <a:graphicData uri="http://schemas.openxmlformats.org/presentationml/2006/ole">
                <mc:AlternateContent xmlns:mc="http://schemas.openxmlformats.org/markup-compatibility/2006">
                  <mc:Choice xmlns:v="urn:schemas-microsoft-com:vml" Requires="v">
                    <p:oleObj name="Equation" r:id="rId6" imgW="1130040" imgH="291960" progId="Equation.DSMT4">
                      <p:embed/>
                    </p:oleObj>
                  </mc:Choice>
                  <mc:Fallback>
                    <p:oleObj name="Equation" r:id="rId6" imgW="1130040" imgH="291960" progId="Equation.DSMT4">
                      <p:embed/>
                      <p:pic>
                        <p:nvPicPr>
                          <p:cNvPr id="0" name=""/>
                          <p:cNvPicPr/>
                          <p:nvPr/>
                        </p:nvPicPr>
                        <p:blipFill>
                          <a:blip r:embed="rId7"/>
                          <a:stretch>
                            <a:fillRect/>
                          </a:stretch>
                        </p:blipFill>
                        <p:spPr>
                          <a:xfrm>
                            <a:off x="2767" y="3098"/>
                            <a:ext cx="1410" cy="492"/>
                          </a:xfrm>
                          <a:prstGeom prst="rect">
                            <a:avLst/>
                          </a:prstGeom>
                          <a:solidFill>
                            <a:srgbClr val="00B0F0">
                              <a:alpha val="78000"/>
                            </a:srgbClr>
                          </a:solidFill>
                          <a:ln w="38100">
                            <a:noFill/>
                            <a:miter/>
                          </a:ln>
                        </p:spPr>
                      </p:pic>
                    </p:oleObj>
                  </mc:Fallback>
                </mc:AlternateContent>
              </a:graphicData>
            </a:graphic>
          </p:graphicFrame>
        </p:grpSp>
      </p:grpSp>
      <p:sp>
        <p:nvSpPr>
          <p:cNvPr id="22" name="Text Box 18"/>
          <p:cNvSpPr txBox="1"/>
          <p:nvPr/>
        </p:nvSpPr>
        <p:spPr>
          <a:xfrm>
            <a:off x="554206" y="2643761"/>
            <a:ext cx="7416800" cy="1031051"/>
          </a:xfrm>
          <a:prstGeom prst="rect">
            <a:avLst/>
          </a:prstGeom>
          <a:noFill/>
          <a:ln w="9525">
            <a:noFill/>
          </a:ln>
          <a:effectLst>
            <a:prstShdw prst="shdw17" dist="17961" dir="13499999">
              <a:srgbClr val="5C5C99"/>
            </a:prstShdw>
          </a:effectLst>
        </p:spPr>
        <p:txBody>
          <a:bodyPr anchor="t" anchorCtr="0">
            <a:spAutoFit/>
          </a:bodyPr>
          <a:lstStyle/>
          <a:p>
            <a:pPr>
              <a:spcBef>
                <a:spcPts val="600"/>
              </a:spcBef>
              <a:buClrTx/>
              <a:buFontTx/>
            </a:pPr>
            <a:r>
              <a:rPr lang="zh-CN" altLang="en-US" dirty="0">
                <a:latin typeface="Times New Roman" panose="02020603050405020304" pitchFamily="18" charset="0"/>
                <a:ea typeface="宋体" panose="02010600030101010101" pitchFamily="2" charset="-122"/>
              </a:rPr>
              <a:t>同理可推出一元弱碱中</a:t>
            </a:r>
            <a:r>
              <a:rPr lang="en-US" altLang="zh-CN" dirty="0">
                <a:latin typeface="Times New Roman" panose="02020603050405020304" pitchFamily="18" charset="0"/>
                <a:ea typeface="宋体" panose="02010600030101010101" pitchFamily="2" charset="-122"/>
              </a:rPr>
              <a:t> </a:t>
            </a:r>
          </a:p>
          <a:p>
            <a:pPr>
              <a:spcBef>
                <a:spcPts val="600"/>
              </a:spcBef>
              <a:buClrTx/>
              <a:buFontTx/>
            </a:pPr>
            <a:r>
              <a:rPr lang="en-US" altLang="zh-CN" i="1"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23" name="Object 42"/>
          <p:cNvGraphicFramePr>
            <a:graphicFrameLocks noChangeAspect="1"/>
          </p:cNvGraphicFramePr>
          <p:nvPr>
            <p:extLst>
              <p:ext uri="{D42A27DB-BD31-4B8C-83A1-F6EECF244321}">
                <p14:modId xmlns:p14="http://schemas.microsoft.com/office/powerpoint/2010/main" val="418352091"/>
              </p:ext>
            </p:extLst>
          </p:nvPr>
        </p:nvGraphicFramePr>
        <p:xfrm>
          <a:off x="2123734" y="3189140"/>
          <a:ext cx="1349375" cy="571620"/>
        </p:xfrm>
        <a:graphic>
          <a:graphicData uri="http://schemas.openxmlformats.org/presentationml/2006/ole">
            <mc:AlternateContent xmlns:mc="http://schemas.openxmlformats.org/markup-compatibility/2006">
              <mc:Choice xmlns:v="urn:schemas-microsoft-com:vml" Requires="v">
                <p:oleObj name="Equation" r:id="rId8" imgW="571320" imgH="457200" progId="Equation.DSMT4">
                  <p:embed/>
                </p:oleObj>
              </mc:Choice>
              <mc:Fallback>
                <p:oleObj name="Equation" r:id="rId8" imgW="571320" imgH="457200" progId="Equation.DSMT4">
                  <p:embed/>
                  <p:pic>
                    <p:nvPicPr>
                      <p:cNvPr id="0" name=""/>
                      <p:cNvPicPr/>
                      <p:nvPr/>
                    </p:nvPicPr>
                    <p:blipFill>
                      <a:blip r:embed="rId9"/>
                      <a:stretch>
                        <a:fillRect/>
                      </a:stretch>
                    </p:blipFill>
                    <p:spPr>
                      <a:xfrm>
                        <a:off x="2123734" y="3189140"/>
                        <a:ext cx="1349375" cy="571620"/>
                      </a:xfrm>
                      <a:prstGeom prst="rect">
                        <a:avLst/>
                      </a:prstGeom>
                      <a:solidFill>
                        <a:srgbClr val="00B0F0"/>
                      </a:solidFill>
                      <a:ln w="38100">
                        <a:noFill/>
                        <a:miter/>
                      </a:ln>
                    </p:spPr>
                  </p:pic>
                </p:oleObj>
              </mc:Fallback>
            </mc:AlternateContent>
          </a:graphicData>
        </a:graphic>
      </p:graphicFrame>
      <p:graphicFrame>
        <p:nvGraphicFramePr>
          <p:cNvPr id="24" name="Object 44"/>
          <p:cNvGraphicFramePr>
            <a:graphicFrameLocks noChangeAspect="1"/>
          </p:cNvGraphicFramePr>
          <p:nvPr>
            <p:extLst>
              <p:ext uri="{D42A27DB-BD31-4B8C-83A1-F6EECF244321}">
                <p14:modId xmlns:p14="http://schemas.microsoft.com/office/powerpoint/2010/main" val="3735233444"/>
              </p:ext>
            </p:extLst>
          </p:nvPr>
        </p:nvGraphicFramePr>
        <p:xfrm>
          <a:off x="4644008" y="3158902"/>
          <a:ext cx="2389188" cy="585788"/>
        </p:xfrm>
        <a:graphic>
          <a:graphicData uri="http://schemas.openxmlformats.org/presentationml/2006/ole">
            <mc:AlternateContent xmlns:mc="http://schemas.openxmlformats.org/markup-compatibility/2006">
              <mc:Choice xmlns:v="urn:schemas-microsoft-com:vml" Requires="v">
                <p:oleObj name="Equation" r:id="rId10" imgW="1206360" imgH="291960" progId="Equation.DSMT4">
                  <p:embed/>
                </p:oleObj>
              </mc:Choice>
              <mc:Fallback>
                <p:oleObj name="Equation" r:id="rId10" imgW="1206360" imgH="291960" progId="Equation.DSMT4">
                  <p:embed/>
                  <p:pic>
                    <p:nvPicPr>
                      <p:cNvPr id="0" name=""/>
                      <p:cNvPicPr/>
                      <p:nvPr/>
                    </p:nvPicPr>
                    <p:blipFill>
                      <a:blip r:embed="rId11"/>
                      <a:stretch>
                        <a:fillRect/>
                      </a:stretch>
                    </p:blipFill>
                    <p:spPr>
                      <a:xfrm>
                        <a:off x="4644008" y="3158902"/>
                        <a:ext cx="2389188" cy="585788"/>
                      </a:xfrm>
                      <a:prstGeom prst="rect">
                        <a:avLst/>
                      </a:prstGeom>
                      <a:solidFill>
                        <a:srgbClr val="00B0F0">
                          <a:alpha val="78000"/>
                        </a:srgbClr>
                      </a:solidFill>
                      <a:ln w="38100">
                        <a:noFill/>
                        <a:miter/>
                      </a:ln>
                    </p:spPr>
                  </p:pic>
                </p:oleObj>
              </mc:Fallback>
            </mc:AlternateContent>
          </a:graphicData>
        </a:graphic>
      </p:graphicFrame>
    </p:spTree>
    <p:extLst>
      <p:ext uri="{BB962C8B-B14F-4D97-AF65-F5344CB8AC3E}">
        <p14:creationId xmlns:p14="http://schemas.microsoft.com/office/powerpoint/2010/main" val="1129945588"/>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p:cNvSpPr>
            <a:spLocks noGrp="1" noChangeArrowheads="1"/>
          </p:cNvSpPr>
          <p:nvPr>
            <p:ph type="sldNum" sz="quarter" idx="4294967295"/>
          </p:nvPr>
        </p:nvSpPr>
        <p:spPr>
          <a:xfrm>
            <a:off x="6553200" y="4683919"/>
            <a:ext cx="2133600" cy="3571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fld id="{F668AEBB-9851-4167-B9AA-1D2742844F0D}" type="slidenum">
              <a:rPr lang="zh-CN" altLang="en-US" sz="1400">
                <a:solidFill>
                  <a:schemeClr val="bg1"/>
                </a:solidFill>
              </a:rPr>
              <a:pPr/>
              <a:t>68</a:t>
            </a:fld>
            <a:endParaRPr lang="zh-CN" altLang="en-US" sz="1400">
              <a:solidFill>
                <a:schemeClr val="bg1"/>
              </a:solidFill>
            </a:endParaRPr>
          </a:p>
        </p:txBody>
      </p:sp>
      <p:sp>
        <p:nvSpPr>
          <p:cNvPr id="19459" name="Text Box 2"/>
          <p:cNvSpPr txBox="1">
            <a:spLocks noChangeArrowheads="1"/>
          </p:cNvSpPr>
          <p:nvPr/>
        </p:nvSpPr>
        <p:spPr bwMode="auto">
          <a:xfrm>
            <a:off x="1065951" y="1275609"/>
            <a:ext cx="3168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eaLnBrk="1" hangingPunct="1">
              <a:spcBef>
                <a:spcPct val="50000"/>
              </a:spcBef>
            </a:pPr>
            <a:endParaRPr lang="zh-CN" altLang="en-US" sz="2400"/>
          </a:p>
        </p:txBody>
      </p:sp>
      <p:sp>
        <p:nvSpPr>
          <p:cNvPr id="610307" name="Rectangle 3"/>
          <p:cNvSpPr>
            <a:spLocks noChangeArrowheads="1"/>
          </p:cNvSpPr>
          <p:nvPr/>
        </p:nvSpPr>
        <p:spPr bwMode="auto">
          <a:xfrm>
            <a:off x="611195" y="339502"/>
            <a:ext cx="8137525"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eaLnBrk="1" hangingPunct="1">
              <a:lnSpc>
                <a:spcPct val="140000"/>
              </a:lnSpc>
            </a:pPr>
            <a:r>
              <a:rPr lang="zh-CN" altLang="zh-CN" sz="2400" b="1" dirty="0">
                <a:ea typeface="黑体" pitchFamily="49" charset="-122"/>
              </a:rPr>
              <a:t>练习：</a:t>
            </a:r>
            <a:r>
              <a:rPr lang="en-US" altLang="zh-CN" sz="2400" b="1" dirty="0">
                <a:ea typeface="黑体" pitchFamily="49" charset="-122"/>
              </a:rPr>
              <a:t>1. </a:t>
            </a:r>
            <a:r>
              <a:rPr lang="zh-CN" altLang="en-US" sz="2400" b="1" dirty="0">
                <a:ea typeface="黑体" pitchFamily="49" charset="-122"/>
              </a:rPr>
              <a:t>下列物质哪些是酸，哪些是碱。</a:t>
            </a:r>
          </a:p>
          <a:p>
            <a:pPr>
              <a:lnSpc>
                <a:spcPct val="140000"/>
              </a:lnSpc>
            </a:pPr>
            <a:r>
              <a:rPr lang="zh-CN" altLang="en-US" sz="2400" b="1" dirty="0">
                <a:ea typeface="黑体" pitchFamily="49" charset="-122"/>
              </a:rPr>
              <a:t>       </a:t>
            </a:r>
            <a:r>
              <a:rPr lang="en-US" altLang="zh-CN" sz="2400" b="1" dirty="0">
                <a:ea typeface="黑体" pitchFamily="49" charset="-122"/>
              </a:rPr>
              <a:t>HS</a:t>
            </a:r>
            <a:r>
              <a:rPr lang="en-US" altLang="zh-CN" sz="2400" b="1" baseline="30000" dirty="0">
                <a:ea typeface="黑体" pitchFamily="49" charset="-122"/>
              </a:rPr>
              <a:t>-</a:t>
            </a:r>
            <a:r>
              <a:rPr lang="en-US" altLang="zh-CN" sz="2400" b="1" dirty="0">
                <a:ea typeface="黑体" pitchFamily="49" charset="-122"/>
              </a:rPr>
              <a:t>  CO</a:t>
            </a:r>
            <a:r>
              <a:rPr lang="en-US" altLang="zh-CN" sz="2400" b="1" baseline="-25000" dirty="0">
                <a:ea typeface="黑体" pitchFamily="49" charset="-122"/>
              </a:rPr>
              <a:t>3</a:t>
            </a:r>
            <a:r>
              <a:rPr lang="en-US" altLang="zh-CN" sz="2400" b="1" baseline="30000" dirty="0">
                <a:ea typeface="黑体" pitchFamily="49" charset="-122"/>
              </a:rPr>
              <a:t>2-</a:t>
            </a:r>
            <a:r>
              <a:rPr lang="en-US" altLang="zh-CN" sz="2400" b="1" dirty="0">
                <a:ea typeface="黑体" pitchFamily="49" charset="-122"/>
              </a:rPr>
              <a:t>  H</a:t>
            </a:r>
            <a:r>
              <a:rPr lang="en-US" altLang="zh-CN" sz="2400" b="1" baseline="-25000" dirty="0">
                <a:ea typeface="黑体" pitchFamily="49" charset="-122"/>
              </a:rPr>
              <a:t>2</a:t>
            </a:r>
            <a:r>
              <a:rPr lang="en-US" altLang="zh-CN" sz="2400" b="1" dirty="0">
                <a:ea typeface="黑体" pitchFamily="49" charset="-122"/>
              </a:rPr>
              <a:t>PO</a:t>
            </a:r>
            <a:r>
              <a:rPr lang="en-US" altLang="zh-CN" sz="2400" b="1" baseline="-25000" dirty="0">
                <a:ea typeface="黑体" pitchFamily="49" charset="-122"/>
              </a:rPr>
              <a:t>4</a:t>
            </a:r>
            <a:r>
              <a:rPr lang="en-US" altLang="zh-CN" sz="2400" b="1" baseline="30000" dirty="0">
                <a:ea typeface="黑体" pitchFamily="49" charset="-122"/>
              </a:rPr>
              <a:t>-</a:t>
            </a:r>
            <a:r>
              <a:rPr lang="en-US" altLang="zh-CN" sz="2400" b="1" dirty="0">
                <a:ea typeface="黑体" pitchFamily="49" charset="-122"/>
              </a:rPr>
              <a:t>  NH</a:t>
            </a:r>
            <a:r>
              <a:rPr lang="en-US" altLang="zh-CN" sz="2400" b="1" baseline="-25000" dirty="0">
                <a:ea typeface="黑体" pitchFamily="49" charset="-122"/>
              </a:rPr>
              <a:t>3</a:t>
            </a:r>
            <a:r>
              <a:rPr lang="en-US" altLang="zh-CN" sz="2400" b="1" dirty="0">
                <a:ea typeface="黑体" pitchFamily="49" charset="-122"/>
              </a:rPr>
              <a:t>  H</a:t>
            </a:r>
            <a:r>
              <a:rPr lang="en-US" altLang="zh-CN" sz="2400" b="1" baseline="-25000" dirty="0">
                <a:ea typeface="黑体" pitchFamily="49" charset="-122"/>
              </a:rPr>
              <a:t>2</a:t>
            </a:r>
            <a:r>
              <a:rPr lang="en-US" altLang="zh-CN" sz="2400" b="1" dirty="0">
                <a:ea typeface="黑体" pitchFamily="49" charset="-122"/>
              </a:rPr>
              <a:t>S  </a:t>
            </a:r>
            <a:r>
              <a:rPr lang="en-US" altLang="zh-CN" sz="2400" b="1" dirty="0" err="1">
                <a:ea typeface="黑体" pitchFamily="49" charset="-122"/>
              </a:rPr>
              <a:t>HAc</a:t>
            </a:r>
            <a:r>
              <a:rPr lang="en-US" altLang="zh-CN" sz="2400" b="1" dirty="0">
                <a:ea typeface="黑体" pitchFamily="49" charset="-122"/>
              </a:rPr>
              <a:t> OH</a:t>
            </a:r>
            <a:r>
              <a:rPr lang="en-US" altLang="zh-CN" sz="2400" b="1" baseline="30000" dirty="0">
                <a:ea typeface="黑体" pitchFamily="49" charset="-122"/>
              </a:rPr>
              <a:t>-</a:t>
            </a:r>
            <a:r>
              <a:rPr lang="en-US" altLang="zh-CN" sz="2400" b="1" dirty="0">
                <a:ea typeface="黑体" pitchFamily="49" charset="-122"/>
              </a:rPr>
              <a:t>  H</a:t>
            </a:r>
            <a:r>
              <a:rPr lang="en-US" altLang="zh-CN" sz="2400" b="1" baseline="-25000" dirty="0">
                <a:ea typeface="黑体" pitchFamily="49" charset="-122"/>
              </a:rPr>
              <a:t>2</a:t>
            </a:r>
            <a:r>
              <a:rPr lang="en-US" altLang="zh-CN" sz="2400" b="1" dirty="0">
                <a:ea typeface="黑体" pitchFamily="49" charset="-122"/>
              </a:rPr>
              <a:t>O  NO</a:t>
            </a:r>
            <a:r>
              <a:rPr lang="en-US" altLang="zh-CN" sz="2400" b="1" baseline="-25000" dirty="0">
                <a:ea typeface="黑体" pitchFamily="49" charset="-122"/>
              </a:rPr>
              <a:t>3</a:t>
            </a:r>
            <a:r>
              <a:rPr lang="en-US" altLang="zh-CN" sz="2400" b="1" baseline="30000" dirty="0">
                <a:ea typeface="黑体" pitchFamily="49" charset="-122"/>
              </a:rPr>
              <a:t>-</a:t>
            </a:r>
          </a:p>
        </p:txBody>
      </p:sp>
      <p:sp>
        <p:nvSpPr>
          <p:cNvPr id="610308" name="Rectangle 4"/>
          <p:cNvSpPr>
            <a:spLocks noChangeArrowheads="1"/>
          </p:cNvSpPr>
          <p:nvPr/>
        </p:nvSpPr>
        <p:spPr bwMode="auto">
          <a:xfrm>
            <a:off x="632675" y="1506438"/>
            <a:ext cx="8137525"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eaLnBrk="1" hangingPunct="1">
              <a:lnSpc>
                <a:spcPct val="140000"/>
              </a:lnSpc>
            </a:pPr>
            <a:r>
              <a:rPr lang="zh-CN" altLang="en-US" sz="2400" b="1" dirty="0">
                <a:ea typeface="黑体" pitchFamily="49" charset="-122"/>
              </a:rPr>
              <a:t>答：酸：</a:t>
            </a:r>
            <a:r>
              <a:rPr lang="en-US" altLang="zh-CN" sz="2400" b="1" dirty="0">
                <a:ea typeface="黑体" pitchFamily="49" charset="-122"/>
              </a:rPr>
              <a:t>HS</a:t>
            </a:r>
            <a:r>
              <a:rPr lang="en-US" altLang="zh-CN" sz="2400" b="1" baseline="30000" dirty="0">
                <a:ea typeface="黑体" pitchFamily="49" charset="-122"/>
              </a:rPr>
              <a:t>-</a:t>
            </a:r>
            <a:r>
              <a:rPr lang="en-US" altLang="zh-CN" sz="2400" b="1" dirty="0">
                <a:ea typeface="黑体" pitchFamily="49" charset="-122"/>
              </a:rPr>
              <a:t>  H</a:t>
            </a:r>
            <a:r>
              <a:rPr lang="en-US" altLang="zh-CN" sz="2400" b="1" baseline="-25000" dirty="0">
                <a:ea typeface="黑体" pitchFamily="49" charset="-122"/>
              </a:rPr>
              <a:t>2</a:t>
            </a:r>
            <a:r>
              <a:rPr lang="en-US" altLang="zh-CN" sz="2400" b="1" dirty="0">
                <a:ea typeface="黑体" pitchFamily="49" charset="-122"/>
              </a:rPr>
              <a:t>PO</a:t>
            </a:r>
            <a:r>
              <a:rPr lang="en-US" altLang="zh-CN" sz="2400" b="1" baseline="-25000" dirty="0">
                <a:ea typeface="黑体" pitchFamily="49" charset="-122"/>
              </a:rPr>
              <a:t>4</a:t>
            </a:r>
            <a:r>
              <a:rPr lang="en-US" altLang="zh-CN" sz="2400" b="1" baseline="30000" dirty="0">
                <a:ea typeface="黑体" pitchFamily="49" charset="-122"/>
              </a:rPr>
              <a:t>-</a:t>
            </a:r>
            <a:r>
              <a:rPr lang="en-US" altLang="zh-CN" sz="2400" b="1" dirty="0">
                <a:ea typeface="黑体" pitchFamily="49" charset="-122"/>
              </a:rPr>
              <a:t>  H</a:t>
            </a:r>
            <a:r>
              <a:rPr lang="en-US" altLang="zh-CN" sz="2400" b="1" baseline="-25000" dirty="0">
                <a:ea typeface="黑体" pitchFamily="49" charset="-122"/>
              </a:rPr>
              <a:t>2</a:t>
            </a:r>
            <a:r>
              <a:rPr lang="en-US" altLang="zh-CN" sz="2400" b="1" dirty="0">
                <a:ea typeface="黑体" pitchFamily="49" charset="-122"/>
              </a:rPr>
              <a:t>S  </a:t>
            </a:r>
            <a:r>
              <a:rPr lang="en-US" altLang="zh-CN" sz="2400" b="1" dirty="0" err="1">
                <a:ea typeface="黑体" pitchFamily="49" charset="-122"/>
              </a:rPr>
              <a:t>HAc</a:t>
            </a:r>
            <a:r>
              <a:rPr lang="en-US" altLang="zh-CN" sz="2400" b="1" dirty="0">
                <a:ea typeface="黑体" pitchFamily="49" charset="-122"/>
              </a:rPr>
              <a:t>  H</a:t>
            </a:r>
            <a:r>
              <a:rPr lang="en-US" altLang="zh-CN" sz="2400" b="1" baseline="-25000" dirty="0">
                <a:ea typeface="黑体" pitchFamily="49" charset="-122"/>
              </a:rPr>
              <a:t>2</a:t>
            </a:r>
            <a:r>
              <a:rPr lang="en-US" altLang="zh-CN" sz="2400" b="1" dirty="0">
                <a:ea typeface="黑体" pitchFamily="49" charset="-122"/>
              </a:rPr>
              <a:t>O  </a:t>
            </a:r>
          </a:p>
          <a:p>
            <a:pPr eaLnBrk="1" hangingPunct="1">
              <a:lnSpc>
                <a:spcPct val="140000"/>
              </a:lnSpc>
            </a:pPr>
            <a:r>
              <a:rPr lang="zh-CN" altLang="en-US" sz="2400" b="1" dirty="0">
                <a:ea typeface="黑体" pitchFamily="49" charset="-122"/>
              </a:rPr>
              <a:t>碱：</a:t>
            </a:r>
            <a:r>
              <a:rPr lang="en-US" altLang="zh-CN" sz="2400" b="1" dirty="0">
                <a:ea typeface="黑体" pitchFamily="49" charset="-122"/>
              </a:rPr>
              <a:t>HS</a:t>
            </a:r>
            <a:r>
              <a:rPr lang="en-US" altLang="zh-CN" sz="2400" b="1" baseline="30000" dirty="0">
                <a:ea typeface="黑体" pitchFamily="49" charset="-122"/>
              </a:rPr>
              <a:t>-</a:t>
            </a:r>
            <a:r>
              <a:rPr lang="en-US" altLang="zh-CN" sz="2400" b="1" dirty="0">
                <a:ea typeface="黑体" pitchFamily="49" charset="-122"/>
              </a:rPr>
              <a:t>  CO</a:t>
            </a:r>
            <a:r>
              <a:rPr lang="en-US" altLang="zh-CN" sz="2400" b="1" baseline="-25000" dirty="0">
                <a:ea typeface="黑体" pitchFamily="49" charset="-122"/>
              </a:rPr>
              <a:t>3</a:t>
            </a:r>
            <a:r>
              <a:rPr lang="en-US" altLang="zh-CN" sz="2400" b="1" baseline="30000" dirty="0">
                <a:ea typeface="黑体" pitchFamily="49" charset="-122"/>
              </a:rPr>
              <a:t>2-</a:t>
            </a:r>
            <a:r>
              <a:rPr lang="en-US" altLang="zh-CN" sz="2400" b="1" dirty="0">
                <a:ea typeface="黑体" pitchFamily="49" charset="-122"/>
              </a:rPr>
              <a:t>  H</a:t>
            </a:r>
            <a:r>
              <a:rPr lang="en-US" altLang="zh-CN" sz="2400" b="1" baseline="-25000" dirty="0">
                <a:ea typeface="黑体" pitchFamily="49" charset="-122"/>
              </a:rPr>
              <a:t>2</a:t>
            </a:r>
            <a:r>
              <a:rPr lang="en-US" altLang="zh-CN" sz="2400" b="1" dirty="0">
                <a:ea typeface="黑体" pitchFamily="49" charset="-122"/>
              </a:rPr>
              <a:t>PO</a:t>
            </a:r>
            <a:r>
              <a:rPr lang="en-US" altLang="zh-CN" sz="2400" b="1" baseline="-25000" dirty="0">
                <a:ea typeface="黑体" pitchFamily="49" charset="-122"/>
              </a:rPr>
              <a:t>4</a:t>
            </a:r>
            <a:r>
              <a:rPr lang="en-US" altLang="zh-CN" sz="2400" b="1" baseline="30000" dirty="0">
                <a:ea typeface="黑体" pitchFamily="49" charset="-122"/>
              </a:rPr>
              <a:t>-</a:t>
            </a:r>
            <a:r>
              <a:rPr lang="en-US" altLang="zh-CN" sz="2400" b="1" dirty="0">
                <a:ea typeface="黑体" pitchFamily="49" charset="-122"/>
              </a:rPr>
              <a:t>  NH</a:t>
            </a:r>
            <a:r>
              <a:rPr lang="en-US" altLang="zh-CN" sz="2400" b="1" baseline="-25000" dirty="0">
                <a:ea typeface="黑体" pitchFamily="49" charset="-122"/>
              </a:rPr>
              <a:t>3</a:t>
            </a:r>
            <a:r>
              <a:rPr lang="en-US" altLang="zh-CN" sz="2400" b="1" dirty="0">
                <a:ea typeface="黑体" pitchFamily="49" charset="-122"/>
              </a:rPr>
              <a:t>  OH</a:t>
            </a:r>
            <a:r>
              <a:rPr lang="en-US" altLang="zh-CN" sz="2400" b="1" baseline="30000" dirty="0">
                <a:ea typeface="黑体" pitchFamily="49" charset="-122"/>
              </a:rPr>
              <a:t>-</a:t>
            </a:r>
            <a:r>
              <a:rPr lang="en-US" altLang="zh-CN" sz="2400" b="1" dirty="0">
                <a:ea typeface="黑体" pitchFamily="49" charset="-122"/>
              </a:rPr>
              <a:t>  H</a:t>
            </a:r>
            <a:r>
              <a:rPr lang="en-US" altLang="zh-CN" sz="2400" b="1" baseline="-25000" dirty="0">
                <a:ea typeface="黑体" pitchFamily="49" charset="-122"/>
              </a:rPr>
              <a:t>2</a:t>
            </a:r>
            <a:r>
              <a:rPr lang="en-US" altLang="zh-CN" sz="2400" b="1" dirty="0">
                <a:ea typeface="黑体" pitchFamily="49" charset="-122"/>
              </a:rPr>
              <a:t>O  NO</a:t>
            </a:r>
            <a:r>
              <a:rPr lang="en-US" altLang="zh-CN" sz="2400" b="1" baseline="-25000" dirty="0">
                <a:ea typeface="黑体" pitchFamily="49" charset="-122"/>
              </a:rPr>
              <a:t>3</a:t>
            </a:r>
            <a:r>
              <a:rPr lang="en-US" altLang="zh-CN" sz="2400" b="1" baseline="30000" dirty="0">
                <a:ea typeface="黑体" pitchFamily="49" charset="-122"/>
              </a:rPr>
              <a:t>-</a:t>
            </a:r>
          </a:p>
        </p:txBody>
      </p:sp>
      <p:sp>
        <p:nvSpPr>
          <p:cNvPr id="7" name="Rectangle 6"/>
          <p:cNvSpPr>
            <a:spLocks noChangeArrowheads="1"/>
          </p:cNvSpPr>
          <p:nvPr/>
        </p:nvSpPr>
        <p:spPr bwMode="auto">
          <a:xfrm>
            <a:off x="277756" y="2859782"/>
            <a:ext cx="879157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indent="266700" eaLnBrk="0" hangingPunct="0">
              <a:tabLst>
                <a:tab pos="3829050" algn="l"/>
              </a:tabLst>
              <a:defRPr sz="3200">
                <a:solidFill>
                  <a:schemeClr val="tx1"/>
                </a:solidFill>
                <a:latin typeface="Times New Roman" pitchFamily="18" charset="0"/>
                <a:ea typeface="宋体" pitchFamily="2" charset="-122"/>
              </a:defRPr>
            </a:lvl1pPr>
            <a:lvl2pPr marL="742950" indent="-285750" eaLnBrk="0" hangingPunct="0">
              <a:tabLst>
                <a:tab pos="3829050" algn="l"/>
              </a:tabLst>
              <a:defRPr sz="3200">
                <a:solidFill>
                  <a:schemeClr val="tx1"/>
                </a:solidFill>
                <a:latin typeface="Times New Roman" pitchFamily="18" charset="0"/>
                <a:ea typeface="宋体" pitchFamily="2" charset="-122"/>
              </a:defRPr>
            </a:lvl2pPr>
            <a:lvl3pPr marL="1143000" indent="-228600" eaLnBrk="0" hangingPunct="0">
              <a:tabLst>
                <a:tab pos="3829050" algn="l"/>
              </a:tabLst>
              <a:defRPr sz="3200">
                <a:solidFill>
                  <a:schemeClr val="tx1"/>
                </a:solidFill>
                <a:latin typeface="Times New Roman" pitchFamily="18" charset="0"/>
                <a:ea typeface="宋体" pitchFamily="2" charset="-122"/>
              </a:defRPr>
            </a:lvl3pPr>
            <a:lvl4pPr marL="1600200" indent="-228600" eaLnBrk="0" hangingPunct="0">
              <a:tabLst>
                <a:tab pos="3829050" algn="l"/>
              </a:tabLst>
              <a:defRPr sz="3200">
                <a:solidFill>
                  <a:schemeClr val="tx1"/>
                </a:solidFill>
                <a:latin typeface="Times New Roman" pitchFamily="18" charset="0"/>
                <a:ea typeface="宋体" pitchFamily="2" charset="-122"/>
              </a:defRPr>
            </a:lvl4pPr>
            <a:lvl5pPr marL="2057400" indent="-228600" eaLnBrk="0" hangingPunct="0">
              <a:tabLst>
                <a:tab pos="3829050" algn="l"/>
              </a:tabLst>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tabLst>
                <a:tab pos="3829050" algn="l"/>
              </a:tabLs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tabLst>
                <a:tab pos="3829050" algn="l"/>
              </a:tabLs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tabLst>
                <a:tab pos="3829050" algn="l"/>
              </a:tabLs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tabLst>
                <a:tab pos="3829050" algn="l"/>
              </a:tabLst>
              <a:defRPr sz="3200">
                <a:solidFill>
                  <a:schemeClr val="tx1"/>
                </a:solidFill>
                <a:latin typeface="Times New Roman" pitchFamily="18" charset="0"/>
                <a:ea typeface="宋体" pitchFamily="2" charset="-122"/>
              </a:defRPr>
            </a:lvl9pPr>
          </a:lstStyle>
          <a:p>
            <a:r>
              <a:rPr lang="en-US" altLang="zh-CN" sz="2400" b="1" dirty="0">
                <a:ea typeface="黑体" pitchFamily="49" charset="-122"/>
              </a:rPr>
              <a:t>2</a:t>
            </a:r>
            <a:r>
              <a:rPr lang="zh-CN" altLang="en-US" sz="2400" b="1" dirty="0">
                <a:ea typeface="黑体" pitchFamily="49" charset="-122"/>
              </a:rPr>
              <a:t>、对反应</a:t>
            </a:r>
            <a:r>
              <a:rPr lang="en-US" altLang="zh-CN" sz="2400" b="1" dirty="0">
                <a:ea typeface="黑体" pitchFamily="49" charset="-122"/>
              </a:rPr>
              <a:t>HPO</a:t>
            </a:r>
            <a:r>
              <a:rPr lang="en-US" altLang="zh-CN" sz="2400" b="1" baseline="-25000" dirty="0">
                <a:ea typeface="黑体" pitchFamily="49" charset="-122"/>
              </a:rPr>
              <a:t>4</a:t>
            </a:r>
            <a:r>
              <a:rPr lang="en-US" altLang="zh-CN" sz="2400" b="1" baseline="30000" dirty="0">
                <a:ea typeface="黑体" pitchFamily="49" charset="-122"/>
              </a:rPr>
              <a:t>2-</a:t>
            </a:r>
            <a:r>
              <a:rPr lang="en-US" altLang="zh-CN" sz="2400" b="1" dirty="0">
                <a:ea typeface="黑体" pitchFamily="49" charset="-122"/>
              </a:rPr>
              <a:t>+H</a:t>
            </a:r>
            <a:r>
              <a:rPr lang="en-US" altLang="zh-CN" sz="2400" b="1" baseline="-25000" dirty="0">
                <a:ea typeface="黑体" pitchFamily="49" charset="-122"/>
              </a:rPr>
              <a:t>2</a:t>
            </a:r>
            <a:r>
              <a:rPr lang="en-US" altLang="zh-CN" sz="2400" b="1" dirty="0">
                <a:ea typeface="黑体" pitchFamily="49" charset="-122"/>
              </a:rPr>
              <a:t>O</a:t>
            </a:r>
            <a:r>
              <a:rPr lang="en-US" altLang="zh-CN" sz="2400" dirty="0">
                <a:latin typeface="+mn-ea"/>
                <a:ea typeface="+mn-ea"/>
              </a:rPr>
              <a:t>=</a:t>
            </a:r>
            <a:r>
              <a:rPr lang="en-US" altLang="zh-CN" sz="2400" b="1" dirty="0">
                <a:ea typeface="黑体" pitchFamily="49" charset="-122"/>
              </a:rPr>
              <a:t>H</a:t>
            </a:r>
            <a:r>
              <a:rPr lang="en-US" altLang="zh-CN" sz="2400" b="1" baseline="-25000" dirty="0">
                <a:ea typeface="黑体" pitchFamily="49" charset="-122"/>
              </a:rPr>
              <a:t>2</a:t>
            </a:r>
            <a:r>
              <a:rPr lang="en-US" altLang="zh-CN" sz="2400" b="1" dirty="0">
                <a:ea typeface="黑体" pitchFamily="49" charset="-122"/>
              </a:rPr>
              <a:t>PO</a:t>
            </a:r>
            <a:r>
              <a:rPr lang="en-US" altLang="zh-CN" sz="2400" b="1" baseline="-25000" dirty="0">
                <a:ea typeface="黑体" pitchFamily="49" charset="-122"/>
              </a:rPr>
              <a:t>4</a:t>
            </a:r>
            <a:r>
              <a:rPr lang="en-US" altLang="zh-CN" sz="2400" b="1" baseline="30000" dirty="0">
                <a:ea typeface="黑体" pitchFamily="49" charset="-122"/>
              </a:rPr>
              <a:t>-</a:t>
            </a:r>
            <a:r>
              <a:rPr lang="en-US" altLang="zh-CN" sz="2400" b="1" dirty="0">
                <a:ea typeface="黑体" pitchFamily="49" charset="-122"/>
              </a:rPr>
              <a:t>+OH</a:t>
            </a:r>
            <a:r>
              <a:rPr lang="en-US" altLang="zh-CN" sz="2400" b="1" baseline="30000" dirty="0">
                <a:ea typeface="黑体" pitchFamily="49" charset="-122"/>
              </a:rPr>
              <a:t>-</a:t>
            </a:r>
            <a:r>
              <a:rPr lang="zh-CN" altLang="en-US" sz="2400" b="1" dirty="0">
                <a:ea typeface="黑体" pitchFamily="49" charset="-122"/>
              </a:rPr>
              <a:t>来说，其中酸为（    ），  碱为（     ）</a:t>
            </a:r>
          </a:p>
          <a:p>
            <a:r>
              <a:rPr lang="pt-BR" altLang="zh-CN" sz="2400" b="1" dirty="0">
                <a:ea typeface="黑体" pitchFamily="49" charset="-122"/>
              </a:rPr>
              <a:t>A</a:t>
            </a:r>
            <a:r>
              <a:rPr lang="es-ES_tradnl" altLang="zh-CN" sz="2400" b="1" dirty="0">
                <a:ea typeface="黑体" pitchFamily="49" charset="-122"/>
              </a:rPr>
              <a:t>. </a:t>
            </a:r>
            <a:r>
              <a:rPr lang="pt-BR" altLang="zh-CN" sz="2400" b="1" dirty="0">
                <a:ea typeface="黑体" pitchFamily="49" charset="-122"/>
              </a:rPr>
              <a:t>H</a:t>
            </a:r>
            <a:r>
              <a:rPr lang="pt-BR" altLang="zh-CN" sz="2400" b="1" baseline="-25000" dirty="0">
                <a:ea typeface="黑体" pitchFamily="49" charset="-122"/>
              </a:rPr>
              <a:t>2</a:t>
            </a:r>
            <a:r>
              <a:rPr lang="pt-BR" altLang="zh-CN" sz="2400" b="1" dirty="0">
                <a:ea typeface="黑体" pitchFamily="49" charset="-122"/>
              </a:rPr>
              <a:t>O </a:t>
            </a:r>
            <a:r>
              <a:rPr lang="zh-CN" altLang="en-US" sz="2400" b="1" dirty="0">
                <a:ea typeface="黑体" pitchFamily="49" charset="-122"/>
              </a:rPr>
              <a:t>和</a:t>
            </a:r>
            <a:r>
              <a:rPr lang="pt-BR" altLang="zh-CN" sz="2400" b="1" dirty="0">
                <a:ea typeface="黑体" pitchFamily="49" charset="-122"/>
              </a:rPr>
              <a:t>HPO</a:t>
            </a:r>
            <a:r>
              <a:rPr lang="pt-BR" altLang="zh-CN" sz="2400" b="1" baseline="-25000" dirty="0">
                <a:ea typeface="黑体" pitchFamily="49" charset="-122"/>
              </a:rPr>
              <a:t>4</a:t>
            </a:r>
            <a:r>
              <a:rPr lang="pt-BR" altLang="zh-CN" sz="2400" b="1" baseline="30000" dirty="0">
                <a:ea typeface="黑体" pitchFamily="49" charset="-122"/>
              </a:rPr>
              <a:t>2-</a:t>
            </a:r>
            <a:r>
              <a:rPr lang="pt-BR" altLang="zh-CN" sz="2400" b="1" dirty="0">
                <a:ea typeface="黑体" pitchFamily="49" charset="-122"/>
              </a:rPr>
              <a:t>                    B</a:t>
            </a:r>
            <a:r>
              <a:rPr lang="es-ES_tradnl" altLang="zh-CN" sz="2400" b="1" dirty="0">
                <a:ea typeface="黑体" pitchFamily="49" charset="-122"/>
              </a:rPr>
              <a:t>. </a:t>
            </a:r>
            <a:r>
              <a:rPr lang="pt-BR" altLang="zh-CN" sz="2400" b="1" dirty="0">
                <a:ea typeface="黑体" pitchFamily="49" charset="-122"/>
              </a:rPr>
              <a:t>H</a:t>
            </a:r>
            <a:r>
              <a:rPr lang="pt-BR" altLang="zh-CN" sz="2400" b="1" baseline="-25000" dirty="0">
                <a:ea typeface="黑体" pitchFamily="49" charset="-122"/>
              </a:rPr>
              <a:t>2</a:t>
            </a:r>
            <a:r>
              <a:rPr lang="pt-BR" altLang="zh-CN" sz="2400" b="1" dirty="0">
                <a:ea typeface="黑体" pitchFamily="49" charset="-122"/>
              </a:rPr>
              <a:t>PO</a:t>
            </a:r>
            <a:r>
              <a:rPr lang="pt-BR" altLang="zh-CN" sz="2400" b="1" baseline="-25000" dirty="0">
                <a:ea typeface="黑体" pitchFamily="49" charset="-122"/>
              </a:rPr>
              <a:t>4</a:t>
            </a:r>
            <a:r>
              <a:rPr lang="pt-BR" altLang="zh-CN" sz="2400" b="1" baseline="30000" dirty="0">
                <a:ea typeface="黑体" pitchFamily="49" charset="-122"/>
              </a:rPr>
              <a:t>-</a:t>
            </a:r>
            <a:r>
              <a:rPr lang="zh-CN" altLang="en-US" sz="2400" b="1" dirty="0">
                <a:ea typeface="黑体" pitchFamily="49" charset="-122"/>
              </a:rPr>
              <a:t>和</a:t>
            </a:r>
            <a:r>
              <a:rPr lang="pt-BR" altLang="zh-CN" sz="2400" b="1" dirty="0">
                <a:ea typeface="黑体" pitchFamily="49" charset="-122"/>
              </a:rPr>
              <a:t>H</a:t>
            </a:r>
            <a:r>
              <a:rPr lang="pt-BR" altLang="zh-CN" sz="2400" b="1" baseline="-25000" dirty="0">
                <a:ea typeface="黑体" pitchFamily="49" charset="-122"/>
              </a:rPr>
              <a:t>2</a:t>
            </a:r>
            <a:r>
              <a:rPr lang="pt-BR" altLang="zh-CN" sz="2400" b="1" dirty="0">
                <a:ea typeface="黑体" pitchFamily="49" charset="-122"/>
              </a:rPr>
              <a:t>O	</a:t>
            </a:r>
            <a:endParaRPr lang="en-US" altLang="zh-CN" sz="2400" b="1" dirty="0">
              <a:ea typeface="黑体" pitchFamily="49" charset="-122"/>
            </a:endParaRPr>
          </a:p>
          <a:p>
            <a:r>
              <a:rPr lang="pt-BR" altLang="zh-CN" sz="2400" b="1" dirty="0">
                <a:ea typeface="黑体" pitchFamily="49" charset="-122"/>
              </a:rPr>
              <a:t>C. HPO</a:t>
            </a:r>
            <a:r>
              <a:rPr lang="pt-BR" altLang="zh-CN" sz="2400" b="1" baseline="-25000" dirty="0">
                <a:ea typeface="黑体" pitchFamily="49" charset="-122"/>
              </a:rPr>
              <a:t>4</a:t>
            </a:r>
            <a:r>
              <a:rPr lang="pt-BR" altLang="zh-CN" sz="2400" b="1" baseline="30000" dirty="0">
                <a:ea typeface="黑体" pitchFamily="49" charset="-122"/>
              </a:rPr>
              <a:t>2-</a:t>
            </a:r>
            <a:r>
              <a:rPr lang="zh-CN" altLang="en-US" sz="2400" b="1" dirty="0">
                <a:ea typeface="黑体" pitchFamily="49" charset="-122"/>
              </a:rPr>
              <a:t>和</a:t>
            </a:r>
            <a:r>
              <a:rPr lang="zh-CN" altLang="pt-BR" sz="2400" b="1" dirty="0">
                <a:ea typeface="黑体" pitchFamily="49" charset="-122"/>
              </a:rPr>
              <a:t> </a:t>
            </a:r>
            <a:r>
              <a:rPr lang="pt-BR" altLang="zh-CN" sz="2400" b="1" dirty="0">
                <a:ea typeface="黑体" pitchFamily="49" charset="-122"/>
              </a:rPr>
              <a:t>OH</a:t>
            </a:r>
            <a:r>
              <a:rPr lang="pt-BR" altLang="zh-CN" sz="2400" b="1" baseline="30000" dirty="0">
                <a:ea typeface="黑体" pitchFamily="49" charset="-122"/>
              </a:rPr>
              <a:t>-</a:t>
            </a:r>
            <a:r>
              <a:rPr lang="pt-BR" altLang="zh-CN" sz="2400" b="1" dirty="0">
                <a:ea typeface="黑体" pitchFamily="49" charset="-122"/>
              </a:rPr>
              <a:t>                     D. H</a:t>
            </a:r>
            <a:r>
              <a:rPr lang="pt-BR" altLang="zh-CN" sz="2400" b="1" baseline="-25000" dirty="0">
                <a:ea typeface="黑体" pitchFamily="49" charset="-122"/>
              </a:rPr>
              <a:t>2</a:t>
            </a:r>
            <a:r>
              <a:rPr lang="pt-BR" altLang="zh-CN" sz="2400" b="1" dirty="0">
                <a:ea typeface="黑体" pitchFamily="49" charset="-122"/>
              </a:rPr>
              <a:t>PO</a:t>
            </a:r>
            <a:r>
              <a:rPr lang="pt-BR" altLang="zh-CN" sz="2400" b="1" baseline="-25000" dirty="0">
                <a:ea typeface="黑体" pitchFamily="49" charset="-122"/>
              </a:rPr>
              <a:t>4</a:t>
            </a:r>
            <a:r>
              <a:rPr lang="pt-BR" altLang="zh-CN" sz="2400" b="1" baseline="30000" dirty="0">
                <a:ea typeface="黑体" pitchFamily="49" charset="-122"/>
              </a:rPr>
              <a:t>-</a:t>
            </a:r>
            <a:r>
              <a:rPr lang="zh-CN" altLang="en-US" sz="2400" b="1" dirty="0">
                <a:ea typeface="黑体" pitchFamily="49" charset="-122"/>
              </a:rPr>
              <a:t>和</a:t>
            </a:r>
            <a:r>
              <a:rPr lang="pt-BR" altLang="zh-CN" sz="2400" b="1" dirty="0">
                <a:ea typeface="黑体" pitchFamily="49" charset="-122"/>
              </a:rPr>
              <a:t>HPO</a:t>
            </a:r>
            <a:r>
              <a:rPr lang="pt-BR" altLang="zh-CN" sz="2400" b="1" baseline="-25000" dirty="0">
                <a:ea typeface="黑体" pitchFamily="49" charset="-122"/>
              </a:rPr>
              <a:t>4</a:t>
            </a:r>
            <a:r>
              <a:rPr lang="pt-BR" altLang="zh-CN" sz="2400" b="1" baseline="30000" dirty="0">
                <a:ea typeface="黑体" pitchFamily="49" charset="-122"/>
              </a:rPr>
              <a:t>2-</a:t>
            </a:r>
          </a:p>
          <a:p>
            <a:r>
              <a:rPr lang="zh-CN" altLang="pt-BR" sz="2400" b="1" dirty="0">
                <a:ea typeface="黑体" pitchFamily="49" charset="-122"/>
              </a:rPr>
              <a:t>答：</a:t>
            </a:r>
            <a:r>
              <a:rPr lang="pt-BR" altLang="zh-CN" sz="2400" b="1" dirty="0">
                <a:ea typeface="黑体" pitchFamily="49" charset="-122"/>
              </a:rPr>
              <a:t>B    C </a:t>
            </a:r>
          </a:p>
        </p:txBody>
      </p:sp>
    </p:spTree>
    <p:extLst>
      <p:ext uri="{BB962C8B-B14F-4D97-AF65-F5344CB8AC3E}">
        <p14:creationId xmlns:p14="http://schemas.microsoft.com/office/powerpoint/2010/main" val="1256183785"/>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0307"/>
                                        </p:tgtEl>
                                        <p:attrNameLst>
                                          <p:attrName>style.visibility</p:attrName>
                                        </p:attrNameLst>
                                      </p:cBhvr>
                                      <p:to>
                                        <p:strVal val="visible"/>
                                      </p:to>
                                    </p:set>
                                    <p:animEffect transition="in" filter="blinds(horizontal)">
                                      <p:cBhvr>
                                        <p:cTn id="7" dur="500"/>
                                        <p:tgtEl>
                                          <p:spTgt spid="6103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0308"/>
                                        </p:tgtEl>
                                        <p:attrNameLst>
                                          <p:attrName>style.visibility</p:attrName>
                                        </p:attrNameLst>
                                      </p:cBhvr>
                                      <p:to>
                                        <p:strVal val="visible"/>
                                      </p:to>
                                    </p:set>
                                    <p:animEffect transition="in" filter="box(in)">
                                      <p:cBhvr>
                                        <p:cTn id="12" dur="500"/>
                                        <p:tgtEl>
                                          <p:spTgt spid="61030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strips(downRight)">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strips(downRight)">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strips(downRight)">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strips(downRight)">
                                      <p:cBhvr>
                                        <p:cTn id="3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p:bldP spid="61030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3"/>
          <p:cNvSpPr>
            <a:spLocks noGrp="1" noChangeArrowheads="1"/>
          </p:cNvSpPr>
          <p:nvPr>
            <p:ph type="sldNum" sz="quarter" idx="4294967295"/>
          </p:nvPr>
        </p:nvSpPr>
        <p:spPr>
          <a:xfrm>
            <a:off x="6553200" y="4683919"/>
            <a:ext cx="2133600" cy="3571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fld id="{B9275CB9-BB1A-4DCA-9A6D-4E08604AF346}" type="slidenum">
              <a:rPr lang="zh-CN" altLang="en-US" sz="1400">
                <a:solidFill>
                  <a:schemeClr val="bg1"/>
                </a:solidFill>
              </a:rPr>
              <a:pPr/>
              <a:t>69</a:t>
            </a:fld>
            <a:endParaRPr lang="zh-CN" altLang="en-US" sz="1400">
              <a:solidFill>
                <a:schemeClr val="bg1"/>
              </a:solidFill>
            </a:endParaRPr>
          </a:p>
        </p:txBody>
      </p:sp>
      <p:sp>
        <p:nvSpPr>
          <p:cNvPr id="819204" name="Rectangle 4"/>
          <p:cNvSpPr>
            <a:spLocks noChangeArrowheads="1"/>
          </p:cNvSpPr>
          <p:nvPr/>
        </p:nvSpPr>
        <p:spPr bwMode="auto">
          <a:xfrm>
            <a:off x="292406" y="216104"/>
            <a:ext cx="873645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lvl1pPr indent="200025"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r>
              <a:rPr lang="en-US" altLang="zh-CN" sz="2400" b="1" dirty="0">
                <a:ea typeface="黑体" pitchFamily="49" charset="-122"/>
              </a:rPr>
              <a:t>3</a:t>
            </a:r>
            <a:r>
              <a:rPr lang="zh-CN" altLang="en-US" sz="2400" b="1" dirty="0">
                <a:ea typeface="黑体" pitchFamily="49" charset="-122"/>
              </a:rPr>
              <a:t>、某一元弱酸的</a:t>
            </a:r>
            <a:r>
              <a:rPr lang="en-US" altLang="zh-CN" sz="2400" b="1" i="1" dirty="0" err="1">
                <a:ea typeface="黑体" pitchFamily="49" charset="-122"/>
              </a:rPr>
              <a:t>K</a:t>
            </a:r>
            <a:r>
              <a:rPr lang="en-US" altLang="zh-CN" sz="2400" b="1" baseline="-25000" dirty="0" err="1">
                <a:ea typeface="黑体" pitchFamily="49" charset="-122"/>
              </a:rPr>
              <a:t>a</a:t>
            </a:r>
            <a:r>
              <a:rPr lang="zh-CN" altLang="en-US" sz="2400" b="1" dirty="0">
                <a:ea typeface="黑体" pitchFamily="49" charset="-122"/>
              </a:rPr>
              <a:t>是</a:t>
            </a:r>
            <a:r>
              <a:rPr lang="en-US" altLang="zh-CN" sz="2400" b="1" dirty="0">
                <a:ea typeface="黑体" pitchFamily="49" charset="-122"/>
              </a:rPr>
              <a:t>10</a:t>
            </a:r>
            <a:r>
              <a:rPr lang="en-US" altLang="zh-CN" sz="2400" b="1" baseline="30000" dirty="0">
                <a:ea typeface="黑体" pitchFamily="49" charset="-122"/>
              </a:rPr>
              <a:t>-7</a:t>
            </a:r>
            <a:r>
              <a:rPr lang="zh-CN" altLang="en-US" sz="2400" b="1" dirty="0">
                <a:ea typeface="黑体" pitchFamily="49" charset="-122"/>
              </a:rPr>
              <a:t>，</a:t>
            </a:r>
            <a:r>
              <a:rPr lang="en-US" altLang="zh-CN" sz="2400" b="1" dirty="0">
                <a:ea typeface="黑体" pitchFamily="49" charset="-122"/>
              </a:rPr>
              <a:t>0.1 mol·L</a:t>
            </a:r>
            <a:r>
              <a:rPr lang="en-US" altLang="zh-CN" sz="2400" b="1" baseline="30000" dirty="0">
                <a:ea typeface="黑体" pitchFamily="49" charset="-122"/>
              </a:rPr>
              <a:t>-1</a:t>
            </a:r>
            <a:r>
              <a:rPr lang="zh-CN" altLang="en-US" sz="2400" b="1" dirty="0">
                <a:ea typeface="黑体" pitchFamily="49" charset="-122"/>
              </a:rPr>
              <a:t>该酸溶液的</a:t>
            </a:r>
            <a:r>
              <a:rPr lang="en-US" altLang="zh-CN" sz="2400" b="1" dirty="0">
                <a:ea typeface="黑体" pitchFamily="49" charset="-122"/>
              </a:rPr>
              <a:t>pH</a:t>
            </a:r>
            <a:r>
              <a:rPr lang="zh-CN" altLang="en-US" sz="2400" b="1" dirty="0">
                <a:ea typeface="黑体" pitchFamily="49" charset="-122"/>
              </a:rPr>
              <a:t>为（   ）</a:t>
            </a:r>
            <a:endParaRPr lang="en-US" altLang="zh-CN" sz="2400" b="1" dirty="0">
              <a:ea typeface="黑体" pitchFamily="49" charset="-122"/>
            </a:endParaRPr>
          </a:p>
          <a:p>
            <a:pPr indent="0">
              <a:tabLst>
                <a:tab pos="85725" algn="l"/>
              </a:tabLst>
            </a:pPr>
            <a:r>
              <a:rPr lang="en-US" altLang="zh-CN" sz="2400" b="1" dirty="0">
                <a:ea typeface="黑体" pitchFamily="49" charset="-122"/>
              </a:rPr>
              <a:t>    A.1       B. 2       C. 3      D. 4</a:t>
            </a:r>
            <a:r>
              <a:rPr lang="es-ES_tradnl" altLang="zh-CN" sz="2400" b="1" dirty="0">
                <a:ea typeface="黑体" pitchFamily="49" charset="-122"/>
              </a:rPr>
              <a:t> </a:t>
            </a:r>
          </a:p>
          <a:p>
            <a:r>
              <a:rPr lang="zh-CN" altLang="es-ES_tradnl" sz="2400" b="1" dirty="0">
                <a:ea typeface="黑体" pitchFamily="49" charset="-122"/>
              </a:rPr>
              <a:t>答：</a:t>
            </a:r>
            <a:r>
              <a:rPr lang="es-ES_tradnl" altLang="zh-CN" sz="2400" b="1" dirty="0">
                <a:ea typeface="黑体" pitchFamily="49" charset="-122"/>
              </a:rPr>
              <a:t>D</a:t>
            </a:r>
          </a:p>
        </p:txBody>
      </p:sp>
      <p:sp>
        <p:nvSpPr>
          <p:cNvPr id="6" name="Rectangle 5"/>
          <p:cNvSpPr>
            <a:spLocks noChangeArrowheads="1"/>
          </p:cNvSpPr>
          <p:nvPr/>
        </p:nvSpPr>
        <p:spPr bwMode="auto">
          <a:xfrm>
            <a:off x="284913" y="1347616"/>
            <a:ext cx="870426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indent="266700"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r>
              <a:rPr lang="en-US" altLang="zh-CN" sz="2400" b="1" dirty="0">
                <a:ea typeface="黑体" pitchFamily="49" charset="-122"/>
              </a:rPr>
              <a:t>4</a:t>
            </a:r>
            <a:r>
              <a:rPr lang="zh-CN" altLang="en-US" sz="2400" b="1" dirty="0">
                <a:ea typeface="黑体" pitchFamily="49" charset="-122"/>
              </a:rPr>
              <a:t>、恒温下，某种溶液的一级电离常数约为</a:t>
            </a:r>
            <a:r>
              <a:rPr lang="en-US" altLang="zh-CN" sz="2400" b="1" dirty="0">
                <a:ea typeface="黑体" pitchFamily="49" charset="-122"/>
              </a:rPr>
              <a:t>1.7×10</a:t>
            </a:r>
            <a:r>
              <a:rPr lang="en-US" altLang="zh-CN" sz="2400" b="1" baseline="30000" dirty="0">
                <a:ea typeface="黑体" pitchFamily="49" charset="-122"/>
              </a:rPr>
              <a:t>-5</a:t>
            </a:r>
            <a:r>
              <a:rPr lang="zh-CN" altLang="en-US" sz="2400" b="1" dirty="0">
                <a:ea typeface="黑体" pitchFamily="49" charset="-122"/>
              </a:rPr>
              <a:t>，并有</a:t>
            </a:r>
            <a:r>
              <a:rPr lang="en-US" altLang="zh-CN" sz="2400" b="1" dirty="0">
                <a:ea typeface="黑体" pitchFamily="49" charset="-122"/>
              </a:rPr>
              <a:t>1.3%</a:t>
            </a:r>
            <a:r>
              <a:rPr lang="zh-CN" altLang="en-US" sz="2400" b="1" dirty="0">
                <a:ea typeface="黑体" pitchFamily="49" charset="-122"/>
              </a:rPr>
              <a:t>电离成离子，该溶液的浓度是</a:t>
            </a:r>
            <a:r>
              <a:rPr lang="en-US" altLang="zh-CN" sz="2400" b="1" dirty="0">
                <a:ea typeface="黑体" pitchFamily="49" charset="-122"/>
              </a:rPr>
              <a:t>(      ) </a:t>
            </a:r>
            <a:r>
              <a:rPr lang="pt-BR" altLang="zh-CN" sz="2400" b="1" dirty="0">
                <a:ea typeface="黑体" pitchFamily="49" charset="-122"/>
              </a:rPr>
              <a:t>mol·L</a:t>
            </a:r>
            <a:r>
              <a:rPr lang="pt-BR" altLang="zh-CN" sz="2400" b="1" baseline="30000" dirty="0">
                <a:ea typeface="黑体" pitchFamily="49" charset="-122"/>
              </a:rPr>
              <a:t>-1</a:t>
            </a:r>
            <a:endParaRPr lang="en-US" altLang="zh-CN" sz="2400" b="1" baseline="30000" dirty="0">
              <a:ea typeface="黑体" pitchFamily="49" charset="-122"/>
            </a:endParaRPr>
          </a:p>
          <a:p>
            <a:pPr>
              <a:buFont typeface="Arial" pitchFamily="34" charset="0"/>
              <a:buAutoNum type="alphaUcPeriod"/>
            </a:pPr>
            <a:r>
              <a:rPr lang="en-US" altLang="zh-CN" sz="2400" b="1" dirty="0">
                <a:ea typeface="黑体" pitchFamily="49" charset="-122"/>
              </a:rPr>
              <a:t>0.13         B. 0.1         C. 2.0          D. 1.3</a:t>
            </a:r>
          </a:p>
          <a:p>
            <a:r>
              <a:rPr lang="zh-CN" altLang="en-US" sz="2400" b="1" dirty="0">
                <a:ea typeface="黑体" pitchFamily="49" charset="-122"/>
              </a:rPr>
              <a:t>答：</a:t>
            </a:r>
            <a:r>
              <a:rPr lang="en-US" altLang="zh-CN" sz="2400" b="1" dirty="0">
                <a:ea typeface="黑体" pitchFamily="49" charset="-122"/>
              </a:rPr>
              <a:t>B</a:t>
            </a:r>
          </a:p>
        </p:txBody>
      </p:sp>
      <p:sp>
        <p:nvSpPr>
          <p:cNvPr id="8" name="Rectangle 6"/>
          <p:cNvSpPr>
            <a:spLocks noChangeArrowheads="1"/>
          </p:cNvSpPr>
          <p:nvPr/>
        </p:nvSpPr>
        <p:spPr bwMode="auto">
          <a:xfrm>
            <a:off x="395536" y="3147814"/>
            <a:ext cx="902316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lvl1pPr indent="133350" eaLnBrk="0" hangingPunct="0">
              <a:tabLst>
                <a:tab pos="228600" algn="l"/>
              </a:tabLst>
              <a:defRPr sz="3200">
                <a:solidFill>
                  <a:schemeClr val="tx1"/>
                </a:solidFill>
                <a:latin typeface="Times New Roman" pitchFamily="18" charset="0"/>
                <a:ea typeface="宋体" pitchFamily="2" charset="-122"/>
              </a:defRPr>
            </a:lvl1pPr>
            <a:lvl2pPr marL="742950" indent="-285750" eaLnBrk="0" hangingPunct="0">
              <a:tabLst>
                <a:tab pos="228600" algn="l"/>
              </a:tabLst>
              <a:defRPr sz="3200">
                <a:solidFill>
                  <a:schemeClr val="tx1"/>
                </a:solidFill>
                <a:latin typeface="Times New Roman" pitchFamily="18" charset="0"/>
                <a:ea typeface="宋体" pitchFamily="2" charset="-122"/>
              </a:defRPr>
            </a:lvl2pPr>
            <a:lvl3pPr marL="1143000" indent="-228600" eaLnBrk="0" hangingPunct="0">
              <a:tabLst>
                <a:tab pos="228600" algn="l"/>
              </a:tabLst>
              <a:defRPr sz="3200">
                <a:solidFill>
                  <a:schemeClr val="tx1"/>
                </a:solidFill>
                <a:latin typeface="Times New Roman" pitchFamily="18" charset="0"/>
                <a:ea typeface="宋体" pitchFamily="2" charset="-122"/>
              </a:defRPr>
            </a:lvl3pPr>
            <a:lvl4pPr marL="1600200" indent="-228600" eaLnBrk="0" hangingPunct="0">
              <a:tabLst>
                <a:tab pos="228600" algn="l"/>
              </a:tabLst>
              <a:defRPr sz="3200">
                <a:solidFill>
                  <a:schemeClr val="tx1"/>
                </a:solidFill>
                <a:latin typeface="Times New Roman" pitchFamily="18" charset="0"/>
                <a:ea typeface="宋体" pitchFamily="2" charset="-122"/>
              </a:defRPr>
            </a:lvl4pPr>
            <a:lvl5pPr marL="2057400" indent="-228600" eaLnBrk="0" hangingPunct="0">
              <a:tabLst>
                <a:tab pos="228600" algn="l"/>
              </a:tabLst>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tabLst>
                <a:tab pos="228600" algn="l"/>
              </a:tabLs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tabLst>
                <a:tab pos="228600" algn="l"/>
              </a:tabLs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tabLst>
                <a:tab pos="228600" algn="l"/>
              </a:tabLs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tabLst>
                <a:tab pos="228600" algn="l"/>
              </a:tabLst>
              <a:defRPr sz="3200">
                <a:solidFill>
                  <a:schemeClr val="tx1"/>
                </a:solidFill>
                <a:latin typeface="Times New Roman" pitchFamily="18" charset="0"/>
                <a:ea typeface="宋体" pitchFamily="2" charset="-122"/>
              </a:defRPr>
            </a:lvl9pPr>
          </a:lstStyle>
          <a:p>
            <a:r>
              <a:rPr lang="en-US" altLang="zh-CN" sz="2400" b="1" dirty="0">
                <a:ea typeface="黑体" pitchFamily="49" charset="-122"/>
              </a:rPr>
              <a:t>5</a:t>
            </a:r>
            <a:r>
              <a:rPr lang="zh-CN" altLang="en-US" sz="2400" b="1" dirty="0">
                <a:ea typeface="黑体" pitchFamily="49" charset="-122"/>
              </a:rPr>
              <a:t>、在</a:t>
            </a:r>
            <a:r>
              <a:rPr lang="en-US" altLang="zh-CN" sz="2400" b="1" dirty="0">
                <a:ea typeface="黑体" pitchFamily="49" charset="-122"/>
              </a:rPr>
              <a:t>pH= 4.00</a:t>
            </a:r>
            <a:r>
              <a:rPr lang="zh-CN" altLang="en-US" sz="2400" b="1" dirty="0">
                <a:ea typeface="黑体" pitchFamily="49" charset="-122"/>
              </a:rPr>
              <a:t>的</a:t>
            </a:r>
            <a:r>
              <a:rPr lang="en-US" altLang="zh-CN" sz="2400" b="1" dirty="0" err="1">
                <a:ea typeface="黑体" pitchFamily="49" charset="-122"/>
              </a:rPr>
              <a:t>HAc</a:t>
            </a:r>
            <a:r>
              <a:rPr lang="zh-CN" altLang="en-US" sz="2400" b="1" dirty="0">
                <a:ea typeface="黑体" pitchFamily="49" charset="-122"/>
              </a:rPr>
              <a:t>溶液中，</a:t>
            </a:r>
            <a:r>
              <a:rPr lang="en-US" altLang="zh-CN" sz="2400" b="1" dirty="0" err="1">
                <a:ea typeface="黑体" pitchFamily="49" charset="-122"/>
              </a:rPr>
              <a:t>HAc</a:t>
            </a:r>
            <a:r>
              <a:rPr lang="zh-CN" altLang="en-US" sz="2400" b="1" dirty="0">
                <a:ea typeface="黑体" pitchFamily="49" charset="-122"/>
              </a:rPr>
              <a:t>的浓度为（     ）</a:t>
            </a:r>
          </a:p>
          <a:p>
            <a:r>
              <a:rPr lang="es-ES" altLang="zh-CN" sz="2400" b="1" dirty="0">
                <a:ea typeface="黑体" pitchFamily="49" charset="-122"/>
              </a:rPr>
              <a:t>A. 5.6×10</a:t>
            </a:r>
            <a:r>
              <a:rPr lang="es-ES" altLang="zh-CN" sz="2400" b="1" baseline="30000" dirty="0">
                <a:ea typeface="黑体" pitchFamily="49" charset="-122"/>
              </a:rPr>
              <a:t>-4</a:t>
            </a:r>
            <a:r>
              <a:rPr lang="es-ES" altLang="zh-CN" sz="2400" b="1" dirty="0">
                <a:ea typeface="黑体" pitchFamily="49" charset="-122"/>
              </a:rPr>
              <a:t> mol</a:t>
            </a:r>
            <a:r>
              <a:rPr lang="en-US" altLang="zh-CN" sz="2400" b="1" dirty="0">
                <a:ea typeface="黑体" pitchFamily="49" charset="-122"/>
                <a:sym typeface="Symbol" pitchFamily="18" charset="2"/>
              </a:rPr>
              <a:t></a:t>
            </a:r>
            <a:r>
              <a:rPr lang="es-ES" altLang="zh-CN" sz="2400" b="1" dirty="0">
                <a:ea typeface="黑体" pitchFamily="49" charset="-122"/>
              </a:rPr>
              <a:t>L</a:t>
            </a:r>
            <a:r>
              <a:rPr lang="es-ES" altLang="zh-CN" sz="2400" b="1" baseline="30000" dirty="0">
                <a:ea typeface="黑体" pitchFamily="49" charset="-122"/>
                <a:sym typeface="Symbol" pitchFamily="18" charset="2"/>
              </a:rPr>
              <a:t>-1</a:t>
            </a:r>
            <a:r>
              <a:rPr lang="es-ES" altLang="zh-CN" sz="2400" b="1" dirty="0">
                <a:ea typeface="黑体" pitchFamily="49" charset="-122"/>
                <a:sym typeface="Symbol" pitchFamily="18" charset="2"/>
              </a:rPr>
              <a:t>      B. 1×10</a:t>
            </a:r>
            <a:r>
              <a:rPr lang="es-ES" altLang="zh-CN" sz="2400" b="1" baseline="30000" dirty="0">
                <a:ea typeface="黑体" pitchFamily="49" charset="-122"/>
                <a:sym typeface="Symbol" pitchFamily="18" charset="2"/>
              </a:rPr>
              <a:t>-4 </a:t>
            </a:r>
            <a:r>
              <a:rPr lang="es-ES" altLang="zh-CN" sz="2400" b="1" dirty="0">
                <a:ea typeface="黑体" pitchFamily="49" charset="-122"/>
                <a:sym typeface="Symbol" pitchFamily="18" charset="2"/>
              </a:rPr>
              <a:t>mol</a:t>
            </a:r>
            <a:r>
              <a:rPr lang="en-US" altLang="zh-CN" sz="2400" b="1" dirty="0">
                <a:ea typeface="黑体" pitchFamily="49" charset="-122"/>
                <a:sym typeface="Symbol" pitchFamily="18" charset="2"/>
              </a:rPr>
              <a:t></a:t>
            </a:r>
            <a:r>
              <a:rPr lang="es-ES" altLang="zh-CN" sz="2400" b="1" dirty="0">
                <a:ea typeface="黑体" pitchFamily="49" charset="-122"/>
              </a:rPr>
              <a:t>L</a:t>
            </a:r>
            <a:r>
              <a:rPr lang="es-ES" altLang="zh-CN" sz="2400" b="1" baseline="30000" dirty="0">
                <a:ea typeface="黑体" pitchFamily="49" charset="-122"/>
                <a:sym typeface="Symbol" pitchFamily="18" charset="2"/>
              </a:rPr>
              <a:t>-1</a:t>
            </a:r>
            <a:r>
              <a:rPr lang="es-ES" altLang="zh-CN" sz="2400" b="1" dirty="0">
                <a:ea typeface="黑体" pitchFamily="49" charset="-122"/>
                <a:sym typeface="Symbol" pitchFamily="18" charset="2"/>
              </a:rPr>
              <a:t>   </a:t>
            </a:r>
            <a:endParaRPr lang="en-US" altLang="zh-CN" sz="2400" b="1" dirty="0">
              <a:ea typeface="黑体" pitchFamily="49" charset="-122"/>
              <a:sym typeface="Symbol" pitchFamily="18" charset="2"/>
            </a:endParaRPr>
          </a:p>
          <a:p>
            <a:r>
              <a:rPr lang="es-ES" altLang="zh-CN" sz="2400" b="1" dirty="0">
                <a:ea typeface="黑体" pitchFamily="49" charset="-122"/>
                <a:sym typeface="Symbol" pitchFamily="18" charset="2"/>
              </a:rPr>
              <a:t>C. 1.32×10</a:t>
            </a:r>
            <a:r>
              <a:rPr lang="es-ES" altLang="zh-CN" sz="2400" b="1" baseline="30000" dirty="0">
                <a:ea typeface="黑体" pitchFamily="49" charset="-122"/>
                <a:sym typeface="Symbol" pitchFamily="18" charset="2"/>
              </a:rPr>
              <a:t>-3</a:t>
            </a:r>
            <a:r>
              <a:rPr lang="es-ES" altLang="zh-CN" sz="2400" b="1" dirty="0">
                <a:ea typeface="黑体" pitchFamily="49" charset="-122"/>
                <a:sym typeface="Symbol" pitchFamily="18" charset="2"/>
              </a:rPr>
              <a:t> mol</a:t>
            </a:r>
            <a:r>
              <a:rPr lang="en-US" altLang="zh-CN" sz="2400" b="1" dirty="0">
                <a:ea typeface="黑体" pitchFamily="49" charset="-122"/>
                <a:sym typeface="Symbol" pitchFamily="18" charset="2"/>
              </a:rPr>
              <a:t></a:t>
            </a:r>
            <a:r>
              <a:rPr lang="es-ES" altLang="zh-CN" sz="2400" b="1" dirty="0">
                <a:ea typeface="黑体" pitchFamily="49" charset="-122"/>
              </a:rPr>
              <a:t>L</a:t>
            </a:r>
            <a:r>
              <a:rPr lang="es-ES" altLang="zh-CN" sz="2400" b="1" baseline="30000" dirty="0">
                <a:ea typeface="黑体" pitchFamily="49" charset="-122"/>
                <a:sym typeface="Symbol" pitchFamily="18" charset="2"/>
              </a:rPr>
              <a:t>-1</a:t>
            </a:r>
            <a:r>
              <a:rPr lang="es-ES" altLang="zh-CN" sz="2400" b="1" dirty="0">
                <a:ea typeface="黑体" pitchFamily="49" charset="-122"/>
                <a:sym typeface="Symbol" pitchFamily="18" charset="2"/>
              </a:rPr>
              <a:t>    D. 3.3×10</a:t>
            </a:r>
            <a:r>
              <a:rPr lang="es-ES" altLang="zh-CN" sz="2400" b="1" baseline="30000" dirty="0">
                <a:ea typeface="黑体" pitchFamily="49" charset="-122"/>
                <a:sym typeface="Symbol" pitchFamily="18" charset="2"/>
              </a:rPr>
              <a:t>-5</a:t>
            </a:r>
            <a:r>
              <a:rPr lang="es-ES" altLang="zh-CN" sz="2400" b="1" dirty="0">
                <a:ea typeface="黑体" pitchFamily="49" charset="-122"/>
                <a:sym typeface="Symbol" pitchFamily="18" charset="2"/>
              </a:rPr>
              <a:t> mol</a:t>
            </a:r>
            <a:r>
              <a:rPr lang="en-US" altLang="zh-CN" sz="2400" b="1" dirty="0">
                <a:ea typeface="黑体" pitchFamily="49" charset="-122"/>
                <a:sym typeface="Symbol" pitchFamily="18" charset="2"/>
              </a:rPr>
              <a:t></a:t>
            </a:r>
            <a:r>
              <a:rPr lang="es-ES" altLang="zh-CN" sz="2400" b="1" dirty="0">
                <a:ea typeface="黑体" pitchFamily="49" charset="-122"/>
              </a:rPr>
              <a:t>L</a:t>
            </a:r>
            <a:r>
              <a:rPr lang="es-ES" altLang="zh-CN" sz="2400" b="1" baseline="30000" dirty="0">
                <a:ea typeface="黑体" pitchFamily="49" charset="-122"/>
                <a:sym typeface="Symbol" pitchFamily="18" charset="2"/>
              </a:rPr>
              <a:t>-1</a:t>
            </a:r>
            <a:r>
              <a:rPr lang="zh-CN" altLang="es-ES" sz="2400" b="1" dirty="0">
                <a:ea typeface="黑体" pitchFamily="49" charset="-122"/>
                <a:sym typeface="Symbol" pitchFamily="18" charset="2"/>
              </a:rPr>
              <a:t>（</a:t>
            </a:r>
            <a:r>
              <a:rPr lang="es-ES" altLang="zh-CN" sz="2400" b="1" dirty="0">
                <a:ea typeface="黑体" pitchFamily="49" charset="-122"/>
                <a:sym typeface="Symbol" pitchFamily="18" charset="2"/>
              </a:rPr>
              <a:t>HAc </a:t>
            </a:r>
            <a:r>
              <a:rPr lang="es-ES" altLang="zh-CN" sz="2400" b="1" i="1" dirty="0">
                <a:ea typeface="黑体" pitchFamily="49" charset="-122"/>
                <a:sym typeface="Symbol" pitchFamily="18" charset="2"/>
              </a:rPr>
              <a:t>K</a:t>
            </a:r>
            <a:r>
              <a:rPr lang="es-ES" altLang="zh-CN" sz="2400" b="1" baseline="-25000" dirty="0">
                <a:ea typeface="黑体" pitchFamily="49" charset="-122"/>
                <a:sym typeface="Symbol" pitchFamily="18" charset="2"/>
              </a:rPr>
              <a:t>a</a:t>
            </a:r>
            <a:r>
              <a:rPr lang="es-ES" altLang="zh-CN" sz="2400" b="1" dirty="0">
                <a:ea typeface="黑体" pitchFamily="49" charset="-122"/>
                <a:sym typeface="Symbol" pitchFamily="18" charset="2"/>
              </a:rPr>
              <a:t>=1.77×10</a:t>
            </a:r>
            <a:r>
              <a:rPr lang="es-ES" altLang="zh-CN" sz="2400" b="1" baseline="30000" dirty="0">
                <a:ea typeface="黑体" pitchFamily="49" charset="-122"/>
                <a:sym typeface="Symbol" pitchFamily="18" charset="2"/>
              </a:rPr>
              <a:t>-5</a:t>
            </a:r>
            <a:r>
              <a:rPr lang="zh-CN" altLang="es-ES" sz="2400" b="1" dirty="0">
                <a:ea typeface="黑体" pitchFamily="49" charset="-122"/>
                <a:sym typeface="Symbol" pitchFamily="18" charset="2"/>
              </a:rPr>
              <a:t>）</a:t>
            </a:r>
          </a:p>
          <a:p>
            <a:r>
              <a:rPr lang="zh-CN" altLang="es-ES" sz="2400" b="1" dirty="0">
                <a:ea typeface="黑体" pitchFamily="49" charset="-122"/>
                <a:sym typeface="Symbol" pitchFamily="18" charset="2"/>
              </a:rPr>
              <a:t>答：</a:t>
            </a:r>
            <a:r>
              <a:rPr lang="es-ES" altLang="zh-CN" sz="2400" b="1" dirty="0">
                <a:ea typeface="黑体" pitchFamily="49" charset="-122"/>
                <a:sym typeface="Symbol" pitchFamily="18" charset="2"/>
              </a:rPr>
              <a:t>A </a:t>
            </a:r>
          </a:p>
        </p:txBody>
      </p:sp>
    </p:spTree>
    <p:extLst>
      <p:ext uri="{BB962C8B-B14F-4D97-AF65-F5344CB8AC3E}">
        <p14:creationId xmlns:p14="http://schemas.microsoft.com/office/powerpoint/2010/main" val="3224579371"/>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819204">
                                            <p:txEl>
                                              <p:pRg st="0" end="0"/>
                                            </p:txEl>
                                          </p:spTgt>
                                        </p:tgtEl>
                                        <p:attrNameLst>
                                          <p:attrName>style.visibility</p:attrName>
                                        </p:attrNameLst>
                                      </p:cBhvr>
                                      <p:to>
                                        <p:strVal val="visible"/>
                                      </p:to>
                                    </p:set>
                                    <p:animEffect transition="in" filter="strips(downRight)">
                                      <p:cBhvr>
                                        <p:cTn id="7" dur="500"/>
                                        <p:tgtEl>
                                          <p:spTgt spid="8192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819204">
                                            <p:txEl>
                                              <p:pRg st="1" end="1"/>
                                            </p:txEl>
                                          </p:spTgt>
                                        </p:tgtEl>
                                        <p:attrNameLst>
                                          <p:attrName>style.visibility</p:attrName>
                                        </p:attrNameLst>
                                      </p:cBhvr>
                                      <p:to>
                                        <p:strVal val="visible"/>
                                      </p:to>
                                    </p:set>
                                    <p:animEffect transition="in" filter="strips(downRight)">
                                      <p:cBhvr>
                                        <p:cTn id="12" dur="500"/>
                                        <p:tgtEl>
                                          <p:spTgt spid="81920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819204">
                                            <p:txEl>
                                              <p:pRg st="2" end="2"/>
                                            </p:txEl>
                                          </p:spTgt>
                                        </p:tgtEl>
                                        <p:attrNameLst>
                                          <p:attrName>style.visibility</p:attrName>
                                        </p:attrNameLst>
                                      </p:cBhvr>
                                      <p:to>
                                        <p:strVal val="visible"/>
                                      </p:to>
                                    </p:set>
                                    <p:animEffect transition="in" filter="strips(downRight)">
                                      <p:cBhvr>
                                        <p:cTn id="17" dur="500"/>
                                        <p:tgtEl>
                                          <p:spTgt spid="8192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strips(downRigh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strips(downRight)">
                                      <p:cBhvr>
                                        <p:cTn id="27" dur="500"/>
                                        <p:tgtEl>
                                          <p:spTgt spid="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strips(downRight)">
                                      <p:cBhvr>
                                        <p:cTn id="32" dur="500"/>
                                        <p:tgtEl>
                                          <p:spTgt spid="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strips(downRight)">
                                      <p:cBhvr>
                                        <p:cTn id="37" dur="500"/>
                                        <p:tgtEl>
                                          <p:spTgt spid="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8">
                                            <p:txEl>
                                              <p:pRg st="1" end="1"/>
                                            </p:txEl>
                                          </p:spTgt>
                                        </p:tgtEl>
                                        <p:attrNameLst>
                                          <p:attrName>style.visibility</p:attrName>
                                        </p:attrNameLst>
                                      </p:cBhvr>
                                      <p:to>
                                        <p:strVal val="visible"/>
                                      </p:to>
                                    </p:set>
                                    <p:animEffect transition="in" filter="strips(downRight)">
                                      <p:cBhvr>
                                        <p:cTn id="42" dur="500"/>
                                        <p:tgtEl>
                                          <p:spTgt spid="8">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8">
                                            <p:txEl>
                                              <p:pRg st="2" end="2"/>
                                            </p:txEl>
                                          </p:spTgt>
                                        </p:tgtEl>
                                        <p:attrNameLst>
                                          <p:attrName>style.visibility</p:attrName>
                                        </p:attrNameLst>
                                      </p:cBhvr>
                                      <p:to>
                                        <p:strVal val="visible"/>
                                      </p:to>
                                    </p:set>
                                    <p:animEffect transition="in" filter="strips(downRight)">
                                      <p:cBhvr>
                                        <p:cTn id="47" dur="500"/>
                                        <p:tgtEl>
                                          <p:spTgt spid="8">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8">
                                            <p:txEl>
                                              <p:pRg st="3" end="3"/>
                                            </p:txEl>
                                          </p:spTgt>
                                        </p:tgtEl>
                                        <p:attrNameLst>
                                          <p:attrName>style.visibility</p:attrName>
                                        </p:attrNameLst>
                                      </p:cBhvr>
                                      <p:to>
                                        <p:strVal val="visible"/>
                                      </p:to>
                                    </p:set>
                                    <p:animEffect transition="in" filter="strips(downRight)">
                                      <p:cBhvr>
                                        <p:cTn id="5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232" y="339505"/>
            <a:ext cx="8784976" cy="3108543"/>
          </a:xfrm>
          <a:prstGeom prst="rect">
            <a:avLst/>
          </a:prstGeom>
        </p:spPr>
        <p:txBody>
          <a:bodyPr wrap="square">
            <a:spAutoFit/>
          </a:bodyPr>
          <a:lstStyle/>
          <a:p>
            <a:r>
              <a:rPr lang="zh-CN" altLang="zh-CN" dirty="0">
                <a:solidFill>
                  <a:srgbClr val="C00000"/>
                </a:solidFill>
              </a:rPr>
              <a:t>单项选择题</a:t>
            </a:r>
          </a:p>
          <a:p>
            <a:r>
              <a:rPr lang="zh-CN" altLang="zh-CN" sz="2400" dirty="0"/>
              <a:t>（</a:t>
            </a:r>
            <a:r>
              <a:rPr lang="en-US" altLang="zh-CN" sz="2400" dirty="0"/>
              <a:t>1</a:t>
            </a:r>
            <a:r>
              <a:rPr lang="zh-CN" altLang="zh-CN" sz="2400" dirty="0"/>
              <a:t>）</a:t>
            </a:r>
            <a:r>
              <a:rPr lang="en-US" altLang="zh-CN" sz="2400" dirty="0"/>
              <a:t>0.l </a:t>
            </a:r>
            <a:r>
              <a:rPr lang="en-US" altLang="zh-CN" sz="2400" dirty="0" err="1"/>
              <a:t>mol·kg</a:t>
            </a:r>
            <a:r>
              <a:rPr lang="en-US" altLang="zh-CN" sz="2400" baseline="30000" dirty="0" err="1"/>
              <a:t>-l</a:t>
            </a:r>
            <a:r>
              <a:rPr lang="zh-CN" altLang="zh-CN" sz="2400" dirty="0"/>
              <a:t>的下列水溶液中，</a:t>
            </a:r>
            <a:r>
              <a:rPr lang="en-US" altLang="zh-CN" sz="2400" dirty="0"/>
              <a:t>pH</a:t>
            </a:r>
            <a:r>
              <a:rPr lang="zh-CN" altLang="zh-CN" sz="2400" dirty="0"/>
              <a:t>最小的是（</a:t>
            </a:r>
            <a:r>
              <a:rPr lang="en-US" altLang="zh-CN" sz="2400" dirty="0"/>
              <a:t>   </a:t>
            </a:r>
            <a:r>
              <a:rPr lang="zh-CN" altLang="zh-CN" sz="2400" dirty="0"/>
              <a:t>）。</a:t>
            </a:r>
          </a:p>
          <a:p>
            <a:r>
              <a:rPr lang="en-US" altLang="zh-CN" sz="2400" dirty="0"/>
              <a:t>A. H</a:t>
            </a:r>
            <a:r>
              <a:rPr lang="en-US" altLang="zh-CN" sz="2400" baseline="-25000" dirty="0"/>
              <a:t>2</a:t>
            </a:r>
            <a:r>
              <a:rPr lang="en-US" altLang="zh-CN" sz="2400" dirty="0"/>
              <a:t>S	      B.   H</a:t>
            </a:r>
            <a:r>
              <a:rPr lang="en-US" altLang="zh-CN" sz="2400" baseline="-25000" dirty="0"/>
              <a:t>2</a:t>
            </a:r>
            <a:r>
              <a:rPr lang="en-US" altLang="zh-CN" sz="2400" dirty="0"/>
              <a:t>CrO</a:t>
            </a:r>
            <a:r>
              <a:rPr lang="en-US" altLang="zh-CN" sz="2400" baseline="-25000" dirty="0"/>
              <a:t>4</a:t>
            </a:r>
            <a:r>
              <a:rPr lang="en-US" altLang="zh-CN" sz="2400" dirty="0"/>
              <a:t>  	   C. NH</a:t>
            </a:r>
            <a:r>
              <a:rPr lang="en-US" altLang="zh-CN" sz="2400" baseline="-25000" dirty="0"/>
              <a:t>4</a:t>
            </a:r>
            <a:r>
              <a:rPr lang="en-US" altLang="zh-CN" sz="2400" dirty="0"/>
              <a:t>Ac  	    D. </a:t>
            </a:r>
            <a:r>
              <a:rPr lang="en-US" altLang="zh-CN" sz="2400" dirty="0" err="1"/>
              <a:t>HAc</a:t>
            </a:r>
            <a:endParaRPr lang="zh-CN" altLang="zh-CN" sz="2400" dirty="0"/>
          </a:p>
          <a:p>
            <a:r>
              <a:rPr lang="zh-CN" altLang="zh-CN" sz="2400" dirty="0"/>
              <a:t>（</a:t>
            </a:r>
            <a:r>
              <a:rPr lang="en-US" altLang="zh-CN" sz="2400" dirty="0"/>
              <a:t>2</a:t>
            </a:r>
            <a:r>
              <a:rPr lang="zh-CN" altLang="zh-CN" sz="2400" dirty="0"/>
              <a:t>）下列混合溶液中 ，属于缓冲溶液的是（</a:t>
            </a:r>
            <a:r>
              <a:rPr lang="en-US" altLang="zh-CN" sz="2400" dirty="0"/>
              <a:t>   </a:t>
            </a:r>
            <a:r>
              <a:rPr lang="zh-CN" altLang="zh-CN" sz="2400" dirty="0"/>
              <a:t>）。</a:t>
            </a:r>
          </a:p>
          <a:p>
            <a:r>
              <a:rPr lang="en-US" altLang="zh-CN" sz="2400" dirty="0"/>
              <a:t>A. 50g 0.2 </a:t>
            </a:r>
            <a:r>
              <a:rPr lang="en-US" altLang="zh-CN" sz="2400" dirty="0" err="1"/>
              <a:t>mol·kg</a:t>
            </a:r>
            <a:r>
              <a:rPr lang="en-US" altLang="zh-CN" sz="2400" baseline="30000" dirty="0" err="1"/>
              <a:t>-l</a:t>
            </a:r>
            <a:r>
              <a:rPr lang="en-US" altLang="zh-CN" sz="2400" baseline="30000" dirty="0"/>
              <a:t> </a:t>
            </a:r>
            <a:r>
              <a:rPr lang="en-US" altLang="zh-CN" sz="2400" dirty="0" err="1"/>
              <a:t>HAc</a:t>
            </a:r>
            <a:r>
              <a:rPr lang="zh-CN" altLang="zh-CN" sz="2400" dirty="0"/>
              <a:t>与</a:t>
            </a:r>
            <a:r>
              <a:rPr lang="en-US" altLang="zh-CN" sz="2400" dirty="0"/>
              <a:t>50g 0.1 </a:t>
            </a:r>
            <a:r>
              <a:rPr lang="en-US" altLang="zh-CN" sz="2400" dirty="0" err="1"/>
              <a:t>mol·kg</a:t>
            </a:r>
            <a:r>
              <a:rPr lang="en-US" altLang="zh-CN" sz="2400" baseline="30000" dirty="0" err="1"/>
              <a:t>-l</a:t>
            </a:r>
            <a:r>
              <a:rPr lang="en-US" altLang="zh-CN" sz="2400" baseline="30000" dirty="0"/>
              <a:t> </a:t>
            </a:r>
            <a:r>
              <a:rPr lang="en-US" altLang="zh-CN" sz="2400" dirty="0" err="1"/>
              <a:t>NaOH</a:t>
            </a:r>
            <a:r>
              <a:rPr lang="en-US" altLang="zh-CN" sz="2400" dirty="0"/>
              <a:t> </a:t>
            </a:r>
            <a:endParaRPr lang="zh-CN" altLang="zh-CN" sz="2400" dirty="0"/>
          </a:p>
          <a:p>
            <a:r>
              <a:rPr lang="en-US" altLang="zh-CN" sz="2400" dirty="0"/>
              <a:t>B. 50g 0.1 </a:t>
            </a:r>
            <a:r>
              <a:rPr lang="en-US" altLang="zh-CN" sz="2400" dirty="0" err="1"/>
              <a:t>mol·kg</a:t>
            </a:r>
            <a:r>
              <a:rPr lang="en-US" altLang="zh-CN" sz="2400" baseline="30000" dirty="0" err="1"/>
              <a:t>-l</a:t>
            </a:r>
            <a:r>
              <a:rPr lang="en-US" altLang="zh-CN" sz="2400" baseline="30000" dirty="0"/>
              <a:t> </a:t>
            </a:r>
            <a:r>
              <a:rPr lang="en-US" altLang="zh-CN" sz="2400" dirty="0" err="1"/>
              <a:t>HAc</a:t>
            </a:r>
            <a:r>
              <a:rPr lang="zh-CN" altLang="zh-CN" sz="2400" dirty="0"/>
              <a:t>与</a:t>
            </a:r>
            <a:r>
              <a:rPr lang="en-US" altLang="zh-CN" sz="2400" dirty="0"/>
              <a:t>50g 0.1 </a:t>
            </a:r>
            <a:r>
              <a:rPr lang="en-US" altLang="zh-CN" sz="2400" dirty="0" err="1"/>
              <a:t>mol·kg</a:t>
            </a:r>
            <a:r>
              <a:rPr lang="en-US" altLang="zh-CN" sz="2400" baseline="30000" dirty="0" err="1"/>
              <a:t>-l</a:t>
            </a:r>
            <a:r>
              <a:rPr lang="en-US" altLang="zh-CN" sz="2400" baseline="30000" dirty="0"/>
              <a:t> </a:t>
            </a:r>
            <a:r>
              <a:rPr lang="en-US" altLang="zh-CN" sz="2400" dirty="0" err="1"/>
              <a:t>NaOH</a:t>
            </a:r>
            <a:endParaRPr lang="zh-CN" altLang="zh-CN" sz="2400" dirty="0"/>
          </a:p>
          <a:p>
            <a:r>
              <a:rPr lang="en-US" altLang="zh-CN" sz="2400" dirty="0"/>
              <a:t>C. 50g 0.2 </a:t>
            </a:r>
            <a:r>
              <a:rPr lang="en-US" altLang="zh-CN" sz="2400" dirty="0" err="1"/>
              <a:t>mol·kg</a:t>
            </a:r>
            <a:r>
              <a:rPr lang="en-US" altLang="zh-CN" sz="2400" baseline="30000" dirty="0" err="1"/>
              <a:t>-l</a:t>
            </a:r>
            <a:r>
              <a:rPr lang="en-US" altLang="zh-CN" sz="2400" baseline="30000" dirty="0"/>
              <a:t> </a:t>
            </a:r>
            <a:r>
              <a:rPr lang="en-US" altLang="zh-CN" sz="2400" dirty="0" err="1"/>
              <a:t>HAc</a:t>
            </a:r>
            <a:r>
              <a:rPr lang="zh-CN" altLang="zh-CN" sz="2400" dirty="0"/>
              <a:t>与</a:t>
            </a:r>
            <a:r>
              <a:rPr lang="en-US" altLang="zh-CN" sz="2400" dirty="0"/>
              <a:t>50g 0.2 </a:t>
            </a:r>
            <a:r>
              <a:rPr lang="en-US" altLang="zh-CN" sz="2400" dirty="0" err="1"/>
              <a:t>mol·kg</a:t>
            </a:r>
            <a:r>
              <a:rPr lang="en-US" altLang="zh-CN" sz="2400" baseline="30000" dirty="0" err="1"/>
              <a:t>-l</a:t>
            </a:r>
            <a:r>
              <a:rPr lang="en-US" altLang="zh-CN" sz="2400" baseline="30000" dirty="0"/>
              <a:t> </a:t>
            </a:r>
            <a:r>
              <a:rPr lang="en-US" altLang="zh-CN" sz="2400" dirty="0" err="1"/>
              <a:t>NaOH</a:t>
            </a:r>
            <a:r>
              <a:rPr lang="en-US" altLang="zh-CN" sz="2400" dirty="0"/>
              <a:t> </a:t>
            </a:r>
            <a:endParaRPr lang="zh-CN" altLang="zh-CN" sz="2400" dirty="0"/>
          </a:p>
          <a:p>
            <a:r>
              <a:rPr lang="en-US" altLang="zh-CN" sz="2400" dirty="0"/>
              <a:t>D. 50g 0.2 </a:t>
            </a:r>
            <a:r>
              <a:rPr lang="en-US" altLang="zh-CN" sz="2400" dirty="0" err="1"/>
              <a:t>mol</a:t>
            </a:r>
            <a:r>
              <a:rPr lang="zh-CN" altLang="zh-CN" sz="2400" dirty="0"/>
              <a:t>·</a:t>
            </a:r>
            <a:r>
              <a:rPr lang="en-US" altLang="zh-CN" sz="2400" dirty="0"/>
              <a:t>kg</a:t>
            </a:r>
            <a:r>
              <a:rPr lang="en-US" altLang="zh-CN" sz="2400" baseline="30000" dirty="0"/>
              <a:t>-l</a:t>
            </a:r>
            <a:r>
              <a:rPr lang="en-US" altLang="zh-CN" sz="2400" dirty="0"/>
              <a:t> </a:t>
            </a:r>
            <a:r>
              <a:rPr lang="en-US" altLang="zh-CN" sz="2400" dirty="0" err="1"/>
              <a:t>HCl</a:t>
            </a:r>
            <a:r>
              <a:rPr lang="zh-CN" altLang="zh-CN" sz="2400" dirty="0"/>
              <a:t>与</a:t>
            </a:r>
            <a:r>
              <a:rPr lang="en-US" altLang="zh-CN" sz="2400" dirty="0"/>
              <a:t>50g 0.1 </a:t>
            </a:r>
            <a:r>
              <a:rPr lang="en-US" altLang="zh-CN" sz="2400" dirty="0" err="1"/>
              <a:t>mol</a:t>
            </a:r>
            <a:r>
              <a:rPr lang="zh-CN" altLang="zh-CN" sz="2400" dirty="0"/>
              <a:t>·</a:t>
            </a:r>
            <a:r>
              <a:rPr lang="en-US" altLang="zh-CN" sz="2400" dirty="0"/>
              <a:t>kg</a:t>
            </a:r>
            <a:r>
              <a:rPr lang="en-US" altLang="zh-CN" sz="2400" baseline="30000" dirty="0"/>
              <a:t>-l</a:t>
            </a:r>
            <a:r>
              <a:rPr lang="en-US" altLang="zh-CN" sz="2400" dirty="0"/>
              <a:t> NH</a:t>
            </a:r>
            <a:r>
              <a:rPr lang="en-US" altLang="zh-CN" sz="2400" baseline="-25000" dirty="0"/>
              <a:t>3</a:t>
            </a:r>
            <a:r>
              <a:rPr lang="zh-CN" altLang="zh-CN" sz="2400" dirty="0"/>
              <a:t>·</a:t>
            </a:r>
            <a:r>
              <a:rPr lang="en-US" altLang="zh-CN" sz="2400" dirty="0"/>
              <a:t>H</a:t>
            </a:r>
            <a:r>
              <a:rPr lang="en-US" altLang="zh-CN" sz="2400" baseline="-25000" dirty="0"/>
              <a:t>2</a:t>
            </a:r>
            <a:r>
              <a:rPr lang="en-US" altLang="zh-CN" sz="2400" dirty="0"/>
              <a:t>O</a:t>
            </a:r>
            <a:endParaRPr lang="zh-CN" altLang="zh-CN" sz="2400" dirty="0"/>
          </a:p>
        </p:txBody>
      </p:sp>
    </p:spTree>
    <p:extLst>
      <p:ext uri="{BB962C8B-B14F-4D97-AF65-F5344CB8AC3E}">
        <p14:creationId xmlns:p14="http://schemas.microsoft.com/office/powerpoint/2010/main" val="174767452"/>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ChangeArrowheads="1"/>
          </p:cNvSpPr>
          <p:nvPr/>
        </p:nvSpPr>
        <p:spPr bwMode="auto">
          <a:xfrm>
            <a:off x="464859" y="164463"/>
            <a:ext cx="835329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eaLnBrk="1" hangingPunct="1">
              <a:buFont typeface="Arial" pitchFamily="34" charset="0"/>
              <a:buNone/>
            </a:pPr>
            <a:r>
              <a:rPr lang="zh-CN" altLang="zh-CN" sz="2400" dirty="0">
                <a:ea typeface="黑体" pitchFamily="49" charset="-122"/>
              </a:rPr>
              <a:t>例</a:t>
            </a:r>
            <a:r>
              <a:rPr lang="zh-CN" altLang="en-US" sz="2400" dirty="0">
                <a:ea typeface="黑体" pitchFamily="49" charset="-122"/>
              </a:rPr>
              <a:t>3</a:t>
            </a:r>
            <a:r>
              <a:rPr lang="en-US" altLang="zh-CN" sz="2400" dirty="0">
                <a:ea typeface="黑体" pitchFamily="49" charset="-122"/>
              </a:rPr>
              <a:t>  </a:t>
            </a:r>
            <a:r>
              <a:rPr lang="zh-CN" altLang="en-US" sz="2400" dirty="0">
                <a:ea typeface="黑体" pitchFamily="49" charset="-122"/>
              </a:rPr>
              <a:t>常温下  </a:t>
            </a:r>
            <a:r>
              <a:rPr lang="en-US" altLang="zh-CN" sz="2400" dirty="0">
                <a:ea typeface="黑体" pitchFamily="49" charset="-122"/>
              </a:rPr>
              <a:t>NH</a:t>
            </a:r>
            <a:r>
              <a:rPr lang="en-US" altLang="zh-CN" sz="2400" baseline="-25000" dirty="0">
                <a:ea typeface="黑体" pitchFamily="49" charset="-122"/>
              </a:rPr>
              <a:t>3</a:t>
            </a:r>
            <a:r>
              <a:rPr lang="en-US" altLang="zh-CN" sz="2400" dirty="0">
                <a:ea typeface="黑体" pitchFamily="49" charset="-122"/>
              </a:rPr>
              <a:t>·H</a:t>
            </a:r>
            <a:r>
              <a:rPr lang="en-US" altLang="zh-CN" sz="2400" baseline="-25000" dirty="0">
                <a:ea typeface="黑体" pitchFamily="49" charset="-122"/>
              </a:rPr>
              <a:t>2</a:t>
            </a:r>
            <a:r>
              <a:rPr lang="en-US" altLang="zh-CN" sz="2400" dirty="0">
                <a:ea typeface="黑体" pitchFamily="49" charset="-122"/>
              </a:rPr>
              <a:t>O</a:t>
            </a:r>
            <a:r>
              <a:rPr lang="zh-CN" altLang="en-US" sz="2400" dirty="0">
                <a:ea typeface="黑体" pitchFamily="49" charset="-122"/>
              </a:rPr>
              <a:t>的</a:t>
            </a:r>
            <a:r>
              <a:rPr lang="en-US" altLang="zh-CN" sz="2400" dirty="0">
                <a:ea typeface="黑体" pitchFamily="49" charset="-122"/>
              </a:rPr>
              <a:t>K</a:t>
            </a:r>
            <a:r>
              <a:rPr lang="en-US" altLang="zh-CN" sz="2400" baseline="-25000" dirty="0">
                <a:ea typeface="黑体" pitchFamily="49" charset="-122"/>
              </a:rPr>
              <a:t>b </a:t>
            </a:r>
            <a:r>
              <a:rPr lang="en-US" altLang="zh-CN" sz="2400" dirty="0">
                <a:ea typeface="黑体" pitchFamily="49" charset="-122"/>
              </a:rPr>
              <a:t>=1.76×10</a:t>
            </a:r>
            <a:r>
              <a:rPr lang="en-US" altLang="zh-CN" sz="2400" baseline="30000" dirty="0">
                <a:ea typeface="黑体" pitchFamily="49" charset="-122"/>
              </a:rPr>
              <a:t>-5</a:t>
            </a:r>
            <a:r>
              <a:rPr lang="zh-CN" altLang="en-US" sz="2400" dirty="0">
                <a:ea typeface="黑体" pitchFamily="49" charset="-122"/>
              </a:rPr>
              <a:t>，求</a:t>
            </a:r>
            <a:r>
              <a:rPr lang="en-US" altLang="zh-CN" sz="2400" dirty="0">
                <a:ea typeface="黑体" pitchFamily="49" charset="-122"/>
              </a:rPr>
              <a:t>0.5mol</a:t>
            </a:r>
            <a:r>
              <a:rPr lang="en-US" altLang="zh-CN" sz="1600" b="0" dirty="0"/>
              <a:t>•</a:t>
            </a:r>
            <a:r>
              <a:rPr lang="en-US" altLang="zh-CN" sz="2400" dirty="0">
                <a:ea typeface="黑体" pitchFamily="49" charset="-122"/>
              </a:rPr>
              <a:t>L</a:t>
            </a:r>
            <a:r>
              <a:rPr lang="en-US" altLang="zh-CN" sz="2400" baseline="30000" dirty="0">
                <a:ea typeface="黑体" pitchFamily="49" charset="-122"/>
              </a:rPr>
              <a:t>-1</a:t>
            </a:r>
            <a:r>
              <a:rPr lang="zh-CN" altLang="en-US" sz="2400" dirty="0">
                <a:ea typeface="黑体" pitchFamily="49" charset="-122"/>
              </a:rPr>
              <a:t>溶液中各种离子的浓度</a:t>
            </a:r>
          </a:p>
        </p:txBody>
      </p:sp>
      <p:graphicFrame>
        <p:nvGraphicFramePr>
          <p:cNvPr id="648196" name="Object 4"/>
          <p:cNvGraphicFramePr>
            <a:graphicFrameLocks/>
          </p:cNvGraphicFramePr>
          <p:nvPr>
            <p:extLst>
              <p:ext uri="{D42A27DB-BD31-4B8C-83A1-F6EECF244321}">
                <p14:modId xmlns:p14="http://schemas.microsoft.com/office/powerpoint/2010/main" val="2016288412"/>
              </p:ext>
            </p:extLst>
          </p:nvPr>
        </p:nvGraphicFramePr>
        <p:xfrm>
          <a:off x="594521" y="3751812"/>
          <a:ext cx="7816850" cy="529828"/>
        </p:xfrm>
        <a:graphic>
          <a:graphicData uri="http://schemas.openxmlformats.org/presentationml/2006/ole">
            <mc:AlternateContent xmlns:mc="http://schemas.openxmlformats.org/markup-compatibility/2006">
              <mc:Choice xmlns:v="urn:schemas-microsoft-com:vml" Requires="v">
                <p:oleObj name="Equation" r:id="rId2" imgW="2942569" imgH="266353" progId="Equation.DSMT4">
                  <p:embed/>
                </p:oleObj>
              </mc:Choice>
              <mc:Fallback>
                <p:oleObj name="Equation" r:id="rId2" imgW="2942569" imgH="266353" progId="Equation.DSMT4">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521" y="3751812"/>
                        <a:ext cx="7816850" cy="529828"/>
                      </a:xfrm>
                      <a:prstGeom prst="rect">
                        <a:avLst/>
                      </a:prstGeom>
                      <a:solidFill>
                        <a:srgbClr val="92D050"/>
                      </a:solidFill>
                      <a:ln>
                        <a:noFill/>
                      </a:ln>
                    </p:spPr>
                  </p:pic>
                </p:oleObj>
              </mc:Fallback>
            </mc:AlternateContent>
          </a:graphicData>
        </a:graphic>
      </p:graphicFrame>
      <p:graphicFrame>
        <p:nvGraphicFramePr>
          <p:cNvPr id="648197" name="Object 5"/>
          <p:cNvGraphicFramePr>
            <a:graphicFrameLocks/>
          </p:cNvGraphicFramePr>
          <p:nvPr>
            <p:extLst>
              <p:ext uri="{D42A27DB-BD31-4B8C-83A1-F6EECF244321}">
                <p14:modId xmlns:p14="http://schemas.microsoft.com/office/powerpoint/2010/main" val="1036797290"/>
              </p:ext>
            </p:extLst>
          </p:nvPr>
        </p:nvGraphicFramePr>
        <p:xfrm>
          <a:off x="2376488" y="4443961"/>
          <a:ext cx="3644900" cy="529829"/>
        </p:xfrm>
        <a:graphic>
          <a:graphicData uri="http://schemas.openxmlformats.org/presentationml/2006/ole">
            <mc:AlternateContent xmlns:mc="http://schemas.openxmlformats.org/markup-compatibility/2006">
              <mc:Choice xmlns:v="urn:schemas-microsoft-com:vml" Requires="v">
                <p:oleObj name="Equation" r:id="rId4" imgW="2159000" imgH="419100" progId="Equation.DSMT4">
                  <p:embed/>
                </p:oleObj>
              </mc:Choice>
              <mc:Fallback>
                <p:oleObj name="Equation" r:id="rId4" imgW="2159000" imgH="419100" progId="Equation.DSMT4">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6488" y="4443961"/>
                        <a:ext cx="3644900" cy="529829"/>
                      </a:xfrm>
                      <a:prstGeom prst="rect">
                        <a:avLst/>
                      </a:prstGeom>
                      <a:solidFill>
                        <a:srgbClr val="92D050"/>
                      </a:solidFill>
                      <a:ln>
                        <a:noFill/>
                      </a:ln>
                    </p:spPr>
                  </p:pic>
                </p:oleObj>
              </mc:Fallback>
            </mc:AlternateContent>
          </a:graphicData>
        </a:graphic>
      </p:graphicFrame>
      <p:sp>
        <p:nvSpPr>
          <p:cNvPr id="648198" name="Rectangle 6"/>
          <p:cNvSpPr>
            <a:spLocks noChangeArrowheads="1"/>
          </p:cNvSpPr>
          <p:nvPr/>
        </p:nvSpPr>
        <p:spPr bwMode="auto">
          <a:xfrm>
            <a:off x="712823" y="987577"/>
            <a:ext cx="81375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a:buFont typeface="Arial" pitchFamily="34" charset="0"/>
              <a:buNone/>
            </a:pPr>
            <a:r>
              <a:rPr lang="zh-CN" altLang="en-US" sz="2400" dirty="0">
                <a:ea typeface="黑体" pitchFamily="49" charset="-122"/>
              </a:rPr>
              <a:t>解  分析溶液中存在的离子  </a:t>
            </a:r>
            <a:endParaRPr lang="en-US" altLang="zh-CN" sz="2400" dirty="0">
              <a:ea typeface="黑体" pitchFamily="49" charset="-122"/>
            </a:endParaRPr>
          </a:p>
        </p:txBody>
      </p:sp>
      <p:sp>
        <p:nvSpPr>
          <p:cNvPr id="648200" name="Rectangle 8"/>
          <p:cNvSpPr>
            <a:spLocks noChangeArrowheads="1"/>
          </p:cNvSpPr>
          <p:nvPr/>
        </p:nvSpPr>
        <p:spPr bwMode="auto">
          <a:xfrm>
            <a:off x="464731" y="1979555"/>
            <a:ext cx="8137525"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a:buFont typeface="Arial" pitchFamily="34" charset="0"/>
              <a:buNone/>
            </a:pPr>
            <a:r>
              <a:rPr lang="zh-CN" altLang="en-US" sz="2800" dirty="0">
                <a:ea typeface="黑体" pitchFamily="49" charset="-122"/>
              </a:rPr>
              <a:t>            </a:t>
            </a:r>
            <a:r>
              <a:rPr lang="zh-CN" altLang="en-US" sz="2400" dirty="0">
                <a:ea typeface="黑体" pitchFamily="49" charset="-122"/>
              </a:rPr>
              <a:t>溶液中有</a:t>
            </a:r>
            <a:r>
              <a:rPr lang="en-US" altLang="zh-CN" sz="2400" dirty="0">
                <a:ea typeface="黑体" pitchFamily="49" charset="-122"/>
              </a:rPr>
              <a:t>NH</a:t>
            </a:r>
            <a:r>
              <a:rPr lang="en-US" altLang="zh-CN" sz="2400" baseline="-25000" dirty="0">
                <a:ea typeface="黑体" pitchFamily="49" charset="-122"/>
              </a:rPr>
              <a:t>4</a:t>
            </a:r>
            <a:r>
              <a:rPr lang="en-US" altLang="zh-CN" sz="2400" baseline="30000" dirty="0">
                <a:ea typeface="黑体" pitchFamily="49" charset="-122"/>
              </a:rPr>
              <a:t>+</a:t>
            </a:r>
            <a:r>
              <a:rPr lang="en-US" altLang="zh-CN" sz="2400" dirty="0">
                <a:ea typeface="黑体" pitchFamily="49" charset="-122"/>
              </a:rPr>
              <a:t>, OH</a:t>
            </a:r>
            <a:r>
              <a:rPr lang="en-US" altLang="zh-CN" sz="2400" baseline="30000" dirty="0">
                <a:ea typeface="黑体" pitchFamily="49" charset="-122"/>
              </a:rPr>
              <a:t>-</a:t>
            </a:r>
            <a:r>
              <a:rPr lang="en-US" altLang="zh-CN" sz="2400" dirty="0">
                <a:ea typeface="黑体" pitchFamily="49" charset="-122"/>
              </a:rPr>
              <a:t>, H</a:t>
            </a:r>
            <a:r>
              <a:rPr lang="en-US" altLang="zh-CN" sz="2400" baseline="30000" dirty="0">
                <a:ea typeface="黑体" pitchFamily="49" charset="-122"/>
              </a:rPr>
              <a:t>+</a:t>
            </a:r>
            <a:r>
              <a:rPr lang="en-US" altLang="zh-CN" sz="2400" dirty="0">
                <a:ea typeface="黑体" pitchFamily="49" charset="-122"/>
              </a:rPr>
              <a:t>, </a:t>
            </a:r>
          </a:p>
          <a:p>
            <a:pPr>
              <a:buFont typeface="Arial" pitchFamily="34" charset="0"/>
              <a:buNone/>
            </a:pPr>
            <a:r>
              <a:rPr lang="zh-CN" altLang="en-US" sz="2400" dirty="0">
                <a:ea typeface="黑体" pitchFamily="49" charset="-122"/>
              </a:rPr>
              <a:t>         同时</a:t>
            </a:r>
            <a:r>
              <a:rPr lang="en-US" altLang="zh-CN" sz="2400" dirty="0">
                <a:ea typeface="黑体" pitchFamily="49" charset="-122"/>
              </a:rPr>
              <a:t>[OH</a:t>
            </a:r>
            <a:r>
              <a:rPr lang="en-US" altLang="zh-CN" sz="2400" baseline="30000" dirty="0">
                <a:ea typeface="黑体" pitchFamily="49" charset="-122"/>
              </a:rPr>
              <a:t>-</a:t>
            </a:r>
            <a:r>
              <a:rPr lang="en-US" altLang="zh-CN" sz="2400" dirty="0">
                <a:ea typeface="黑体" pitchFamily="49" charset="-122"/>
              </a:rPr>
              <a:t>] = [OH</a:t>
            </a:r>
            <a:r>
              <a:rPr lang="en-US" altLang="zh-CN" sz="2400" baseline="30000" dirty="0">
                <a:ea typeface="黑体" pitchFamily="49" charset="-122"/>
              </a:rPr>
              <a:t>-</a:t>
            </a:r>
            <a:r>
              <a:rPr lang="en-US" altLang="zh-CN" sz="2400" dirty="0">
                <a:ea typeface="黑体" pitchFamily="49" charset="-122"/>
              </a:rPr>
              <a:t>]</a:t>
            </a:r>
            <a:r>
              <a:rPr lang="en-US" altLang="zh-CN" sz="2400" baseline="-25000" dirty="0">
                <a:ea typeface="黑体" pitchFamily="49" charset="-122"/>
              </a:rPr>
              <a:t>NH</a:t>
            </a:r>
            <a:r>
              <a:rPr lang="en-US" altLang="zh-CN" sz="2400" baseline="-44000" dirty="0">
                <a:ea typeface="黑体" pitchFamily="49" charset="-122"/>
              </a:rPr>
              <a:t>3</a:t>
            </a:r>
            <a:r>
              <a:rPr lang="en-US" altLang="zh-CN" sz="2800" baseline="-25000" dirty="0"/>
              <a:t>·</a:t>
            </a:r>
            <a:r>
              <a:rPr lang="en-US" altLang="zh-CN" sz="2400" baseline="-25000" dirty="0">
                <a:ea typeface="黑体" pitchFamily="49" charset="-122"/>
              </a:rPr>
              <a:t>H</a:t>
            </a:r>
            <a:r>
              <a:rPr lang="en-US" altLang="zh-CN" sz="2400" baseline="-44000" dirty="0">
                <a:ea typeface="黑体" pitchFamily="49" charset="-122"/>
              </a:rPr>
              <a:t>2</a:t>
            </a:r>
            <a:r>
              <a:rPr lang="en-US" altLang="zh-CN" sz="2400" baseline="-25000" dirty="0">
                <a:ea typeface="黑体" pitchFamily="49" charset="-122"/>
              </a:rPr>
              <a:t>O </a:t>
            </a:r>
            <a:r>
              <a:rPr lang="en-US" altLang="zh-CN" sz="2400" dirty="0">
                <a:ea typeface="黑体" pitchFamily="49" charset="-122"/>
              </a:rPr>
              <a:t>+ [OH</a:t>
            </a:r>
            <a:r>
              <a:rPr lang="en-US" altLang="zh-CN" sz="2400" baseline="30000" dirty="0">
                <a:ea typeface="黑体" pitchFamily="49" charset="-122"/>
              </a:rPr>
              <a:t>-</a:t>
            </a:r>
            <a:r>
              <a:rPr lang="en-US" altLang="zh-CN" sz="2400" dirty="0">
                <a:ea typeface="黑体" pitchFamily="49" charset="-122"/>
              </a:rPr>
              <a:t>]</a:t>
            </a:r>
            <a:r>
              <a:rPr lang="en-US" altLang="zh-CN" sz="2400" baseline="-25000" dirty="0">
                <a:ea typeface="黑体" pitchFamily="49" charset="-122"/>
              </a:rPr>
              <a:t>H</a:t>
            </a:r>
            <a:r>
              <a:rPr lang="en-US" altLang="zh-CN" sz="2400" baseline="-44000" dirty="0">
                <a:ea typeface="黑体" pitchFamily="49" charset="-122"/>
              </a:rPr>
              <a:t>2</a:t>
            </a:r>
            <a:r>
              <a:rPr lang="en-US" altLang="zh-CN" sz="2400" baseline="-25000" dirty="0">
                <a:ea typeface="黑体" pitchFamily="49" charset="-122"/>
              </a:rPr>
              <a:t>O</a:t>
            </a:r>
          </a:p>
        </p:txBody>
      </p:sp>
      <p:sp>
        <p:nvSpPr>
          <p:cNvPr id="648201" name="Rectangle 9"/>
          <p:cNvSpPr>
            <a:spLocks noChangeArrowheads="1"/>
          </p:cNvSpPr>
          <p:nvPr/>
        </p:nvSpPr>
        <p:spPr bwMode="auto">
          <a:xfrm>
            <a:off x="712823" y="2790830"/>
            <a:ext cx="81375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a:buFont typeface="Arial" pitchFamily="34" charset="0"/>
              <a:buNone/>
            </a:pPr>
            <a:r>
              <a:rPr lang="zh-CN" altLang="en-US" sz="2400" dirty="0">
                <a:ea typeface="黑体" pitchFamily="49" charset="-122"/>
              </a:rPr>
              <a:t>但水是极弱电解质，所以，可忽略</a:t>
            </a:r>
            <a:r>
              <a:rPr lang="en-US" altLang="zh-CN" sz="2400" dirty="0">
                <a:ea typeface="黑体" pitchFamily="49" charset="-122"/>
              </a:rPr>
              <a:t>[OH</a:t>
            </a:r>
            <a:r>
              <a:rPr lang="en-US" altLang="zh-CN" sz="2400" baseline="30000" dirty="0">
                <a:ea typeface="黑体" pitchFamily="49" charset="-122"/>
              </a:rPr>
              <a:t>-</a:t>
            </a:r>
            <a:r>
              <a:rPr lang="en-US" altLang="zh-CN" sz="2400" dirty="0">
                <a:ea typeface="黑体" pitchFamily="49" charset="-122"/>
              </a:rPr>
              <a:t>]</a:t>
            </a:r>
            <a:r>
              <a:rPr lang="en-US" altLang="zh-CN" sz="2400" baseline="-25000" dirty="0">
                <a:ea typeface="黑体" pitchFamily="49" charset="-122"/>
              </a:rPr>
              <a:t>H</a:t>
            </a:r>
            <a:r>
              <a:rPr lang="en-US" altLang="zh-CN" sz="2400" baseline="-44000" dirty="0">
                <a:ea typeface="黑体" pitchFamily="49" charset="-122"/>
              </a:rPr>
              <a:t>2</a:t>
            </a:r>
            <a:r>
              <a:rPr lang="en-US" altLang="zh-CN" sz="2400" baseline="-25000" dirty="0">
                <a:ea typeface="黑体" pitchFamily="49" charset="-122"/>
              </a:rPr>
              <a:t>O</a:t>
            </a:r>
          </a:p>
        </p:txBody>
      </p:sp>
      <p:sp>
        <p:nvSpPr>
          <p:cNvPr id="648202" name="Rectangle 10"/>
          <p:cNvSpPr>
            <a:spLocks noChangeArrowheads="1"/>
          </p:cNvSpPr>
          <p:nvPr/>
        </p:nvSpPr>
        <p:spPr bwMode="auto">
          <a:xfrm>
            <a:off x="684213" y="3274222"/>
            <a:ext cx="3384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a:buFont typeface="Arial" pitchFamily="34" charset="0"/>
              <a:buNone/>
            </a:pPr>
            <a:r>
              <a:rPr lang="zh-CN" altLang="en-US" sz="2400" dirty="0">
                <a:ea typeface="黑体" pitchFamily="49" charset="-122"/>
              </a:rPr>
              <a:t>又∵  </a:t>
            </a:r>
            <a:r>
              <a:rPr lang="en-US" altLang="zh-CN" sz="2400" dirty="0">
                <a:ea typeface="黑体" pitchFamily="49" charset="-122"/>
              </a:rPr>
              <a:t>c</a:t>
            </a:r>
            <a:r>
              <a:rPr lang="zh-CN" altLang="en-US" sz="2400" baseline="-25000" dirty="0">
                <a:ea typeface="黑体" pitchFamily="49" charset="-122"/>
              </a:rPr>
              <a:t>碱</a:t>
            </a:r>
            <a:r>
              <a:rPr lang="en-US" altLang="zh-CN" sz="2400" dirty="0">
                <a:ea typeface="黑体" pitchFamily="49" charset="-122"/>
              </a:rPr>
              <a:t>/K</a:t>
            </a:r>
            <a:r>
              <a:rPr lang="en-US" altLang="zh-CN" sz="2400" baseline="-25000" dirty="0">
                <a:ea typeface="黑体" pitchFamily="49" charset="-122"/>
              </a:rPr>
              <a:t>b </a:t>
            </a:r>
            <a:r>
              <a:rPr lang="en-US" altLang="zh-CN" sz="2400" dirty="0">
                <a:ea typeface="黑体" pitchFamily="49" charset="-122"/>
              </a:rPr>
              <a:t>&gt; 500</a:t>
            </a:r>
          </a:p>
        </p:txBody>
      </p:sp>
      <p:sp>
        <p:nvSpPr>
          <p:cNvPr id="648203" name="Rectangle 11"/>
          <p:cNvSpPr>
            <a:spLocks noChangeArrowheads="1"/>
          </p:cNvSpPr>
          <p:nvPr/>
        </p:nvSpPr>
        <p:spPr bwMode="auto">
          <a:xfrm>
            <a:off x="1187452" y="4612482"/>
            <a:ext cx="5762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a:buFont typeface="Arial" pitchFamily="34" charset="0"/>
              <a:buNone/>
            </a:pPr>
            <a:r>
              <a:rPr lang="en-US" altLang="zh-CN" sz="2800">
                <a:ea typeface="黑体" pitchFamily="49" charset="-122"/>
              </a:rPr>
              <a:t>∴  </a:t>
            </a:r>
          </a:p>
        </p:txBody>
      </p:sp>
      <p:grpSp>
        <p:nvGrpSpPr>
          <p:cNvPr id="2" name="Group 18"/>
          <p:cNvGrpSpPr>
            <a:grpSpLocks/>
          </p:cNvGrpSpPr>
          <p:nvPr/>
        </p:nvGrpSpPr>
        <p:grpSpPr bwMode="auto">
          <a:xfrm>
            <a:off x="2088365" y="1261771"/>
            <a:ext cx="5329237" cy="892968"/>
            <a:chOff x="1247" y="1117"/>
            <a:chExt cx="3357" cy="750"/>
          </a:xfrm>
        </p:grpSpPr>
        <p:sp>
          <p:nvSpPr>
            <p:cNvPr id="38925" name="Rectangle 7"/>
            <p:cNvSpPr>
              <a:spLocks noChangeArrowheads="1"/>
            </p:cNvSpPr>
            <p:nvPr/>
          </p:nvSpPr>
          <p:spPr bwMode="auto">
            <a:xfrm>
              <a:off x="1247" y="1117"/>
              <a:ext cx="3357"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Times New Roman" pitchFamily="18" charset="0"/>
                  <a:ea typeface="宋体" pitchFamily="2" charset="-122"/>
                </a:defRPr>
              </a:lvl1pPr>
              <a:lvl2pPr marL="742950" indent="-285750" eaLnBrk="0" hangingPunct="0">
                <a:defRPr sz="3200">
                  <a:solidFill>
                    <a:schemeClr val="tx1"/>
                  </a:solidFill>
                  <a:latin typeface="Times New Roman" pitchFamily="18" charset="0"/>
                  <a:ea typeface="宋体" pitchFamily="2" charset="-122"/>
                </a:defRPr>
              </a:lvl2pPr>
              <a:lvl3pPr marL="1143000" indent="-228600" eaLnBrk="0" hangingPunct="0">
                <a:defRPr sz="3200">
                  <a:solidFill>
                    <a:schemeClr val="tx1"/>
                  </a:solidFill>
                  <a:latin typeface="Times New Roman" pitchFamily="18" charset="0"/>
                  <a:ea typeface="宋体" pitchFamily="2" charset="-122"/>
                </a:defRPr>
              </a:lvl3pPr>
              <a:lvl4pPr marL="1600200" indent="-228600" eaLnBrk="0" hangingPunct="0">
                <a:defRPr sz="3200">
                  <a:solidFill>
                    <a:schemeClr val="tx1"/>
                  </a:solidFill>
                  <a:latin typeface="Times New Roman" pitchFamily="18" charset="0"/>
                  <a:ea typeface="宋体" pitchFamily="2" charset="-122"/>
                </a:defRPr>
              </a:lvl4pPr>
              <a:lvl5pPr marL="2057400" indent="-228600" eaLnBrk="0" hangingPunct="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Font typeface="Arial" pitchFamily="34" charset="0"/>
                <a:defRPr sz="3200">
                  <a:solidFill>
                    <a:schemeClr val="tx1"/>
                  </a:solidFill>
                  <a:latin typeface="Times New Roman" pitchFamily="18" charset="0"/>
                  <a:ea typeface="宋体" pitchFamily="2" charset="-122"/>
                </a:defRPr>
              </a:lvl9pPr>
            </a:lstStyle>
            <a:p>
              <a:pPr>
                <a:buFont typeface="Arial" pitchFamily="34" charset="0"/>
                <a:buNone/>
              </a:pPr>
              <a:r>
                <a:rPr lang="en-US" altLang="zh-CN" sz="2800" dirty="0">
                  <a:ea typeface="黑体" pitchFamily="49" charset="-122"/>
                </a:rPr>
                <a:t>        </a:t>
              </a:r>
              <a:r>
                <a:rPr lang="en-US" altLang="zh-CN" sz="2400" dirty="0">
                  <a:ea typeface="黑体" pitchFamily="49" charset="-122"/>
                </a:rPr>
                <a:t>NH</a:t>
              </a:r>
              <a:r>
                <a:rPr lang="en-US" altLang="zh-CN" sz="2400" baseline="-25000" dirty="0">
                  <a:ea typeface="黑体" pitchFamily="49" charset="-122"/>
                </a:rPr>
                <a:t>3</a:t>
              </a:r>
              <a:r>
                <a:rPr lang="en-US" altLang="zh-CN" sz="2400" dirty="0">
                  <a:ea typeface="黑体" pitchFamily="49" charset="-122"/>
                </a:rPr>
                <a:t>·H</a:t>
              </a:r>
              <a:r>
                <a:rPr lang="en-US" altLang="zh-CN" sz="2400" baseline="-25000" dirty="0">
                  <a:ea typeface="黑体" pitchFamily="49" charset="-122"/>
                </a:rPr>
                <a:t>2</a:t>
              </a:r>
              <a:r>
                <a:rPr lang="en-US" altLang="zh-CN" sz="2400" dirty="0">
                  <a:ea typeface="黑体" pitchFamily="49" charset="-122"/>
                </a:rPr>
                <a:t>O           NH</a:t>
              </a:r>
              <a:r>
                <a:rPr lang="en-US" altLang="zh-CN" sz="2400" baseline="-25000" dirty="0">
                  <a:ea typeface="黑体" pitchFamily="49" charset="-122"/>
                </a:rPr>
                <a:t>4</a:t>
              </a:r>
              <a:r>
                <a:rPr lang="en-US" altLang="zh-CN" sz="2400" baseline="30000" dirty="0">
                  <a:ea typeface="黑体" pitchFamily="49" charset="-122"/>
                </a:rPr>
                <a:t>+ </a:t>
              </a:r>
              <a:r>
                <a:rPr lang="en-US" altLang="zh-CN" sz="2400" dirty="0">
                  <a:ea typeface="黑体" pitchFamily="49" charset="-122"/>
                </a:rPr>
                <a:t>+ OH</a:t>
              </a:r>
              <a:r>
                <a:rPr lang="en-US" altLang="zh-CN" sz="2400" baseline="30000" dirty="0">
                  <a:ea typeface="黑体" pitchFamily="49" charset="-122"/>
                </a:rPr>
                <a:t>-</a:t>
              </a:r>
              <a:r>
                <a:rPr lang="en-US" altLang="zh-CN" sz="2400" dirty="0">
                  <a:ea typeface="黑体" pitchFamily="49" charset="-122"/>
                </a:rPr>
                <a:t> </a:t>
              </a:r>
            </a:p>
            <a:p>
              <a:pPr>
                <a:buFont typeface="Arial" pitchFamily="34" charset="0"/>
                <a:buNone/>
              </a:pPr>
              <a:r>
                <a:rPr lang="en-US" altLang="zh-CN" sz="2400" dirty="0">
                  <a:ea typeface="黑体" pitchFamily="49" charset="-122"/>
                </a:rPr>
                <a:t>                H</a:t>
              </a:r>
              <a:r>
                <a:rPr lang="en-US" altLang="zh-CN" sz="2400" baseline="-25000" dirty="0">
                  <a:ea typeface="黑体" pitchFamily="49" charset="-122"/>
                </a:rPr>
                <a:t>2</a:t>
              </a:r>
              <a:r>
                <a:rPr lang="en-US" altLang="zh-CN" sz="2400" dirty="0">
                  <a:ea typeface="黑体" pitchFamily="49" charset="-122"/>
                </a:rPr>
                <a:t>O          H</a:t>
              </a:r>
              <a:r>
                <a:rPr lang="en-US" altLang="zh-CN" sz="2400" baseline="30000" dirty="0">
                  <a:ea typeface="黑体" pitchFamily="49" charset="-122"/>
                </a:rPr>
                <a:t>+ </a:t>
              </a:r>
              <a:r>
                <a:rPr lang="en-US" altLang="zh-CN" sz="2400" dirty="0">
                  <a:ea typeface="黑体" pitchFamily="49" charset="-122"/>
                </a:rPr>
                <a:t>+ OH</a:t>
              </a:r>
              <a:r>
                <a:rPr lang="en-US" altLang="zh-CN" sz="2400" baseline="30000" dirty="0">
                  <a:ea typeface="黑体" pitchFamily="49" charset="-122"/>
                </a:rPr>
                <a:t>-</a:t>
              </a:r>
            </a:p>
          </p:txBody>
        </p:sp>
        <p:grpSp>
          <p:nvGrpSpPr>
            <p:cNvPr id="38926" name="Group 12"/>
            <p:cNvGrpSpPr>
              <a:grpSpLocks/>
            </p:cNvGrpSpPr>
            <p:nvPr/>
          </p:nvGrpSpPr>
          <p:grpSpPr bwMode="auto">
            <a:xfrm>
              <a:off x="2576" y="1363"/>
              <a:ext cx="449" cy="61"/>
              <a:chOff x="2552" y="597"/>
              <a:chExt cx="449" cy="61"/>
            </a:xfrm>
          </p:grpSpPr>
          <p:sp>
            <p:nvSpPr>
              <p:cNvPr id="38930" name="Line 13"/>
              <p:cNvSpPr>
                <a:spLocks noChangeShapeType="1"/>
              </p:cNvSpPr>
              <p:nvPr/>
            </p:nvSpPr>
            <p:spPr bwMode="auto">
              <a:xfrm>
                <a:off x="2617" y="597"/>
                <a:ext cx="384"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pPr>
                  <a:buFont typeface="Arial" pitchFamily="34" charset="0"/>
                  <a:buNone/>
                </a:pPr>
                <a:endParaRPr lang="zh-CN" altLang="en-US" sz="3200" b="0">
                  <a:ea typeface="宋体" pitchFamily="2" charset="-122"/>
                </a:endParaRPr>
              </a:p>
            </p:txBody>
          </p:sp>
          <p:sp>
            <p:nvSpPr>
              <p:cNvPr id="38931" name="Line 14"/>
              <p:cNvSpPr>
                <a:spLocks noChangeShapeType="1"/>
              </p:cNvSpPr>
              <p:nvPr/>
            </p:nvSpPr>
            <p:spPr bwMode="auto">
              <a:xfrm rot="10800000">
                <a:off x="2552" y="658"/>
                <a:ext cx="384"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pPr>
                  <a:buFont typeface="Arial" pitchFamily="34" charset="0"/>
                  <a:buNone/>
                </a:pPr>
                <a:endParaRPr lang="zh-CN" altLang="en-US" sz="3200" b="0">
                  <a:ea typeface="宋体" pitchFamily="2" charset="-122"/>
                </a:endParaRPr>
              </a:p>
            </p:txBody>
          </p:sp>
        </p:grpSp>
        <p:grpSp>
          <p:nvGrpSpPr>
            <p:cNvPr id="38927" name="Group 15"/>
            <p:cNvGrpSpPr>
              <a:grpSpLocks/>
            </p:cNvGrpSpPr>
            <p:nvPr/>
          </p:nvGrpSpPr>
          <p:grpSpPr bwMode="auto">
            <a:xfrm>
              <a:off x="2449" y="1612"/>
              <a:ext cx="408" cy="82"/>
              <a:chOff x="2429" y="574"/>
              <a:chExt cx="408" cy="82"/>
            </a:xfrm>
          </p:grpSpPr>
          <p:sp>
            <p:nvSpPr>
              <p:cNvPr id="38928" name="Line 16"/>
              <p:cNvSpPr>
                <a:spLocks noChangeShapeType="1"/>
              </p:cNvSpPr>
              <p:nvPr/>
            </p:nvSpPr>
            <p:spPr bwMode="auto">
              <a:xfrm>
                <a:off x="2453" y="574"/>
                <a:ext cx="384"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pPr>
                  <a:buFont typeface="Arial" pitchFamily="34" charset="0"/>
                  <a:buNone/>
                </a:pPr>
                <a:endParaRPr lang="zh-CN" altLang="en-US" sz="3200" b="0">
                  <a:ea typeface="宋体" pitchFamily="2" charset="-122"/>
                </a:endParaRPr>
              </a:p>
            </p:txBody>
          </p:sp>
          <p:sp>
            <p:nvSpPr>
              <p:cNvPr id="38929" name="Line 17"/>
              <p:cNvSpPr>
                <a:spLocks noChangeShapeType="1"/>
              </p:cNvSpPr>
              <p:nvPr/>
            </p:nvSpPr>
            <p:spPr bwMode="auto">
              <a:xfrm rot="10800000">
                <a:off x="2429" y="656"/>
                <a:ext cx="384"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pPr>
                  <a:buFont typeface="Arial" pitchFamily="34" charset="0"/>
                  <a:buNone/>
                </a:pPr>
                <a:endParaRPr lang="zh-CN" altLang="en-US" sz="3200" b="0">
                  <a:ea typeface="宋体" pitchFamily="2" charset="-122"/>
                </a:endParaRPr>
              </a:p>
            </p:txBody>
          </p:sp>
        </p:grpSp>
      </p:grpSp>
    </p:spTree>
    <p:extLst>
      <p:ext uri="{BB962C8B-B14F-4D97-AF65-F5344CB8AC3E}">
        <p14:creationId xmlns:p14="http://schemas.microsoft.com/office/powerpoint/2010/main" val="454553732"/>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8195"/>
                                        </p:tgtEl>
                                        <p:attrNameLst>
                                          <p:attrName>style.visibility</p:attrName>
                                        </p:attrNameLst>
                                      </p:cBhvr>
                                      <p:to>
                                        <p:strVal val="visible"/>
                                      </p:to>
                                    </p:set>
                                    <p:animEffect transition="in" filter="blinds(horizontal)">
                                      <p:cBhvr>
                                        <p:cTn id="7" dur="500"/>
                                        <p:tgtEl>
                                          <p:spTgt spid="6481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48198"/>
                                        </p:tgtEl>
                                        <p:attrNameLst>
                                          <p:attrName>style.visibility</p:attrName>
                                        </p:attrNameLst>
                                      </p:cBhvr>
                                      <p:to>
                                        <p:strVal val="visible"/>
                                      </p:to>
                                    </p:set>
                                    <p:anim calcmode="lin" valueType="num">
                                      <p:cBhvr additive="base">
                                        <p:cTn id="12" dur="500" fill="hold"/>
                                        <p:tgtEl>
                                          <p:spTgt spid="648198"/>
                                        </p:tgtEl>
                                        <p:attrNameLst>
                                          <p:attrName>ppt_x</p:attrName>
                                        </p:attrNameLst>
                                      </p:cBhvr>
                                      <p:tavLst>
                                        <p:tav tm="0">
                                          <p:val>
                                            <p:strVal val="#ppt_x"/>
                                          </p:val>
                                        </p:tav>
                                        <p:tav tm="100000">
                                          <p:val>
                                            <p:strVal val="#ppt_x"/>
                                          </p:val>
                                        </p:tav>
                                      </p:tavLst>
                                    </p:anim>
                                    <p:anim calcmode="lin" valueType="num">
                                      <p:cBhvr additive="base">
                                        <p:cTn id="13" dur="500" fill="hold"/>
                                        <p:tgtEl>
                                          <p:spTgt spid="648198"/>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648200"/>
                                        </p:tgtEl>
                                        <p:attrNameLst>
                                          <p:attrName>style.visibility</p:attrName>
                                        </p:attrNameLst>
                                      </p:cBhvr>
                                      <p:to>
                                        <p:strVal val="visible"/>
                                      </p:to>
                                    </p:set>
                                    <p:animEffect transition="in" filter="box(in)">
                                      <p:cBhvr>
                                        <p:cTn id="23" dur="500"/>
                                        <p:tgtEl>
                                          <p:spTgt spid="64820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648201"/>
                                        </p:tgtEl>
                                        <p:attrNameLst>
                                          <p:attrName>style.visibility</p:attrName>
                                        </p:attrNameLst>
                                      </p:cBhvr>
                                      <p:to>
                                        <p:strVal val="visible"/>
                                      </p:to>
                                    </p:set>
                                    <p:anim calcmode="lin" valueType="num">
                                      <p:cBhvr additive="base">
                                        <p:cTn id="28" dur="500" fill="hold"/>
                                        <p:tgtEl>
                                          <p:spTgt spid="648201"/>
                                        </p:tgtEl>
                                        <p:attrNameLst>
                                          <p:attrName>ppt_x</p:attrName>
                                        </p:attrNameLst>
                                      </p:cBhvr>
                                      <p:tavLst>
                                        <p:tav tm="0">
                                          <p:val>
                                            <p:strVal val="#ppt_x"/>
                                          </p:val>
                                        </p:tav>
                                        <p:tav tm="100000">
                                          <p:val>
                                            <p:strVal val="#ppt_x"/>
                                          </p:val>
                                        </p:tav>
                                      </p:tavLst>
                                    </p:anim>
                                    <p:anim calcmode="lin" valueType="num">
                                      <p:cBhvr additive="base">
                                        <p:cTn id="29" dur="500" fill="hold"/>
                                        <p:tgtEl>
                                          <p:spTgt spid="648201"/>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648202"/>
                                        </p:tgtEl>
                                        <p:attrNameLst>
                                          <p:attrName>style.visibility</p:attrName>
                                        </p:attrNameLst>
                                      </p:cBhvr>
                                      <p:to>
                                        <p:strVal val="visible"/>
                                      </p:to>
                                    </p:set>
                                    <p:anim calcmode="lin" valueType="num">
                                      <p:cBhvr additive="base">
                                        <p:cTn id="34" dur="500" fill="hold"/>
                                        <p:tgtEl>
                                          <p:spTgt spid="648202"/>
                                        </p:tgtEl>
                                        <p:attrNameLst>
                                          <p:attrName>ppt_x</p:attrName>
                                        </p:attrNameLst>
                                      </p:cBhvr>
                                      <p:tavLst>
                                        <p:tav tm="0">
                                          <p:val>
                                            <p:strVal val="#ppt_x"/>
                                          </p:val>
                                        </p:tav>
                                        <p:tav tm="100000">
                                          <p:val>
                                            <p:strVal val="#ppt_x"/>
                                          </p:val>
                                        </p:tav>
                                      </p:tavLst>
                                    </p:anim>
                                    <p:anim calcmode="lin" valueType="num">
                                      <p:cBhvr additive="base">
                                        <p:cTn id="35" dur="500" fill="hold"/>
                                        <p:tgtEl>
                                          <p:spTgt spid="648202"/>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nodeType="clickEffect">
                                  <p:stCondLst>
                                    <p:cond delay="0"/>
                                  </p:stCondLst>
                                  <p:childTnLst>
                                    <p:set>
                                      <p:cBhvr>
                                        <p:cTn id="39" dur="1" fill="hold">
                                          <p:stCondLst>
                                            <p:cond delay="0"/>
                                          </p:stCondLst>
                                        </p:cTn>
                                        <p:tgtEl>
                                          <p:spTgt spid="648196"/>
                                        </p:tgtEl>
                                        <p:attrNameLst>
                                          <p:attrName>style.visibility</p:attrName>
                                        </p:attrNameLst>
                                      </p:cBhvr>
                                      <p:to>
                                        <p:strVal val="visible"/>
                                      </p:to>
                                    </p:set>
                                    <p:animEffect transition="in" filter="checkerboard(across)">
                                      <p:cBhvr>
                                        <p:cTn id="40" dur="500"/>
                                        <p:tgtEl>
                                          <p:spTgt spid="64819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648203"/>
                                        </p:tgtEl>
                                        <p:attrNameLst>
                                          <p:attrName>style.visibility</p:attrName>
                                        </p:attrNameLst>
                                      </p:cBhvr>
                                      <p:to>
                                        <p:strVal val="visible"/>
                                      </p:to>
                                    </p:set>
                                    <p:anim calcmode="lin" valueType="num">
                                      <p:cBhvr additive="base">
                                        <p:cTn id="45" dur="500" fill="hold"/>
                                        <p:tgtEl>
                                          <p:spTgt spid="648203"/>
                                        </p:tgtEl>
                                        <p:attrNameLst>
                                          <p:attrName>ppt_x</p:attrName>
                                        </p:attrNameLst>
                                      </p:cBhvr>
                                      <p:tavLst>
                                        <p:tav tm="0">
                                          <p:val>
                                            <p:strVal val="1+#ppt_w/2"/>
                                          </p:val>
                                        </p:tav>
                                        <p:tav tm="100000">
                                          <p:val>
                                            <p:strVal val="#ppt_x"/>
                                          </p:val>
                                        </p:tav>
                                      </p:tavLst>
                                    </p:anim>
                                    <p:anim calcmode="lin" valueType="num">
                                      <p:cBhvr additive="base">
                                        <p:cTn id="46" dur="500" fill="hold"/>
                                        <p:tgtEl>
                                          <p:spTgt spid="648203"/>
                                        </p:tgtEl>
                                        <p:attrNameLst>
                                          <p:attrName>ppt_y</p:attrName>
                                        </p:attrNameLst>
                                      </p:cBhvr>
                                      <p:tavLst>
                                        <p:tav tm="0">
                                          <p:val>
                                            <p:strVal val="#ppt_y"/>
                                          </p:val>
                                        </p:tav>
                                        <p:tav tm="100000">
                                          <p:val>
                                            <p:strVal val="#ppt_y"/>
                                          </p:val>
                                        </p:tav>
                                      </p:tavLst>
                                    </p:anim>
                                  </p:childTnLst>
                                </p:cTn>
                              </p:par>
                              <p:par>
                                <p:cTn id="47" presetID="2" presetClass="entr" presetSubtype="2" fill="hold" nodeType="withEffect">
                                  <p:stCondLst>
                                    <p:cond delay="0"/>
                                  </p:stCondLst>
                                  <p:childTnLst>
                                    <p:set>
                                      <p:cBhvr>
                                        <p:cTn id="48" dur="1" fill="hold">
                                          <p:stCondLst>
                                            <p:cond delay="0"/>
                                          </p:stCondLst>
                                        </p:cTn>
                                        <p:tgtEl>
                                          <p:spTgt spid="648197"/>
                                        </p:tgtEl>
                                        <p:attrNameLst>
                                          <p:attrName>style.visibility</p:attrName>
                                        </p:attrNameLst>
                                      </p:cBhvr>
                                      <p:to>
                                        <p:strVal val="visible"/>
                                      </p:to>
                                    </p:set>
                                    <p:anim calcmode="lin" valueType="num">
                                      <p:cBhvr additive="base">
                                        <p:cTn id="49" dur="500" fill="hold"/>
                                        <p:tgtEl>
                                          <p:spTgt spid="648197"/>
                                        </p:tgtEl>
                                        <p:attrNameLst>
                                          <p:attrName>ppt_x</p:attrName>
                                        </p:attrNameLst>
                                      </p:cBhvr>
                                      <p:tavLst>
                                        <p:tav tm="0">
                                          <p:val>
                                            <p:strVal val="1+#ppt_w/2"/>
                                          </p:val>
                                        </p:tav>
                                        <p:tav tm="100000">
                                          <p:val>
                                            <p:strVal val="#ppt_x"/>
                                          </p:val>
                                        </p:tav>
                                      </p:tavLst>
                                    </p:anim>
                                    <p:anim calcmode="lin" valueType="num">
                                      <p:cBhvr additive="base">
                                        <p:cTn id="50" dur="500" fill="hold"/>
                                        <p:tgtEl>
                                          <p:spTgt spid="6481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5" grpId="0"/>
      <p:bldP spid="648198" grpId="0"/>
      <p:bldP spid="648200" grpId="0"/>
      <p:bldP spid="648201" grpId="0"/>
      <p:bldP spid="648202" grpId="0"/>
      <p:bldP spid="64820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16"/>
          <p:cNvSpPr txBox="1"/>
          <p:nvPr/>
        </p:nvSpPr>
        <p:spPr>
          <a:xfrm>
            <a:off x="107950" y="839791"/>
            <a:ext cx="5616575" cy="584775"/>
          </a:xfrm>
          <a:prstGeom prst="rect">
            <a:avLst/>
          </a:prstGeom>
          <a:solidFill>
            <a:srgbClr val="FFFF00"/>
          </a:solidFill>
          <a:ln w="9525">
            <a:noFill/>
          </a:ln>
        </p:spPr>
        <p:txBody>
          <a:bodyPr anchor="t" anchorCtr="0">
            <a:spAutoFit/>
          </a:bodyPr>
          <a:lstStyle/>
          <a:p>
            <a:pPr algn="just">
              <a:spcBef>
                <a:spcPct val="50000"/>
              </a:spcBef>
              <a:buClrTx/>
              <a:buFontTx/>
            </a:pPr>
            <a:r>
              <a:rPr lang="en-US" altLang="zh-CN" sz="3200" dirty="0">
                <a:latin typeface="华文新魏" pitchFamily="2" charset="-122"/>
                <a:ea typeface="华文新魏" pitchFamily="2" charset="-122"/>
              </a:rPr>
              <a:t>3.4.1 </a:t>
            </a:r>
            <a:r>
              <a:rPr lang="zh-CN" altLang="en-US" sz="3200" dirty="0">
                <a:latin typeface="华文新魏" pitchFamily="2" charset="-122"/>
                <a:ea typeface="华文新魏" pitchFamily="2" charset="-122"/>
              </a:rPr>
              <a:t>沉淀溶解平衡与溶度积</a:t>
            </a:r>
          </a:p>
        </p:txBody>
      </p:sp>
      <p:sp>
        <p:nvSpPr>
          <p:cNvPr id="57346" name="Rectangle 20"/>
          <p:cNvSpPr/>
          <p:nvPr/>
        </p:nvSpPr>
        <p:spPr>
          <a:xfrm>
            <a:off x="5" y="227442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57347" name="Rectangle 22"/>
          <p:cNvSpPr/>
          <p:nvPr/>
        </p:nvSpPr>
        <p:spPr>
          <a:xfrm>
            <a:off x="5" y="2184729"/>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57348" name="Rectangle 24"/>
          <p:cNvSpPr/>
          <p:nvPr/>
        </p:nvSpPr>
        <p:spPr>
          <a:xfrm>
            <a:off x="5" y="-261609"/>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57349" name="Rectangle 27"/>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45087" name="Text Box 31"/>
          <p:cNvSpPr txBox="1"/>
          <p:nvPr/>
        </p:nvSpPr>
        <p:spPr>
          <a:xfrm>
            <a:off x="2267585" y="1454788"/>
            <a:ext cx="5678170" cy="1169551"/>
          </a:xfrm>
          <a:prstGeom prst="rect">
            <a:avLst/>
          </a:prstGeom>
          <a:noFill/>
          <a:ln w="9525">
            <a:noFill/>
          </a:ln>
        </p:spPr>
        <p:txBody>
          <a:bodyPr wrap="square"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难溶电解质： </a:t>
            </a:r>
            <a:endParaRPr lang="zh-CN" altLang="en-US" b="0" dirty="0">
              <a:latin typeface="Times New Roman" panose="02020603050405020304" pitchFamily="18" charset="0"/>
              <a:ea typeface="ˎ̥"/>
            </a:endParaRPr>
          </a:p>
          <a:p>
            <a:pPr>
              <a:spcBef>
                <a:spcPct val="50000"/>
              </a:spcBef>
              <a:buClrTx/>
              <a:buFontTx/>
            </a:pPr>
            <a:r>
              <a:rPr lang="zh-CN" altLang="en-US" dirty="0">
                <a:latin typeface="Times New Roman" panose="02020603050405020304" pitchFamily="18" charset="0"/>
                <a:ea typeface="幼圆" pitchFamily="49" charset="-122"/>
              </a:rPr>
              <a:t>           溶解度 ＜</a:t>
            </a:r>
            <a:r>
              <a:rPr lang="en-US" altLang="zh-CN" dirty="0">
                <a:latin typeface="Times New Roman" panose="02020603050405020304" pitchFamily="18" charset="0"/>
                <a:ea typeface="幼圆" pitchFamily="49" charset="-122"/>
              </a:rPr>
              <a:t>0.01g/100gH</a:t>
            </a:r>
            <a:r>
              <a:rPr lang="en-US" altLang="zh-CN" baseline="-25000" dirty="0">
                <a:latin typeface="Times New Roman" panose="02020603050405020304" pitchFamily="18" charset="0"/>
                <a:ea typeface="幼圆" pitchFamily="49" charset="-122"/>
              </a:rPr>
              <a:t>2</a:t>
            </a:r>
            <a:r>
              <a:rPr lang="en-US" altLang="zh-CN" dirty="0">
                <a:latin typeface="Times New Roman" panose="02020603050405020304" pitchFamily="18" charset="0"/>
                <a:ea typeface="幼圆" pitchFamily="49" charset="-122"/>
              </a:rPr>
              <a:t>O</a:t>
            </a:r>
            <a:endParaRPr lang="en-US" altLang="zh-CN" b="0" dirty="0">
              <a:latin typeface="Arial" panose="020B0604020202020204" pitchFamily="34" charset="0"/>
              <a:ea typeface="宋体" panose="02010600030101010101" pitchFamily="2" charset="-122"/>
            </a:endParaRPr>
          </a:p>
        </p:txBody>
      </p:sp>
      <p:sp>
        <p:nvSpPr>
          <p:cNvPr id="45091" name="Text Box 35"/>
          <p:cNvSpPr txBox="1"/>
          <p:nvPr/>
        </p:nvSpPr>
        <p:spPr>
          <a:xfrm>
            <a:off x="2267585" y="2534288"/>
            <a:ext cx="5808980" cy="1169551"/>
          </a:xfrm>
          <a:prstGeom prst="rect">
            <a:avLst/>
          </a:prstGeom>
          <a:noFill/>
          <a:ln w="9525">
            <a:noFill/>
          </a:ln>
        </p:spPr>
        <p:txBody>
          <a:bodyPr wrap="square"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微溶电解质： </a:t>
            </a:r>
            <a:endParaRPr lang="zh-CN" altLang="en-US" b="0" dirty="0">
              <a:latin typeface="Times New Roman" panose="02020603050405020304" pitchFamily="18" charset="0"/>
              <a:ea typeface="ˎ̥"/>
            </a:endParaRPr>
          </a:p>
          <a:p>
            <a:pPr>
              <a:spcBef>
                <a:spcPct val="50000"/>
              </a:spcBef>
              <a:buClrTx/>
              <a:buFontTx/>
            </a:pPr>
            <a:r>
              <a:rPr lang="zh-CN" altLang="en-US" dirty="0">
                <a:latin typeface="Times New Roman" panose="02020603050405020304" pitchFamily="18" charset="0"/>
                <a:ea typeface="幼圆" pitchFamily="49" charset="-122"/>
              </a:rPr>
              <a:t>          溶解度  </a:t>
            </a:r>
            <a:r>
              <a:rPr lang="en-US" altLang="zh-CN" dirty="0">
                <a:latin typeface="Times New Roman" panose="02020603050405020304" pitchFamily="18" charset="0"/>
                <a:ea typeface="幼圆" pitchFamily="49" charset="-122"/>
              </a:rPr>
              <a:t>0.1g~0.01g/100gH</a:t>
            </a:r>
            <a:r>
              <a:rPr lang="en-US" altLang="zh-CN" baseline="-25000" dirty="0">
                <a:latin typeface="Times New Roman" panose="02020603050405020304" pitchFamily="18" charset="0"/>
                <a:ea typeface="幼圆" pitchFamily="49" charset="-122"/>
              </a:rPr>
              <a:t>2</a:t>
            </a:r>
            <a:r>
              <a:rPr lang="en-US" altLang="zh-CN" dirty="0">
                <a:latin typeface="Times New Roman" panose="02020603050405020304" pitchFamily="18" charset="0"/>
                <a:ea typeface="幼圆" pitchFamily="49" charset="-122"/>
              </a:rPr>
              <a:t>O</a:t>
            </a:r>
            <a:endParaRPr lang="en-US" altLang="zh-CN" b="0" dirty="0">
              <a:latin typeface="Arial" panose="020B0604020202020204" pitchFamily="34" charset="0"/>
              <a:ea typeface="宋体" panose="02010600030101010101" pitchFamily="2" charset="-122"/>
            </a:endParaRPr>
          </a:p>
        </p:txBody>
      </p:sp>
      <p:sp>
        <p:nvSpPr>
          <p:cNvPr id="45092" name="Text Box 36"/>
          <p:cNvSpPr txBox="1"/>
          <p:nvPr/>
        </p:nvSpPr>
        <p:spPr>
          <a:xfrm>
            <a:off x="2267591" y="3724279"/>
            <a:ext cx="5718175" cy="1169551"/>
          </a:xfrm>
          <a:prstGeom prst="rect">
            <a:avLst/>
          </a:prstGeom>
          <a:noFill/>
          <a:ln w="9525">
            <a:noFill/>
          </a:ln>
        </p:spPr>
        <p:txBody>
          <a:bodyPr wrap="square"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易溶电解质： </a:t>
            </a:r>
            <a:endParaRPr lang="zh-CN" altLang="en-US" b="0" dirty="0">
              <a:latin typeface="Times New Roman" panose="02020603050405020304" pitchFamily="18" charset="0"/>
              <a:ea typeface="ˎ̥"/>
            </a:endParaRPr>
          </a:p>
          <a:p>
            <a:pPr>
              <a:spcBef>
                <a:spcPct val="50000"/>
              </a:spcBef>
              <a:buClrTx/>
              <a:buFontTx/>
            </a:pPr>
            <a:r>
              <a:rPr lang="zh-CN" altLang="en-US" dirty="0">
                <a:latin typeface="Times New Roman" panose="02020603050405020304" pitchFamily="18" charset="0"/>
                <a:ea typeface="幼圆" pitchFamily="49" charset="-122"/>
              </a:rPr>
              <a:t>          溶解度 ＞</a:t>
            </a:r>
            <a:r>
              <a:rPr lang="en-US" altLang="zh-CN" dirty="0">
                <a:latin typeface="Times New Roman" panose="02020603050405020304" pitchFamily="18" charset="0"/>
                <a:ea typeface="幼圆" pitchFamily="49" charset="-122"/>
              </a:rPr>
              <a:t>0.1g/100gH</a:t>
            </a:r>
            <a:r>
              <a:rPr lang="en-US" altLang="zh-CN" baseline="-25000" dirty="0">
                <a:latin typeface="Times New Roman" panose="02020603050405020304" pitchFamily="18" charset="0"/>
                <a:ea typeface="幼圆" pitchFamily="49" charset="-122"/>
              </a:rPr>
              <a:t>2</a:t>
            </a:r>
            <a:r>
              <a:rPr lang="en-US" altLang="zh-CN" dirty="0">
                <a:latin typeface="Times New Roman" panose="02020603050405020304" pitchFamily="18" charset="0"/>
                <a:ea typeface="幼圆" pitchFamily="49" charset="-122"/>
              </a:rPr>
              <a:t>O</a:t>
            </a:r>
            <a:endParaRPr lang="en-US" altLang="zh-CN" b="0" dirty="0">
              <a:latin typeface="Arial" panose="020B0604020202020204" pitchFamily="34" charset="0"/>
              <a:ea typeface="宋体" panose="02010600030101010101" pitchFamily="2" charset="-122"/>
            </a:endParaRPr>
          </a:p>
        </p:txBody>
      </p:sp>
      <p:sp>
        <p:nvSpPr>
          <p:cNvPr id="11" name="Rectangle 2"/>
          <p:cNvSpPr>
            <a:spLocks noChangeArrowheads="1"/>
          </p:cNvSpPr>
          <p:nvPr/>
        </p:nvSpPr>
        <p:spPr bwMode="auto">
          <a:xfrm>
            <a:off x="0" y="158752"/>
            <a:ext cx="9144000" cy="539750"/>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0" fontAlgn="base" latinLnBrk="0" hangingPunct="0">
              <a:lnSpc>
                <a:spcPct val="115000"/>
              </a:lnSpc>
              <a:spcBef>
                <a:spcPct val="0"/>
              </a:spcBef>
              <a:spcAft>
                <a:spcPct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rPr>
              <a:t>§</a:t>
            </a:r>
            <a:r>
              <a:rPr kumimoji="0" lang="en-US" altLang="zh-CN" sz="36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 3.4 </a:t>
            </a:r>
            <a:r>
              <a:rPr kumimoji="0" lang="zh-CN" altLang="en-US" sz="36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难溶电解质的沉淀溶解平衡</a:t>
            </a:r>
            <a:endParaRPr kumimoji="0" lang="zh-CN" altLang="en-US" sz="3600" b="1" i="0" u="none" strike="noStrike" kern="1200" cap="none" spc="0" normalizeH="0" baseline="0" noProof="0" dirty="0">
              <a:ln>
                <a:noFill/>
              </a:ln>
              <a:solidFill>
                <a:schemeClr val="bg1"/>
              </a:solidFill>
              <a:effectLst/>
              <a:uLnTx/>
              <a:uFillTx/>
              <a:latin typeface="Times New Roman" panose="02020603050405020304" pitchFamily="18" charset="0"/>
              <a:ea typeface="幼圆" pitchFamily="49" charset="-122"/>
              <a:cs typeface="+mn-cs"/>
            </a:endParaRPr>
          </a:p>
        </p:txBody>
      </p:sp>
      <p:pic>
        <p:nvPicPr>
          <p:cNvPr id="35" name="图片 34" descr="C:/Users/ADMINI~1/AppData/Local/Temp/kaimatting_20201202164851/output_20201202164856..pngoutput_20201202164856."/>
          <p:cNvPicPr>
            <a:picLocks noChangeAspect="1"/>
          </p:cNvPicPr>
          <p:nvPr/>
        </p:nvPicPr>
        <p:blipFill>
          <a:blip r:embed="rId2" cstate="print"/>
          <a:stretch>
            <a:fillRect/>
          </a:stretch>
        </p:blipFill>
        <p:spPr>
          <a:xfrm>
            <a:off x="179705" y="3129282"/>
            <a:ext cx="1657350" cy="1925320"/>
          </a:xfrm>
          <a:prstGeom prst="rect">
            <a:avLst/>
          </a:prstGeom>
          <a:effectLst>
            <a:outerShdw blurRad="76200" dir="13500000" sy="23000" kx="1200000" algn="br" rotWithShape="0">
              <a:prstClr val="black">
                <a:alpha val="20000"/>
              </a:prstClr>
            </a:outerShdw>
          </a:effectLst>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1"/>
                                        </p:tgtEl>
                                        <p:attrNameLst>
                                          <p:attrName>ppt_y</p:attrName>
                                        </p:attrNameLst>
                                      </p:cBhvr>
                                      <p:tavLst>
                                        <p:tav tm="0">
                                          <p:val>
                                            <p:strVal val="#ppt_y"/>
                                          </p:val>
                                        </p:tav>
                                        <p:tav tm="100000">
                                          <p:val>
                                            <p:strVal val="#ppt_y"/>
                                          </p:val>
                                        </p:tav>
                                      </p:tavLst>
                                    </p:anim>
                                    <p:anim calcmode="lin" valueType="num">
                                      <p:cBhvr>
                                        <p:cTn id="9"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55298"/>
                                        </p:tgtEl>
                                        <p:attrNameLst>
                                          <p:attrName>style.visibility</p:attrName>
                                        </p:attrNameLst>
                                      </p:cBhvr>
                                      <p:to>
                                        <p:strVal val="visible"/>
                                      </p:to>
                                    </p:set>
                                    <p:animEffect transition="in" filter="checkerboard(across)">
                                      <p:cBhvr>
                                        <p:cTn id="16" dur="500"/>
                                        <p:tgtEl>
                                          <p:spTgt spid="5529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5087"/>
                                        </p:tgtEl>
                                        <p:attrNameLst>
                                          <p:attrName>style.visibility</p:attrName>
                                        </p:attrNameLst>
                                      </p:cBhvr>
                                      <p:to>
                                        <p:strVal val="visible"/>
                                      </p:to>
                                    </p:set>
                                    <p:animEffect transition="in" filter="wipe(left)">
                                      <p:cBhvr>
                                        <p:cTn id="21" dur="500"/>
                                        <p:tgtEl>
                                          <p:spTgt spid="4508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5091"/>
                                        </p:tgtEl>
                                        <p:attrNameLst>
                                          <p:attrName>style.visibility</p:attrName>
                                        </p:attrNameLst>
                                      </p:cBhvr>
                                      <p:to>
                                        <p:strVal val="visible"/>
                                      </p:to>
                                    </p:set>
                                    <p:animEffect transition="in" filter="wipe(left)">
                                      <p:cBhvr>
                                        <p:cTn id="26" dur="500"/>
                                        <p:tgtEl>
                                          <p:spTgt spid="4509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5092"/>
                                        </p:tgtEl>
                                        <p:attrNameLst>
                                          <p:attrName>style.visibility</p:attrName>
                                        </p:attrNameLst>
                                      </p:cBhvr>
                                      <p:to>
                                        <p:strVal val="visible"/>
                                      </p:to>
                                    </p:set>
                                    <p:animEffect transition="in" filter="wipe(left)">
                                      <p:cBhvr>
                                        <p:cTn id="31" dur="500"/>
                                        <p:tgtEl>
                                          <p:spTgt spid="45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nimBg="1"/>
      <p:bldP spid="45087" grpId="0"/>
      <p:bldP spid="45091" grpId="0"/>
      <p:bldP spid="4509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ext Box 9"/>
          <p:cNvSpPr txBox="1"/>
          <p:nvPr/>
        </p:nvSpPr>
        <p:spPr>
          <a:xfrm>
            <a:off x="395293" y="303216"/>
            <a:ext cx="2447925" cy="646331"/>
          </a:xfrm>
          <a:prstGeom prst="rect">
            <a:avLst/>
          </a:prstGeom>
          <a:solidFill>
            <a:srgbClr val="FFFFCC"/>
          </a:solidFill>
          <a:ln w="9525">
            <a:noFill/>
          </a:ln>
        </p:spPr>
        <p:txBody>
          <a:bodyPr anchor="t" anchorCtr="0">
            <a:spAutoFit/>
          </a:bodyPr>
          <a:lstStyle/>
          <a:p>
            <a:pPr>
              <a:spcBef>
                <a:spcPct val="50000"/>
              </a:spcBef>
              <a:buClrTx/>
              <a:buFontTx/>
            </a:pPr>
            <a:r>
              <a:rPr lang="en-US" altLang="zh-CN" sz="3600" dirty="0">
                <a:solidFill>
                  <a:srgbClr val="FF0066"/>
                </a:solidFill>
                <a:latin typeface="华文新魏" pitchFamily="2" charset="-122"/>
                <a:ea typeface="华文新魏" pitchFamily="2" charset="-122"/>
              </a:rPr>
              <a:t>1.</a:t>
            </a:r>
            <a:r>
              <a:rPr lang="zh-CN" altLang="en-US" sz="3600" dirty="0">
                <a:solidFill>
                  <a:srgbClr val="FF0066"/>
                </a:solidFill>
                <a:latin typeface="华文新魏" pitchFamily="2" charset="-122"/>
                <a:ea typeface="华文新魏" pitchFamily="2" charset="-122"/>
              </a:rPr>
              <a:t>溶度积</a:t>
            </a:r>
            <a:r>
              <a:rPr lang="zh-CN" altLang="en-US" sz="3600" b="0" dirty="0">
                <a:latin typeface="华文新魏" pitchFamily="2" charset="-122"/>
                <a:ea typeface="华文新魏" pitchFamily="2" charset="-122"/>
              </a:rPr>
              <a:t> </a:t>
            </a:r>
          </a:p>
        </p:txBody>
      </p:sp>
      <p:grpSp>
        <p:nvGrpSpPr>
          <p:cNvPr id="2" name="组合 1"/>
          <p:cNvGrpSpPr/>
          <p:nvPr/>
        </p:nvGrpSpPr>
        <p:grpSpPr>
          <a:xfrm>
            <a:off x="381006" y="3363916"/>
            <a:ext cx="7993063" cy="1323439"/>
            <a:chOff x="380639" y="4485116"/>
            <a:chExt cx="7993062" cy="1763872"/>
          </a:xfrm>
        </p:grpSpPr>
        <p:sp>
          <p:nvSpPr>
            <p:cNvPr id="58371" name="Text Box 16"/>
            <p:cNvSpPr txBox="1"/>
            <p:nvPr/>
          </p:nvSpPr>
          <p:spPr>
            <a:xfrm>
              <a:off x="380639" y="4485116"/>
              <a:ext cx="7993062" cy="1763872"/>
            </a:xfrm>
            <a:prstGeom prst="rect">
              <a:avLst/>
            </a:prstGeom>
            <a:noFill/>
            <a:ln w="9525">
              <a:noFill/>
            </a:ln>
          </p:spPr>
          <p:txBody>
            <a:bodyPr anchor="t" anchorCtr="0">
              <a:spAutoFit/>
            </a:bodyPr>
            <a:lstStyle/>
            <a:p>
              <a:pPr>
                <a:lnSpc>
                  <a:spcPts val="3200"/>
                </a:lnSpc>
                <a:spcBef>
                  <a:spcPct val="50000"/>
                </a:spcBef>
                <a:buClrTx/>
                <a:buFontTx/>
              </a:pPr>
              <a:r>
                <a:rPr lang="zh-CN" altLang="en-US" sz="2400" dirty="0">
                  <a:latin typeface="幼圆" pitchFamily="49" charset="-122"/>
                  <a:ea typeface="幼圆" pitchFamily="49" charset="-122"/>
                </a:rPr>
                <a:t>    上式表明：难溶电解质的饱和溶液中，当温度一定时，各组分离子浓度幂的乘积为一常数，这个平衡常数称为</a:t>
              </a:r>
              <a:r>
                <a:rPr lang="zh-CN" altLang="en-US" sz="2400" dirty="0">
                  <a:solidFill>
                    <a:srgbClr val="0000FF"/>
                  </a:solidFill>
                  <a:latin typeface="幼圆" pitchFamily="49" charset="-122"/>
                  <a:ea typeface="幼圆" pitchFamily="49" charset="-122"/>
                </a:rPr>
                <a:t>溶度积常数</a:t>
              </a:r>
              <a:r>
                <a:rPr lang="zh-CN" altLang="en-US" sz="2400" dirty="0">
                  <a:latin typeface="幼圆" pitchFamily="49" charset="-122"/>
                  <a:ea typeface="幼圆" pitchFamily="49" charset="-122"/>
                </a:rPr>
                <a:t>    ，简称</a:t>
              </a:r>
              <a:r>
                <a:rPr lang="zh-CN" altLang="en-US" sz="2400" dirty="0">
                  <a:solidFill>
                    <a:srgbClr val="0000FF"/>
                  </a:solidFill>
                  <a:latin typeface="幼圆" pitchFamily="49" charset="-122"/>
                  <a:ea typeface="幼圆" pitchFamily="49" charset="-122"/>
                </a:rPr>
                <a:t>溶度积</a:t>
              </a:r>
              <a:r>
                <a:rPr lang="zh-CN" altLang="en-US" sz="2400" dirty="0">
                  <a:latin typeface="幼圆" pitchFamily="49" charset="-122"/>
                  <a:ea typeface="幼圆" pitchFamily="49" charset="-122"/>
                </a:rPr>
                <a:t>。 </a:t>
              </a:r>
            </a:p>
          </p:txBody>
        </p:sp>
        <p:graphicFrame>
          <p:nvGraphicFramePr>
            <p:cNvPr id="58372" name="Object 17"/>
            <p:cNvGraphicFramePr>
              <a:graphicFrameLocks noChangeAspect="1"/>
            </p:cNvGraphicFramePr>
            <p:nvPr/>
          </p:nvGraphicFramePr>
          <p:xfrm>
            <a:off x="1763687" y="5637244"/>
            <a:ext cx="468312" cy="504826"/>
          </p:xfrm>
          <a:graphic>
            <a:graphicData uri="http://schemas.openxmlformats.org/presentationml/2006/ole">
              <mc:AlternateContent xmlns:mc="http://schemas.openxmlformats.org/markup-compatibility/2006">
                <mc:Choice xmlns:v="urn:schemas-microsoft-com:vml" Requires="v">
                  <p:oleObj r:id="rId2" imgW="250825" imgH="264160" progId="Equation.KSEE3">
                    <p:embed/>
                  </p:oleObj>
                </mc:Choice>
                <mc:Fallback>
                  <p:oleObj r:id="rId2" imgW="250825" imgH="264160" progId="Equation.KSEE3">
                    <p:embed/>
                    <p:pic>
                      <p:nvPicPr>
                        <p:cNvPr id="0" name="图片 3140"/>
                        <p:cNvPicPr/>
                        <p:nvPr/>
                      </p:nvPicPr>
                      <p:blipFill>
                        <a:blip r:embed="rId3"/>
                        <a:stretch>
                          <a:fillRect/>
                        </a:stretch>
                      </p:blipFill>
                      <p:spPr>
                        <a:xfrm>
                          <a:off x="1763687" y="5637244"/>
                          <a:ext cx="468312" cy="504826"/>
                        </a:xfrm>
                        <a:prstGeom prst="rect">
                          <a:avLst/>
                        </a:prstGeom>
                        <a:noFill/>
                        <a:ln w="38100">
                          <a:noFill/>
                          <a:miter/>
                        </a:ln>
                      </p:spPr>
                    </p:pic>
                  </p:oleObj>
                </mc:Fallback>
              </mc:AlternateContent>
            </a:graphicData>
          </a:graphic>
        </p:graphicFrame>
      </p:grpSp>
      <p:grpSp>
        <p:nvGrpSpPr>
          <p:cNvPr id="3" name="Group 20"/>
          <p:cNvGrpSpPr/>
          <p:nvPr/>
        </p:nvGrpSpPr>
        <p:grpSpPr>
          <a:xfrm>
            <a:off x="468319" y="612778"/>
            <a:ext cx="7920037" cy="2994025"/>
            <a:chOff x="295" y="754"/>
            <a:chExt cx="4989" cy="2514"/>
          </a:xfrm>
        </p:grpSpPr>
        <p:sp>
          <p:nvSpPr>
            <p:cNvPr id="58374" name="Text Box 11"/>
            <p:cNvSpPr txBox="1"/>
            <p:nvPr/>
          </p:nvSpPr>
          <p:spPr>
            <a:xfrm>
              <a:off x="295" y="754"/>
              <a:ext cx="4989" cy="2421"/>
            </a:xfrm>
            <a:prstGeom prst="rect">
              <a:avLst/>
            </a:prstGeom>
            <a:noFill/>
            <a:ln w="9525">
              <a:noFill/>
            </a:ln>
          </p:spPr>
          <p:txBody>
            <a:bodyPr anchor="t" anchorCtr="0">
              <a:spAutoFit/>
            </a:bodyPr>
            <a:lstStyle/>
            <a:p>
              <a:pPr>
                <a:spcBef>
                  <a:spcPct val="50000"/>
                </a:spcBef>
                <a:buClrTx/>
                <a:buFontTx/>
              </a:pPr>
              <a:r>
                <a:rPr lang="zh-CN" altLang="en-US" sz="2400" dirty="0">
                  <a:latin typeface="宋体" panose="02010600030101010101" pitchFamily="2" charset="-122"/>
                  <a:ea typeface="宋体" panose="02010600030101010101" pitchFamily="2" charset="-122"/>
                </a:rPr>
                <a:t> </a:t>
              </a:r>
            </a:p>
            <a:p>
              <a:pPr>
                <a:lnSpc>
                  <a:spcPts val="3200"/>
                </a:lnSpc>
                <a:spcBef>
                  <a:spcPct val="50000"/>
                </a:spcBef>
                <a:buClrTx/>
                <a:buFontTx/>
              </a:pPr>
              <a:r>
                <a:rPr lang="en-US" altLang="zh-CN" sz="2400" dirty="0">
                  <a:latin typeface="宋体" panose="02010600030101010101" pitchFamily="2" charset="-122"/>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BaSO</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(s)            Ba</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(aq) + SO</a:t>
              </a:r>
              <a:r>
                <a:rPr lang="en-US" altLang="zh-CN" sz="2400" baseline="-25000" dirty="0">
                  <a:latin typeface="Times New Roman" panose="02020603050405020304" pitchFamily="18" charset="0"/>
                  <a:ea typeface="宋体" panose="02010600030101010101" pitchFamily="2" charset="-122"/>
                </a:rPr>
                <a:t>4</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(aq)</a:t>
              </a:r>
            </a:p>
            <a:p>
              <a:pPr>
                <a:lnSpc>
                  <a:spcPts val="3200"/>
                </a:lnSpc>
                <a:spcBef>
                  <a:spcPct val="50000"/>
                </a:spcBef>
                <a:buClrTx/>
                <a:buFontTx/>
              </a:pPr>
              <a:r>
                <a:rPr lang="zh-CN" altLang="en-US" sz="2400" dirty="0">
                  <a:latin typeface="Times New Roman" panose="02020603050405020304" pitchFamily="18" charset="0"/>
                  <a:ea typeface="宋体" panose="02010600030101010101" pitchFamily="2" charset="-122"/>
                </a:rPr>
                <a:t>         </a:t>
              </a:r>
              <a:r>
                <a:rPr lang="zh-CN" altLang="en-US" sz="2400" dirty="0">
                  <a:latin typeface="幼圆" pitchFamily="49" charset="-122"/>
                  <a:ea typeface="幼圆" pitchFamily="49" charset="-122"/>
                </a:rPr>
                <a:t>在一定条件下，当溶解与沉淀的速率相等时，便建立了固体和溶液中离子之间的动态平衡，叫做</a:t>
              </a:r>
              <a:r>
                <a:rPr lang="zh-CN" altLang="en-US" sz="2400" dirty="0">
                  <a:solidFill>
                    <a:srgbClr val="0000FF"/>
                  </a:solidFill>
                  <a:latin typeface="幼圆" pitchFamily="49" charset="-122"/>
                  <a:ea typeface="幼圆" pitchFamily="49" charset="-122"/>
                </a:rPr>
                <a:t>溶解</a:t>
              </a:r>
              <a:r>
                <a:rPr lang="en-US" altLang="zh-CN" sz="2400" dirty="0">
                  <a:solidFill>
                    <a:srgbClr val="0000FF"/>
                  </a:solidFill>
                  <a:latin typeface="幼圆" pitchFamily="49" charset="-122"/>
                  <a:ea typeface="幼圆" pitchFamily="49" charset="-122"/>
                </a:rPr>
                <a:t>-</a:t>
              </a:r>
              <a:r>
                <a:rPr lang="zh-CN" altLang="en-US" sz="2400" dirty="0">
                  <a:solidFill>
                    <a:srgbClr val="0000FF"/>
                  </a:solidFill>
                  <a:latin typeface="幼圆" pitchFamily="49" charset="-122"/>
                  <a:ea typeface="幼圆" pitchFamily="49" charset="-122"/>
                </a:rPr>
                <a:t>沉淀平衡</a:t>
              </a:r>
              <a:r>
                <a:rPr lang="zh-CN" altLang="en-US" sz="2400" dirty="0">
                  <a:latin typeface="幼圆" pitchFamily="49" charset="-122"/>
                  <a:ea typeface="幼圆" pitchFamily="49" charset="-122"/>
                </a:rPr>
                <a:t>。其平衡常数表达式为</a:t>
              </a:r>
            </a:p>
            <a:p>
              <a:pPr>
                <a:lnSpc>
                  <a:spcPts val="3200"/>
                </a:lnSpc>
                <a:buClrTx/>
                <a:buFontTx/>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         (BaSO</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(Ba</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(SO</a:t>
              </a:r>
              <a:r>
                <a:rPr lang="en-US" altLang="zh-CN" sz="2400" baseline="-25000" dirty="0">
                  <a:latin typeface="Times New Roman" panose="02020603050405020304" pitchFamily="18" charset="0"/>
                  <a:ea typeface="宋体" panose="02010600030101010101" pitchFamily="2" charset="-122"/>
                </a:rPr>
                <a:t>4</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graphicFrame>
          <p:nvGraphicFramePr>
            <p:cNvPr id="58375" name="Object 12"/>
            <p:cNvGraphicFramePr>
              <a:graphicFrameLocks noChangeAspect="1"/>
            </p:cNvGraphicFramePr>
            <p:nvPr/>
          </p:nvGraphicFramePr>
          <p:xfrm>
            <a:off x="2336" y="1207"/>
            <a:ext cx="635" cy="101"/>
          </p:xfrm>
          <a:graphic>
            <a:graphicData uri="http://schemas.openxmlformats.org/presentationml/2006/ole">
              <mc:AlternateContent xmlns:mc="http://schemas.openxmlformats.org/markup-compatibility/2006">
                <mc:Choice xmlns:v="urn:schemas-microsoft-com:vml" Requires="v">
                  <p:oleObj r:id="rId4" imgW="676275" imgH="171450" progId="Equation.DSMT4">
                    <p:embed/>
                  </p:oleObj>
                </mc:Choice>
                <mc:Fallback>
                  <p:oleObj r:id="rId4" imgW="676275" imgH="171450" progId="Equation.DSMT4">
                    <p:embed/>
                    <p:pic>
                      <p:nvPicPr>
                        <p:cNvPr id="0" name="图片 3141"/>
                        <p:cNvPicPr/>
                        <p:nvPr/>
                      </p:nvPicPr>
                      <p:blipFill>
                        <a:blip r:embed="rId5"/>
                        <a:stretch>
                          <a:fillRect/>
                        </a:stretch>
                      </p:blipFill>
                      <p:spPr>
                        <a:xfrm>
                          <a:off x="2336" y="1207"/>
                          <a:ext cx="635" cy="101"/>
                        </a:xfrm>
                        <a:prstGeom prst="rect">
                          <a:avLst/>
                        </a:prstGeom>
                        <a:noFill/>
                        <a:ln w="38100">
                          <a:noFill/>
                          <a:miter/>
                        </a:ln>
                      </p:spPr>
                    </p:pic>
                  </p:oleObj>
                </mc:Fallback>
              </mc:AlternateContent>
            </a:graphicData>
          </a:graphic>
        </p:graphicFrame>
        <p:graphicFrame>
          <p:nvGraphicFramePr>
            <p:cNvPr id="58376" name="Object 13"/>
            <p:cNvGraphicFramePr>
              <a:graphicFrameLocks noChangeAspect="1"/>
            </p:cNvGraphicFramePr>
            <p:nvPr/>
          </p:nvGraphicFramePr>
          <p:xfrm>
            <a:off x="1338" y="2860"/>
            <a:ext cx="363" cy="408"/>
          </p:xfrm>
          <a:graphic>
            <a:graphicData uri="http://schemas.openxmlformats.org/presentationml/2006/ole">
              <mc:AlternateContent xmlns:mc="http://schemas.openxmlformats.org/markup-compatibility/2006">
                <mc:Choice xmlns:v="urn:schemas-microsoft-com:vml" Requires="v">
                  <p:oleObj r:id="rId6" imgW="206375" imgH="335915" progId="Equation.KSEE3">
                    <p:embed/>
                  </p:oleObj>
                </mc:Choice>
                <mc:Fallback>
                  <p:oleObj r:id="rId6" imgW="206375" imgH="335915" progId="Equation.KSEE3">
                    <p:embed/>
                    <p:pic>
                      <p:nvPicPr>
                        <p:cNvPr id="0" name="图片 3142"/>
                        <p:cNvPicPr/>
                        <p:nvPr/>
                      </p:nvPicPr>
                      <p:blipFill>
                        <a:blip r:embed="rId7"/>
                        <a:stretch>
                          <a:fillRect/>
                        </a:stretch>
                      </p:blipFill>
                      <p:spPr>
                        <a:xfrm>
                          <a:off x="1338" y="2860"/>
                          <a:ext cx="363" cy="408"/>
                        </a:xfrm>
                        <a:prstGeom prst="rect">
                          <a:avLst/>
                        </a:prstGeom>
                        <a:noFill/>
                        <a:ln w="38100">
                          <a:noFill/>
                          <a:miter/>
                        </a:ln>
                      </p:spPr>
                    </p:pic>
                  </p:oleObj>
                </mc:Fallback>
              </mc:AlternateContent>
            </a:graphicData>
          </a:graphic>
        </p:graphicFrame>
        <p:graphicFrame>
          <p:nvGraphicFramePr>
            <p:cNvPr id="58377" name="Object 14"/>
            <p:cNvGraphicFramePr>
              <a:graphicFrameLocks noChangeAspect="1"/>
            </p:cNvGraphicFramePr>
            <p:nvPr/>
          </p:nvGraphicFramePr>
          <p:xfrm>
            <a:off x="1882" y="2829"/>
            <a:ext cx="363" cy="329"/>
          </p:xfrm>
          <a:graphic>
            <a:graphicData uri="http://schemas.openxmlformats.org/presentationml/2006/ole">
              <mc:AlternateContent xmlns:mc="http://schemas.openxmlformats.org/markup-compatibility/2006">
                <mc:Choice xmlns:v="urn:schemas-microsoft-com:vml" Requires="v">
                  <p:oleObj r:id="rId8" imgW="234315" imgH="247650" progId="Equation.KSEE3">
                    <p:embed/>
                  </p:oleObj>
                </mc:Choice>
                <mc:Fallback>
                  <p:oleObj r:id="rId8" imgW="234315" imgH="247650" progId="Equation.KSEE3">
                    <p:embed/>
                    <p:pic>
                      <p:nvPicPr>
                        <p:cNvPr id="0" name="图片 3143"/>
                        <p:cNvPicPr/>
                        <p:nvPr/>
                      </p:nvPicPr>
                      <p:blipFill>
                        <a:blip r:embed="rId9"/>
                        <a:stretch>
                          <a:fillRect/>
                        </a:stretch>
                      </p:blipFill>
                      <p:spPr>
                        <a:xfrm>
                          <a:off x="1882" y="2829"/>
                          <a:ext cx="363" cy="329"/>
                        </a:xfrm>
                        <a:prstGeom prst="rect">
                          <a:avLst/>
                        </a:prstGeom>
                        <a:noFill/>
                        <a:ln w="38100">
                          <a:noFill/>
                          <a:miter/>
                        </a:ln>
                      </p:spPr>
                    </p:pic>
                  </p:oleObj>
                </mc:Fallback>
              </mc:AlternateContent>
            </a:graphicData>
          </a:graphic>
        </p:graphicFrame>
        <p:sp>
          <p:nvSpPr>
            <p:cNvPr id="58378" name="Text Box 18"/>
            <p:cNvSpPr txBox="1"/>
            <p:nvPr/>
          </p:nvSpPr>
          <p:spPr>
            <a:xfrm>
              <a:off x="2381" y="981"/>
              <a:ext cx="544" cy="336"/>
            </a:xfrm>
            <a:prstGeom prst="rect">
              <a:avLst/>
            </a:prstGeom>
            <a:noFill/>
            <a:ln w="9525">
              <a:noFill/>
            </a:ln>
          </p:spPr>
          <p:txBody>
            <a:bodyPr anchor="t" anchorCtr="0">
              <a:spAutoFit/>
            </a:bodyPr>
            <a:lstStyle/>
            <a:p>
              <a:pPr>
                <a:spcBef>
                  <a:spcPct val="50000"/>
                </a:spcBef>
                <a:buClrTx/>
                <a:buFontTx/>
              </a:pPr>
              <a:r>
                <a:rPr lang="zh-CN" altLang="en-US" sz="2000" dirty="0">
                  <a:latin typeface="Times New Roman" panose="02020603050405020304" pitchFamily="18" charset="0"/>
                  <a:ea typeface="宋体" panose="02010600030101010101" pitchFamily="2" charset="-122"/>
                </a:rPr>
                <a:t>溶解</a:t>
              </a:r>
            </a:p>
          </p:txBody>
        </p:sp>
        <p:sp>
          <p:nvSpPr>
            <p:cNvPr id="58379" name="Text Box 19"/>
            <p:cNvSpPr txBox="1"/>
            <p:nvPr/>
          </p:nvSpPr>
          <p:spPr>
            <a:xfrm>
              <a:off x="2426" y="1253"/>
              <a:ext cx="453" cy="336"/>
            </a:xfrm>
            <a:prstGeom prst="rect">
              <a:avLst/>
            </a:prstGeom>
            <a:noFill/>
            <a:ln w="9525">
              <a:noFill/>
            </a:ln>
          </p:spPr>
          <p:txBody>
            <a:bodyPr anchor="t" anchorCtr="0">
              <a:spAutoFit/>
            </a:bodyPr>
            <a:lstStyle/>
            <a:p>
              <a:pPr>
                <a:spcBef>
                  <a:spcPct val="50000"/>
                </a:spcBef>
                <a:buClrTx/>
                <a:buFontTx/>
              </a:pPr>
              <a:r>
                <a:rPr lang="zh-CN" altLang="en-US" sz="2000" dirty="0">
                  <a:latin typeface="Times New Roman" panose="02020603050405020304" pitchFamily="18" charset="0"/>
                  <a:ea typeface="宋体" panose="02010600030101010101" pitchFamily="2" charset="-122"/>
                </a:rPr>
                <a:t>沉淀</a:t>
              </a:r>
            </a:p>
          </p:txBody>
        </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9"/>
          <p:cNvSpPr/>
          <p:nvPr/>
        </p:nvSpPr>
        <p:spPr>
          <a:xfrm>
            <a:off x="5" y="2686380"/>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59394" name="Rectangle 12"/>
          <p:cNvSpPr/>
          <p:nvPr/>
        </p:nvSpPr>
        <p:spPr>
          <a:xfrm>
            <a:off x="5" y="262605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59395" name="Group 31"/>
          <p:cNvGrpSpPr/>
          <p:nvPr/>
        </p:nvGrpSpPr>
        <p:grpSpPr>
          <a:xfrm>
            <a:off x="287344" y="555625"/>
            <a:ext cx="8066087" cy="990600"/>
            <a:chOff x="158" y="346"/>
            <a:chExt cx="5081" cy="832"/>
          </a:xfrm>
        </p:grpSpPr>
        <p:grpSp>
          <p:nvGrpSpPr>
            <p:cNvPr id="59396" name="Group 10"/>
            <p:cNvGrpSpPr/>
            <p:nvPr/>
          </p:nvGrpSpPr>
          <p:grpSpPr>
            <a:xfrm>
              <a:off x="158" y="346"/>
              <a:ext cx="5081" cy="832"/>
              <a:chOff x="249" y="119"/>
              <a:chExt cx="4899" cy="832"/>
            </a:xfrm>
          </p:grpSpPr>
          <p:sp>
            <p:nvSpPr>
              <p:cNvPr id="59397" name="Text Box 7"/>
              <p:cNvSpPr txBox="1"/>
              <p:nvPr/>
            </p:nvSpPr>
            <p:spPr>
              <a:xfrm>
                <a:off x="249" y="119"/>
                <a:ext cx="4899" cy="832"/>
              </a:xfrm>
              <a:prstGeom prst="rect">
                <a:avLst/>
              </a:prstGeom>
              <a:noFill/>
              <a:ln w="9525">
                <a:noFill/>
              </a:ln>
            </p:spPr>
            <p:txBody>
              <a:bodyPr anchor="t" anchorCtr="0">
                <a:spAutoFit/>
              </a:bodyPr>
              <a:lstStyle/>
              <a:p>
                <a:pPr>
                  <a:lnSpc>
                    <a:spcPts val="3500"/>
                  </a:lnSpc>
                  <a:buClrTx/>
                  <a:buFontTx/>
                </a:pPr>
                <a:r>
                  <a:rPr lang="zh-CN" altLang="en-US" sz="2400" dirty="0">
                    <a:latin typeface="Times New Roman" panose="02020603050405020304" pitchFamily="18" charset="0"/>
                    <a:ea typeface="宋体" panose="02010600030101010101" pitchFamily="2" charset="-122"/>
                  </a:rPr>
                  <a:t>     对于通式                </a:t>
                </a:r>
                <a:r>
                  <a:rPr lang="en-US" altLang="zh-CN" sz="2400" dirty="0">
                    <a:latin typeface="Times New Roman" panose="02020603050405020304" pitchFamily="18" charset="0"/>
                    <a:ea typeface="宋体" panose="02010600030101010101" pitchFamily="2" charset="-122"/>
                  </a:rPr>
                  <a:t>A</a:t>
                </a:r>
                <a:r>
                  <a:rPr lang="en-US" altLang="zh-CN" sz="2400" i="1" baseline="-25000"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B</a:t>
                </a:r>
                <a:r>
                  <a:rPr lang="en-US" altLang="zh-CN" sz="2400" i="1" baseline="-25000" dirty="0">
                    <a:latin typeface="Times New Roman" panose="02020603050405020304" pitchFamily="18" charset="0"/>
                    <a:ea typeface="宋体" panose="02010600030101010101" pitchFamily="2" charset="-122"/>
                  </a:rPr>
                  <a:t>m</a:t>
                </a:r>
                <a:r>
                  <a:rPr lang="en-US" altLang="zh-CN" sz="2400" dirty="0">
                    <a:latin typeface="Times New Roman" panose="02020603050405020304" pitchFamily="18" charset="0"/>
                    <a:ea typeface="宋体" panose="02010600030101010101" pitchFamily="2" charset="-122"/>
                  </a:rPr>
                  <a:t>(s)</a:t>
                </a:r>
                <a:r>
                  <a:rPr lang="en-US" altLang="zh-CN" sz="2400" i="1" dirty="0">
                    <a:latin typeface="Times New Roman" panose="02020603050405020304" pitchFamily="18" charset="0"/>
                    <a:ea typeface="宋体" panose="02010600030101010101" pitchFamily="2" charset="-122"/>
                  </a:rPr>
                  <a:t>          n</a:t>
                </a:r>
                <a:r>
                  <a:rPr lang="en-US" altLang="zh-CN" sz="2400" dirty="0">
                    <a:latin typeface="Times New Roman" panose="02020603050405020304" pitchFamily="18" charset="0"/>
                    <a:ea typeface="宋体" panose="02010600030101010101" pitchFamily="2" charset="-122"/>
                  </a:rPr>
                  <a:t>A</a:t>
                </a:r>
                <a:r>
                  <a:rPr lang="en-US" altLang="zh-CN" sz="2400" i="1" baseline="30000" dirty="0">
                    <a:latin typeface="Times New Roman" panose="02020603050405020304" pitchFamily="18" charset="0"/>
                    <a:ea typeface="宋体" panose="02010600030101010101" pitchFamily="2" charset="-122"/>
                  </a:rPr>
                  <a:t>m</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(aq)+ </a:t>
                </a:r>
                <a:r>
                  <a:rPr lang="en-US" altLang="zh-CN" sz="2400" i="1" dirty="0">
                    <a:latin typeface="Times New Roman" panose="02020603050405020304" pitchFamily="18" charset="0"/>
                    <a:ea typeface="宋体" panose="02010600030101010101" pitchFamily="2" charset="-122"/>
                  </a:rPr>
                  <a:t>m</a:t>
                </a:r>
                <a:r>
                  <a:rPr lang="en-US" altLang="zh-CN" sz="2400" dirty="0">
                    <a:latin typeface="Times New Roman" panose="02020603050405020304" pitchFamily="18" charset="0"/>
                    <a:ea typeface="宋体" panose="02010600030101010101" pitchFamily="2" charset="-122"/>
                  </a:rPr>
                  <a:t>B</a:t>
                </a:r>
                <a:r>
                  <a:rPr lang="en-US" altLang="zh-CN" sz="2400" i="1" baseline="30000" dirty="0">
                    <a:latin typeface="Times New Roman" panose="02020603050405020304" pitchFamily="18" charset="0"/>
                    <a:ea typeface="宋体" panose="02010600030101010101" pitchFamily="2" charset="-122"/>
                  </a:rPr>
                  <a:t>n</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(aq)</a:t>
                </a:r>
              </a:p>
              <a:p>
                <a:pPr>
                  <a:lnSpc>
                    <a:spcPts val="3500"/>
                  </a:lnSpc>
                  <a:buClrTx/>
                  <a:buFontTx/>
                </a:pPr>
                <a:r>
                  <a:rPr lang="zh-CN" altLang="en-US" sz="2400" dirty="0">
                    <a:latin typeface="Times New Roman" panose="02020603050405020304" pitchFamily="18" charset="0"/>
                    <a:ea typeface="宋体" panose="02010600030101010101" pitchFamily="2" charset="-122"/>
                  </a:rPr>
                  <a:t>溶度积的表达式简写为        </a:t>
                </a:r>
                <a:r>
                  <a:rPr lang="en-US" altLang="zh-CN" sz="2400" dirty="0">
                    <a:latin typeface="Times New Roman" panose="02020603050405020304" pitchFamily="18" charset="0"/>
                    <a:ea typeface="宋体" panose="02010600030101010101" pitchFamily="2" charset="-122"/>
                  </a:rPr>
                  <a:t>(A</a:t>
                </a:r>
                <a:r>
                  <a:rPr lang="en-US" altLang="zh-CN" sz="2400" i="1" baseline="-25000"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B</a:t>
                </a:r>
                <a:r>
                  <a:rPr lang="en-US" altLang="zh-CN" sz="2400" i="1" baseline="-25000" dirty="0">
                    <a:latin typeface="Times New Roman" panose="02020603050405020304" pitchFamily="18" charset="0"/>
                    <a:ea typeface="宋体" panose="02010600030101010101" pitchFamily="2" charset="-122"/>
                  </a:rPr>
                  <a:t>m</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(A</a:t>
                </a:r>
                <a:r>
                  <a:rPr lang="en-US" altLang="zh-CN" sz="2400" i="1" baseline="30000" dirty="0">
                    <a:latin typeface="Times New Roman" panose="02020603050405020304" pitchFamily="18" charset="0"/>
                    <a:ea typeface="宋体" panose="02010600030101010101" pitchFamily="2" charset="-122"/>
                  </a:rPr>
                  <a:t>m</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r>
                  <a:rPr lang="en-US" altLang="zh-CN" sz="2400" baseline="30000" dirty="0">
                    <a:latin typeface="Times New Roman" panose="02020603050405020304" pitchFamily="18" charset="0"/>
                    <a:ea typeface="宋体" panose="02010600030101010101" pitchFamily="2" charset="-122"/>
                  </a:rPr>
                  <a:t>n </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(B</a:t>
                </a:r>
                <a:r>
                  <a:rPr lang="en-US" altLang="zh-CN" sz="2400" i="1" baseline="30000" dirty="0">
                    <a:latin typeface="Times New Roman" panose="02020603050405020304" pitchFamily="18" charset="0"/>
                    <a:ea typeface="宋体" panose="02010600030101010101" pitchFamily="2" charset="-122"/>
                  </a:rPr>
                  <a:t>n</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r>
                  <a:rPr lang="en-US" altLang="zh-CN" sz="2400" baseline="30000" dirty="0">
                    <a:latin typeface="Times New Roman" panose="02020603050405020304" pitchFamily="18" charset="0"/>
                    <a:ea typeface="宋体" panose="02010600030101010101" pitchFamily="2" charset="-122"/>
                  </a:rPr>
                  <a:t>m</a:t>
                </a:r>
                <a:r>
                  <a:rPr lang="en-US" altLang="zh-CN"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aphicFrame>
            <p:nvGraphicFramePr>
              <p:cNvPr id="59398" name="Object 8"/>
              <p:cNvGraphicFramePr>
                <a:graphicFrameLocks noChangeAspect="1"/>
              </p:cNvGraphicFramePr>
              <p:nvPr/>
            </p:nvGraphicFramePr>
            <p:xfrm>
              <a:off x="2714" y="300"/>
              <a:ext cx="318" cy="118"/>
            </p:xfrm>
            <a:graphic>
              <a:graphicData uri="http://schemas.openxmlformats.org/presentationml/2006/ole">
                <mc:AlternateContent xmlns:mc="http://schemas.openxmlformats.org/markup-compatibility/2006">
                  <mc:Choice xmlns:v="urn:schemas-microsoft-com:vml" Requires="v">
                    <p:oleObj r:id="rId2" imgW="676275" imgH="171450" progId="Equation.DSMT4">
                      <p:embed/>
                    </p:oleObj>
                  </mc:Choice>
                  <mc:Fallback>
                    <p:oleObj r:id="rId2" imgW="676275" imgH="171450" progId="Equation.DSMT4">
                      <p:embed/>
                      <p:pic>
                        <p:nvPicPr>
                          <p:cNvPr id="0" name="图片 3144"/>
                          <p:cNvPicPr/>
                          <p:nvPr/>
                        </p:nvPicPr>
                        <p:blipFill>
                          <a:blip r:embed="rId3"/>
                          <a:stretch>
                            <a:fillRect/>
                          </a:stretch>
                        </p:blipFill>
                        <p:spPr>
                          <a:xfrm>
                            <a:off x="2714" y="300"/>
                            <a:ext cx="318" cy="118"/>
                          </a:xfrm>
                          <a:prstGeom prst="rect">
                            <a:avLst/>
                          </a:prstGeom>
                          <a:noFill/>
                          <a:ln w="38100">
                            <a:noFill/>
                            <a:miter/>
                          </a:ln>
                        </p:spPr>
                      </p:pic>
                    </p:oleObj>
                  </mc:Fallback>
                </mc:AlternateContent>
              </a:graphicData>
            </a:graphic>
          </p:graphicFrame>
        </p:grpSp>
        <p:graphicFrame>
          <p:nvGraphicFramePr>
            <p:cNvPr id="59399" name="Object 11"/>
            <p:cNvGraphicFramePr>
              <a:graphicFrameLocks noChangeAspect="1"/>
            </p:cNvGraphicFramePr>
            <p:nvPr/>
          </p:nvGraphicFramePr>
          <p:xfrm>
            <a:off x="2177" y="781"/>
            <a:ext cx="305" cy="318"/>
          </p:xfrm>
          <a:graphic>
            <a:graphicData uri="http://schemas.openxmlformats.org/presentationml/2006/ole">
              <mc:AlternateContent xmlns:mc="http://schemas.openxmlformats.org/markup-compatibility/2006">
                <mc:Choice xmlns:v="urn:schemas-microsoft-com:vml" Requires="v">
                  <p:oleObj r:id="rId4" imgW="250825" imgH="264160" progId="Equation.KSEE3">
                    <p:embed/>
                  </p:oleObj>
                </mc:Choice>
                <mc:Fallback>
                  <p:oleObj r:id="rId4" imgW="250825" imgH="264160" progId="Equation.KSEE3">
                    <p:embed/>
                    <p:pic>
                      <p:nvPicPr>
                        <p:cNvPr id="0" name="图片 3145"/>
                        <p:cNvPicPr/>
                        <p:nvPr/>
                      </p:nvPicPr>
                      <p:blipFill>
                        <a:blip r:embed="rId5"/>
                        <a:stretch>
                          <a:fillRect/>
                        </a:stretch>
                      </p:blipFill>
                      <p:spPr>
                        <a:xfrm>
                          <a:off x="2177" y="781"/>
                          <a:ext cx="305" cy="318"/>
                        </a:xfrm>
                        <a:prstGeom prst="rect">
                          <a:avLst/>
                        </a:prstGeom>
                        <a:noFill/>
                        <a:ln w="38100">
                          <a:noFill/>
                          <a:miter/>
                        </a:ln>
                      </p:spPr>
                    </p:pic>
                  </p:oleObj>
                </mc:Fallback>
              </mc:AlternateContent>
            </a:graphicData>
          </a:graphic>
        </p:graphicFrame>
      </p:grpSp>
      <p:sp>
        <p:nvSpPr>
          <p:cNvPr id="59400" name="Rectangle 17"/>
          <p:cNvSpPr/>
          <p:nvPr/>
        </p:nvSpPr>
        <p:spPr>
          <a:xfrm>
            <a:off x="5" y="262605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59401" name="Group 33"/>
          <p:cNvGrpSpPr/>
          <p:nvPr/>
        </p:nvGrpSpPr>
        <p:grpSpPr>
          <a:xfrm>
            <a:off x="0" y="1593853"/>
            <a:ext cx="8604250" cy="1438275"/>
            <a:chOff x="0" y="1103"/>
            <a:chExt cx="5239" cy="1208"/>
          </a:xfrm>
        </p:grpSpPr>
        <p:sp>
          <p:nvSpPr>
            <p:cNvPr id="59402" name="Rectangle 19"/>
            <p:cNvSpPr/>
            <p:nvPr/>
          </p:nvSpPr>
          <p:spPr>
            <a:xfrm>
              <a:off x="0" y="1865"/>
              <a:ext cx="112" cy="439"/>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59403" name="Text Box 15"/>
            <p:cNvSpPr txBox="1"/>
            <p:nvPr/>
          </p:nvSpPr>
          <p:spPr>
            <a:xfrm>
              <a:off x="204" y="1103"/>
              <a:ext cx="5035" cy="1208"/>
            </a:xfrm>
            <a:prstGeom prst="rect">
              <a:avLst/>
            </a:prstGeom>
            <a:noFill/>
            <a:ln w="9525">
              <a:noFill/>
            </a:ln>
          </p:spPr>
          <p:txBody>
            <a:bodyPr anchor="t" anchorCtr="0">
              <a:spAutoFit/>
            </a:bodyPr>
            <a:lstStyle/>
            <a:p>
              <a:pPr>
                <a:lnSpc>
                  <a:spcPts val="3500"/>
                </a:lnSpc>
                <a:spcBef>
                  <a:spcPct val="50000"/>
                </a:spcBef>
                <a:buClrTx/>
                <a:buFontTx/>
              </a:pPr>
              <a:r>
                <a:rPr lang="zh-CN" altLang="en-US" sz="2400" dirty="0">
                  <a:latin typeface="Times New Roman" panose="02020603050405020304" pitchFamily="18" charset="0"/>
                  <a:ea typeface="宋体" panose="02010600030101010101" pitchFamily="2" charset="-122"/>
                </a:rPr>
                <a:t>           是表征难溶电解质溶解能力的特性常数。与浓度无关，与温度有关，书后附表</a:t>
              </a:r>
              <a:r>
                <a:rPr lang="en-US" altLang="zh-CN" sz="2400" dirty="0">
                  <a:latin typeface="Times New Roman" panose="02020603050405020304" pitchFamily="18" charset="0"/>
                  <a:ea typeface="宋体" panose="02010600030101010101" pitchFamily="2" charset="-122"/>
                </a:rPr>
                <a:t>6</a:t>
              </a:r>
              <a:r>
                <a:rPr lang="zh-CN" altLang="en-US" sz="2400" dirty="0">
                  <a:latin typeface="Times New Roman" panose="02020603050405020304" pitchFamily="18" charset="0"/>
                  <a:ea typeface="宋体" panose="02010600030101010101" pitchFamily="2" charset="-122"/>
                </a:rPr>
                <a:t>有常见难溶电解质溶度积的实验数据       ，粗略计算可当做        使用。</a:t>
              </a:r>
            </a:p>
          </p:txBody>
        </p:sp>
        <p:graphicFrame>
          <p:nvGraphicFramePr>
            <p:cNvPr id="59404" name="Object 16"/>
            <p:cNvGraphicFramePr>
              <a:graphicFrameLocks noChangeAspect="1"/>
            </p:cNvGraphicFramePr>
            <p:nvPr/>
          </p:nvGraphicFramePr>
          <p:xfrm>
            <a:off x="548" y="1138"/>
            <a:ext cx="243" cy="307"/>
          </p:xfrm>
          <a:graphic>
            <a:graphicData uri="http://schemas.openxmlformats.org/presentationml/2006/ole">
              <mc:AlternateContent xmlns:mc="http://schemas.openxmlformats.org/markup-compatibility/2006">
                <mc:Choice xmlns:v="urn:schemas-microsoft-com:vml" Requires="v">
                  <p:oleObj r:id="rId6" imgW="250825" imgH="264160" progId="Equation.KSEE3">
                    <p:embed/>
                  </p:oleObj>
                </mc:Choice>
                <mc:Fallback>
                  <p:oleObj r:id="rId6" imgW="250825" imgH="264160" progId="Equation.KSEE3">
                    <p:embed/>
                    <p:pic>
                      <p:nvPicPr>
                        <p:cNvPr id="0" name="图片 3146"/>
                        <p:cNvPicPr/>
                        <p:nvPr/>
                      </p:nvPicPr>
                      <p:blipFill>
                        <a:blip r:embed="rId5"/>
                        <a:stretch>
                          <a:fillRect/>
                        </a:stretch>
                      </p:blipFill>
                      <p:spPr>
                        <a:xfrm>
                          <a:off x="548" y="1138"/>
                          <a:ext cx="243" cy="307"/>
                        </a:xfrm>
                        <a:prstGeom prst="rect">
                          <a:avLst/>
                        </a:prstGeom>
                        <a:noFill/>
                        <a:ln w="38100">
                          <a:noFill/>
                          <a:miter/>
                        </a:ln>
                      </p:spPr>
                    </p:pic>
                  </p:oleObj>
                </mc:Fallback>
              </mc:AlternateContent>
            </a:graphicData>
          </a:graphic>
        </p:graphicFrame>
        <p:graphicFrame>
          <p:nvGraphicFramePr>
            <p:cNvPr id="59405" name="Object 18"/>
            <p:cNvGraphicFramePr>
              <a:graphicFrameLocks noChangeAspect="1"/>
            </p:cNvGraphicFramePr>
            <p:nvPr/>
          </p:nvGraphicFramePr>
          <p:xfrm>
            <a:off x="2311" y="1909"/>
            <a:ext cx="320" cy="332"/>
          </p:xfrm>
          <a:graphic>
            <a:graphicData uri="http://schemas.openxmlformats.org/presentationml/2006/ole">
              <mc:AlternateContent xmlns:mc="http://schemas.openxmlformats.org/markup-compatibility/2006">
                <mc:Choice xmlns:v="urn:schemas-microsoft-com:vml" Requires="v">
                  <p:oleObj r:id="rId7" imgW="234315" imgH="247650" progId="Equation.KSEE3">
                    <p:embed/>
                  </p:oleObj>
                </mc:Choice>
                <mc:Fallback>
                  <p:oleObj r:id="rId7" imgW="234315" imgH="247650" progId="Equation.KSEE3">
                    <p:embed/>
                    <p:pic>
                      <p:nvPicPr>
                        <p:cNvPr id="0" name="图片 3147"/>
                        <p:cNvPicPr/>
                        <p:nvPr/>
                      </p:nvPicPr>
                      <p:blipFill>
                        <a:blip r:embed="rId8"/>
                        <a:stretch>
                          <a:fillRect/>
                        </a:stretch>
                      </p:blipFill>
                      <p:spPr>
                        <a:xfrm>
                          <a:off x="2311" y="1909"/>
                          <a:ext cx="320" cy="332"/>
                        </a:xfrm>
                        <a:prstGeom prst="rect">
                          <a:avLst/>
                        </a:prstGeom>
                        <a:noFill/>
                        <a:ln w="38100">
                          <a:noFill/>
                          <a:miter/>
                        </a:ln>
                      </p:spPr>
                    </p:pic>
                  </p:oleObj>
                </mc:Fallback>
              </mc:AlternateContent>
            </a:graphicData>
          </a:graphic>
        </p:graphicFrame>
        <p:graphicFrame>
          <p:nvGraphicFramePr>
            <p:cNvPr id="59406" name="Object 20"/>
            <p:cNvGraphicFramePr>
              <a:graphicFrameLocks noChangeAspect="1"/>
            </p:cNvGraphicFramePr>
            <p:nvPr/>
          </p:nvGraphicFramePr>
          <p:xfrm>
            <a:off x="548" y="1931"/>
            <a:ext cx="285" cy="307"/>
          </p:xfrm>
          <a:graphic>
            <a:graphicData uri="http://schemas.openxmlformats.org/presentationml/2006/ole">
              <mc:AlternateContent xmlns:mc="http://schemas.openxmlformats.org/markup-compatibility/2006">
                <mc:Choice xmlns:v="urn:schemas-microsoft-com:vml" Requires="v">
                  <p:oleObj r:id="rId9" imgW="250825" imgH="264160" progId="Equation.KSEE3">
                    <p:embed/>
                  </p:oleObj>
                </mc:Choice>
                <mc:Fallback>
                  <p:oleObj r:id="rId9" imgW="250825" imgH="264160" progId="Equation.KSEE3">
                    <p:embed/>
                    <p:pic>
                      <p:nvPicPr>
                        <p:cNvPr id="0" name="图片 3148"/>
                        <p:cNvPicPr/>
                        <p:nvPr/>
                      </p:nvPicPr>
                      <p:blipFill>
                        <a:blip r:embed="rId5"/>
                        <a:stretch>
                          <a:fillRect/>
                        </a:stretch>
                      </p:blipFill>
                      <p:spPr>
                        <a:xfrm>
                          <a:off x="548" y="1931"/>
                          <a:ext cx="285" cy="307"/>
                        </a:xfrm>
                        <a:prstGeom prst="rect">
                          <a:avLst/>
                        </a:prstGeom>
                        <a:noFill/>
                        <a:ln w="38100">
                          <a:noFill/>
                          <a:miter/>
                        </a:ln>
                      </p:spPr>
                    </p:pic>
                  </p:oleObj>
                </mc:Fallback>
              </mc:AlternateContent>
            </a:graphicData>
          </a:graphic>
        </p:graphicFrame>
      </p:grpSp>
      <p:sp>
        <p:nvSpPr>
          <p:cNvPr id="59407" name="Rectangle 26"/>
          <p:cNvSpPr/>
          <p:nvPr/>
        </p:nvSpPr>
        <p:spPr>
          <a:xfrm>
            <a:off x="5" y="150348"/>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46103" name="Text Box 23"/>
          <p:cNvSpPr txBox="1"/>
          <p:nvPr/>
        </p:nvSpPr>
        <p:spPr>
          <a:xfrm>
            <a:off x="395288" y="2952753"/>
            <a:ext cx="4248150" cy="646331"/>
          </a:xfrm>
          <a:prstGeom prst="rect">
            <a:avLst/>
          </a:prstGeom>
          <a:solidFill>
            <a:srgbClr val="FFFFCC"/>
          </a:solidFill>
          <a:ln w="9525">
            <a:noFill/>
          </a:ln>
        </p:spPr>
        <p:txBody>
          <a:bodyPr anchor="t" anchorCtr="0">
            <a:spAutoFit/>
          </a:bodyPr>
          <a:lstStyle/>
          <a:p>
            <a:pPr>
              <a:spcBef>
                <a:spcPct val="50000"/>
              </a:spcBef>
              <a:buClrTx/>
              <a:buFontTx/>
            </a:pPr>
            <a:r>
              <a:rPr lang="en-US" altLang="zh-CN" sz="3600" dirty="0">
                <a:solidFill>
                  <a:srgbClr val="FF0066"/>
                </a:solidFill>
                <a:latin typeface="华文新魏" pitchFamily="2" charset="-122"/>
                <a:ea typeface="华文新魏" pitchFamily="2" charset="-122"/>
              </a:rPr>
              <a:t>2.</a:t>
            </a:r>
            <a:r>
              <a:rPr lang="zh-CN" altLang="en-US" sz="3600" dirty="0">
                <a:solidFill>
                  <a:srgbClr val="FF0066"/>
                </a:solidFill>
                <a:latin typeface="华文新魏" pitchFamily="2" charset="-122"/>
                <a:ea typeface="华文新魏" pitchFamily="2" charset="-122"/>
              </a:rPr>
              <a:t>溶度积与溶解度</a:t>
            </a:r>
            <a:r>
              <a:rPr lang="zh-CN" altLang="en-US" sz="3600" b="0" dirty="0">
                <a:latin typeface="华文新魏" pitchFamily="2" charset="-122"/>
                <a:ea typeface="华文新魏" pitchFamily="2" charset="-122"/>
              </a:rPr>
              <a:t> </a:t>
            </a:r>
          </a:p>
        </p:txBody>
      </p:sp>
      <p:grpSp>
        <p:nvGrpSpPr>
          <p:cNvPr id="5" name="Group 34"/>
          <p:cNvGrpSpPr/>
          <p:nvPr/>
        </p:nvGrpSpPr>
        <p:grpSpPr>
          <a:xfrm>
            <a:off x="395288" y="3468694"/>
            <a:ext cx="8424862" cy="1400175"/>
            <a:chOff x="249" y="2523"/>
            <a:chExt cx="5307" cy="1176"/>
          </a:xfrm>
        </p:grpSpPr>
        <p:sp>
          <p:nvSpPr>
            <p:cNvPr id="59410" name="Text Box 24"/>
            <p:cNvSpPr txBox="1"/>
            <p:nvPr/>
          </p:nvSpPr>
          <p:spPr>
            <a:xfrm>
              <a:off x="249" y="2523"/>
              <a:ext cx="5307" cy="1176"/>
            </a:xfrm>
            <a:prstGeom prst="rect">
              <a:avLst/>
            </a:prstGeom>
            <a:noFill/>
            <a:ln w="9525">
              <a:noFill/>
            </a:ln>
          </p:spPr>
          <p:txBody>
            <a:bodyPr anchor="t" anchorCtr="0">
              <a:spAutoFit/>
            </a:bodyPr>
            <a:lstStyle/>
            <a:p>
              <a:pPr>
                <a:lnSpc>
                  <a:spcPts val="3400"/>
                </a:lnSpc>
                <a:buClrTx/>
                <a:buFontTx/>
              </a:pPr>
              <a:r>
                <a:rPr lang="zh-CN" altLang="en-US" sz="2400" dirty="0">
                  <a:latin typeface="Times New Roman" panose="02020603050405020304" pitchFamily="18" charset="0"/>
                  <a:ea typeface="宋体" panose="02010600030101010101" pitchFamily="2" charset="-122"/>
                </a:rPr>
                <a:t>        溶度积（    ）和溶解度（</a:t>
              </a:r>
              <a:r>
                <a:rPr lang="en-US" altLang="zh-CN" sz="2400" i="1" dirty="0">
                  <a:latin typeface="Times New Roman" panose="02020603050405020304" pitchFamily="18" charset="0"/>
                  <a:ea typeface="宋体" panose="02010600030101010101" pitchFamily="2" charset="-122"/>
                </a:rPr>
                <a:t>s</a:t>
              </a:r>
              <a:r>
                <a:rPr lang="zh-CN" altLang="en-US" sz="2400" dirty="0">
                  <a:latin typeface="Times New Roman" panose="02020603050405020304" pitchFamily="18" charset="0"/>
                  <a:ea typeface="宋体" panose="02010600030101010101" pitchFamily="2" charset="-122"/>
                </a:rPr>
                <a:t>）都可以表示难溶电解质在水中的溶解情况，可进行相互换算。</a:t>
              </a:r>
            </a:p>
            <a:p>
              <a:pPr>
                <a:lnSpc>
                  <a:spcPts val="3400"/>
                </a:lnSpc>
                <a:buClrTx/>
                <a:buFontTx/>
              </a:pPr>
              <a:r>
                <a:rPr lang="zh-CN" altLang="en-US" sz="2400" dirty="0">
                  <a:latin typeface="Times New Roman" panose="02020603050405020304" pitchFamily="18" charset="0"/>
                  <a:ea typeface="宋体" panose="02010600030101010101" pitchFamily="2" charset="-122"/>
                </a:rPr>
                <a:t>         在要注意，溶解度采用的单位为</a:t>
              </a:r>
              <a:r>
                <a:rPr lang="en-US" altLang="zh-CN" sz="2400" dirty="0">
                  <a:latin typeface="Times New Roman" panose="02020603050405020304" pitchFamily="18" charset="0"/>
                  <a:ea typeface="宋体" panose="02010600030101010101" pitchFamily="2" charset="-122"/>
                </a:rPr>
                <a:t>mol</a:t>
              </a:r>
              <a:r>
                <a:rPr lang="en-US" altLang="zh-CN" sz="2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L</a:t>
              </a:r>
              <a:r>
                <a:rPr lang="en-US" altLang="zh-CN" sz="2400" baseline="300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 </a:t>
              </a:r>
            </a:p>
          </p:txBody>
        </p:sp>
        <p:graphicFrame>
          <p:nvGraphicFramePr>
            <p:cNvPr id="59411" name="Object 25"/>
            <p:cNvGraphicFramePr>
              <a:graphicFrameLocks noChangeAspect="1"/>
            </p:cNvGraphicFramePr>
            <p:nvPr/>
          </p:nvGraphicFramePr>
          <p:xfrm>
            <a:off x="1428" y="2617"/>
            <a:ext cx="276" cy="298"/>
          </p:xfrm>
          <a:graphic>
            <a:graphicData uri="http://schemas.openxmlformats.org/presentationml/2006/ole">
              <mc:AlternateContent xmlns:mc="http://schemas.openxmlformats.org/markup-compatibility/2006">
                <mc:Choice xmlns:v="urn:schemas-microsoft-com:vml" Requires="v">
                  <p:oleObj r:id="rId10" imgW="250825" imgH="264160" progId="Equation.KSEE3">
                    <p:embed/>
                  </p:oleObj>
                </mc:Choice>
                <mc:Fallback>
                  <p:oleObj r:id="rId10" imgW="250825" imgH="264160" progId="Equation.KSEE3">
                    <p:embed/>
                    <p:pic>
                      <p:nvPicPr>
                        <p:cNvPr id="0" name="图片 3149"/>
                        <p:cNvPicPr/>
                        <p:nvPr/>
                      </p:nvPicPr>
                      <p:blipFill>
                        <a:blip r:embed="rId5"/>
                        <a:stretch>
                          <a:fillRect/>
                        </a:stretch>
                      </p:blipFill>
                      <p:spPr>
                        <a:xfrm>
                          <a:off x="1428" y="2617"/>
                          <a:ext cx="276" cy="298"/>
                        </a:xfrm>
                        <a:prstGeom prst="rect">
                          <a:avLst/>
                        </a:prstGeom>
                        <a:noFill/>
                        <a:ln w="38100">
                          <a:noFill/>
                          <a:miter/>
                        </a:ln>
                      </p:spPr>
                    </p:pic>
                  </p:oleObj>
                </mc:Fallback>
              </mc:AlternateContent>
            </a:graphicData>
          </a:graphic>
        </p:graphicFrame>
      </p:grpSp>
      <p:graphicFrame>
        <p:nvGraphicFramePr>
          <p:cNvPr id="59412" name="Object 27"/>
          <p:cNvGraphicFramePr>
            <a:graphicFrameLocks noChangeAspect="1"/>
          </p:cNvGraphicFramePr>
          <p:nvPr/>
        </p:nvGraphicFramePr>
        <p:xfrm>
          <a:off x="0" y="2954338"/>
          <a:ext cx="76200" cy="57150"/>
        </p:xfrm>
        <a:graphic>
          <a:graphicData uri="http://schemas.openxmlformats.org/presentationml/2006/ole">
            <mc:AlternateContent xmlns:mc="http://schemas.openxmlformats.org/markup-compatibility/2006">
              <mc:Choice xmlns:v="urn:schemas-microsoft-com:vml" Requires="v">
                <p:oleObj r:id="rId11" imgW="86360" imgH="86360" progId="Equation.KSEE3">
                  <p:embed/>
                </p:oleObj>
              </mc:Choice>
              <mc:Fallback>
                <p:oleObj r:id="rId11" imgW="86360" imgH="86360" progId="Equation.KSEE3">
                  <p:embed/>
                  <p:pic>
                    <p:nvPicPr>
                      <p:cNvPr id="0" name="图片 3150"/>
                      <p:cNvPicPr/>
                      <p:nvPr/>
                    </p:nvPicPr>
                    <p:blipFill>
                      <a:blip r:embed="rId12"/>
                      <a:stretch>
                        <a:fillRect/>
                      </a:stretch>
                    </p:blipFill>
                    <p:spPr>
                      <a:xfrm>
                        <a:off x="0" y="2954338"/>
                        <a:ext cx="76200" cy="5715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103"/>
                                        </p:tgtEl>
                                        <p:attrNameLst>
                                          <p:attrName>style.visibility</p:attrName>
                                        </p:attrNameLst>
                                      </p:cBhvr>
                                      <p:to>
                                        <p:strVal val="visible"/>
                                      </p:to>
                                    </p:set>
                                    <p:animEffect transition="in" filter="wipe(left)">
                                      <p:cBhvr>
                                        <p:cTn id="7" dur="500"/>
                                        <p:tgtEl>
                                          <p:spTgt spid="4610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8"/>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pic>
        <p:nvPicPr>
          <p:cNvPr id="60418" name="Group 20"/>
          <p:cNvPicPr/>
          <p:nvPr/>
        </p:nvPicPr>
        <p:blipFill>
          <a:blip r:embed="rId2"/>
          <a:stretch>
            <a:fillRect/>
          </a:stretch>
        </p:blipFill>
        <p:spPr>
          <a:xfrm>
            <a:off x="231775" y="92078"/>
            <a:ext cx="8369300" cy="758825"/>
          </a:xfrm>
          <a:prstGeom prst="rect">
            <a:avLst/>
          </a:prstGeom>
          <a:noFill/>
          <a:ln w="9525">
            <a:noFill/>
          </a:ln>
        </p:spPr>
      </p:pic>
      <p:sp>
        <p:nvSpPr>
          <p:cNvPr id="60419" name="Rectangle 13"/>
          <p:cNvSpPr/>
          <p:nvPr/>
        </p:nvSpPr>
        <p:spPr>
          <a:xfrm>
            <a:off x="5" y="2192667"/>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0420" name="Rectangle 15"/>
          <p:cNvSpPr/>
          <p:nvPr/>
        </p:nvSpPr>
        <p:spPr>
          <a:xfrm>
            <a:off x="5" y="2221242"/>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0421" name="Rectangle 18"/>
          <p:cNvSpPr/>
          <p:nvPr/>
        </p:nvSpPr>
        <p:spPr>
          <a:xfrm>
            <a:off x="5" y="227442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2" name="Group 19"/>
          <p:cNvGrpSpPr/>
          <p:nvPr/>
        </p:nvGrpSpPr>
        <p:grpSpPr>
          <a:xfrm>
            <a:off x="323856" y="819150"/>
            <a:ext cx="8208963" cy="1630758"/>
            <a:chOff x="249" y="709"/>
            <a:chExt cx="5171" cy="1369"/>
          </a:xfrm>
        </p:grpSpPr>
        <p:grpSp>
          <p:nvGrpSpPr>
            <p:cNvPr id="60423" name="Group 16"/>
            <p:cNvGrpSpPr/>
            <p:nvPr/>
          </p:nvGrpSpPr>
          <p:grpSpPr>
            <a:xfrm>
              <a:off x="249" y="709"/>
              <a:ext cx="5171" cy="1369"/>
              <a:chOff x="249" y="709"/>
              <a:chExt cx="5171" cy="1369"/>
            </a:xfrm>
          </p:grpSpPr>
          <p:sp>
            <p:nvSpPr>
              <p:cNvPr id="60424" name="Text Box 10"/>
              <p:cNvSpPr txBox="1"/>
              <p:nvPr/>
            </p:nvSpPr>
            <p:spPr>
              <a:xfrm>
                <a:off x="249" y="709"/>
                <a:ext cx="5171" cy="1369"/>
              </a:xfrm>
              <a:prstGeom prst="rect">
                <a:avLst/>
              </a:prstGeom>
              <a:noFill/>
              <a:ln w="9525">
                <a:noFill/>
              </a:ln>
            </p:spPr>
            <p:txBody>
              <a:bodyPr anchor="t" anchorCtr="0">
                <a:spAutoFit/>
              </a:bodyPr>
              <a:lstStyle/>
              <a:p>
                <a:pPr>
                  <a:lnSpc>
                    <a:spcPts val="3000"/>
                  </a:lnSpc>
                  <a:buClrTx/>
                  <a:buFontTx/>
                </a:pPr>
                <a:r>
                  <a:rPr lang="zh-CN" altLang="en-US" sz="2400" dirty="0">
                    <a:latin typeface="Times New Roman" panose="02020603050405020304" pitchFamily="18" charset="0"/>
                    <a:ea typeface="宋体" panose="02010600030101010101" pitchFamily="2" charset="-122"/>
                  </a:rPr>
                  <a:t>解：设</a:t>
                </a:r>
                <a:r>
                  <a:rPr lang="en-US" altLang="zh-CN" sz="2400" dirty="0">
                    <a:latin typeface="Times New Roman" panose="02020603050405020304" pitchFamily="18" charset="0"/>
                    <a:ea typeface="宋体" panose="02010600030101010101" pitchFamily="2" charset="-122"/>
                  </a:rPr>
                  <a:t>BaSO</a:t>
                </a:r>
                <a:r>
                  <a:rPr lang="en-US" altLang="zh-CN" sz="2400" baseline="-25000" dirty="0">
                    <a:latin typeface="Times New Roman" panose="02020603050405020304" pitchFamily="18" charset="0"/>
                    <a:ea typeface="宋体" panose="02010600030101010101" pitchFamily="2" charset="-122"/>
                  </a:rPr>
                  <a:t>4</a:t>
                </a:r>
                <a:r>
                  <a:rPr lang="zh-CN" altLang="en-US" sz="2400" dirty="0">
                    <a:latin typeface="Times New Roman" panose="02020603050405020304" pitchFamily="18" charset="0"/>
                    <a:ea typeface="宋体" panose="02010600030101010101" pitchFamily="2" charset="-122"/>
                  </a:rPr>
                  <a:t>的溶解度为</a:t>
                </a:r>
                <a:r>
                  <a:rPr lang="en-US" altLang="zh-CN" sz="2400" i="1" dirty="0">
                    <a:latin typeface="Times New Roman" panose="02020603050405020304" pitchFamily="18" charset="0"/>
                    <a:ea typeface="宋体" panose="02010600030101010101" pitchFamily="2" charset="-122"/>
                  </a:rPr>
                  <a:t>s </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，则由</a:t>
                </a:r>
              </a:p>
              <a:p>
                <a:pPr>
                  <a:lnSpc>
                    <a:spcPts val="3000"/>
                  </a:lnSpc>
                  <a:buClrTx/>
                  <a:buFontTx/>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BaSO</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(s)        Ba</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(aq)+SO</a:t>
                </a:r>
                <a:r>
                  <a:rPr lang="en-US" altLang="zh-CN" sz="2400" baseline="-25000" dirty="0">
                    <a:latin typeface="Times New Roman" panose="02020603050405020304" pitchFamily="18" charset="0"/>
                    <a:ea typeface="宋体" panose="02010600030101010101" pitchFamily="2" charset="-122"/>
                  </a:rPr>
                  <a:t>4</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(aq)</a:t>
                </a:r>
              </a:p>
              <a:p>
                <a:pPr>
                  <a:lnSpc>
                    <a:spcPts val="3000"/>
                  </a:lnSpc>
                  <a:buClrTx/>
                  <a:buFontTx/>
                </a:pPr>
                <a:r>
                  <a:rPr lang="en-US" altLang="zh-CN" sz="2400" dirty="0">
                    <a:latin typeface="Times New Roman" panose="02020603050405020304" pitchFamily="18" charset="0"/>
                    <a:ea typeface="宋体" panose="02010600030101010101" pitchFamily="2" charset="-122"/>
                  </a:rPr>
                  <a:t>                       (BaSO</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(Ba</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(SO</a:t>
                </a:r>
                <a:r>
                  <a:rPr lang="en-US" altLang="zh-CN" sz="2400" baseline="-25000" dirty="0">
                    <a:latin typeface="Times New Roman" panose="02020603050405020304" pitchFamily="18" charset="0"/>
                    <a:ea typeface="宋体" panose="02010600030101010101" pitchFamily="2" charset="-122"/>
                  </a:rPr>
                  <a:t>4</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s</a:t>
                </a:r>
                <a:r>
                  <a:rPr lang="en-US" altLang="zh-CN" sz="2400" baseline="30000" dirty="0">
                    <a:latin typeface="Times New Roman" panose="02020603050405020304" pitchFamily="18" charset="0"/>
                    <a:ea typeface="宋体" panose="02010600030101010101" pitchFamily="2" charset="-122"/>
                  </a:rPr>
                  <a:t>2</a:t>
                </a:r>
              </a:p>
              <a:p>
                <a:pPr>
                  <a:lnSpc>
                    <a:spcPts val="3000"/>
                  </a:lnSpc>
                  <a:buClrTx/>
                  <a:buFontTx/>
                </a:pP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s </a:t>
                </a:r>
                <a:r>
                  <a:rPr lang="en-US" altLang="zh-CN" sz="2400" dirty="0">
                    <a:latin typeface="Times New Roman" panose="02020603050405020304" pitchFamily="18" charset="0"/>
                    <a:ea typeface="宋体" panose="02010600030101010101" pitchFamily="2" charset="-122"/>
                  </a:rPr>
                  <a:t>=                    =                  =1.04×10</a:t>
                </a:r>
                <a:r>
                  <a:rPr lang="en-US" altLang="zh-CN" sz="2400" baseline="30000" dirty="0">
                    <a:latin typeface="Times New Roman" panose="02020603050405020304" pitchFamily="18" charset="0"/>
                    <a:ea typeface="宋体" panose="02010600030101010101" pitchFamily="2" charset="-122"/>
                  </a:rPr>
                  <a:t>-5</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-l</a:t>
                </a:r>
                <a:endParaRPr lang="zh-CN" altLang="en-US" sz="2400" baseline="30000" dirty="0">
                  <a:latin typeface="Times New Roman" panose="02020603050405020304" pitchFamily="18" charset="0"/>
                  <a:ea typeface="宋体" panose="02010600030101010101" pitchFamily="2" charset="-122"/>
                </a:endParaRPr>
              </a:p>
            </p:txBody>
          </p:sp>
          <p:graphicFrame>
            <p:nvGraphicFramePr>
              <p:cNvPr id="60425" name="Object 12"/>
              <p:cNvGraphicFramePr>
                <a:graphicFrameLocks noChangeAspect="1"/>
              </p:cNvGraphicFramePr>
              <p:nvPr/>
            </p:nvGraphicFramePr>
            <p:xfrm>
              <a:off x="1610" y="1670"/>
              <a:ext cx="952" cy="363"/>
            </p:xfrm>
            <a:graphic>
              <a:graphicData uri="http://schemas.openxmlformats.org/presentationml/2006/ole">
                <mc:AlternateContent xmlns:mc="http://schemas.openxmlformats.org/markup-compatibility/2006">
                  <mc:Choice xmlns:v="urn:schemas-microsoft-com:vml" Requires="v">
                    <p:oleObj r:id="rId3" imgW="758825" imgH="321310" progId="Equation.3">
                      <p:embed/>
                    </p:oleObj>
                  </mc:Choice>
                  <mc:Fallback>
                    <p:oleObj r:id="rId3" imgW="758825" imgH="321310" progId="Equation.3">
                      <p:embed/>
                      <p:pic>
                        <p:nvPicPr>
                          <p:cNvPr id="0" name="图片 3151"/>
                          <p:cNvPicPr/>
                          <p:nvPr/>
                        </p:nvPicPr>
                        <p:blipFill>
                          <a:blip r:embed="rId4"/>
                          <a:stretch>
                            <a:fillRect/>
                          </a:stretch>
                        </p:blipFill>
                        <p:spPr>
                          <a:xfrm>
                            <a:off x="1610" y="1670"/>
                            <a:ext cx="952" cy="363"/>
                          </a:xfrm>
                          <a:prstGeom prst="rect">
                            <a:avLst/>
                          </a:prstGeom>
                          <a:noFill/>
                          <a:ln w="38100">
                            <a:noFill/>
                            <a:miter/>
                          </a:ln>
                        </p:spPr>
                      </p:pic>
                    </p:oleObj>
                  </mc:Fallback>
                </mc:AlternateContent>
              </a:graphicData>
            </a:graphic>
          </p:graphicFrame>
          <p:graphicFrame>
            <p:nvGraphicFramePr>
              <p:cNvPr id="60426" name="Object 14"/>
              <p:cNvGraphicFramePr>
                <a:graphicFrameLocks noChangeAspect="1"/>
              </p:cNvGraphicFramePr>
              <p:nvPr/>
            </p:nvGraphicFramePr>
            <p:xfrm>
              <a:off x="2653" y="1692"/>
              <a:ext cx="953" cy="318"/>
            </p:xfrm>
            <a:graphic>
              <a:graphicData uri="http://schemas.openxmlformats.org/presentationml/2006/ole">
                <mc:AlternateContent xmlns:mc="http://schemas.openxmlformats.org/markup-compatibility/2006">
                  <mc:Choice xmlns:v="urn:schemas-microsoft-com:vml" Requires="v">
                    <p:oleObj r:id="rId5" imgW="729615" imgH="243205" progId="Equation.3">
                      <p:embed/>
                    </p:oleObj>
                  </mc:Choice>
                  <mc:Fallback>
                    <p:oleObj r:id="rId5" imgW="729615" imgH="243205" progId="Equation.3">
                      <p:embed/>
                      <p:pic>
                        <p:nvPicPr>
                          <p:cNvPr id="0" name="图片 3152"/>
                          <p:cNvPicPr/>
                          <p:nvPr/>
                        </p:nvPicPr>
                        <p:blipFill>
                          <a:blip r:embed="rId6"/>
                          <a:stretch>
                            <a:fillRect/>
                          </a:stretch>
                        </p:blipFill>
                        <p:spPr>
                          <a:xfrm>
                            <a:off x="2653" y="1692"/>
                            <a:ext cx="953" cy="318"/>
                          </a:xfrm>
                          <a:prstGeom prst="rect">
                            <a:avLst/>
                          </a:prstGeom>
                          <a:noFill/>
                          <a:ln w="38100">
                            <a:noFill/>
                            <a:miter/>
                          </a:ln>
                        </p:spPr>
                      </p:pic>
                    </p:oleObj>
                  </mc:Fallback>
                </mc:AlternateContent>
              </a:graphicData>
            </a:graphic>
          </p:graphicFrame>
        </p:grpSp>
        <p:graphicFrame>
          <p:nvGraphicFramePr>
            <p:cNvPr id="60427" name="Object 17"/>
            <p:cNvGraphicFramePr>
              <a:graphicFrameLocks noChangeAspect="1"/>
            </p:cNvGraphicFramePr>
            <p:nvPr/>
          </p:nvGraphicFramePr>
          <p:xfrm>
            <a:off x="2335" y="1178"/>
            <a:ext cx="272" cy="87"/>
          </p:xfrm>
          <a:graphic>
            <a:graphicData uri="http://schemas.openxmlformats.org/presentationml/2006/ole">
              <mc:AlternateContent xmlns:mc="http://schemas.openxmlformats.org/markup-compatibility/2006">
                <mc:Choice xmlns:v="urn:schemas-microsoft-com:vml" Requires="v">
                  <p:oleObj r:id="rId7" imgW="676275" imgH="171450" progId="Equation.3">
                    <p:embed/>
                  </p:oleObj>
                </mc:Choice>
                <mc:Fallback>
                  <p:oleObj r:id="rId7" imgW="676275" imgH="171450" progId="Equation.3">
                    <p:embed/>
                    <p:pic>
                      <p:nvPicPr>
                        <p:cNvPr id="0" name="图片 3153"/>
                        <p:cNvPicPr/>
                        <p:nvPr/>
                      </p:nvPicPr>
                      <p:blipFill>
                        <a:blip r:embed="rId8"/>
                        <a:stretch>
                          <a:fillRect/>
                        </a:stretch>
                      </p:blipFill>
                      <p:spPr>
                        <a:xfrm>
                          <a:off x="2335" y="1178"/>
                          <a:ext cx="272" cy="87"/>
                        </a:xfrm>
                        <a:prstGeom prst="rect">
                          <a:avLst/>
                        </a:prstGeom>
                        <a:noFill/>
                        <a:ln w="38100">
                          <a:noFill/>
                          <a:miter/>
                        </a:ln>
                      </p:spPr>
                    </p:pic>
                  </p:oleObj>
                </mc:Fallback>
              </mc:AlternateContent>
            </a:graphicData>
          </a:graphic>
        </p:graphicFrame>
      </p:grpSp>
      <p:sp>
        <p:nvSpPr>
          <p:cNvPr id="60428" name="Rectangle 23"/>
          <p:cNvSpPr/>
          <p:nvPr/>
        </p:nvSpPr>
        <p:spPr>
          <a:xfrm>
            <a:off x="5" y="2192667"/>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0429" name="Rectangle 25"/>
          <p:cNvSpPr/>
          <p:nvPr/>
        </p:nvSpPr>
        <p:spPr>
          <a:xfrm>
            <a:off x="5" y="214980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4" name="Group 26"/>
          <p:cNvGrpSpPr/>
          <p:nvPr/>
        </p:nvGrpSpPr>
        <p:grpSpPr>
          <a:xfrm>
            <a:off x="323856" y="2176464"/>
            <a:ext cx="8569325" cy="2786062"/>
            <a:chOff x="204" y="1797"/>
            <a:chExt cx="5261" cy="2340"/>
          </a:xfrm>
        </p:grpSpPr>
        <p:sp>
          <p:nvSpPr>
            <p:cNvPr id="60431" name="Text Box 21"/>
            <p:cNvSpPr txBox="1"/>
            <p:nvPr/>
          </p:nvSpPr>
          <p:spPr>
            <a:xfrm>
              <a:off x="204" y="1797"/>
              <a:ext cx="5261" cy="2249"/>
            </a:xfrm>
            <a:prstGeom prst="rect">
              <a:avLst/>
            </a:prstGeom>
            <a:noFill/>
            <a:ln w="9525">
              <a:noFill/>
            </a:ln>
          </p:spPr>
          <p:txBody>
            <a:bodyPr anchor="t" anchorCtr="0">
              <a:spAutoFit/>
            </a:bodyPr>
            <a:lstStyle/>
            <a:p>
              <a:pPr>
                <a:lnSpc>
                  <a:spcPct val="150000"/>
                </a:lnSpc>
                <a:buClrTx/>
                <a:buFontTx/>
              </a:pPr>
              <a:r>
                <a:rPr lang="zh-CN" altLang="de-DE" sz="2400" dirty="0">
                  <a:latin typeface="Times New Roman" panose="02020603050405020304" pitchFamily="18" charset="0"/>
                  <a:ea typeface="宋体" panose="02010600030101010101" pitchFamily="2" charset="-122"/>
                </a:rPr>
                <a:t>       对于基本上不水解的</a:t>
              </a:r>
              <a:r>
                <a:rPr lang="en-US" altLang="zh-CN" sz="2400" dirty="0">
                  <a:solidFill>
                    <a:srgbClr val="C00000"/>
                  </a:solidFill>
                  <a:latin typeface="Times New Roman" panose="02020603050405020304" pitchFamily="18" charset="0"/>
                  <a:ea typeface="宋体" panose="02010600030101010101" pitchFamily="2" charset="-122"/>
                </a:rPr>
                <a:t>AB</a:t>
              </a:r>
              <a:r>
                <a:rPr lang="zh-CN" altLang="en-US" sz="2400" dirty="0">
                  <a:solidFill>
                    <a:srgbClr val="C00000"/>
                  </a:solidFill>
                  <a:latin typeface="Times New Roman" panose="02020603050405020304" pitchFamily="18" charset="0"/>
                  <a:ea typeface="宋体" panose="02010600030101010101" pitchFamily="2" charset="-122"/>
                </a:rPr>
                <a:t>型</a:t>
              </a:r>
              <a:r>
                <a:rPr lang="zh-CN" altLang="en-US" sz="2400" dirty="0">
                  <a:latin typeface="Times New Roman" panose="02020603050405020304" pitchFamily="18" charset="0"/>
                  <a:ea typeface="宋体" panose="02010600030101010101" pitchFamily="2" charset="-122"/>
                </a:rPr>
                <a:t>难溶强电解质，其溶解度在数值上等于其溶度积的平方根，即    </a:t>
              </a:r>
              <a:endParaRPr lang="zh-CN" altLang="en-US" sz="2400" i="1" dirty="0">
                <a:latin typeface="Times New Roman" panose="02020603050405020304" pitchFamily="18" charset="0"/>
                <a:ea typeface="宋体" panose="02010600030101010101" pitchFamily="2" charset="-122"/>
              </a:endParaRPr>
            </a:p>
            <a:p>
              <a:pPr>
                <a:buClrTx/>
                <a:buFontTx/>
              </a:pPr>
              <a:r>
                <a:rPr lang="zh-CN" altLang="en-US" sz="2400" i="1" dirty="0">
                  <a:latin typeface="Times New Roman" panose="02020603050405020304" pitchFamily="18" charset="0"/>
                  <a:ea typeface="宋体" panose="02010600030101010101" pitchFamily="2" charset="-122"/>
                </a:rPr>
                <a:t>                               </a:t>
              </a:r>
              <a:r>
                <a:rPr lang="en-US" altLang="zh-CN" sz="2400" i="1" dirty="0">
                  <a:solidFill>
                    <a:srgbClr val="C00000"/>
                  </a:solidFill>
                  <a:latin typeface="Times New Roman" panose="02020603050405020304" pitchFamily="18" charset="0"/>
                  <a:ea typeface="宋体" panose="02010600030101010101" pitchFamily="2" charset="-122"/>
                </a:rPr>
                <a:t>s </a:t>
              </a:r>
              <a:r>
                <a:rPr lang="en-US" altLang="zh-CN" sz="2400" dirty="0">
                  <a:solidFill>
                    <a:srgbClr val="C00000"/>
                  </a:solidFill>
                  <a:latin typeface="Times New Roman" panose="02020603050405020304" pitchFamily="18" charset="0"/>
                  <a:ea typeface="宋体" panose="02010600030101010101" pitchFamily="2" charset="-122"/>
                </a:rPr>
                <a:t>=              </a:t>
              </a:r>
            </a:p>
            <a:p>
              <a:pPr>
                <a:buClrTx/>
                <a:buFontTx/>
              </a:pPr>
              <a:r>
                <a:rPr lang="en-US" altLang="zh-CN" sz="2400" dirty="0">
                  <a:latin typeface="Times New Roman" panose="02020603050405020304" pitchFamily="18" charset="0"/>
                  <a:ea typeface="宋体" panose="02010600030101010101" pitchFamily="2" charset="-122"/>
                </a:rPr>
                <a:t>        </a:t>
              </a:r>
              <a:r>
                <a:rPr lang="en-US" altLang="zh-CN" sz="2400" dirty="0">
                  <a:solidFill>
                    <a:srgbClr val="C00000"/>
                  </a:solidFill>
                  <a:latin typeface="Times New Roman" panose="02020603050405020304" pitchFamily="18" charset="0"/>
                  <a:ea typeface="宋体" panose="02010600030101010101" pitchFamily="2" charset="-122"/>
                </a:rPr>
                <a:t>AB</a:t>
              </a:r>
              <a:r>
                <a:rPr lang="en-US" altLang="zh-CN" sz="2400" baseline="-25000" dirty="0">
                  <a:solidFill>
                    <a:srgbClr val="C00000"/>
                  </a:solidFill>
                  <a:latin typeface="Times New Roman" panose="02020603050405020304" pitchFamily="18" charset="0"/>
                  <a:ea typeface="宋体" panose="02010600030101010101" pitchFamily="2" charset="-122"/>
                </a:rPr>
                <a:t>2</a:t>
              </a:r>
              <a:r>
                <a:rPr lang="zh-CN" altLang="en-US" sz="2400" dirty="0">
                  <a:solidFill>
                    <a:srgbClr val="C00000"/>
                  </a:solidFill>
                  <a:latin typeface="Times New Roman" panose="02020603050405020304" pitchFamily="18" charset="0"/>
                  <a:ea typeface="宋体" panose="02010600030101010101" pitchFamily="2" charset="-122"/>
                </a:rPr>
                <a:t>型或</a:t>
              </a:r>
              <a:r>
                <a:rPr lang="en-US" altLang="zh-CN" sz="2400" dirty="0">
                  <a:solidFill>
                    <a:srgbClr val="C00000"/>
                  </a:solidFill>
                  <a:latin typeface="Times New Roman" panose="02020603050405020304" pitchFamily="18" charset="0"/>
                  <a:ea typeface="宋体" panose="02010600030101010101" pitchFamily="2" charset="-122"/>
                </a:rPr>
                <a:t>A</a:t>
              </a:r>
              <a:r>
                <a:rPr lang="en-US" altLang="zh-CN" sz="2400" baseline="-25000" dirty="0">
                  <a:solidFill>
                    <a:srgbClr val="C00000"/>
                  </a:solidFill>
                  <a:latin typeface="Times New Roman" panose="02020603050405020304" pitchFamily="18" charset="0"/>
                  <a:ea typeface="宋体" panose="02010600030101010101" pitchFamily="2" charset="-122"/>
                </a:rPr>
                <a:t>2</a:t>
              </a:r>
              <a:r>
                <a:rPr lang="en-US" altLang="zh-CN" sz="2400" dirty="0">
                  <a:solidFill>
                    <a:srgbClr val="C00000"/>
                  </a:solidFill>
                  <a:latin typeface="Times New Roman" panose="02020603050405020304" pitchFamily="18" charset="0"/>
                  <a:ea typeface="宋体" panose="02010600030101010101" pitchFamily="2" charset="-122"/>
                </a:rPr>
                <a:t>B</a:t>
              </a:r>
              <a:r>
                <a:rPr lang="zh-CN" altLang="en-US" sz="2400" dirty="0">
                  <a:solidFill>
                    <a:srgbClr val="C00000"/>
                  </a:solidFill>
                  <a:latin typeface="Times New Roman" panose="02020603050405020304" pitchFamily="18" charset="0"/>
                  <a:ea typeface="宋体" panose="02010600030101010101" pitchFamily="2" charset="-122"/>
                </a:rPr>
                <a:t>型</a:t>
              </a:r>
              <a:r>
                <a:rPr lang="zh-CN" altLang="en-US" sz="2400" dirty="0">
                  <a:latin typeface="Times New Roman" panose="02020603050405020304" pitchFamily="18" charset="0"/>
                  <a:ea typeface="宋体" panose="02010600030101010101" pitchFamily="2" charset="-122"/>
                </a:rPr>
                <a:t>难溶强电解质（如</a:t>
              </a:r>
              <a:r>
                <a:rPr lang="en-US" altLang="zh-CN" sz="2400" dirty="0">
                  <a:latin typeface="Times New Roman" panose="02020603050405020304" pitchFamily="18" charset="0"/>
                  <a:ea typeface="宋体" panose="02010600030101010101" pitchFamily="2" charset="-122"/>
                </a:rPr>
                <a:t>Ag</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CrO</a:t>
              </a:r>
              <a:r>
                <a:rPr lang="en-US" altLang="zh-CN" sz="2400" baseline="-25000" dirty="0">
                  <a:latin typeface="Times New Roman" panose="02020603050405020304" pitchFamily="18" charset="0"/>
                  <a:ea typeface="宋体" panose="02010600030101010101" pitchFamily="2" charset="-122"/>
                </a:rPr>
                <a:t>4</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CaF</a:t>
              </a:r>
              <a:r>
                <a:rPr lang="en-US" altLang="zh-CN" sz="2400" baseline="-250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等）其溶度积与溶解度间的关系</a:t>
              </a:r>
            </a:p>
            <a:p>
              <a:pPr>
                <a:buClrTx/>
                <a:buFontTx/>
              </a:pPr>
              <a:r>
                <a:rPr lang="zh-CN" altLang="en-US" sz="2400" dirty="0">
                  <a:latin typeface="Times New Roman" panose="02020603050405020304" pitchFamily="18" charset="0"/>
                  <a:ea typeface="宋体" panose="02010600030101010101" pitchFamily="2" charset="-122"/>
                </a:rPr>
                <a:t>                             </a:t>
              </a:r>
              <a:r>
                <a:rPr lang="en-US" altLang="zh-CN" sz="2400" i="1" dirty="0">
                  <a:solidFill>
                    <a:srgbClr val="C00000"/>
                  </a:solidFill>
                  <a:latin typeface="Times New Roman" panose="02020603050405020304" pitchFamily="18" charset="0"/>
                  <a:ea typeface="宋体" panose="02010600030101010101" pitchFamily="2" charset="-122"/>
                </a:rPr>
                <a:t>s </a:t>
              </a:r>
              <a:r>
                <a:rPr lang="en-US" altLang="zh-CN" sz="2400" dirty="0">
                  <a:solidFill>
                    <a:srgbClr val="C00000"/>
                  </a:solidFill>
                  <a:latin typeface="Times New Roman" panose="02020603050405020304" pitchFamily="18" charset="0"/>
                  <a:ea typeface="宋体" panose="02010600030101010101" pitchFamily="2" charset="-122"/>
                </a:rPr>
                <a:t>=                           </a:t>
              </a:r>
              <a:endParaRPr lang="zh-CN" altLang="en-US" sz="2400" dirty="0">
                <a:solidFill>
                  <a:srgbClr val="C00000"/>
                </a:solidFill>
                <a:latin typeface="Times New Roman" panose="02020603050405020304" pitchFamily="18" charset="0"/>
                <a:ea typeface="宋体" panose="02010600030101010101" pitchFamily="2" charset="-122"/>
              </a:endParaRPr>
            </a:p>
          </p:txBody>
        </p:sp>
        <p:graphicFrame>
          <p:nvGraphicFramePr>
            <p:cNvPr id="60432" name="Object 22"/>
            <p:cNvGraphicFramePr>
              <a:graphicFrameLocks noChangeAspect="1"/>
            </p:cNvGraphicFramePr>
            <p:nvPr/>
          </p:nvGraphicFramePr>
          <p:xfrm>
            <a:off x="2061" y="2734"/>
            <a:ext cx="409" cy="375"/>
          </p:xfrm>
          <a:graphic>
            <a:graphicData uri="http://schemas.openxmlformats.org/presentationml/2006/ole">
              <mc:AlternateContent xmlns:mc="http://schemas.openxmlformats.org/markup-compatibility/2006">
                <mc:Choice xmlns:v="urn:schemas-microsoft-com:vml" Requires="v">
                  <p:oleObj r:id="rId9" imgW="348615" imgH="322580" progId="Equation.DSMT4">
                    <p:embed/>
                  </p:oleObj>
                </mc:Choice>
                <mc:Fallback>
                  <p:oleObj r:id="rId9" imgW="348615" imgH="322580" progId="Equation.DSMT4">
                    <p:embed/>
                    <p:pic>
                      <p:nvPicPr>
                        <p:cNvPr id="0" name="图片 3154"/>
                        <p:cNvPicPr/>
                        <p:nvPr/>
                      </p:nvPicPr>
                      <p:blipFill>
                        <a:blip r:embed="rId10"/>
                        <a:stretch>
                          <a:fillRect/>
                        </a:stretch>
                      </p:blipFill>
                      <p:spPr>
                        <a:xfrm>
                          <a:off x="2061" y="2734"/>
                          <a:ext cx="409" cy="375"/>
                        </a:xfrm>
                        <a:prstGeom prst="rect">
                          <a:avLst/>
                        </a:prstGeom>
                        <a:solidFill>
                          <a:schemeClr val="bg2">
                            <a:lumMod val="20000"/>
                            <a:lumOff val="80000"/>
                          </a:schemeClr>
                        </a:solidFill>
                        <a:ln w="38100">
                          <a:noFill/>
                          <a:miter/>
                        </a:ln>
                      </p:spPr>
                    </p:pic>
                  </p:oleObj>
                </mc:Fallback>
              </mc:AlternateContent>
            </a:graphicData>
          </a:graphic>
        </p:graphicFrame>
        <p:graphicFrame>
          <p:nvGraphicFramePr>
            <p:cNvPr id="60433" name="Object 24"/>
            <p:cNvGraphicFramePr>
              <a:graphicFrameLocks noChangeAspect="1"/>
            </p:cNvGraphicFramePr>
            <p:nvPr/>
          </p:nvGraphicFramePr>
          <p:xfrm>
            <a:off x="2016" y="3641"/>
            <a:ext cx="470" cy="496"/>
          </p:xfrm>
          <a:graphic>
            <a:graphicData uri="http://schemas.openxmlformats.org/presentationml/2006/ole">
              <mc:AlternateContent xmlns:mc="http://schemas.openxmlformats.org/markup-compatibility/2006">
                <mc:Choice xmlns:v="urn:schemas-microsoft-com:vml" Requires="v">
                  <p:oleObj r:id="rId11" imgW="374650" imgH="438785" progId="Equation.DSMT4">
                    <p:embed/>
                  </p:oleObj>
                </mc:Choice>
                <mc:Fallback>
                  <p:oleObj r:id="rId11" imgW="374650" imgH="438785" progId="Equation.DSMT4">
                    <p:embed/>
                    <p:pic>
                      <p:nvPicPr>
                        <p:cNvPr id="0" name="图片 3155"/>
                        <p:cNvPicPr/>
                        <p:nvPr/>
                      </p:nvPicPr>
                      <p:blipFill>
                        <a:blip r:embed="rId12"/>
                        <a:stretch>
                          <a:fillRect/>
                        </a:stretch>
                      </p:blipFill>
                      <p:spPr>
                        <a:xfrm>
                          <a:off x="2016" y="3641"/>
                          <a:ext cx="470" cy="496"/>
                        </a:xfrm>
                        <a:prstGeom prst="rect">
                          <a:avLst/>
                        </a:prstGeom>
                        <a:solidFill>
                          <a:schemeClr val="bg2">
                            <a:lumMod val="20000"/>
                            <a:lumOff val="80000"/>
                          </a:schemeClr>
                        </a:solid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304800" y="195489"/>
            <a:ext cx="83716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eaLnBrk="1" hangingPunct="1"/>
            <a:r>
              <a:rPr lang="zh-CN" altLang="en-US" sz="2400" b="1" dirty="0">
                <a:ea typeface="黑体" pitchFamily="49" charset="-122"/>
              </a:rPr>
              <a:t>例</a:t>
            </a:r>
            <a:r>
              <a:rPr lang="en-US" altLang="zh-CN" sz="2400" b="1" dirty="0">
                <a:ea typeface="黑体" pitchFamily="49" charset="-122"/>
              </a:rPr>
              <a:t>10.5  298K</a:t>
            </a:r>
            <a:r>
              <a:rPr lang="zh-CN" altLang="en-US" sz="2400" b="1" dirty="0">
                <a:ea typeface="黑体" pitchFamily="49" charset="-122"/>
              </a:rPr>
              <a:t>，</a:t>
            </a:r>
            <a:r>
              <a:rPr lang="en-US" altLang="zh-CN" sz="2400" b="1" dirty="0">
                <a:ea typeface="黑体" pitchFamily="49" charset="-122"/>
              </a:rPr>
              <a:t>Ag</a:t>
            </a:r>
            <a:r>
              <a:rPr lang="en-US" altLang="zh-CN" sz="2400" b="1" baseline="-25000" dirty="0">
                <a:ea typeface="黑体" pitchFamily="49" charset="-122"/>
              </a:rPr>
              <a:t>2</a:t>
            </a:r>
            <a:r>
              <a:rPr lang="en-US" altLang="zh-CN" sz="2400" b="1" dirty="0">
                <a:ea typeface="黑体" pitchFamily="49" charset="-122"/>
              </a:rPr>
              <a:t>CrO</a:t>
            </a:r>
            <a:r>
              <a:rPr lang="en-US" altLang="zh-CN" sz="2400" b="1" baseline="-25000" dirty="0">
                <a:ea typeface="黑体" pitchFamily="49" charset="-122"/>
              </a:rPr>
              <a:t>4</a:t>
            </a:r>
            <a:r>
              <a:rPr lang="zh-CN" altLang="en-US" sz="2400" b="1" dirty="0">
                <a:ea typeface="黑体" pitchFamily="49" charset="-122"/>
              </a:rPr>
              <a:t>的</a:t>
            </a:r>
            <a:r>
              <a:rPr lang="en-US" altLang="zh-CN" sz="2400" b="1" dirty="0">
                <a:ea typeface="黑体" pitchFamily="49" charset="-122"/>
              </a:rPr>
              <a:t>s = 1.34×10</a:t>
            </a:r>
            <a:r>
              <a:rPr lang="en-US" altLang="zh-CN" sz="2400" b="1" baseline="30000" dirty="0">
                <a:ea typeface="黑体" pitchFamily="49" charset="-122"/>
              </a:rPr>
              <a:t>-4</a:t>
            </a:r>
            <a:r>
              <a:rPr lang="en-US" altLang="zh-CN" sz="2400" b="1" dirty="0">
                <a:ea typeface="黑体" pitchFamily="49" charset="-122"/>
              </a:rPr>
              <a:t> mol·L</a:t>
            </a:r>
            <a:r>
              <a:rPr lang="en-US" altLang="zh-CN" sz="2400" b="1" baseline="30000" dirty="0">
                <a:ea typeface="黑体" pitchFamily="49" charset="-122"/>
              </a:rPr>
              <a:t>-1</a:t>
            </a:r>
            <a:r>
              <a:rPr lang="zh-CN" altLang="en-US" sz="2400" b="1" dirty="0">
                <a:ea typeface="黑体" pitchFamily="49" charset="-122"/>
              </a:rPr>
              <a:t>，求</a:t>
            </a:r>
            <a:r>
              <a:rPr lang="en-US" altLang="zh-CN" sz="2400" b="1" dirty="0" err="1">
                <a:ea typeface="黑体" pitchFamily="49" charset="-122"/>
              </a:rPr>
              <a:t>K</a:t>
            </a:r>
            <a:r>
              <a:rPr lang="en-US" altLang="zh-CN" sz="2400" b="1" baseline="-25000" dirty="0" err="1">
                <a:ea typeface="黑体" pitchFamily="49" charset="-122"/>
              </a:rPr>
              <a:t>sp</a:t>
            </a:r>
            <a:endParaRPr lang="en-US" altLang="zh-CN" sz="2400" b="1" baseline="-25000" dirty="0">
              <a:ea typeface="黑体" pitchFamily="49" charset="-122"/>
            </a:endParaRPr>
          </a:p>
        </p:txBody>
      </p:sp>
      <p:sp>
        <p:nvSpPr>
          <p:cNvPr id="12291" name="Rectangle 3"/>
          <p:cNvSpPr>
            <a:spLocks noChangeArrowheads="1"/>
          </p:cNvSpPr>
          <p:nvPr/>
        </p:nvSpPr>
        <p:spPr bwMode="auto">
          <a:xfrm>
            <a:off x="4995430" y="1139974"/>
            <a:ext cx="2016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r>
              <a:rPr lang="en-US" altLang="zh-CN" sz="2400" b="1" dirty="0">
                <a:solidFill>
                  <a:srgbClr val="C00000"/>
                </a:solidFill>
                <a:ea typeface="黑体" pitchFamily="49" charset="-122"/>
              </a:rPr>
              <a:t>2s            s</a:t>
            </a:r>
          </a:p>
        </p:txBody>
      </p:sp>
      <p:sp>
        <p:nvSpPr>
          <p:cNvPr id="12292" name="Rectangle 4"/>
          <p:cNvSpPr>
            <a:spLocks noChangeArrowheads="1"/>
          </p:cNvSpPr>
          <p:nvPr/>
        </p:nvSpPr>
        <p:spPr bwMode="auto">
          <a:xfrm>
            <a:off x="827590" y="1607710"/>
            <a:ext cx="81375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r>
              <a:rPr lang="en-US" altLang="zh-CN" sz="2400" b="1" dirty="0">
                <a:ea typeface="黑体" pitchFamily="49" charset="-122"/>
              </a:rPr>
              <a:t>∴ </a:t>
            </a:r>
            <a:r>
              <a:rPr lang="en-US" altLang="zh-CN" sz="2400" b="1" i="1" dirty="0" err="1">
                <a:ea typeface="黑体" pitchFamily="49" charset="-122"/>
              </a:rPr>
              <a:t>K</a:t>
            </a:r>
            <a:r>
              <a:rPr lang="en-US" altLang="zh-CN" sz="2400" b="1" baseline="-25000" dirty="0" err="1">
                <a:ea typeface="黑体" pitchFamily="49" charset="-122"/>
              </a:rPr>
              <a:t>sp</a:t>
            </a:r>
            <a:r>
              <a:rPr lang="en-US" altLang="zh-CN" sz="2400" b="1" baseline="-25000" dirty="0">
                <a:ea typeface="黑体" pitchFamily="49" charset="-122"/>
              </a:rPr>
              <a:t> </a:t>
            </a:r>
            <a:r>
              <a:rPr lang="en-US" altLang="zh-CN" sz="2400" b="1" dirty="0">
                <a:ea typeface="黑体" pitchFamily="49" charset="-122"/>
              </a:rPr>
              <a:t>= [Ag</a:t>
            </a:r>
            <a:r>
              <a:rPr lang="en-US" altLang="zh-CN" sz="2400" b="1" baseline="30000" dirty="0">
                <a:ea typeface="黑体" pitchFamily="49" charset="-122"/>
              </a:rPr>
              <a:t>+</a:t>
            </a:r>
            <a:r>
              <a:rPr lang="en-US" altLang="zh-CN" sz="2400" b="1" dirty="0">
                <a:ea typeface="黑体" pitchFamily="49" charset="-122"/>
              </a:rPr>
              <a:t>]</a:t>
            </a:r>
            <a:r>
              <a:rPr lang="en-US" altLang="zh-CN" sz="2400" b="1" baseline="30000" dirty="0">
                <a:ea typeface="黑体" pitchFamily="49" charset="-122"/>
              </a:rPr>
              <a:t>2</a:t>
            </a:r>
            <a:r>
              <a:rPr lang="en-US" altLang="zh-CN" sz="2400" b="1" dirty="0">
                <a:ea typeface="黑体" pitchFamily="49" charset="-122"/>
              </a:rPr>
              <a:t>[CrO</a:t>
            </a:r>
            <a:r>
              <a:rPr lang="en-US" altLang="zh-CN" sz="2400" b="1" baseline="-25000" dirty="0">
                <a:ea typeface="黑体" pitchFamily="49" charset="-122"/>
              </a:rPr>
              <a:t>4</a:t>
            </a:r>
            <a:r>
              <a:rPr lang="en-US" altLang="zh-CN" sz="2400" b="1" baseline="30000" dirty="0">
                <a:ea typeface="黑体" pitchFamily="49" charset="-122"/>
              </a:rPr>
              <a:t>2-</a:t>
            </a:r>
            <a:r>
              <a:rPr lang="en-US" altLang="zh-CN" sz="2400" b="1" dirty="0">
                <a:ea typeface="黑体" pitchFamily="49" charset="-122"/>
              </a:rPr>
              <a:t>] = (2s)</a:t>
            </a:r>
            <a:r>
              <a:rPr lang="en-US" altLang="zh-CN" sz="2400" b="1" baseline="30000" dirty="0">
                <a:ea typeface="黑体" pitchFamily="49" charset="-122"/>
              </a:rPr>
              <a:t>2</a:t>
            </a:r>
            <a:r>
              <a:rPr lang="en-US" altLang="zh-CN" sz="2400" b="1" dirty="0">
                <a:ea typeface="黑体" pitchFamily="49" charset="-122"/>
              </a:rPr>
              <a:t>s = 4s</a:t>
            </a:r>
            <a:r>
              <a:rPr lang="en-US" altLang="zh-CN" sz="2400" b="1" baseline="30000" dirty="0">
                <a:ea typeface="黑体" pitchFamily="49" charset="-122"/>
              </a:rPr>
              <a:t>3 </a:t>
            </a:r>
            <a:r>
              <a:rPr lang="en-US" altLang="zh-CN" sz="2400" b="1" dirty="0">
                <a:ea typeface="黑体" pitchFamily="49" charset="-122"/>
              </a:rPr>
              <a:t>= 9.62×10</a:t>
            </a:r>
            <a:r>
              <a:rPr lang="en-US" altLang="zh-CN" sz="2400" b="1" baseline="30000" dirty="0">
                <a:ea typeface="黑体" pitchFamily="49" charset="-122"/>
              </a:rPr>
              <a:t>-12</a:t>
            </a:r>
          </a:p>
        </p:txBody>
      </p:sp>
      <p:grpSp>
        <p:nvGrpSpPr>
          <p:cNvPr id="2" name="Group 8"/>
          <p:cNvGrpSpPr>
            <a:grpSpLocks/>
          </p:cNvGrpSpPr>
          <p:nvPr/>
        </p:nvGrpSpPr>
        <p:grpSpPr bwMode="auto">
          <a:xfrm>
            <a:off x="1189039" y="731116"/>
            <a:ext cx="6191250" cy="623888"/>
            <a:chOff x="0" y="0"/>
            <a:chExt cx="3900" cy="524"/>
          </a:xfrm>
        </p:grpSpPr>
        <p:sp>
          <p:nvSpPr>
            <p:cNvPr id="43023" name="Text Box 9"/>
            <p:cNvSpPr txBox="1">
              <a:spLocks noChangeArrowheads="1"/>
            </p:cNvSpPr>
            <p:nvPr/>
          </p:nvSpPr>
          <p:spPr bwMode="auto">
            <a:xfrm>
              <a:off x="408" y="136"/>
              <a:ext cx="199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eaLnBrk="1" hangingPunct="1">
                <a:spcBef>
                  <a:spcPct val="50000"/>
                </a:spcBef>
              </a:pPr>
              <a:endParaRPr lang="zh-CN" altLang="en-US" sz="2400"/>
            </a:p>
          </p:txBody>
        </p:sp>
        <p:sp>
          <p:nvSpPr>
            <p:cNvPr id="43024" name="Rectangle 10"/>
            <p:cNvSpPr>
              <a:spLocks noChangeArrowheads="1"/>
            </p:cNvSpPr>
            <p:nvPr/>
          </p:nvSpPr>
          <p:spPr bwMode="auto">
            <a:xfrm>
              <a:off x="0" y="0"/>
              <a:ext cx="390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r>
                <a:rPr lang="zh-CN" altLang="en-US" sz="2800" b="1" dirty="0">
                  <a:ea typeface="黑体" pitchFamily="49" charset="-122"/>
                </a:rPr>
                <a:t>解： ∵ </a:t>
              </a:r>
              <a:r>
                <a:rPr lang="en-US" altLang="zh-CN" sz="2800" b="1" dirty="0">
                  <a:ea typeface="黑体" pitchFamily="49" charset="-122"/>
                </a:rPr>
                <a:t>Ag</a:t>
              </a:r>
              <a:r>
                <a:rPr lang="en-US" altLang="zh-CN" sz="2800" b="1" baseline="-25000" dirty="0">
                  <a:ea typeface="黑体" pitchFamily="49" charset="-122"/>
                </a:rPr>
                <a:t>2</a:t>
              </a:r>
              <a:r>
                <a:rPr lang="zh-CN" altLang="en-US" sz="2800" b="1" dirty="0">
                  <a:ea typeface="黑体" pitchFamily="49" charset="-122"/>
                </a:rPr>
                <a:t>C</a:t>
              </a:r>
              <a:r>
                <a:rPr lang="en-US" altLang="zh-CN" sz="2800" b="1" dirty="0">
                  <a:ea typeface="黑体" pitchFamily="49" charset="-122"/>
                </a:rPr>
                <a:t>rO</a:t>
              </a:r>
              <a:r>
                <a:rPr lang="en-US" altLang="zh-CN" sz="2800" b="1" baseline="-25000" dirty="0">
                  <a:ea typeface="黑体" pitchFamily="49" charset="-122"/>
                </a:rPr>
                <a:t>4</a:t>
              </a:r>
              <a:r>
                <a:rPr lang="en-US" altLang="zh-CN" sz="2800" b="1" dirty="0">
                  <a:ea typeface="黑体" pitchFamily="49" charset="-122"/>
                </a:rPr>
                <a:t>            2Ag</a:t>
              </a:r>
              <a:r>
                <a:rPr lang="en-US" altLang="zh-CN" sz="2800" b="1" baseline="30000" dirty="0">
                  <a:ea typeface="黑体" pitchFamily="49" charset="-122"/>
                </a:rPr>
                <a:t>+ </a:t>
              </a:r>
              <a:r>
                <a:rPr lang="en-US" altLang="zh-CN" sz="2800" b="1" dirty="0">
                  <a:ea typeface="黑体" pitchFamily="49" charset="-122"/>
                </a:rPr>
                <a:t>+ CrO</a:t>
              </a:r>
              <a:r>
                <a:rPr lang="en-US" altLang="zh-CN" sz="2800" b="1" baseline="-25000" dirty="0">
                  <a:ea typeface="黑体" pitchFamily="49" charset="-122"/>
                </a:rPr>
                <a:t>4</a:t>
              </a:r>
              <a:r>
                <a:rPr lang="en-US" altLang="zh-CN" sz="2800" b="1" baseline="30000" dirty="0">
                  <a:ea typeface="黑体" pitchFamily="49" charset="-122"/>
                </a:rPr>
                <a:t>2-</a:t>
              </a:r>
            </a:p>
          </p:txBody>
        </p:sp>
        <p:grpSp>
          <p:nvGrpSpPr>
            <p:cNvPr id="43025" name="Group 11"/>
            <p:cNvGrpSpPr>
              <a:grpSpLocks/>
            </p:cNvGrpSpPr>
            <p:nvPr/>
          </p:nvGrpSpPr>
          <p:grpSpPr bwMode="auto">
            <a:xfrm>
              <a:off x="1814" y="177"/>
              <a:ext cx="404" cy="50"/>
              <a:chOff x="0" y="0"/>
              <a:chExt cx="404" cy="50"/>
            </a:xfrm>
          </p:grpSpPr>
          <p:sp>
            <p:nvSpPr>
              <p:cNvPr id="43026" name="Line 12"/>
              <p:cNvSpPr>
                <a:spLocks noChangeShapeType="1"/>
              </p:cNvSpPr>
              <p:nvPr/>
            </p:nvSpPr>
            <p:spPr bwMode="auto">
              <a:xfrm>
                <a:off x="20" y="0"/>
                <a:ext cx="384"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3027" name="Line 13"/>
              <p:cNvSpPr>
                <a:spLocks noChangeShapeType="1"/>
              </p:cNvSpPr>
              <p:nvPr/>
            </p:nvSpPr>
            <p:spPr bwMode="auto">
              <a:xfrm rot="10800000">
                <a:off x="0" y="50"/>
                <a:ext cx="384"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sp>
        <p:nvSpPr>
          <p:cNvPr id="13" name="Rectangle 4"/>
          <p:cNvSpPr>
            <a:spLocks noChangeArrowheads="1"/>
          </p:cNvSpPr>
          <p:nvPr/>
        </p:nvSpPr>
        <p:spPr bwMode="auto">
          <a:xfrm>
            <a:off x="69528" y="2283719"/>
            <a:ext cx="9038981"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a:lnSpc>
                <a:spcPct val="130000"/>
              </a:lnSpc>
            </a:pPr>
            <a:r>
              <a:rPr lang="zh-CN" altLang="en-US" sz="2400" b="1" dirty="0">
                <a:ea typeface="黑体" pitchFamily="49" charset="-122"/>
              </a:rPr>
              <a:t>例</a:t>
            </a:r>
            <a:r>
              <a:rPr lang="en-US" altLang="zh-CN" sz="2400" b="1" dirty="0">
                <a:ea typeface="黑体" pitchFamily="49" charset="-122"/>
              </a:rPr>
              <a:t>10.7  </a:t>
            </a:r>
            <a:r>
              <a:rPr lang="zh-CN" altLang="en-US" sz="2400" b="1" dirty="0">
                <a:ea typeface="黑体" pitchFamily="49" charset="-122"/>
              </a:rPr>
              <a:t>已知</a:t>
            </a:r>
            <a:r>
              <a:rPr lang="en-US" altLang="zh-CN" sz="2400" b="1" i="1" dirty="0" err="1">
                <a:ea typeface="黑体" pitchFamily="49" charset="-122"/>
              </a:rPr>
              <a:t>K</a:t>
            </a:r>
            <a:r>
              <a:rPr lang="en-US" altLang="zh-CN" sz="2400" b="1" baseline="-25000" dirty="0" err="1">
                <a:ea typeface="黑体" pitchFamily="49" charset="-122"/>
              </a:rPr>
              <a:t>sp</a:t>
            </a:r>
            <a:r>
              <a:rPr lang="en-US" altLang="zh-CN" sz="2400" b="1" dirty="0" err="1">
                <a:ea typeface="黑体" pitchFamily="49" charset="-122"/>
              </a:rPr>
              <a:t>Mg</a:t>
            </a:r>
            <a:r>
              <a:rPr lang="en-US" altLang="zh-CN" sz="2400" b="1" dirty="0">
                <a:ea typeface="黑体" pitchFamily="49" charset="-122"/>
              </a:rPr>
              <a:t>(OH)</a:t>
            </a:r>
            <a:r>
              <a:rPr lang="en-US" altLang="zh-CN" sz="2400" b="1" baseline="-25000" dirty="0">
                <a:ea typeface="黑体" pitchFamily="49" charset="-122"/>
              </a:rPr>
              <a:t>2 </a:t>
            </a:r>
            <a:r>
              <a:rPr lang="en-US" altLang="zh-CN" sz="2400" b="1" dirty="0">
                <a:ea typeface="黑体" pitchFamily="49" charset="-122"/>
              </a:rPr>
              <a:t>=1.2×10</a:t>
            </a:r>
            <a:r>
              <a:rPr lang="en-US" altLang="zh-CN" sz="2400" b="1" baseline="30000" dirty="0">
                <a:ea typeface="黑体" pitchFamily="49" charset="-122"/>
              </a:rPr>
              <a:t>-11</a:t>
            </a:r>
            <a:r>
              <a:rPr lang="en-US" altLang="zh-CN" sz="2400" b="1" dirty="0">
                <a:ea typeface="黑体" pitchFamily="49" charset="-122"/>
              </a:rPr>
              <a:t>  </a:t>
            </a:r>
            <a:r>
              <a:rPr lang="zh-CN" altLang="en-US" sz="2400" b="1" dirty="0">
                <a:ea typeface="黑体" pitchFamily="49" charset="-122"/>
              </a:rPr>
              <a:t>求在纯水中</a:t>
            </a:r>
            <a:r>
              <a:rPr lang="en-US" altLang="zh-CN" sz="2400" b="1" dirty="0">
                <a:ea typeface="黑体" pitchFamily="49" charset="-122"/>
              </a:rPr>
              <a:t>Mg(OH)</a:t>
            </a:r>
            <a:r>
              <a:rPr lang="en-US" altLang="zh-CN" sz="2400" b="1" baseline="-25000" dirty="0">
                <a:ea typeface="黑体" pitchFamily="49" charset="-122"/>
              </a:rPr>
              <a:t>2</a:t>
            </a:r>
            <a:r>
              <a:rPr lang="zh-CN" altLang="en-US" sz="2400" b="1" dirty="0">
                <a:ea typeface="黑体" pitchFamily="49" charset="-122"/>
              </a:rPr>
              <a:t>的溶解度</a:t>
            </a:r>
          </a:p>
        </p:txBody>
      </p:sp>
      <p:sp>
        <p:nvSpPr>
          <p:cNvPr id="14" name="Rectangle 5"/>
          <p:cNvSpPr>
            <a:spLocks noChangeArrowheads="1"/>
          </p:cNvSpPr>
          <p:nvPr/>
        </p:nvSpPr>
        <p:spPr bwMode="auto">
          <a:xfrm>
            <a:off x="119063" y="2867990"/>
            <a:ext cx="8137525"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a:lnSpc>
                <a:spcPct val="130000"/>
              </a:lnSpc>
            </a:pPr>
            <a:r>
              <a:rPr lang="zh-CN" altLang="en-US" sz="2400" b="1" dirty="0">
                <a:ea typeface="黑体" pitchFamily="49" charset="-122"/>
              </a:rPr>
              <a:t>解</a:t>
            </a:r>
            <a:r>
              <a:rPr lang="en-US" altLang="zh-CN" sz="2400" b="1" dirty="0">
                <a:ea typeface="黑体" pitchFamily="49" charset="-122"/>
              </a:rPr>
              <a:t>:</a:t>
            </a:r>
            <a:r>
              <a:rPr lang="zh-CN" altLang="en-US" sz="2400" b="1" dirty="0">
                <a:ea typeface="黑体" pitchFamily="49" charset="-122"/>
              </a:rPr>
              <a:t>设</a:t>
            </a:r>
            <a:r>
              <a:rPr lang="en-US" altLang="zh-CN" sz="2400" b="1" dirty="0">
                <a:ea typeface="黑体" pitchFamily="49" charset="-122"/>
              </a:rPr>
              <a:t>Mg(OH)</a:t>
            </a:r>
            <a:r>
              <a:rPr lang="en-US" altLang="zh-CN" sz="2400" b="1" baseline="-25000" dirty="0">
                <a:ea typeface="黑体" pitchFamily="49" charset="-122"/>
              </a:rPr>
              <a:t>2</a:t>
            </a:r>
            <a:r>
              <a:rPr lang="zh-CN" altLang="en-US" sz="2400" b="1" dirty="0">
                <a:ea typeface="黑体" pitchFamily="49" charset="-122"/>
              </a:rPr>
              <a:t>溶解度为</a:t>
            </a:r>
            <a:r>
              <a:rPr lang="en-US" altLang="zh-CN" sz="2400" b="1" dirty="0">
                <a:ea typeface="黑体" pitchFamily="49" charset="-122"/>
              </a:rPr>
              <a:t>s</a:t>
            </a:r>
            <a:r>
              <a:rPr lang="zh-CN" altLang="en-US" sz="2400" b="1" dirty="0">
                <a:ea typeface="黑体" pitchFamily="49" charset="-122"/>
              </a:rPr>
              <a:t>，则</a:t>
            </a:r>
          </a:p>
        </p:txBody>
      </p:sp>
      <p:sp>
        <p:nvSpPr>
          <p:cNvPr id="15" name="Rectangle 6"/>
          <p:cNvSpPr>
            <a:spLocks noChangeArrowheads="1"/>
          </p:cNvSpPr>
          <p:nvPr/>
        </p:nvSpPr>
        <p:spPr bwMode="auto">
          <a:xfrm>
            <a:off x="641356" y="4130273"/>
            <a:ext cx="8137525"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a:lnSpc>
                <a:spcPct val="130000"/>
              </a:lnSpc>
            </a:pPr>
            <a:r>
              <a:rPr lang="en-US" altLang="zh-CN" sz="2400" b="1" dirty="0">
                <a:ea typeface="黑体" pitchFamily="49" charset="-122"/>
              </a:rPr>
              <a:t>∴  </a:t>
            </a:r>
            <a:r>
              <a:rPr lang="en-US" altLang="zh-CN" sz="2400" b="1" i="1" dirty="0" err="1">
                <a:ea typeface="黑体" pitchFamily="49" charset="-122"/>
              </a:rPr>
              <a:t>K</a:t>
            </a:r>
            <a:r>
              <a:rPr lang="en-US" altLang="zh-CN" sz="2400" b="1" baseline="-25000" dirty="0" err="1">
                <a:ea typeface="黑体" pitchFamily="49" charset="-122"/>
              </a:rPr>
              <a:t>sp</a:t>
            </a:r>
            <a:r>
              <a:rPr lang="en-US" altLang="zh-CN" sz="2400" b="1" dirty="0">
                <a:ea typeface="黑体" pitchFamily="49" charset="-122"/>
              </a:rPr>
              <a:t> = [Mg</a:t>
            </a:r>
            <a:r>
              <a:rPr lang="en-US" altLang="zh-CN" sz="2400" b="1" baseline="30000" dirty="0">
                <a:ea typeface="黑体" pitchFamily="49" charset="-122"/>
              </a:rPr>
              <a:t>2+</a:t>
            </a:r>
            <a:r>
              <a:rPr lang="en-US" altLang="zh-CN" sz="2400" b="1" dirty="0">
                <a:ea typeface="黑体" pitchFamily="49" charset="-122"/>
              </a:rPr>
              <a:t>][OH</a:t>
            </a:r>
            <a:r>
              <a:rPr lang="en-US" altLang="zh-CN" sz="2400" b="1" baseline="30000" dirty="0">
                <a:ea typeface="黑体" pitchFamily="49" charset="-122"/>
              </a:rPr>
              <a:t>-</a:t>
            </a:r>
            <a:r>
              <a:rPr lang="en-US" altLang="zh-CN" sz="2400" b="1" dirty="0">
                <a:ea typeface="黑体" pitchFamily="49" charset="-122"/>
              </a:rPr>
              <a:t>]</a:t>
            </a:r>
            <a:r>
              <a:rPr lang="en-US" altLang="zh-CN" sz="2400" b="1" baseline="30000" dirty="0">
                <a:ea typeface="黑体" pitchFamily="49" charset="-122"/>
              </a:rPr>
              <a:t>2 </a:t>
            </a:r>
            <a:r>
              <a:rPr lang="en-US" altLang="zh-CN" sz="2400" b="1" dirty="0">
                <a:ea typeface="黑体" pitchFamily="49" charset="-122"/>
              </a:rPr>
              <a:t>= s(2s)</a:t>
            </a:r>
            <a:r>
              <a:rPr lang="en-US" altLang="zh-CN" sz="2400" b="1" baseline="30000" dirty="0">
                <a:ea typeface="黑体" pitchFamily="49" charset="-122"/>
              </a:rPr>
              <a:t>2 </a:t>
            </a:r>
            <a:r>
              <a:rPr lang="en-US" altLang="zh-CN" sz="2400" b="1" dirty="0">
                <a:ea typeface="黑体" pitchFamily="49" charset="-122"/>
              </a:rPr>
              <a:t>= 4s</a:t>
            </a:r>
            <a:r>
              <a:rPr lang="en-US" altLang="zh-CN" sz="2400" b="1" baseline="30000" dirty="0">
                <a:ea typeface="黑体" pitchFamily="49" charset="-122"/>
              </a:rPr>
              <a:t>3 </a:t>
            </a:r>
            <a:r>
              <a:rPr lang="en-US" altLang="zh-CN" sz="2400" b="1" dirty="0">
                <a:ea typeface="黑体" pitchFamily="49" charset="-122"/>
              </a:rPr>
              <a:t>= 1.2×10</a:t>
            </a:r>
            <a:r>
              <a:rPr lang="en-US" altLang="zh-CN" sz="2400" b="1" baseline="30000" dirty="0">
                <a:ea typeface="黑体" pitchFamily="49" charset="-122"/>
              </a:rPr>
              <a:t>-11</a:t>
            </a:r>
          </a:p>
          <a:p>
            <a:pPr>
              <a:lnSpc>
                <a:spcPct val="130000"/>
              </a:lnSpc>
            </a:pPr>
            <a:r>
              <a:rPr lang="en-US" altLang="zh-CN" sz="2400" b="1" dirty="0">
                <a:ea typeface="黑体" pitchFamily="49" charset="-122"/>
              </a:rPr>
              <a:t>∴  s = 1.44×10</a:t>
            </a:r>
            <a:r>
              <a:rPr lang="en-US" altLang="zh-CN" sz="2400" b="1" baseline="30000" dirty="0">
                <a:ea typeface="黑体" pitchFamily="49" charset="-122"/>
              </a:rPr>
              <a:t>-4</a:t>
            </a:r>
            <a:r>
              <a:rPr lang="en-US" altLang="zh-CN" sz="2400" b="1" dirty="0">
                <a:ea typeface="黑体" pitchFamily="49" charset="-122"/>
              </a:rPr>
              <a:t> mol·L</a:t>
            </a:r>
            <a:r>
              <a:rPr lang="en-US" altLang="zh-CN" sz="2400" b="1" baseline="30000" dirty="0">
                <a:ea typeface="黑体" pitchFamily="49" charset="-122"/>
              </a:rPr>
              <a:t>-1</a:t>
            </a:r>
          </a:p>
        </p:txBody>
      </p:sp>
      <p:grpSp>
        <p:nvGrpSpPr>
          <p:cNvPr id="16" name="Group 7"/>
          <p:cNvGrpSpPr>
            <a:grpSpLocks/>
          </p:cNvGrpSpPr>
          <p:nvPr/>
        </p:nvGrpSpPr>
        <p:grpSpPr bwMode="auto">
          <a:xfrm>
            <a:off x="683122" y="3411973"/>
            <a:ext cx="7345362" cy="830263"/>
            <a:chOff x="0" y="0"/>
            <a:chExt cx="4627" cy="523"/>
          </a:xfrm>
        </p:grpSpPr>
        <p:sp>
          <p:nvSpPr>
            <p:cNvPr id="17" name="Rectangle 8"/>
            <p:cNvSpPr>
              <a:spLocks noChangeArrowheads="1"/>
            </p:cNvSpPr>
            <p:nvPr/>
          </p:nvSpPr>
          <p:spPr bwMode="auto">
            <a:xfrm>
              <a:off x="0" y="0"/>
              <a:ext cx="462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r>
                <a:rPr lang="en-US" altLang="zh-CN" sz="2400" b="1" dirty="0">
                  <a:ea typeface="黑体" pitchFamily="49" charset="-122"/>
                </a:rPr>
                <a:t>                 Mg(OH)</a:t>
              </a:r>
              <a:r>
                <a:rPr lang="en-US" altLang="zh-CN" sz="2400" b="1" baseline="-25000" dirty="0">
                  <a:ea typeface="黑体" pitchFamily="49" charset="-122"/>
                </a:rPr>
                <a:t>2</a:t>
              </a:r>
              <a:r>
                <a:rPr lang="en-US" altLang="zh-CN" sz="2400" b="1" dirty="0">
                  <a:ea typeface="黑体" pitchFamily="49" charset="-122"/>
                </a:rPr>
                <a:t>            Mg</a:t>
              </a:r>
              <a:r>
                <a:rPr lang="en-US" altLang="zh-CN" sz="2400" b="1" baseline="30000" dirty="0">
                  <a:ea typeface="黑体" pitchFamily="49" charset="-122"/>
                </a:rPr>
                <a:t>2+ </a:t>
              </a:r>
              <a:r>
                <a:rPr lang="en-US" altLang="zh-CN" sz="2400" b="1" dirty="0">
                  <a:ea typeface="黑体" pitchFamily="49" charset="-122"/>
                </a:rPr>
                <a:t>+ 2OH</a:t>
              </a:r>
              <a:r>
                <a:rPr lang="en-US" altLang="zh-CN" sz="2400" b="1" baseline="30000" dirty="0">
                  <a:ea typeface="黑体" pitchFamily="49" charset="-122"/>
                </a:rPr>
                <a:t>-</a:t>
              </a:r>
            </a:p>
            <a:p>
              <a:r>
                <a:rPr lang="en-US" altLang="zh-CN" sz="2400" b="1" dirty="0">
                  <a:ea typeface="黑体" pitchFamily="49" charset="-122"/>
                </a:rPr>
                <a:t>                                               s            2s</a:t>
              </a:r>
            </a:p>
          </p:txBody>
        </p:sp>
        <p:grpSp>
          <p:nvGrpSpPr>
            <p:cNvPr id="18" name="Group 9"/>
            <p:cNvGrpSpPr>
              <a:grpSpLocks/>
            </p:cNvGrpSpPr>
            <p:nvPr/>
          </p:nvGrpSpPr>
          <p:grpSpPr bwMode="auto">
            <a:xfrm>
              <a:off x="1769" y="151"/>
              <a:ext cx="384" cy="45"/>
              <a:chOff x="-272" y="-71"/>
              <a:chExt cx="384" cy="45"/>
            </a:xfrm>
          </p:grpSpPr>
          <p:sp>
            <p:nvSpPr>
              <p:cNvPr id="19" name="Line 10"/>
              <p:cNvSpPr>
                <a:spLocks noChangeShapeType="1"/>
              </p:cNvSpPr>
              <p:nvPr/>
            </p:nvSpPr>
            <p:spPr bwMode="auto">
              <a:xfrm>
                <a:off x="-272" y="-71"/>
                <a:ext cx="384"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nchor="ctr">
                <a:spAutoFit/>
              </a:bodyPr>
              <a:lstStyle/>
              <a:p>
                <a:endParaRPr lang="zh-CN" altLang="en-US" sz="2400"/>
              </a:p>
            </p:txBody>
          </p:sp>
          <p:sp>
            <p:nvSpPr>
              <p:cNvPr id="20" name="Line 11"/>
              <p:cNvSpPr>
                <a:spLocks noChangeShapeType="1"/>
              </p:cNvSpPr>
              <p:nvPr/>
            </p:nvSpPr>
            <p:spPr bwMode="auto">
              <a:xfrm rot="10800000">
                <a:off x="-272" y="-26"/>
                <a:ext cx="384" cy="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anchor="ctr">
                <a:spAutoFit/>
              </a:bodyPr>
              <a:lstStyle/>
              <a:p>
                <a:endParaRPr lang="zh-CN" altLang="en-US" sz="2400"/>
              </a:p>
            </p:txBody>
          </p:sp>
        </p:grpSp>
      </p:grpSp>
      <p:cxnSp>
        <p:nvCxnSpPr>
          <p:cNvPr id="4" name="直接箭头连接符 3"/>
          <p:cNvCxnSpPr/>
          <p:nvPr/>
        </p:nvCxnSpPr>
        <p:spPr bwMode="auto">
          <a:xfrm flipV="1">
            <a:off x="119068" y="2139703"/>
            <a:ext cx="8846047" cy="72008"/>
          </a:xfrm>
          <a:prstGeom prst="straightConnector1">
            <a:avLst/>
          </a:prstGeom>
          <a:solidFill>
            <a:schemeClr val="accent1"/>
          </a:solidFill>
          <a:ln w="25400" cap="sq" cmpd="sng" algn="ctr">
            <a:solidFill>
              <a:srgbClr val="C00000"/>
            </a:solidFill>
            <a:prstDash val="dash"/>
            <a:round/>
            <a:headEnd type="none" w="sm" len="sm"/>
            <a:tailEnd type="arrow"/>
          </a:ln>
        </p:spPr>
      </p:cxnSp>
    </p:spTree>
    <p:extLst>
      <p:ext uri="{BB962C8B-B14F-4D97-AF65-F5344CB8AC3E}">
        <p14:creationId xmlns:p14="http://schemas.microsoft.com/office/powerpoint/2010/main" val="2303975344"/>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linds(horizontal)">
                                      <p:cBhvr>
                                        <p:cTn id="7" dur="500"/>
                                        <p:tgtEl>
                                          <p:spTgt spid="12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291"/>
                                        </p:tgtEl>
                                        <p:attrNameLst>
                                          <p:attrName>style.visibility</p:attrName>
                                        </p:attrNameLst>
                                      </p:cBhvr>
                                      <p:to>
                                        <p:strVal val="visible"/>
                                      </p:to>
                                    </p:set>
                                    <p:anim calcmode="lin" valueType="num">
                                      <p:cBhvr additive="base">
                                        <p:cTn id="18" dur="500" fill="hold"/>
                                        <p:tgtEl>
                                          <p:spTgt spid="12291"/>
                                        </p:tgtEl>
                                        <p:attrNameLst>
                                          <p:attrName>ppt_x</p:attrName>
                                        </p:attrNameLst>
                                      </p:cBhvr>
                                      <p:tavLst>
                                        <p:tav tm="0">
                                          <p:val>
                                            <p:strVal val="#ppt_x"/>
                                          </p:val>
                                        </p:tav>
                                        <p:tav tm="100000">
                                          <p:val>
                                            <p:strVal val="#ppt_x"/>
                                          </p:val>
                                        </p:tav>
                                      </p:tavLst>
                                    </p:anim>
                                    <p:anim calcmode="lin" valueType="num">
                                      <p:cBhvr additive="base">
                                        <p:cTn id="19"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292"/>
                                        </p:tgtEl>
                                        <p:attrNameLst>
                                          <p:attrName>style.visibility</p:attrName>
                                        </p:attrNameLst>
                                      </p:cBhvr>
                                      <p:to>
                                        <p:strVal val="visible"/>
                                      </p:to>
                                    </p:set>
                                    <p:anim calcmode="lin" valueType="num">
                                      <p:cBhvr additive="base">
                                        <p:cTn id="24" dur="500" fill="hold"/>
                                        <p:tgtEl>
                                          <p:spTgt spid="12292"/>
                                        </p:tgtEl>
                                        <p:attrNameLst>
                                          <p:attrName>ppt_x</p:attrName>
                                        </p:attrNameLst>
                                      </p:cBhvr>
                                      <p:tavLst>
                                        <p:tav tm="0">
                                          <p:val>
                                            <p:strVal val="#ppt_x"/>
                                          </p:val>
                                        </p:tav>
                                        <p:tav tm="100000">
                                          <p:val>
                                            <p:strVal val="#ppt_x"/>
                                          </p:val>
                                        </p:tav>
                                      </p:tavLst>
                                    </p:anim>
                                    <p:anim calcmode="lin" valueType="num">
                                      <p:cBhvr additive="base">
                                        <p:cTn id="25" dur="500" fill="hold"/>
                                        <p:tgtEl>
                                          <p:spTgt spid="1229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ox(in)">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5">
                                            <p:txEl>
                                              <p:pRg st="0" end="0"/>
                                            </p:txEl>
                                          </p:spTgt>
                                        </p:tgtEl>
                                        <p:attrNameLst>
                                          <p:attrName>style.visibility</p:attrName>
                                        </p:attrNameLst>
                                      </p:cBhvr>
                                      <p:to>
                                        <p:strVal val="visible"/>
                                      </p:to>
                                    </p:set>
                                    <p:animEffect transition="in" filter="checkerboard(across)">
                                      <p:cBhvr>
                                        <p:cTn id="46" dur="500"/>
                                        <p:tgtEl>
                                          <p:spTgt spid="15">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5">
                                            <p:txEl>
                                              <p:pRg st="1" end="1"/>
                                            </p:txEl>
                                          </p:spTgt>
                                        </p:tgtEl>
                                        <p:attrNameLst>
                                          <p:attrName>style.visibility</p:attrName>
                                        </p:attrNameLst>
                                      </p:cBhvr>
                                      <p:to>
                                        <p:strVal val="visible"/>
                                      </p:to>
                                    </p:set>
                                    <p:animEffect transition="in" filter="checkerboard(across)">
                                      <p:cBhvr>
                                        <p:cTn id="51"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utoUpdateAnimBg="0"/>
      <p:bldP spid="12292" grpId="0" autoUpdateAnimBg="0"/>
      <p:bldP spid="13" grpId="0" autoUpdateAnimBg="0"/>
      <p:bldP spid="14" grpId="0" autoUpdateAnimBg="0"/>
      <p:bldP spid="15"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ext Box 9"/>
          <p:cNvSpPr txBox="1"/>
          <p:nvPr/>
        </p:nvSpPr>
        <p:spPr>
          <a:xfrm>
            <a:off x="185738" y="123828"/>
            <a:ext cx="4392612" cy="584775"/>
          </a:xfrm>
          <a:prstGeom prst="rect">
            <a:avLst/>
          </a:prstGeom>
          <a:solidFill>
            <a:srgbClr val="FFFFCC"/>
          </a:solidFill>
          <a:ln w="9525">
            <a:noFill/>
          </a:ln>
        </p:spPr>
        <p:txBody>
          <a:bodyPr anchor="t" anchorCtr="0">
            <a:spAutoFit/>
          </a:bodyPr>
          <a:lstStyle/>
          <a:p>
            <a:pPr>
              <a:spcBef>
                <a:spcPct val="50000"/>
              </a:spcBef>
              <a:buClrTx/>
              <a:buFontTx/>
            </a:pPr>
            <a:r>
              <a:rPr lang="en-US" altLang="zh-CN" sz="3200" dirty="0">
                <a:solidFill>
                  <a:srgbClr val="FF0066"/>
                </a:solidFill>
                <a:latin typeface="华文新魏" pitchFamily="2" charset="-122"/>
                <a:ea typeface="华文新魏" pitchFamily="2" charset="-122"/>
              </a:rPr>
              <a:t>3.</a:t>
            </a:r>
            <a:r>
              <a:rPr lang="zh-CN" altLang="en-US" sz="3200" dirty="0">
                <a:solidFill>
                  <a:srgbClr val="FF0066"/>
                </a:solidFill>
                <a:latin typeface="华文新魏" pitchFamily="2" charset="-122"/>
                <a:ea typeface="华文新魏" pitchFamily="2" charset="-122"/>
              </a:rPr>
              <a:t>溶度积规则及其应用</a:t>
            </a:r>
            <a:r>
              <a:rPr lang="zh-CN" altLang="en-US" sz="3200" dirty="0">
                <a:latin typeface="华文新魏" pitchFamily="2" charset="-122"/>
                <a:ea typeface="华文新魏" pitchFamily="2" charset="-122"/>
              </a:rPr>
              <a:t> </a:t>
            </a:r>
          </a:p>
        </p:txBody>
      </p:sp>
      <p:sp>
        <p:nvSpPr>
          <p:cNvPr id="62466" name="Text Box 10"/>
          <p:cNvSpPr txBox="1"/>
          <p:nvPr/>
        </p:nvSpPr>
        <p:spPr>
          <a:xfrm>
            <a:off x="244481" y="787403"/>
            <a:ext cx="2892425" cy="584775"/>
          </a:xfrm>
          <a:prstGeom prst="rect">
            <a:avLst/>
          </a:prstGeom>
          <a:solidFill>
            <a:srgbClr val="FFFF00"/>
          </a:solidFill>
          <a:ln w="9525">
            <a:noFill/>
          </a:ln>
        </p:spPr>
        <p:txBody>
          <a:bodyPr anchor="t" anchorCtr="0">
            <a:spAutoFit/>
          </a:bodyPr>
          <a:lstStyle/>
          <a:p>
            <a:pPr>
              <a:spcBef>
                <a:spcPct val="50000"/>
              </a:spcBef>
              <a:buClrTx/>
              <a:buFontTx/>
            </a:pPr>
            <a:r>
              <a:rPr lang="zh-CN" altLang="en-US" sz="3200" dirty="0">
                <a:latin typeface="华文新魏" pitchFamily="2" charset="-122"/>
                <a:ea typeface="华文新魏" pitchFamily="2" charset="-122"/>
              </a:rPr>
              <a:t> </a:t>
            </a:r>
            <a:r>
              <a:rPr lang="en-US" altLang="zh-CN" sz="3200" dirty="0">
                <a:latin typeface="华文新魏" pitchFamily="2" charset="-122"/>
                <a:ea typeface="华文新魏" pitchFamily="2" charset="-122"/>
              </a:rPr>
              <a:t>1) </a:t>
            </a:r>
            <a:r>
              <a:rPr lang="zh-CN" altLang="en-US" sz="3200" dirty="0">
                <a:latin typeface="华文新魏" pitchFamily="2" charset="-122"/>
                <a:ea typeface="华文新魏" pitchFamily="2" charset="-122"/>
              </a:rPr>
              <a:t>溶度积规则 </a:t>
            </a:r>
          </a:p>
        </p:txBody>
      </p:sp>
      <p:grpSp>
        <p:nvGrpSpPr>
          <p:cNvPr id="62467" name="Group 34"/>
          <p:cNvGrpSpPr/>
          <p:nvPr/>
        </p:nvGrpSpPr>
        <p:grpSpPr>
          <a:xfrm>
            <a:off x="1116019" y="2214565"/>
            <a:ext cx="6911975" cy="523477"/>
            <a:chOff x="657" y="1888"/>
            <a:chExt cx="4354" cy="440"/>
          </a:xfrm>
        </p:grpSpPr>
        <p:grpSp>
          <p:nvGrpSpPr>
            <p:cNvPr id="62468" name="Group 12"/>
            <p:cNvGrpSpPr/>
            <p:nvPr/>
          </p:nvGrpSpPr>
          <p:grpSpPr>
            <a:xfrm>
              <a:off x="2109" y="2024"/>
              <a:ext cx="415" cy="128"/>
              <a:chOff x="657" y="1752"/>
              <a:chExt cx="409" cy="121"/>
            </a:xfrm>
          </p:grpSpPr>
          <p:grpSp>
            <p:nvGrpSpPr>
              <p:cNvPr id="62469" name="Group 13"/>
              <p:cNvGrpSpPr/>
              <p:nvPr/>
            </p:nvGrpSpPr>
            <p:grpSpPr>
              <a:xfrm>
                <a:off x="657" y="1752"/>
                <a:ext cx="409" cy="45"/>
                <a:chOff x="657" y="1752"/>
                <a:chExt cx="409" cy="45"/>
              </a:xfrm>
            </p:grpSpPr>
            <p:sp>
              <p:nvSpPr>
                <p:cNvPr id="62470" name="Line 14"/>
                <p:cNvSpPr/>
                <p:nvPr/>
              </p:nvSpPr>
              <p:spPr>
                <a:xfrm>
                  <a:off x="657" y="1797"/>
                  <a:ext cx="409" cy="0"/>
                </a:xfrm>
                <a:prstGeom prst="line">
                  <a:avLst/>
                </a:prstGeom>
                <a:ln w="9525" cap="flat" cmpd="sng">
                  <a:solidFill>
                    <a:schemeClr val="tx1"/>
                  </a:solidFill>
                  <a:prstDash val="solid"/>
                  <a:round/>
                  <a:headEnd type="none" w="med" len="med"/>
                  <a:tailEnd type="none" w="med" len="med"/>
                </a:ln>
              </p:spPr>
            </p:sp>
            <p:sp>
              <p:nvSpPr>
                <p:cNvPr id="62471" name="Line 15"/>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nvGrpSpPr>
              <p:cNvPr id="62472" name="Group 16"/>
              <p:cNvGrpSpPr/>
              <p:nvPr/>
            </p:nvGrpSpPr>
            <p:grpSpPr>
              <a:xfrm flipH="1" flipV="1">
                <a:off x="657" y="1828"/>
                <a:ext cx="409" cy="45"/>
                <a:chOff x="657" y="1752"/>
                <a:chExt cx="409" cy="45"/>
              </a:xfrm>
            </p:grpSpPr>
            <p:sp>
              <p:nvSpPr>
                <p:cNvPr id="62473" name="Line 17"/>
                <p:cNvSpPr/>
                <p:nvPr/>
              </p:nvSpPr>
              <p:spPr>
                <a:xfrm>
                  <a:off x="657" y="1797"/>
                  <a:ext cx="409" cy="0"/>
                </a:xfrm>
                <a:prstGeom prst="line">
                  <a:avLst/>
                </a:prstGeom>
                <a:ln w="9525" cap="flat" cmpd="sng">
                  <a:solidFill>
                    <a:schemeClr val="tx1"/>
                  </a:solidFill>
                  <a:prstDash val="solid"/>
                  <a:round/>
                  <a:headEnd type="none" w="med" len="med"/>
                  <a:tailEnd type="none" w="med" len="med"/>
                </a:ln>
              </p:spPr>
            </p:sp>
            <p:sp>
              <p:nvSpPr>
                <p:cNvPr id="62474" name="Line 18"/>
                <p:cNvSpPr/>
                <p:nvPr/>
              </p:nvSpPr>
              <p:spPr>
                <a:xfrm>
                  <a:off x="1020" y="1752"/>
                  <a:ext cx="46" cy="45"/>
                </a:xfrm>
                <a:prstGeom prst="line">
                  <a:avLst/>
                </a:prstGeom>
                <a:ln w="9525" cap="flat" cmpd="sng">
                  <a:solidFill>
                    <a:schemeClr val="tx1"/>
                  </a:solidFill>
                  <a:prstDash val="solid"/>
                  <a:round/>
                  <a:headEnd type="none" w="med" len="med"/>
                  <a:tailEnd type="none" w="med" len="med"/>
                </a:ln>
              </p:spPr>
            </p:sp>
          </p:grpSp>
        </p:grpSp>
        <p:sp>
          <p:nvSpPr>
            <p:cNvPr id="62475" name="Text Box 19"/>
            <p:cNvSpPr txBox="1"/>
            <p:nvPr/>
          </p:nvSpPr>
          <p:spPr>
            <a:xfrm>
              <a:off x="657" y="1888"/>
              <a:ext cx="4354" cy="440"/>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A</a:t>
              </a:r>
              <a:r>
                <a:rPr lang="en-US" altLang="zh-CN" i="1" baseline="-25000" dirty="0">
                  <a:latin typeface="Times New Roman" panose="02020603050405020304" pitchFamily="18" charset="0"/>
                  <a:ea typeface="幼圆" pitchFamily="49" charset="-122"/>
                </a:rPr>
                <a:t>m</a:t>
              </a:r>
              <a:r>
                <a:rPr lang="en-US" altLang="zh-CN" dirty="0">
                  <a:latin typeface="Times New Roman" panose="02020603050405020304" pitchFamily="18" charset="0"/>
                  <a:ea typeface="幼圆" pitchFamily="49" charset="-122"/>
                </a:rPr>
                <a:t>B</a:t>
              </a:r>
              <a:r>
                <a:rPr lang="en-US" altLang="zh-CN" i="1" baseline="-25000" dirty="0">
                  <a:latin typeface="Times New Roman" panose="02020603050405020304" pitchFamily="18" charset="0"/>
                  <a:ea typeface="幼圆" pitchFamily="49" charset="-122"/>
                </a:rPr>
                <a:t>n</a:t>
              </a:r>
              <a:r>
                <a:rPr lang="en-US" altLang="zh-CN" dirty="0">
                  <a:latin typeface="Times New Roman" panose="02020603050405020304" pitchFamily="18" charset="0"/>
                  <a:ea typeface="幼圆" pitchFamily="49" charset="-122"/>
                </a:rPr>
                <a:t>(s) </a:t>
              </a:r>
              <a:r>
                <a:rPr lang="zh-CN" altLang="en-US" dirty="0">
                  <a:latin typeface="Times New Roman" panose="02020603050405020304" pitchFamily="18" charset="0"/>
                  <a:ea typeface="幼圆" pitchFamily="49" charset="-122"/>
                </a:rPr>
                <a:t>　      </a:t>
              </a:r>
              <a:r>
                <a:rPr lang="en-US" altLang="zh-CN" i="1" dirty="0">
                  <a:latin typeface="Times New Roman" panose="02020603050405020304" pitchFamily="18" charset="0"/>
                  <a:ea typeface="幼圆" pitchFamily="49" charset="-122"/>
                </a:rPr>
                <a:t>m</a:t>
              </a:r>
              <a:r>
                <a:rPr lang="en-US" altLang="zh-CN" dirty="0">
                  <a:latin typeface="Times New Roman" panose="02020603050405020304" pitchFamily="18" charset="0"/>
                  <a:ea typeface="幼圆" pitchFamily="49" charset="-122"/>
                </a:rPr>
                <a:t>A</a:t>
              </a:r>
              <a:r>
                <a:rPr lang="en-US" altLang="zh-CN" i="1" baseline="30000" dirty="0">
                  <a:latin typeface="Times New Roman" panose="02020603050405020304" pitchFamily="18" charset="0"/>
                  <a:ea typeface="幼圆" pitchFamily="49" charset="-122"/>
                </a:rPr>
                <a:t>n</a:t>
              </a:r>
              <a:r>
                <a:rPr lang="en-US" altLang="zh-CN" baseline="30000"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 + </a:t>
              </a:r>
              <a:r>
                <a:rPr lang="en-US" altLang="zh-CN" i="1" dirty="0">
                  <a:latin typeface="Times New Roman" panose="02020603050405020304" pitchFamily="18" charset="0"/>
                  <a:ea typeface="幼圆" pitchFamily="49" charset="-122"/>
                </a:rPr>
                <a:t>n</a:t>
              </a:r>
              <a:r>
                <a:rPr lang="en-US" altLang="zh-CN" dirty="0">
                  <a:latin typeface="Times New Roman" panose="02020603050405020304" pitchFamily="18" charset="0"/>
                  <a:ea typeface="幼圆" pitchFamily="49" charset="-122"/>
                </a:rPr>
                <a:t>B</a:t>
              </a:r>
              <a:r>
                <a:rPr lang="en-US" altLang="zh-CN" i="1" baseline="30000" dirty="0">
                  <a:latin typeface="Times New Roman" panose="02020603050405020304" pitchFamily="18" charset="0"/>
                  <a:ea typeface="幼圆" pitchFamily="49" charset="-122"/>
                </a:rPr>
                <a:t>m</a:t>
              </a:r>
              <a:r>
                <a:rPr lang="en-US" altLang="zh-CN" baseline="30000"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 </a:t>
              </a:r>
              <a:endParaRPr lang="en-US" altLang="zh-CN" b="0" dirty="0">
                <a:latin typeface="Arial" panose="020B0604020202020204" pitchFamily="34" charset="0"/>
                <a:ea typeface="宋体" panose="02010600030101010101" pitchFamily="2" charset="-122"/>
              </a:endParaRPr>
            </a:p>
          </p:txBody>
        </p:sp>
      </p:grpSp>
      <p:sp>
        <p:nvSpPr>
          <p:cNvPr id="62476" name="Text Box 20"/>
          <p:cNvSpPr txBox="1"/>
          <p:nvPr/>
        </p:nvSpPr>
        <p:spPr>
          <a:xfrm>
            <a:off x="684213" y="1373188"/>
            <a:ext cx="1655762" cy="523220"/>
          </a:xfrm>
          <a:prstGeom prst="rect">
            <a:avLst/>
          </a:prstGeom>
          <a:noFill/>
          <a:ln w="9525">
            <a:noFill/>
          </a:ln>
        </p:spPr>
        <p:txBody>
          <a:bodyPr anchor="t" anchorCtr="0">
            <a:spAutoFit/>
          </a:bodyPr>
          <a:lstStyle/>
          <a:p>
            <a:pPr>
              <a:spcBef>
                <a:spcPct val="50000"/>
              </a:spcBef>
              <a:buClrTx/>
              <a:buFontTx/>
            </a:pPr>
            <a:r>
              <a:rPr lang="zh-CN" altLang="en-US" dirty="0">
                <a:latin typeface="宋体" panose="02010600030101010101" pitchFamily="2" charset="-122"/>
                <a:ea typeface="宋体" panose="02010600030101010101" pitchFamily="2" charset="-122"/>
              </a:rPr>
              <a:t>根据</a:t>
            </a:r>
          </a:p>
        </p:txBody>
      </p:sp>
      <p:grpSp>
        <p:nvGrpSpPr>
          <p:cNvPr id="62477" name="Group 49"/>
          <p:cNvGrpSpPr/>
          <p:nvPr/>
        </p:nvGrpSpPr>
        <p:grpSpPr>
          <a:xfrm>
            <a:off x="1908181" y="1060450"/>
            <a:ext cx="6410325" cy="1341440"/>
            <a:chOff x="1337" y="845"/>
            <a:chExt cx="4038" cy="1127"/>
          </a:xfrm>
        </p:grpSpPr>
        <p:sp>
          <p:nvSpPr>
            <p:cNvPr id="62478" name="Text Box 23"/>
            <p:cNvSpPr txBox="1"/>
            <p:nvPr/>
          </p:nvSpPr>
          <p:spPr>
            <a:xfrm>
              <a:off x="1337" y="845"/>
              <a:ext cx="4038" cy="1127"/>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&lt;              </a:t>
              </a:r>
              <a:r>
                <a:rPr lang="zh-CN" altLang="en-US" dirty="0">
                  <a:latin typeface="Times New Roman" panose="02020603050405020304" pitchFamily="18" charset="0"/>
                  <a:ea typeface="幼圆" pitchFamily="49" charset="-122"/>
                </a:rPr>
                <a:t>反应正向进行 </a:t>
              </a:r>
              <a:endParaRPr lang="zh-CN" altLang="en-US" b="0" dirty="0">
                <a:latin typeface="Times New Roman" panose="02020603050405020304" pitchFamily="18" charset="0"/>
                <a:ea typeface="幼圆" pitchFamily="49" charset="-122"/>
              </a:endParaRPr>
            </a:p>
            <a:p>
              <a:pPr>
                <a:lnSpc>
                  <a:spcPct val="45000"/>
                </a:lnSpc>
                <a:spcBef>
                  <a:spcPct val="50000"/>
                </a:spcBef>
                <a:buClrTx/>
                <a:buFontTx/>
              </a:pPr>
              <a:r>
                <a:rPr lang="zh-CN" altLang="en-US" dirty="0">
                  <a:latin typeface="Times New Roman" panose="02020603050405020304" pitchFamily="18" charset="0"/>
                  <a:ea typeface="幼圆" pitchFamily="49" charset="-122"/>
                </a:rPr>
                <a:t>∆</a:t>
              </a:r>
              <a:r>
                <a:rPr lang="en-US" altLang="zh-CN" baseline="-25000" dirty="0">
                  <a:latin typeface="Times New Roman" panose="02020603050405020304" pitchFamily="18" charset="0"/>
                  <a:ea typeface="幼圆" pitchFamily="49" charset="-122"/>
                </a:rPr>
                <a:t>r</a:t>
              </a:r>
              <a:r>
                <a:rPr lang="en-US" altLang="zh-CN" i="1" dirty="0">
                  <a:latin typeface="Times New Roman" panose="02020603050405020304" pitchFamily="18" charset="0"/>
                  <a:ea typeface="幼圆" pitchFamily="49" charset="-122"/>
                </a:rPr>
                <a:t>G</a:t>
              </a:r>
              <a:r>
                <a:rPr lang="en-US" altLang="zh-CN" baseline="-25000" dirty="0">
                  <a:latin typeface="Times New Roman" panose="02020603050405020304" pitchFamily="18" charset="0"/>
                  <a:ea typeface="幼圆" pitchFamily="49" charset="-122"/>
                </a:rPr>
                <a:t>m       </a:t>
              </a:r>
              <a:r>
                <a:rPr lang="en-US" altLang="zh-CN" dirty="0">
                  <a:latin typeface="Times New Roman" panose="02020603050405020304" pitchFamily="18" charset="0"/>
                  <a:ea typeface="幼圆" pitchFamily="49" charset="-122"/>
                </a:rPr>
                <a:t>=       0     </a:t>
              </a:r>
              <a:r>
                <a:rPr lang="zh-CN" altLang="en-US" dirty="0">
                  <a:latin typeface="Times New Roman" panose="02020603050405020304" pitchFamily="18" charset="0"/>
                  <a:ea typeface="幼圆" pitchFamily="49" charset="-122"/>
                </a:rPr>
                <a:t>平衡状态 </a:t>
              </a:r>
              <a:endParaRPr lang="zh-CN" altLang="en-US" b="0" dirty="0">
                <a:latin typeface="Times New Roman" panose="02020603050405020304" pitchFamily="18" charset="0"/>
                <a:ea typeface="幼圆" pitchFamily="49" charset="-122"/>
              </a:endParaRPr>
            </a:p>
            <a:p>
              <a:pPr>
                <a:lnSpc>
                  <a:spcPct val="45000"/>
                </a:lnSpc>
                <a:spcBef>
                  <a:spcPct val="50000"/>
                </a:spcBef>
                <a:buClrTx/>
                <a:buFontTx/>
              </a:pPr>
              <a:r>
                <a:rPr lang="zh-CN" altLang="en-US" baseline="-25000"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&gt;              </a:t>
              </a:r>
              <a:r>
                <a:rPr lang="zh-CN" altLang="en-US" dirty="0">
                  <a:latin typeface="Times New Roman" panose="02020603050405020304" pitchFamily="18" charset="0"/>
                  <a:ea typeface="幼圆" pitchFamily="49" charset="-122"/>
                </a:rPr>
                <a:t>反应逆向进行</a:t>
              </a:r>
              <a:endParaRPr lang="zh-CN" altLang="en-US" b="0" dirty="0">
                <a:latin typeface="Arial" panose="020B0604020202020204" pitchFamily="34" charset="0"/>
                <a:ea typeface="幼圆" pitchFamily="49" charset="-122"/>
              </a:endParaRPr>
            </a:p>
          </p:txBody>
        </p:sp>
        <p:sp>
          <p:nvSpPr>
            <p:cNvPr id="62479" name="AutoShape 24"/>
            <p:cNvSpPr/>
            <p:nvPr/>
          </p:nvSpPr>
          <p:spPr>
            <a:xfrm>
              <a:off x="1973" y="1026"/>
              <a:ext cx="91" cy="681"/>
            </a:xfrm>
            <a:prstGeom prst="leftBrace">
              <a:avLst>
                <a:gd name="adj1" fmla="val 62293"/>
                <a:gd name="adj2" fmla="val 50000"/>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62480" name="AutoShape 25"/>
            <p:cNvSpPr/>
            <p:nvPr/>
          </p:nvSpPr>
          <p:spPr>
            <a:xfrm flipH="1">
              <a:off x="2381" y="1025"/>
              <a:ext cx="91" cy="681"/>
            </a:xfrm>
            <a:prstGeom prst="leftBrace">
              <a:avLst>
                <a:gd name="adj1" fmla="val 62293"/>
                <a:gd name="adj2" fmla="val 50000"/>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62481" name="AutoShape 26"/>
            <p:cNvSpPr/>
            <p:nvPr/>
          </p:nvSpPr>
          <p:spPr>
            <a:xfrm>
              <a:off x="2880" y="981"/>
              <a:ext cx="91" cy="725"/>
            </a:xfrm>
            <a:prstGeom prst="leftBrace">
              <a:avLst>
                <a:gd name="adj1" fmla="val 66318"/>
                <a:gd name="adj2" fmla="val 50000"/>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
        <p:nvSpPr>
          <p:cNvPr id="62482" name="Text Box 28"/>
          <p:cNvSpPr txBox="1"/>
          <p:nvPr/>
        </p:nvSpPr>
        <p:spPr>
          <a:xfrm>
            <a:off x="2997206" y="2736851"/>
            <a:ext cx="4752975" cy="523220"/>
          </a:xfrm>
          <a:prstGeom prst="rect">
            <a:avLst/>
          </a:prstGeom>
          <a:solidFill>
            <a:srgbClr val="FFFF00"/>
          </a:solid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宋体" panose="02010600030101010101" pitchFamily="2" charset="-122"/>
              </a:rPr>
              <a:t>离子积</a:t>
            </a:r>
            <a:r>
              <a:rPr lang="zh-CN" altLang="en-US" i="1" dirty="0">
                <a:latin typeface="Times New Roman" panose="02020603050405020304" pitchFamily="18" charset="0"/>
                <a:ea typeface="幼圆" pitchFamily="49" charset="-122"/>
              </a:rPr>
              <a:t>  </a:t>
            </a:r>
            <a:r>
              <a:rPr lang="en-US" altLang="zh-CN" i="1" dirty="0">
                <a:latin typeface="Times New Roman" panose="02020603050405020304" pitchFamily="18" charset="0"/>
                <a:ea typeface="幼圆" pitchFamily="49" charset="-122"/>
              </a:rPr>
              <a:t>Q</a:t>
            </a:r>
            <a:r>
              <a:rPr lang="en-US" altLang="zh-CN" dirty="0">
                <a:latin typeface="Times New Roman" panose="02020603050405020304" pitchFamily="18" charset="0"/>
                <a:ea typeface="幼圆" pitchFamily="49" charset="-122"/>
              </a:rPr>
              <a:t>={</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(A</a:t>
            </a:r>
            <a:r>
              <a:rPr lang="en-US" altLang="zh-CN" i="1" baseline="30000" dirty="0">
                <a:latin typeface="Times New Roman" panose="02020603050405020304" pitchFamily="18" charset="0"/>
                <a:ea typeface="幼圆" pitchFamily="49" charset="-122"/>
              </a:rPr>
              <a:t>n</a:t>
            </a:r>
            <a:r>
              <a:rPr lang="en-US" altLang="zh-CN" baseline="30000"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a:t>
            </a:r>
            <a:r>
              <a:rPr lang="en-US" altLang="zh-CN" i="1" baseline="30000" dirty="0">
                <a:latin typeface="Times New Roman" panose="02020603050405020304" pitchFamily="18" charset="0"/>
                <a:ea typeface="幼圆" pitchFamily="49" charset="-122"/>
              </a:rPr>
              <a:t>m</a:t>
            </a:r>
            <a:r>
              <a:rPr lang="en-US" altLang="zh-CN" dirty="0">
                <a:latin typeface="Times New Roman" panose="02020603050405020304" pitchFamily="18" charset="0"/>
                <a:ea typeface="幼圆" pitchFamily="49" charset="-122"/>
              </a:rPr>
              <a:t>{</a:t>
            </a:r>
            <a:r>
              <a:rPr lang="en-US" altLang="zh-CN" i="1" dirty="0">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(B</a:t>
            </a:r>
            <a:r>
              <a:rPr lang="en-US" altLang="zh-CN" i="1" baseline="30000" dirty="0">
                <a:latin typeface="Times New Roman" panose="02020603050405020304" pitchFamily="18" charset="0"/>
                <a:ea typeface="幼圆" pitchFamily="49" charset="-122"/>
              </a:rPr>
              <a:t>m</a:t>
            </a:r>
            <a:r>
              <a:rPr lang="en-US" altLang="zh-CN" baseline="30000"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a:t>
            </a:r>
            <a:r>
              <a:rPr lang="en-US" altLang="zh-CN" i="1" baseline="30000" dirty="0">
                <a:latin typeface="Times New Roman" panose="02020603050405020304" pitchFamily="18" charset="0"/>
                <a:ea typeface="幼圆" pitchFamily="49" charset="-122"/>
              </a:rPr>
              <a:t>n</a:t>
            </a:r>
            <a:endParaRPr lang="en-US" altLang="zh-CN" b="0" dirty="0">
              <a:latin typeface="Arial" panose="020B0604020202020204" pitchFamily="34" charset="0"/>
              <a:ea typeface="宋体" panose="02010600030101010101" pitchFamily="2" charset="-122"/>
            </a:endParaRPr>
          </a:p>
        </p:txBody>
      </p:sp>
      <p:sp>
        <p:nvSpPr>
          <p:cNvPr id="48160" name="Text Box 32"/>
          <p:cNvSpPr txBox="1"/>
          <p:nvPr/>
        </p:nvSpPr>
        <p:spPr>
          <a:xfrm>
            <a:off x="423863" y="3222627"/>
            <a:ext cx="2419350" cy="437043"/>
          </a:xfrm>
          <a:prstGeom prst="rect">
            <a:avLst/>
          </a:prstGeom>
          <a:noFill/>
          <a:ln w="9525">
            <a:noFill/>
          </a:ln>
        </p:spPr>
        <p:txBody>
          <a:bodyPr anchor="t" anchorCtr="0">
            <a:spAutoFit/>
          </a:bodyPr>
          <a:lstStyle/>
          <a:p>
            <a:pPr>
              <a:lnSpc>
                <a:spcPct val="80000"/>
              </a:lnSpc>
              <a:spcBef>
                <a:spcPct val="50000"/>
              </a:spcBef>
              <a:buClrTx/>
              <a:buFontTx/>
            </a:pPr>
            <a:r>
              <a:rPr lang="zh-CN" altLang="en-US" dirty="0">
                <a:latin typeface="宋体" panose="02010600030101010101" pitchFamily="2" charset="-122"/>
                <a:ea typeface="宋体" panose="02010600030101010101" pitchFamily="2" charset="-122"/>
              </a:rPr>
              <a:t>即溶度积规则</a:t>
            </a:r>
          </a:p>
        </p:txBody>
      </p:sp>
      <p:sp>
        <p:nvSpPr>
          <p:cNvPr id="62484" name="Rectangle 36"/>
          <p:cNvSpPr/>
          <p:nvPr/>
        </p:nvSpPr>
        <p:spPr>
          <a:xfrm>
            <a:off x="65090"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7" name="Group 48"/>
          <p:cNvGrpSpPr/>
          <p:nvPr/>
        </p:nvGrpSpPr>
        <p:grpSpPr>
          <a:xfrm>
            <a:off x="1079500" y="3614738"/>
            <a:ext cx="7480300" cy="1363237"/>
            <a:chOff x="1264" y="2987"/>
            <a:chExt cx="3943" cy="1144"/>
          </a:xfrm>
        </p:grpSpPr>
        <p:grpSp>
          <p:nvGrpSpPr>
            <p:cNvPr id="62486" name="Group 47"/>
            <p:cNvGrpSpPr/>
            <p:nvPr/>
          </p:nvGrpSpPr>
          <p:grpSpPr>
            <a:xfrm>
              <a:off x="2076" y="3100"/>
              <a:ext cx="940" cy="693"/>
              <a:chOff x="2082" y="2957"/>
              <a:chExt cx="940" cy="693"/>
            </a:xfrm>
          </p:grpSpPr>
          <p:graphicFrame>
            <p:nvGraphicFramePr>
              <p:cNvPr id="62487" name="Object 35"/>
              <p:cNvGraphicFramePr>
                <a:graphicFrameLocks noChangeAspect="1"/>
              </p:cNvGraphicFramePr>
              <p:nvPr/>
            </p:nvGraphicFramePr>
            <p:xfrm>
              <a:off x="2562" y="3113"/>
              <a:ext cx="327" cy="353"/>
            </p:xfrm>
            <a:graphic>
              <a:graphicData uri="http://schemas.openxmlformats.org/presentationml/2006/ole">
                <mc:AlternateContent xmlns:mc="http://schemas.openxmlformats.org/markup-compatibility/2006">
                  <mc:Choice xmlns:v="urn:schemas-microsoft-com:vml" Requires="v">
                    <p:oleObj r:id="rId2" imgW="250825" imgH="264160" progId="Equation.3">
                      <p:embed/>
                    </p:oleObj>
                  </mc:Choice>
                  <mc:Fallback>
                    <p:oleObj r:id="rId2" imgW="250825" imgH="264160" progId="Equation.3">
                      <p:embed/>
                      <p:pic>
                        <p:nvPicPr>
                          <p:cNvPr id="0" name="图片 3156"/>
                          <p:cNvPicPr/>
                          <p:nvPr/>
                        </p:nvPicPr>
                        <p:blipFill>
                          <a:blip r:embed="rId3"/>
                          <a:stretch>
                            <a:fillRect/>
                          </a:stretch>
                        </p:blipFill>
                        <p:spPr>
                          <a:xfrm>
                            <a:off x="2562" y="3113"/>
                            <a:ext cx="327" cy="353"/>
                          </a:xfrm>
                          <a:prstGeom prst="rect">
                            <a:avLst/>
                          </a:prstGeom>
                          <a:noFill/>
                          <a:ln w="38100">
                            <a:noFill/>
                            <a:miter/>
                          </a:ln>
                        </p:spPr>
                      </p:pic>
                    </p:oleObj>
                  </mc:Fallback>
                </mc:AlternateContent>
              </a:graphicData>
            </a:graphic>
          </p:graphicFrame>
          <p:sp>
            <p:nvSpPr>
              <p:cNvPr id="62488" name="AutoShape 38"/>
              <p:cNvSpPr/>
              <p:nvPr/>
            </p:nvSpPr>
            <p:spPr>
              <a:xfrm>
                <a:off x="2082" y="2969"/>
                <a:ext cx="89" cy="681"/>
              </a:xfrm>
              <a:prstGeom prst="leftBrace">
                <a:avLst>
                  <a:gd name="adj1" fmla="val 63693"/>
                  <a:gd name="adj2" fmla="val 50000"/>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62489" name="AutoShape 39"/>
              <p:cNvSpPr/>
              <p:nvPr/>
            </p:nvSpPr>
            <p:spPr>
              <a:xfrm flipH="1">
                <a:off x="2436" y="2957"/>
                <a:ext cx="88" cy="681"/>
              </a:xfrm>
              <a:prstGeom prst="leftBrace">
                <a:avLst>
                  <a:gd name="adj1" fmla="val 64416"/>
                  <a:gd name="adj2" fmla="val 50000"/>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62490" name="AutoShape 40"/>
              <p:cNvSpPr/>
              <p:nvPr/>
            </p:nvSpPr>
            <p:spPr>
              <a:xfrm>
                <a:off x="2933" y="2957"/>
                <a:ext cx="89" cy="681"/>
              </a:xfrm>
              <a:prstGeom prst="leftBrace">
                <a:avLst>
                  <a:gd name="adj1" fmla="val 63693"/>
                  <a:gd name="adj2" fmla="val 50000"/>
                </a:avLst>
              </a:prstGeom>
              <a:noFill/>
              <a:ln w="9525"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
          <p:nvSpPr>
            <p:cNvPr id="62491" name="Text Box 33"/>
            <p:cNvSpPr txBox="1"/>
            <p:nvPr/>
          </p:nvSpPr>
          <p:spPr>
            <a:xfrm>
              <a:off x="1264" y="2987"/>
              <a:ext cx="3943" cy="1144"/>
            </a:xfrm>
            <a:prstGeom prst="rect">
              <a:avLst/>
            </a:prstGeom>
            <a:solidFill>
              <a:srgbClr val="FFC000"/>
            </a:solidFill>
            <a:ln w="28575" cap="flat" cmpd="sng">
              <a:solidFill>
                <a:srgbClr val="C00000"/>
              </a:solidFill>
              <a:prstDash val="solid"/>
              <a:miter/>
              <a:headEnd type="none" w="med" len="med"/>
              <a:tailEnd type="none" w="med" len="med"/>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&lt; </a:t>
              </a:r>
              <a:r>
                <a:rPr lang="en-US" altLang="zh-CN" i="1" dirty="0">
                  <a:latin typeface="Times New Roman" panose="02020603050405020304" pitchFamily="18" charset="0"/>
                  <a:ea typeface="幼圆" pitchFamily="49" charset="-122"/>
                </a:rPr>
                <a:t>K</a:t>
              </a:r>
              <a:r>
                <a:rPr lang="en-US" altLang="zh-CN" baseline="-25000" dirty="0">
                  <a:latin typeface="Times New Roman" panose="02020603050405020304" pitchFamily="18" charset="0"/>
                  <a:ea typeface="幼圆" pitchFamily="49" charset="-122"/>
                </a:rPr>
                <a:t>sp</a:t>
              </a:r>
              <a:r>
                <a:rPr lang="en-US" altLang="zh-CN" sz="2000" b="0" dirty="0">
                  <a:latin typeface="Arial" panose="020B0604020202020204" pitchFamily="34" charset="0"/>
                  <a:ea typeface="宋体" panose="02010600030101010101" pitchFamily="2" charset="-122"/>
                </a:rPr>
                <a:t>               </a:t>
              </a:r>
              <a:r>
                <a:rPr lang="zh-CN" altLang="en-US" dirty="0">
                  <a:latin typeface="Times New Roman" panose="02020603050405020304" pitchFamily="18" charset="0"/>
                  <a:ea typeface="幼圆" pitchFamily="49" charset="-122"/>
                </a:rPr>
                <a:t>反应正向进行 </a:t>
              </a:r>
              <a:endParaRPr lang="zh-CN" altLang="en-US" b="0" dirty="0">
                <a:latin typeface="Times New Roman" panose="02020603050405020304" pitchFamily="18" charset="0"/>
                <a:ea typeface="幼圆" pitchFamily="49" charset="-122"/>
              </a:endParaRPr>
            </a:p>
            <a:p>
              <a:pPr>
                <a:lnSpc>
                  <a:spcPct val="50000"/>
                </a:lnSpc>
                <a:spcBef>
                  <a:spcPct val="50000"/>
                </a:spcBef>
                <a:buClrTx/>
                <a:buFontTx/>
              </a:pPr>
              <a:r>
                <a:rPr lang="zh-CN" altLang="en-US" dirty="0">
                  <a:latin typeface="Times New Roman" panose="02020603050405020304" pitchFamily="18" charset="0"/>
                  <a:ea typeface="幼圆" pitchFamily="49" charset="-122"/>
                </a:rPr>
                <a:t>  </a:t>
              </a:r>
              <a:r>
                <a:rPr lang="en-US" altLang="zh-CN" i="1" dirty="0">
                  <a:latin typeface="Times New Roman" panose="02020603050405020304" pitchFamily="18" charset="0"/>
                  <a:ea typeface="幼圆" pitchFamily="49" charset="-122"/>
                </a:rPr>
                <a:t>Q </a:t>
              </a:r>
              <a:r>
                <a:rPr lang="en-US" altLang="zh-CN" baseline="-25000"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 </a:t>
              </a:r>
              <a:r>
                <a:rPr lang="en-US" altLang="zh-CN" i="1" dirty="0">
                  <a:latin typeface="Times New Roman" panose="02020603050405020304" pitchFamily="18" charset="0"/>
                  <a:ea typeface="幼圆" pitchFamily="49" charset="-122"/>
                </a:rPr>
                <a:t>K</a:t>
              </a:r>
              <a:r>
                <a:rPr lang="en-US" altLang="zh-CN" baseline="-25000" dirty="0">
                  <a:latin typeface="Times New Roman" panose="02020603050405020304" pitchFamily="18" charset="0"/>
                  <a:ea typeface="幼圆" pitchFamily="49" charset="-122"/>
                </a:rPr>
                <a:t>sp</a:t>
              </a:r>
              <a:r>
                <a:rPr lang="en-US" altLang="zh-CN" dirty="0">
                  <a:latin typeface="Times New Roman" panose="02020603050405020304" pitchFamily="18" charset="0"/>
                  <a:ea typeface="幼圆" pitchFamily="49" charset="-122"/>
                </a:rPr>
                <a:t> </a:t>
              </a:r>
              <a:r>
                <a:rPr lang="en-US" altLang="zh-CN" i="1"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       </a:t>
              </a:r>
              <a:r>
                <a:rPr lang="zh-CN" altLang="en-US" dirty="0">
                  <a:latin typeface="Times New Roman" panose="02020603050405020304" pitchFamily="18" charset="0"/>
                  <a:ea typeface="幼圆" pitchFamily="49" charset="-122"/>
                </a:rPr>
                <a:t>平衡状态 </a:t>
              </a:r>
              <a:endParaRPr lang="zh-CN" altLang="en-US" b="0" dirty="0">
                <a:latin typeface="Times New Roman" panose="02020603050405020304" pitchFamily="18" charset="0"/>
                <a:ea typeface="幼圆" pitchFamily="49" charset="-122"/>
              </a:endParaRPr>
            </a:p>
            <a:p>
              <a:pPr>
                <a:lnSpc>
                  <a:spcPct val="45000"/>
                </a:lnSpc>
                <a:spcBef>
                  <a:spcPct val="50000"/>
                </a:spcBef>
                <a:buClrTx/>
                <a:buFontTx/>
              </a:pPr>
              <a:r>
                <a:rPr lang="zh-CN" altLang="en-US" baseline="-25000" dirty="0">
                  <a:latin typeface="Times New Roman" panose="02020603050405020304" pitchFamily="18" charset="0"/>
                  <a:ea typeface="幼圆" pitchFamily="49" charset="-122"/>
                </a:rPr>
                <a:t>                </a:t>
              </a:r>
              <a:r>
                <a:rPr lang="en-US" altLang="zh-CN" dirty="0">
                  <a:latin typeface="Times New Roman" panose="02020603050405020304" pitchFamily="18" charset="0"/>
                  <a:ea typeface="幼圆" pitchFamily="49" charset="-122"/>
                </a:rPr>
                <a:t>&gt; </a:t>
              </a:r>
              <a:r>
                <a:rPr lang="en-US" altLang="zh-CN" i="1" dirty="0">
                  <a:latin typeface="Times New Roman" panose="02020603050405020304" pitchFamily="18" charset="0"/>
                  <a:ea typeface="幼圆" pitchFamily="49" charset="-122"/>
                </a:rPr>
                <a:t>K</a:t>
              </a:r>
              <a:r>
                <a:rPr lang="en-US" altLang="zh-CN" baseline="-25000" dirty="0">
                  <a:latin typeface="Times New Roman" panose="02020603050405020304" pitchFamily="18" charset="0"/>
                  <a:ea typeface="幼圆" pitchFamily="49" charset="-122"/>
                </a:rPr>
                <a:t>sp</a:t>
              </a:r>
              <a:r>
                <a:rPr lang="en-US" altLang="zh-CN" dirty="0">
                  <a:latin typeface="Times New Roman" panose="02020603050405020304" pitchFamily="18" charset="0"/>
                  <a:ea typeface="幼圆" pitchFamily="49" charset="-122"/>
                </a:rPr>
                <a:t>           </a:t>
              </a:r>
              <a:r>
                <a:rPr lang="zh-CN" altLang="en-US" dirty="0">
                  <a:latin typeface="Times New Roman" panose="02020603050405020304" pitchFamily="18" charset="0"/>
                  <a:ea typeface="幼圆" pitchFamily="49" charset="-122"/>
                </a:rPr>
                <a:t>反应逆向进行</a:t>
              </a:r>
              <a:endParaRPr lang="zh-CN" altLang="en-US" b="0" dirty="0">
                <a:latin typeface="Arial" panose="020B0604020202020204" pitchFamily="34" charset="0"/>
                <a:ea typeface="幼圆" pitchFamily="49" charset="-122"/>
              </a:endParaRPr>
            </a:p>
          </p:txBody>
        </p:sp>
      </p:grpSp>
      <p:pic>
        <p:nvPicPr>
          <p:cNvPr id="62492" name="Picture 50" descr="next">
            <a:hlinkClick r:id="rId4" action="ppaction://hlinksldjump"/>
          </p:cNvPr>
          <p:cNvPicPr>
            <a:picLocks noChangeAspect="1"/>
          </p:cNvPicPr>
          <p:nvPr/>
        </p:nvPicPr>
        <p:blipFill>
          <a:blip r:embed="rId5"/>
          <a:stretch>
            <a:fillRect/>
          </a:stretch>
        </p:blipFill>
        <p:spPr>
          <a:xfrm>
            <a:off x="8388350" y="4516439"/>
            <a:ext cx="515938" cy="401637"/>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160"/>
                                        </p:tgtEl>
                                        <p:attrNameLst>
                                          <p:attrName>style.visibility</p:attrName>
                                        </p:attrNameLst>
                                      </p:cBhvr>
                                      <p:to>
                                        <p:strVal val="visible"/>
                                      </p:to>
                                    </p:set>
                                    <p:animEffect transition="in" filter="box(in)">
                                      <p:cBhvr>
                                        <p:cTn id="7" dur="500"/>
                                        <p:tgtEl>
                                          <p:spTgt spid="4816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6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ext Box 9"/>
          <p:cNvSpPr txBox="1"/>
          <p:nvPr/>
        </p:nvSpPr>
        <p:spPr>
          <a:xfrm>
            <a:off x="250825" y="249241"/>
            <a:ext cx="5976938" cy="584775"/>
          </a:xfrm>
          <a:prstGeom prst="rect">
            <a:avLst/>
          </a:prstGeom>
          <a:solidFill>
            <a:srgbClr val="FFFF00"/>
          </a:solidFill>
          <a:ln w="9525" cap="flat" cmpd="sng">
            <a:solidFill>
              <a:schemeClr val="tx1"/>
            </a:solidFill>
            <a:prstDash val="solid"/>
            <a:miter/>
            <a:headEnd type="none" w="med" len="med"/>
            <a:tailEnd type="none" w="med" len="med"/>
          </a:ln>
        </p:spPr>
        <p:txBody>
          <a:bodyPr anchor="t" anchorCtr="0">
            <a:spAutoFit/>
          </a:bodyPr>
          <a:lstStyle/>
          <a:p>
            <a:pPr>
              <a:spcBef>
                <a:spcPct val="50000"/>
              </a:spcBef>
              <a:buClrTx/>
              <a:buFontTx/>
            </a:pPr>
            <a:r>
              <a:rPr lang="zh-CN" altLang="en-US" sz="3200" dirty="0">
                <a:latin typeface="华文新魏" pitchFamily="2" charset="-122"/>
                <a:ea typeface="华文新魏" pitchFamily="2" charset="-122"/>
              </a:rPr>
              <a:t> </a:t>
            </a:r>
            <a:r>
              <a:rPr lang="en-US" altLang="zh-CN" sz="3200" dirty="0">
                <a:latin typeface="华文新魏" pitchFamily="2" charset="-122"/>
                <a:ea typeface="华文新魏" pitchFamily="2" charset="-122"/>
              </a:rPr>
              <a:t>2) </a:t>
            </a:r>
            <a:r>
              <a:rPr lang="zh-CN" altLang="en-US" sz="3200" dirty="0">
                <a:latin typeface="华文新魏" pitchFamily="2" charset="-122"/>
                <a:ea typeface="华文新魏" pitchFamily="2" charset="-122"/>
              </a:rPr>
              <a:t>沉淀的生成及同离子效应</a:t>
            </a:r>
          </a:p>
        </p:txBody>
      </p:sp>
      <p:sp>
        <p:nvSpPr>
          <p:cNvPr id="63490" name="Text Box 10"/>
          <p:cNvSpPr txBox="1"/>
          <p:nvPr/>
        </p:nvSpPr>
        <p:spPr>
          <a:xfrm>
            <a:off x="252418" y="844553"/>
            <a:ext cx="3455987" cy="584775"/>
          </a:xfrm>
          <a:prstGeom prst="rect">
            <a:avLst/>
          </a:prstGeom>
          <a:noFill/>
          <a:ln w="9525">
            <a:noFill/>
          </a:ln>
        </p:spPr>
        <p:txBody>
          <a:bodyPr anchor="t" anchorCtr="0">
            <a:spAutoFit/>
          </a:bodyPr>
          <a:lstStyle/>
          <a:p>
            <a:pPr>
              <a:spcBef>
                <a:spcPct val="50000"/>
              </a:spcBef>
              <a:buClrTx/>
              <a:buFontTx/>
            </a:pPr>
            <a:r>
              <a:rPr lang="en-US" altLang="zh-CN" sz="3200" b="0" dirty="0">
                <a:latin typeface="华文新魏" pitchFamily="2" charset="-122"/>
                <a:ea typeface="华文新魏" pitchFamily="2" charset="-122"/>
              </a:rPr>
              <a:t>(1) </a:t>
            </a:r>
            <a:r>
              <a:rPr lang="zh-CN" altLang="en-US" sz="3200" b="0" dirty="0">
                <a:latin typeface="华文新魏" pitchFamily="2" charset="-122"/>
                <a:ea typeface="华文新魏" pitchFamily="2" charset="-122"/>
              </a:rPr>
              <a:t>沉淀的生成 </a:t>
            </a:r>
          </a:p>
        </p:txBody>
      </p:sp>
      <p:sp>
        <p:nvSpPr>
          <p:cNvPr id="63491" name="Rectangle 13"/>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63492" name="Group 14"/>
          <p:cNvGrpSpPr/>
          <p:nvPr/>
        </p:nvGrpSpPr>
        <p:grpSpPr>
          <a:xfrm>
            <a:off x="92081" y="1338268"/>
            <a:ext cx="8943975" cy="1200150"/>
            <a:chOff x="158" y="981"/>
            <a:chExt cx="5475" cy="1008"/>
          </a:xfrm>
        </p:grpSpPr>
        <p:sp>
          <p:nvSpPr>
            <p:cNvPr id="63493" name="Text Box 11"/>
            <p:cNvSpPr txBox="1"/>
            <p:nvPr/>
          </p:nvSpPr>
          <p:spPr>
            <a:xfrm>
              <a:off x="158" y="981"/>
              <a:ext cx="5475" cy="1008"/>
            </a:xfrm>
            <a:prstGeom prst="rect">
              <a:avLst/>
            </a:prstGeom>
            <a:solidFill>
              <a:schemeClr val="bg2">
                <a:lumMod val="20000"/>
                <a:lumOff val="80000"/>
              </a:schemeClr>
            </a:solidFill>
            <a:ln w="9525">
              <a:noFill/>
            </a:ln>
          </p:spPr>
          <p:txBody>
            <a:bodyPr anchor="t" anchorCtr="0">
              <a:spAutoFit/>
            </a:bodyPr>
            <a:lstStyle/>
            <a:p>
              <a:pPr>
                <a:lnSpc>
                  <a:spcPct val="150000"/>
                </a:lnSpc>
                <a:buClrTx/>
                <a:buFontTx/>
              </a:pP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例</a:t>
              </a:r>
              <a:r>
                <a:rPr lang="en-US" altLang="zh-CN" sz="2400" dirty="0">
                  <a:latin typeface="Times New Roman" panose="02020603050405020304" pitchFamily="18" charset="0"/>
                  <a:ea typeface="宋体" panose="02010600030101010101" pitchFamily="2" charset="-122"/>
                </a:rPr>
                <a:t>3.6] </a:t>
              </a:r>
              <a:r>
                <a:rPr lang="zh-CN" altLang="en-US" sz="2400" dirty="0">
                  <a:latin typeface="Times New Roman" panose="02020603050405020304" pitchFamily="18" charset="0"/>
                  <a:ea typeface="宋体" panose="02010600030101010101" pitchFamily="2" charset="-122"/>
                </a:rPr>
                <a:t>在</a:t>
              </a:r>
              <a:r>
                <a:rPr lang="en-US" altLang="zh-CN" sz="2400" dirty="0">
                  <a:latin typeface="Times New Roman" panose="02020603050405020304" pitchFamily="18" charset="0"/>
                  <a:ea typeface="宋体" panose="02010600030101010101" pitchFamily="2" charset="-122"/>
                </a:rPr>
                <a:t>20mL 0.020mol·L</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 Na</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SO</a:t>
              </a:r>
              <a:r>
                <a:rPr lang="en-US" altLang="zh-CN" sz="2400" baseline="-25000" dirty="0">
                  <a:latin typeface="Times New Roman" panose="02020603050405020304" pitchFamily="18" charset="0"/>
                  <a:ea typeface="宋体" panose="02010600030101010101" pitchFamily="2" charset="-122"/>
                </a:rPr>
                <a:t>4</a:t>
              </a:r>
              <a:r>
                <a:rPr lang="zh-CN" altLang="en-US" sz="2400" dirty="0">
                  <a:latin typeface="Times New Roman" panose="02020603050405020304" pitchFamily="18" charset="0"/>
                  <a:ea typeface="宋体" panose="02010600030101010101" pitchFamily="2" charset="-122"/>
                </a:rPr>
                <a:t>溶液中加入</a:t>
              </a:r>
              <a:r>
                <a:rPr lang="en-US" altLang="zh-CN" sz="2400" dirty="0">
                  <a:latin typeface="Times New Roman" panose="02020603050405020304" pitchFamily="18" charset="0"/>
                  <a:ea typeface="宋体" panose="02010600030101010101" pitchFamily="2" charset="-122"/>
                </a:rPr>
                <a:t>10mL  0.20mol·L</a:t>
              </a:r>
              <a:r>
                <a:rPr lang="en-US" altLang="zh-CN" sz="2400" baseline="30000" dirty="0">
                  <a:latin typeface="Times New Roman" panose="02020603050405020304" pitchFamily="18" charset="0"/>
                  <a:ea typeface="宋体" panose="02010600030101010101" pitchFamily="2" charset="-122"/>
                </a:rPr>
                <a:t>-1</a:t>
              </a:r>
            </a:p>
            <a:p>
              <a:pPr>
                <a:lnSpc>
                  <a:spcPct val="150000"/>
                </a:lnSpc>
                <a:buClrTx/>
                <a:buFontTx/>
              </a:pPr>
              <a:r>
                <a:rPr lang="en-US" altLang="zh-CN" sz="2400" dirty="0">
                  <a:latin typeface="Times New Roman" panose="02020603050405020304" pitchFamily="18" charset="0"/>
                  <a:ea typeface="宋体" panose="02010600030101010101" pitchFamily="2" charset="-122"/>
                </a:rPr>
                <a:t>BaCl</a:t>
              </a:r>
              <a:r>
                <a:rPr lang="en-US" altLang="zh-CN" sz="2400" baseline="-250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溶液，判断有无</a:t>
              </a:r>
              <a:r>
                <a:rPr lang="en-US" altLang="zh-CN" sz="2400" dirty="0">
                  <a:latin typeface="Times New Roman" panose="02020603050405020304" pitchFamily="18" charset="0"/>
                  <a:ea typeface="宋体" panose="02010600030101010101" pitchFamily="2" charset="-122"/>
                </a:rPr>
                <a:t>BaSO</a:t>
              </a:r>
              <a:r>
                <a:rPr lang="en-US" altLang="zh-CN" sz="2400" baseline="-25000" dirty="0">
                  <a:latin typeface="Times New Roman" panose="02020603050405020304" pitchFamily="18" charset="0"/>
                  <a:ea typeface="宋体" panose="02010600030101010101" pitchFamily="2" charset="-122"/>
                </a:rPr>
                <a:t>4</a:t>
              </a:r>
              <a:r>
                <a:rPr lang="zh-CN" altLang="en-US" sz="2400" dirty="0">
                  <a:latin typeface="Times New Roman" panose="02020603050405020304" pitchFamily="18" charset="0"/>
                  <a:ea typeface="宋体" panose="02010600030101010101" pitchFamily="2" charset="-122"/>
                </a:rPr>
                <a:t>沉淀生成？</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(BaSO</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)=1.08×10</a:t>
              </a:r>
              <a:r>
                <a:rPr lang="en-US" altLang="zh-CN" sz="2400" baseline="30000" dirty="0">
                  <a:latin typeface="Times New Roman" panose="02020603050405020304" pitchFamily="18" charset="0"/>
                  <a:ea typeface="宋体" panose="02010600030101010101" pitchFamily="2" charset="-122"/>
                </a:rPr>
                <a:t>-10</a:t>
              </a:r>
              <a:r>
                <a:rPr lang="en-US" altLang="zh-CN" sz="2400"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graphicFrame>
          <p:nvGraphicFramePr>
            <p:cNvPr id="63494" name="Object 12"/>
            <p:cNvGraphicFramePr>
              <a:graphicFrameLocks noChangeAspect="1"/>
            </p:cNvGraphicFramePr>
            <p:nvPr/>
          </p:nvGraphicFramePr>
          <p:xfrm>
            <a:off x="3473" y="1593"/>
            <a:ext cx="318" cy="343"/>
          </p:xfrm>
          <a:graphic>
            <a:graphicData uri="http://schemas.openxmlformats.org/presentationml/2006/ole">
              <mc:AlternateContent xmlns:mc="http://schemas.openxmlformats.org/markup-compatibility/2006">
                <mc:Choice xmlns:v="urn:schemas-microsoft-com:vml" Requires="v">
                  <p:oleObj r:id="rId2" imgW="250825" imgH="264160" progId="Equation.3">
                    <p:embed/>
                  </p:oleObj>
                </mc:Choice>
                <mc:Fallback>
                  <p:oleObj r:id="rId2" imgW="250825" imgH="264160" progId="Equation.3">
                    <p:embed/>
                    <p:pic>
                      <p:nvPicPr>
                        <p:cNvPr id="0" name="图片 3157"/>
                        <p:cNvPicPr/>
                        <p:nvPr/>
                      </p:nvPicPr>
                      <p:blipFill>
                        <a:blip r:embed="rId3"/>
                        <a:stretch>
                          <a:fillRect/>
                        </a:stretch>
                      </p:blipFill>
                      <p:spPr>
                        <a:xfrm>
                          <a:off x="3473" y="1593"/>
                          <a:ext cx="318" cy="343"/>
                        </a:xfrm>
                        <a:prstGeom prst="rect">
                          <a:avLst/>
                        </a:prstGeom>
                        <a:noFill/>
                        <a:ln w="38100">
                          <a:noFill/>
                          <a:miter/>
                        </a:ln>
                      </p:spPr>
                    </p:pic>
                  </p:oleObj>
                </mc:Fallback>
              </mc:AlternateContent>
            </a:graphicData>
          </a:graphic>
        </p:graphicFrame>
      </p:grpSp>
      <p:sp>
        <p:nvSpPr>
          <p:cNvPr id="63495" name="Rectangle 17"/>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26634" name="Text Box 15"/>
          <p:cNvSpPr txBox="1"/>
          <p:nvPr/>
        </p:nvSpPr>
        <p:spPr>
          <a:xfrm>
            <a:off x="179394" y="2643191"/>
            <a:ext cx="8713787" cy="1438855"/>
          </a:xfrm>
          <a:prstGeom prst="rect">
            <a:avLst/>
          </a:prstGeom>
          <a:noFill/>
          <a:ln w="9525">
            <a:noFill/>
          </a:ln>
        </p:spPr>
        <p:txBody>
          <a:bodyPr anchor="t" anchorCtr="0">
            <a:spAutoFit/>
          </a:bodyPr>
          <a:lstStyle/>
          <a:p>
            <a:pPr>
              <a:lnSpc>
                <a:spcPts val="3500"/>
              </a:lnSpc>
              <a:buClrTx/>
              <a:buFontTx/>
            </a:pPr>
            <a:r>
              <a:rPr lang="zh-CN" altLang="en-US" sz="2400" dirty="0">
                <a:latin typeface="Times New Roman" panose="02020603050405020304" pitchFamily="18" charset="0"/>
                <a:ea typeface="宋体" panose="02010600030101010101" pitchFamily="2" charset="-122"/>
              </a:rPr>
              <a:t>解：两溶液混合后，总体积为</a:t>
            </a:r>
            <a:r>
              <a:rPr lang="en-US" altLang="zh-CN" sz="2400" dirty="0">
                <a:latin typeface="Times New Roman" panose="02020603050405020304" pitchFamily="18" charset="0"/>
                <a:ea typeface="宋体" panose="02010600030101010101" pitchFamily="2" charset="-122"/>
              </a:rPr>
              <a:t>0.03L</a:t>
            </a:r>
            <a:r>
              <a:rPr lang="zh-CN" altLang="en-US" sz="2400" dirty="0">
                <a:latin typeface="Times New Roman" panose="02020603050405020304" pitchFamily="18" charset="0"/>
                <a:ea typeface="宋体" panose="02010600030101010101" pitchFamily="2" charset="-122"/>
              </a:rPr>
              <a:t>，各相关离子浓度为</a:t>
            </a:r>
            <a:r>
              <a:rPr lang="zh-CN" altLang="pt-BR"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a:p>
            <a:pPr>
              <a:lnSpc>
                <a:spcPts val="3500"/>
              </a:lnSpc>
              <a:buClrTx/>
              <a:buFontTx/>
            </a:pPr>
            <a:r>
              <a:rPr lang="en-US" altLang="zh-CN" sz="2400" dirty="0">
                <a:latin typeface="Times New Roman" panose="02020603050405020304" pitchFamily="18" charset="0"/>
                <a:ea typeface="宋体" panose="02010600030101010101" pitchFamily="2" charset="-122"/>
              </a:rPr>
              <a:t>     </a:t>
            </a:r>
            <a:r>
              <a:rPr lang="zh-CN" altLang="pt-BR" sz="2400" dirty="0">
                <a:latin typeface="Times New Roman" panose="02020603050405020304" pitchFamily="18" charset="0"/>
                <a:ea typeface="宋体" panose="02010600030101010101" pitchFamily="2" charset="-122"/>
              </a:rPr>
              <a:t>  </a:t>
            </a:r>
            <a:r>
              <a:rPr lang="pt-BR" altLang="zh-CN" sz="2400" i="1" dirty="0">
                <a:latin typeface="Times New Roman" panose="02020603050405020304" pitchFamily="18" charset="0"/>
                <a:ea typeface="宋体" panose="02010600030101010101" pitchFamily="2" charset="-122"/>
              </a:rPr>
              <a:t>c</a:t>
            </a:r>
            <a:r>
              <a:rPr lang="pt-BR" altLang="zh-CN" sz="2400" dirty="0">
                <a:latin typeface="Times New Roman" panose="02020603050405020304" pitchFamily="18" charset="0"/>
                <a:ea typeface="宋体" panose="02010600030101010101" pitchFamily="2" charset="-122"/>
              </a:rPr>
              <a:t>(Ba</a:t>
            </a:r>
            <a:r>
              <a:rPr lang="pt-BR" altLang="zh-CN" sz="2400" baseline="30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 = 0.01L×0.20mol</a:t>
            </a:r>
            <a:r>
              <a:rPr lang="en-US" altLang="zh-CN" sz="24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L</a:t>
            </a:r>
            <a:r>
              <a:rPr lang="pt-BR" altLang="zh-CN" sz="2400" baseline="30000" dirty="0">
                <a:latin typeface="Times New Roman" panose="02020603050405020304" pitchFamily="18" charset="0"/>
                <a:ea typeface="宋体" panose="02010600030101010101" pitchFamily="2" charset="-122"/>
              </a:rPr>
              <a:t>-1</a:t>
            </a:r>
            <a:r>
              <a:rPr lang="pt-BR" altLang="zh-CN" sz="2400" dirty="0">
                <a:latin typeface="Times New Roman" panose="02020603050405020304" pitchFamily="18" charset="0"/>
                <a:ea typeface="宋体" panose="02010600030101010101" pitchFamily="2" charset="-122"/>
              </a:rPr>
              <a:t>/0.03L= 0.067mol</a:t>
            </a:r>
            <a:r>
              <a:rPr lang="en-US" altLang="zh-CN" sz="24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L</a:t>
            </a:r>
            <a:r>
              <a:rPr lang="pt-BR" altLang="zh-CN" sz="2400" baseline="30000" dirty="0">
                <a:latin typeface="Times New Roman" panose="02020603050405020304" pitchFamily="18" charset="0"/>
                <a:ea typeface="宋体" panose="02010600030101010101" pitchFamily="2" charset="-122"/>
              </a:rPr>
              <a:t>-1</a:t>
            </a:r>
          </a:p>
          <a:p>
            <a:pPr>
              <a:lnSpc>
                <a:spcPts val="3500"/>
              </a:lnSpc>
              <a:buClrTx/>
              <a:buFontTx/>
            </a:pPr>
            <a:r>
              <a:rPr lang="pt-BR"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(SO</a:t>
            </a:r>
            <a:r>
              <a:rPr lang="en-US" altLang="zh-CN" sz="2400" baseline="-25000" dirty="0">
                <a:latin typeface="Times New Roman" panose="02020603050405020304" pitchFamily="18" charset="0"/>
                <a:ea typeface="宋体" panose="02010600030101010101" pitchFamily="2" charset="-122"/>
              </a:rPr>
              <a:t>4</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=0.02L×0.02mol·L</a:t>
            </a:r>
            <a:r>
              <a:rPr lang="en-US" altLang="zh-CN" sz="2400" baseline="30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/0.03L= 0.013mol·L</a:t>
            </a:r>
            <a:r>
              <a:rPr lang="en-US" altLang="zh-CN" sz="2400" baseline="30000" dirty="0">
                <a:latin typeface="Times New Roman" panose="02020603050405020304" pitchFamily="18" charset="0"/>
                <a:ea typeface="宋体" panose="02010600030101010101" pitchFamily="2" charset="-122"/>
              </a:rPr>
              <a:t>-1</a:t>
            </a:r>
          </a:p>
        </p:txBody>
      </p:sp>
      <p:graphicFrame>
        <p:nvGraphicFramePr>
          <p:cNvPr id="26626" name="Object 16"/>
          <p:cNvGraphicFramePr>
            <a:graphicFrameLocks noChangeAspect="1"/>
          </p:cNvGraphicFramePr>
          <p:nvPr/>
        </p:nvGraphicFramePr>
        <p:xfrm>
          <a:off x="3419475" y="4668841"/>
          <a:ext cx="503238" cy="407987"/>
        </p:xfrm>
        <a:graphic>
          <a:graphicData uri="http://schemas.openxmlformats.org/presentationml/2006/ole">
            <mc:AlternateContent xmlns:mc="http://schemas.openxmlformats.org/markup-compatibility/2006">
              <mc:Choice xmlns:v="urn:schemas-microsoft-com:vml" Requires="v">
                <p:oleObj r:id="rId4" imgW="250825" imgH="264160" progId="Equation.DSMT4">
                  <p:embed/>
                </p:oleObj>
              </mc:Choice>
              <mc:Fallback>
                <p:oleObj r:id="rId4" imgW="250825" imgH="264160" progId="Equation.DSMT4">
                  <p:embed/>
                  <p:pic>
                    <p:nvPicPr>
                      <p:cNvPr id="0" name="图片 3158"/>
                      <p:cNvPicPr/>
                      <p:nvPr/>
                    </p:nvPicPr>
                    <p:blipFill>
                      <a:blip r:embed="rId3"/>
                      <a:stretch>
                        <a:fillRect/>
                      </a:stretch>
                    </p:blipFill>
                    <p:spPr>
                      <a:xfrm>
                        <a:off x="3419475" y="4668841"/>
                        <a:ext cx="503238" cy="407987"/>
                      </a:xfrm>
                      <a:prstGeom prst="rect">
                        <a:avLst/>
                      </a:prstGeom>
                      <a:noFill/>
                      <a:ln w="38100">
                        <a:noFill/>
                        <a:miter/>
                      </a:ln>
                    </p:spPr>
                  </p:pic>
                </p:oleObj>
              </mc:Fallback>
            </mc:AlternateContent>
          </a:graphicData>
        </a:graphic>
      </p:graphicFrame>
      <p:sp>
        <p:nvSpPr>
          <p:cNvPr id="12" name="Text Box 15"/>
          <p:cNvSpPr txBox="1"/>
          <p:nvPr/>
        </p:nvSpPr>
        <p:spPr>
          <a:xfrm>
            <a:off x="179394" y="4081463"/>
            <a:ext cx="8713787" cy="541174"/>
          </a:xfrm>
          <a:prstGeom prst="rect">
            <a:avLst/>
          </a:prstGeom>
          <a:noFill/>
          <a:ln w="9525">
            <a:noFill/>
          </a:ln>
        </p:spPr>
        <p:txBody>
          <a:bodyPr anchor="t" anchorCtr="0">
            <a:spAutoFit/>
          </a:bodyPr>
          <a:lstStyle/>
          <a:p>
            <a:pPr>
              <a:lnSpc>
                <a:spcPts val="3500"/>
              </a:lnSpc>
              <a:buClrTx/>
              <a:buFontTx/>
            </a:pPr>
            <a:r>
              <a:rPr lang="zh-CN" altLang="en-US" sz="2400" dirty="0">
                <a:latin typeface="Times New Roman" panose="02020603050405020304" pitchFamily="18" charset="0"/>
                <a:ea typeface="宋体" panose="02010600030101010101" pitchFamily="2" charset="-122"/>
              </a:rPr>
              <a:t>离子积   </a:t>
            </a:r>
            <a:r>
              <a:rPr lang="en-US" altLang="zh-CN" sz="2400" i="1" dirty="0">
                <a:latin typeface="Times New Roman" panose="02020603050405020304" pitchFamily="18" charset="0"/>
                <a:ea typeface="宋体" panose="02010600030101010101" pitchFamily="2" charset="-122"/>
              </a:rPr>
              <a:t>Q=</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(Ba</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(SO</a:t>
            </a:r>
            <a:r>
              <a:rPr lang="en-US" altLang="zh-CN" sz="2400" baseline="-25000" dirty="0">
                <a:latin typeface="Times New Roman" panose="02020603050405020304" pitchFamily="18" charset="0"/>
                <a:ea typeface="宋体" panose="02010600030101010101" pitchFamily="2" charset="-122"/>
              </a:rPr>
              <a:t>4</a:t>
            </a:r>
            <a:r>
              <a:rPr lang="en-US" altLang="zh-CN" sz="2400" baseline="30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)=0.067×0.013=8.71×10</a:t>
            </a:r>
            <a:r>
              <a:rPr lang="en-US" altLang="zh-CN" sz="2400" baseline="30000" dirty="0">
                <a:latin typeface="Times New Roman" panose="02020603050405020304" pitchFamily="18" charset="0"/>
                <a:ea typeface="宋体" panose="02010600030101010101" pitchFamily="2" charset="-122"/>
              </a:rPr>
              <a:t>-4</a:t>
            </a:r>
          </a:p>
        </p:txBody>
      </p:sp>
      <p:sp>
        <p:nvSpPr>
          <p:cNvPr id="13" name="Text Box 15"/>
          <p:cNvSpPr txBox="1"/>
          <p:nvPr/>
        </p:nvSpPr>
        <p:spPr>
          <a:xfrm>
            <a:off x="2700338" y="4578350"/>
            <a:ext cx="5327650" cy="541174"/>
          </a:xfrm>
          <a:prstGeom prst="rect">
            <a:avLst/>
          </a:prstGeom>
          <a:noFill/>
          <a:ln w="9525">
            <a:noFill/>
          </a:ln>
        </p:spPr>
        <p:txBody>
          <a:bodyPr anchor="t" anchorCtr="0">
            <a:spAutoFit/>
          </a:bodyPr>
          <a:lstStyle/>
          <a:p>
            <a:pPr>
              <a:lnSpc>
                <a:spcPts val="3500"/>
              </a:lnSpc>
              <a:buClrTx/>
              <a:buFontTx/>
            </a:pPr>
            <a:r>
              <a:rPr lang="en-US" altLang="zh-CN" sz="2400" i="1" dirty="0">
                <a:latin typeface="Times New Roman" panose="02020603050405020304" pitchFamily="18" charset="0"/>
                <a:ea typeface="宋体" panose="02010600030101010101" pitchFamily="2" charset="-122"/>
              </a:rPr>
              <a:t>   Q </a:t>
            </a:r>
            <a:r>
              <a:rPr lang="en-US" altLang="zh-CN" sz="2400" dirty="0">
                <a:latin typeface="Times New Roman" panose="02020603050405020304" pitchFamily="18" charset="0"/>
                <a:ea typeface="宋体" panose="02010600030101010101" pitchFamily="2" charset="-122"/>
              </a:rPr>
              <a:t>&gt;         </a:t>
            </a:r>
            <a:r>
              <a:rPr lang="zh-CN" altLang="en-US" sz="2400" dirty="0">
                <a:latin typeface="Times New Roman" panose="02020603050405020304" pitchFamily="18" charset="0"/>
                <a:ea typeface="宋体" panose="02010600030101010101" pitchFamily="2" charset="-122"/>
              </a:rPr>
              <a:t>，故</a:t>
            </a:r>
            <a:r>
              <a:rPr lang="en-US" altLang="zh-CN" sz="2400" dirty="0">
                <a:latin typeface="Times New Roman" panose="02020603050405020304" pitchFamily="18" charset="0"/>
                <a:ea typeface="宋体" panose="02010600030101010101" pitchFamily="2" charset="-122"/>
              </a:rPr>
              <a:t>BaSO</a:t>
            </a:r>
            <a:r>
              <a:rPr lang="en-US" altLang="zh-CN" sz="2400" baseline="-25000" dirty="0">
                <a:latin typeface="Times New Roman" panose="02020603050405020304" pitchFamily="18" charset="0"/>
                <a:ea typeface="宋体" panose="02010600030101010101" pitchFamily="2" charset="-122"/>
              </a:rPr>
              <a:t>4</a:t>
            </a:r>
            <a:r>
              <a:rPr lang="zh-CN" altLang="en-US" sz="2400" dirty="0">
                <a:latin typeface="Times New Roman" panose="02020603050405020304" pitchFamily="18" charset="0"/>
                <a:ea typeface="宋体" panose="02010600030101010101" pitchFamily="2" charset="-122"/>
              </a:rPr>
              <a:t>沉淀能生成。</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34"/>
                                        </p:tgtEl>
                                        <p:attrNameLst>
                                          <p:attrName>style.visibility</p:attrName>
                                        </p:attrNameLst>
                                      </p:cBhvr>
                                      <p:to>
                                        <p:strVal val="visible"/>
                                      </p:to>
                                    </p:set>
                                    <p:animEffect transition="in" filter="wipe(left)">
                                      <p:cBhvr>
                                        <p:cTn id="7" dur="500"/>
                                        <p:tgtEl>
                                          <p:spTgt spid="266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626"/>
                                        </p:tgtEl>
                                        <p:attrNameLst>
                                          <p:attrName>style.visibility</p:attrName>
                                        </p:attrNameLst>
                                      </p:cBhvr>
                                      <p:to>
                                        <p:strVal val="visible"/>
                                      </p:to>
                                    </p:set>
                                    <p:animEffect transition="in" filter="wipe(left)">
                                      <p:cBhvr>
                                        <p:cTn id="17" dur="500"/>
                                        <p:tgtEl>
                                          <p:spTgt spid="2662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4" grpId="0"/>
      <p:bldP spid="12" grpId="0"/>
      <p:bldP spid="1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1"/>
          <p:cNvSpPr>
            <a:spLocks noGrp="1"/>
          </p:cNvSpPr>
          <p:nvPr>
            <p:ph type="sldNum" sz="quarter" idx="4294967295"/>
          </p:nvPr>
        </p:nvSpPr>
        <p:spPr>
          <a:xfrm>
            <a:off x="6553200" y="4683919"/>
            <a:ext cx="2133600" cy="3571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fld id="{D3DCFFA7-87F8-4064-9DC9-D4E01FED5217}" type="slidenum">
              <a:rPr lang="zh-CN" altLang="en-US" sz="1400" smtClean="0">
                <a:solidFill>
                  <a:schemeClr val="bg1"/>
                </a:solidFill>
              </a:rPr>
              <a:pPr/>
              <a:t>79</a:t>
            </a:fld>
            <a:endParaRPr lang="en-US" altLang="zh-CN" sz="1400">
              <a:solidFill>
                <a:schemeClr val="bg1"/>
              </a:solidFill>
            </a:endParaRPr>
          </a:p>
        </p:txBody>
      </p:sp>
      <p:sp>
        <p:nvSpPr>
          <p:cNvPr id="68611" name="Text Box 2"/>
          <p:cNvSpPr txBox="1">
            <a:spLocks noChangeArrowheads="1"/>
          </p:cNvSpPr>
          <p:nvPr/>
        </p:nvSpPr>
        <p:spPr bwMode="auto">
          <a:xfrm>
            <a:off x="1116013" y="1113236"/>
            <a:ext cx="3168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eaLnBrk="1" hangingPunct="1">
              <a:spcBef>
                <a:spcPct val="50000"/>
              </a:spcBef>
            </a:pPr>
            <a:endParaRPr lang="zh-CN" altLang="en-US" sz="2400"/>
          </a:p>
        </p:txBody>
      </p:sp>
      <p:graphicFrame>
        <p:nvGraphicFramePr>
          <p:cNvPr id="28676" name="Object 4"/>
          <p:cNvGraphicFramePr>
            <a:graphicFrameLocks noChangeAspect="1"/>
          </p:cNvGraphicFramePr>
          <p:nvPr>
            <p:extLst>
              <p:ext uri="{D42A27DB-BD31-4B8C-83A1-F6EECF244321}">
                <p14:modId xmlns:p14="http://schemas.microsoft.com/office/powerpoint/2010/main" val="1851173985"/>
              </p:ext>
            </p:extLst>
          </p:nvPr>
        </p:nvGraphicFramePr>
        <p:xfrm>
          <a:off x="1709738" y="2571751"/>
          <a:ext cx="6183312" cy="625475"/>
        </p:xfrm>
        <a:graphic>
          <a:graphicData uri="http://schemas.openxmlformats.org/presentationml/2006/ole">
            <mc:AlternateContent xmlns:mc="http://schemas.openxmlformats.org/markup-compatibility/2006">
              <mc:Choice xmlns:v="urn:schemas-microsoft-com:vml" Requires="v">
                <p:oleObj name="Equation" r:id="rId2" imgW="3111480" imgH="419040" progId="Equation.DSMT4">
                  <p:embed/>
                </p:oleObj>
              </mc:Choice>
              <mc:Fallback>
                <p:oleObj name="Equation" r:id="rId2" imgW="3111480" imgH="419040" progId="Equation.DSMT4">
                  <p:embed/>
                  <p:pic>
                    <p:nvPicPr>
                      <p:cNvPr id="0" name=""/>
                      <p:cNvPicPr>
                        <a:picLocks noChangeAspect="1" noChangeArrowheads="1"/>
                      </p:cNvPicPr>
                      <p:nvPr/>
                    </p:nvPicPr>
                    <p:blipFill>
                      <a:blip r:embed="rId3"/>
                      <a:srcRect/>
                      <a:stretch>
                        <a:fillRect/>
                      </a:stretch>
                    </p:blipFill>
                    <p:spPr bwMode="auto">
                      <a:xfrm>
                        <a:off x="1709738" y="2571751"/>
                        <a:ext cx="6183312" cy="6254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7" name="Rectangle 5"/>
          <p:cNvSpPr>
            <a:spLocks noChangeArrowheads="1"/>
          </p:cNvSpPr>
          <p:nvPr/>
        </p:nvSpPr>
        <p:spPr bwMode="auto">
          <a:xfrm>
            <a:off x="468315" y="843578"/>
            <a:ext cx="8468005"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a:lnSpc>
                <a:spcPct val="130000"/>
              </a:lnSpc>
            </a:pPr>
            <a:r>
              <a:rPr lang="zh-CN" altLang="en-US" sz="2400" b="1" dirty="0">
                <a:ea typeface="黑体" pitchFamily="49" charset="-122"/>
              </a:rPr>
              <a:t>例</a:t>
            </a:r>
            <a:r>
              <a:rPr lang="en-US" altLang="zh-CN" sz="2400" b="1" dirty="0">
                <a:ea typeface="黑体" pitchFamily="49" charset="-122"/>
              </a:rPr>
              <a:t>1  </a:t>
            </a:r>
            <a:r>
              <a:rPr lang="zh-CN" altLang="en-US" sz="2400" b="1" dirty="0">
                <a:ea typeface="黑体" pitchFamily="49" charset="-122"/>
              </a:rPr>
              <a:t>将等体积的</a:t>
            </a:r>
            <a:r>
              <a:rPr lang="en-US" altLang="zh-CN" sz="2400" b="1" dirty="0">
                <a:ea typeface="黑体" pitchFamily="49" charset="-122"/>
              </a:rPr>
              <a:t>4×10</a:t>
            </a:r>
            <a:r>
              <a:rPr lang="en-US" altLang="zh-CN" sz="2400" b="1" baseline="30000" dirty="0">
                <a:ea typeface="黑体" pitchFamily="49" charset="-122"/>
              </a:rPr>
              <a:t>-3</a:t>
            </a:r>
            <a:r>
              <a:rPr lang="en-US" altLang="zh-CN" sz="2400" b="1" dirty="0">
                <a:ea typeface="黑体" pitchFamily="49" charset="-122"/>
              </a:rPr>
              <a:t>mol·L</a:t>
            </a:r>
            <a:r>
              <a:rPr lang="en-US" altLang="zh-CN" sz="2400" b="1" baseline="30000" dirty="0">
                <a:ea typeface="黑体" pitchFamily="49" charset="-122"/>
              </a:rPr>
              <a:t>-1</a:t>
            </a:r>
            <a:r>
              <a:rPr lang="en-US" altLang="zh-CN" sz="2400" b="1" dirty="0">
                <a:ea typeface="黑体" pitchFamily="49" charset="-122"/>
              </a:rPr>
              <a:t> AgNO</a:t>
            </a:r>
            <a:r>
              <a:rPr lang="en-US" altLang="zh-CN" sz="2400" b="1" baseline="-25000" dirty="0">
                <a:ea typeface="黑体" pitchFamily="49" charset="-122"/>
              </a:rPr>
              <a:t>3</a:t>
            </a:r>
            <a:r>
              <a:rPr lang="zh-CN" altLang="en-US" sz="2400" b="1" dirty="0">
                <a:ea typeface="黑体" pitchFamily="49" charset="-122"/>
              </a:rPr>
              <a:t>和</a:t>
            </a:r>
            <a:r>
              <a:rPr lang="en-US" altLang="zh-CN" sz="2400" b="1" dirty="0">
                <a:ea typeface="黑体" pitchFamily="49" charset="-122"/>
              </a:rPr>
              <a:t>4×10</a:t>
            </a:r>
            <a:r>
              <a:rPr lang="en-US" altLang="zh-CN" sz="2400" b="1" baseline="30000" dirty="0">
                <a:ea typeface="黑体" pitchFamily="49" charset="-122"/>
              </a:rPr>
              <a:t>-3</a:t>
            </a:r>
            <a:r>
              <a:rPr lang="en-US" altLang="zh-CN" sz="2400" b="1" dirty="0">
                <a:ea typeface="黑体" pitchFamily="49" charset="-122"/>
              </a:rPr>
              <a:t> mol·L</a:t>
            </a:r>
            <a:r>
              <a:rPr lang="en-US" altLang="zh-CN" sz="2400" b="1" baseline="30000" dirty="0">
                <a:ea typeface="黑体" pitchFamily="49" charset="-122"/>
              </a:rPr>
              <a:t>-1</a:t>
            </a:r>
            <a:r>
              <a:rPr lang="en-US" altLang="zh-CN" sz="2400" b="1" dirty="0">
                <a:ea typeface="黑体" pitchFamily="49" charset="-122"/>
              </a:rPr>
              <a:t>    K</a:t>
            </a:r>
            <a:r>
              <a:rPr lang="en-US" altLang="zh-CN" sz="2400" b="1" baseline="-25000" dirty="0">
                <a:ea typeface="黑体" pitchFamily="49" charset="-122"/>
              </a:rPr>
              <a:t>2</a:t>
            </a:r>
            <a:r>
              <a:rPr lang="en-US" altLang="zh-CN" sz="2400" b="1" dirty="0">
                <a:ea typeface="黑体" pitchFamily="49" charset="-122"/>
              </a:rPr>
              <a:t>CrO</a:t>
            </a:r>
            <a:r>
              <a:rPr lang="en-US" altLang="zh-CN" sz="2400" b="1" baseline="-25000" dirty="0">
                <a:ea typeface="黑体" pitchFamily="49" charset="-122"/>
              </a:rPr>
              <a:t>4</a:t>
            </a:r>
            <a:r>
              <a:rPr lang="zh-CN" altLang="en-US" sz="2400" b="1" dirty="0">
                <a:ea typeface="黑体" pitchFamily="49" charset="-122"/>
              </a:rPr>
              <a:t>混合，是否有</a:t>
            </a:r>
            <a:r>
              <a:rPr lang="en-US" altLang="zh-CN" sz="2400" b="1" dirty="0">
                <a:ea typeface="黑体" pitchFamily="49" charset="-122"/>
              </a:rPr>
              <a:t>Ag</a:t>
            </a:r>
            <a:r>
              <a:rPr lang="en-US" altLang="zh-CN" sz="2400" b="1" baseline="-25000" dirty="0">
                <a:ea typeface="黑体" pitchFamily="49" charset="-122"/>
              </a:rPr>
              <a:t>2</a:t>
            </a:r>
            <a:r>
              <a:rPr lang="en-US" altLang="zh-CN" sz="2400" b="1" dirty="0">
                <a:ea typeface="黑体" pitchFamily="49" charset="-122"/>
              </a:rPr>
              <a:t>CrO</a:t>
            </a:r>
            <a:r>
              <a:rPr lang="en-US" altLang="zh-CN" sz="2400" b="1" baseline="-25000" dirty="0">
                <a:ea typeface="黑体" pitchFamily="49" charset="-122"/>
              </a:rPr>
              <a:t>4</a:t>
            </a:r>
            <a:r>
              <a:rPr lang="en-US" altLang="zh-CN" sz="2400" b="1" dirty="0">
                <a:ea typeface="黑体" pitchFamily="49" charset="-122"/>
              </a:rPr>
              <a:t>↓</a:t>
            </a:r>
            <a:r>
              <a:rPr lang="zh-CN" altLang="en-US" sz="2400" b="1" dirty="0">
                <a:ea typeface="黑体" pitchFamily="49" charset="-122"/>
              </a:rPr>
              <a:t>？已知，</a:t>
            </a:r>
            <a:r>
              <a:rPr lang="en-US" altLang="zh-CN" sz="2400" b="1" i="1" dirty="0" err="1">
                <a:ea typeface="黑体" pitchFamily="49" charset="-122"/>
              </a:rPr>
              <a:t>K</a:t>
            </a:r>
            <a:r>
              <a:rPr lang="en-US" altLang="zh-CN" sz="2400" b="1" baseline="-25000" dirty="0" err="1">
                <a:ea typeface="黑体" pitchFamily="49" charset="-122"/>
              </a:rPr>
              <a:t>sp</a:t>
            </a:r>
            <a:r>
              <a:rPr lang="en-US" altLang="zh-CN" sz="2400" b="1" baseline="-25000" dirty="0">
                <a:ea typeface="黑体" pitchFamily="49" charset="-122"/>
              </a:rPr>
              <a:t> </a:t>
            </a:r>
            <a:r>
              <a:rPr lang="en-US" altLang="zh-CN" sz="2400" b="1" dirty="0">
                <a:ea typeface="黑体" pitchFamily="49" charset="-122"/>
              </a:rPr>
              <a:t>= 9×10</a:t>
            </a:r>
            <a:r>
              <a:rPr lang="en-US" altLang="zh-CN" sz="2400" b="1" baseline="30000" dirty="0">
                <a:ea typeface="黑体" pitchFamily="49" charset="-122"/>
              </a:rPr>
              <a:t>-12</a:t>
            </a:r>
          </a:p>
        </p:txBody>
      </p:sp>
      <p:sp>
        <p:nvSpPr>
          <p:cNvPr id="28678" name="Rectangle 6"/>
          <p:cNvSpPr>
            <a:spLocks noChangeArrowheads="1"/>
          </p:cNvSpPr>
          <p:nvPr/>
        </p:nvSpPr>
        <p:spPr bwMode="auto">
          <a:xfrm>
            <a:off x="468313" y="2193132"/>
            <a:ext cx="1079500"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a:lnSpc>
                <a:spcPct val="130000"/>
              </a:lnSpc>
            </a:pPr>
            <a:r>
              <a:rPr lang="zh-CN" altLang="en-US" sz="2800" b="1">
                <a:ea typeface="黑体" pitchFamily="49" charset="-122"/>
              </a:rPr>
              <a:t>解：</a:t>
            </a:r>
          </a:p>
          <a:p>
            <a:pPr>
              <a:lnSpc>
                <a:spcPct val="130000"/>
              </a:lnSpc>
            </a:pPr>
            <a:endParaRPr lang="en-US" altLang="zh-CN" sz="2800" b="1">
              <a:ea typeface="黑体" pitchFamily="49" charset="-122"/>
            </a:endParaRPr>
          </a:p>
        </p:txBody>
      </p:sp>
      <p:sp>
        <p:nvSpPr>
          <p:cNvPr id="28679" name="Rectangle 7"/>
          <p:cNvSpPr>
            <a:spLocks noChangeArrowheads="1"/>
          </p:cNvSpPr>
          <p:nvPr/>
        </p:nvSpPr>
        <p:spPr bwMode="auto">
          <a:xfrm>
            <a:off x="2411760" y="3598068"/>
            <a:ext cx="446405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pPr>
              <a:lnSpc>
                <a:spcPct val="130000"/>
              </a:lnSpc>
            </a:pPr>
            <a:r>
              <a:rPr lang="en-US" altLang="zh-CN" sz="2800" b="1" dirty="0">
                <a:ea typeface="黑体" pitchFamily="49" charset="-122"/>
              </a:rPr>
              <a:t>∴ Q</a:t>
            </a:r>
            <a:r>
              <a:rPr lang="en-US" altLang="zh-CN" sz="2800" b="1" baseline="-25000" dirty="0">
                <a:ea typeface="黑体" pitchFamily="49" charset="-122"/>
              </a:rPr>
              <a:t> </a:t>
            </a:r>
            <a:r>
              <a:rPr lang="en-US" altLang="zh-CN" sz="2800" b="1" dirty="0">
                <a:ea typeface="黑体" pitchFamily="49" charset="-122"/>
              </a:rPr>
              <a:t>&gt; </a:t>
            </a:r>
            <a:r>
              <a:rPr lang="en-US" altLang="zh-CN" sz="2800" b="1" i="1" dirty="0" err="1">
                <a:ea typeface="黑体" pitchFamily="49" charset="-122"/>
              </a:rPr>
              <a:t>K</a:t>
            </a:r>
            <a:r>
              <a:rPr lang="en-US" altLang="zh-CN" sz="2800" b="1" baseline="-25000" dirty="0" err="1">
                <a:ea typeface="黑体" pitchFamily="49" charset="-122"/>
              </a:rPr>
              <a:t>sp</a:t>
            </a:r>
            <a:r>
              <a:rPr lang="en-US" altLang="zh-CN" sz="2800" b="1" dirty="0">
                <a:ea typeface="黑体" pitchFamily="49" charset="-122"/>
              </a:rPr>
              <a:t>  </a:t>
            </a:r>
            <a:r>
              <a:rPr lang="zh-CN" altLang="en-US" sz="2800" b="1" dirty="0">
                <a:ea typeface="黑体" pitchFamily="49" charset="-122"/>
              </a:rPr>
              <a:t>有沉淀生成</a:t>
            </a:r>
          </a:p>
        </p:txBody>
      </p:sp>
    </p:spTree>
    <p:extLst>
      <p:ext uri="{BB962C8B-B14F-4D97-AF65-F5344CB8AC3E}">
        <p14:creationId xmlns:p14="http://schemas.microsoft.com/office/powerpoint/2010/main" val="406558347"/>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blinds(horizontal)">
                                      <p:cBhvr>
                                        <p:cTn id="7" dur="500"/>
                                        <p:tgtEl>
                                          <p:spTgt spid="286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8678"/>
                                        </p:tgtEl>
                                        <p:attrNameLst>
                                          <p:attrName>style.visibility</p:attrName>
                                        </p:attrNameLst>
                                      </p:cBhvr>
                                      <p:to>
                                        <p:strVal val="visible"/>
                                      </p:to>
                                    </p:set>
                                    <p:animEffect transition="in" filter="diamond(in)">
                                      <p:cBhvr>
                                        <p:cTn id="12" dur="1000"/>
                                        <p:tgtEl>
                                          <p:spTgt spid="28678"/>
                                        </p:tgtEl>
                                      </p:cBhvr>
                                    </p:animEffect>
                                  </p:childTnLst>
                                </p:cTn>
                              </p:par>
                              <p:par>
                                <p:cTn id="13" presetID="8" presetClass="entr" presetSubtype="16" fill="hold" nodeType="withEffect">
                                  <p:stCondLst>
                                    <p:cond delay="0"/>
                                  </p:stCondLst>
                                  <p:childTnLst>
                                    <p:set>
                                      <p:cBhvr>
                                        <p:cTn id="14" dur="1" fill="hold">
                                          <p:stCondLst>
                                            <p:cond delay="0"/>
                                          </p:stCondLst>
                                        </p:cTn>
                                        <p:tgtEl>
                                          <p:spTgt spid="28676"/>
                                        </p:tgtEl>
                                        <p:attrNameLst>
                                          <p:attrName>style.visibility</p:attrName>
                                        </p:attrNameLst>
                                      </p:cBhvr>
                                      <p:to>
                                        <p:strVal val="visible"/>
                                      </p:to>
                                    </p:set>
                                    <p:animEffect transition="in" filter="diamond(in)">
                                      <p:cBhvr>
                                        <p:cTn id="15" dur="1000"/>
                                        <p:tgtEl>
                                          <p:spTgt spid="2867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8679"/>
                                        </p:tgtEl>
                                        <p:attrNameLst>
                                          <p:attrName>style.visibility</p:attrName>
                                        </p:attrNameLst>
                                      </p:cBhvr>
                                      <p:to>
                                        <p:strVal val="visible"/>
                                      </p:to>
                                    </p:set>
                                    <p:anim calcmode="lin" valueType="num">
                                      <p:cBhvr additive="base">
                                        <p:cTn id="20" dur="500" fill="hold"/>
                                        <p:tgtEl>
                                          <p:spTgt spid="28679"/>
                                        </p:tgtEl>
                                        <p:attrNameLst>
                                          <p:attrName>ppt_x</p:attrName>
                                        </p:attrNameLst>
                                      </p:cBhvr>
                                      <p:tavLst>
                                        <p:tav tm="0">
                                          <p:val>
                                            <p:strVal val="#ppt_x"/>
                                          </p:val>
                                        </p:tav>
                                        <p:tav tm="100000">
                                          <p:val>
                                            <p:strVal val="#ppt_x"/>
                                          </p:val>
                                        </p:tav>
                                      </p:tavLst>
                                    </p:anim>
                                    <p:anim calcmode="lin" valueType="num">
                                      <p:cBhvr additive="base">
                                        <p:cTn id="21" dur="500" fill="hold"/>
                                        <p:tgtEl>
                                          <p:spTgt spid="286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utoUpdateAnimBg="0"/>
      <p:bldP spid="28678" grpId="0" autoUpdateAnimBg="0"/>
      <p:bldP spid="28679"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ext Box 11"/>
          <p:cNvSpPr txBox="1"/>
          <p:nvPr/>
        </p:nvSpPr>
        <p:spPr>
          <a:xfrm>
            <a:off x="395288" y="303216"/>
            <a:ext cx="3384550" cy="584775"/>
          </a:xfrm>
          <a:prstGeom prst="rect">
            <a:avLst/>
          </a:prstGeom>
          <a:noFill/>
          <a:ln w="9525">
            <a:noFill/>
          </a:ln>
        </p:spPr>
        <p:txBody>
          <a:bodyPr anchor="t" anchorCtr="0">
            <a:spAutoFit/>
          </a:bodyPr>
          <a:lstStyle/>
          <a:p>
            <a:pPr>
              <a:spcBef>
                <a:spcPct val="50000"/>
              </a:spcBef>
              <a:buClrTx/>
              <a:buFontTx/>
            </a:pPr>
            <a:r>
              <a:rPr lang="en-US" altLang="zh-CN" sz="3200" b="0" dirty="0">
                <a:latin typeface="华文新魏" pitchFamily="2" charset="-122"/>
                <a:ea typeface="华文新魏" pitchFamily="2" charset="-122"/>
              </a:rPr>
              <a:t>(2) </a:t>
            </a:r>
            <a:r>
              <a:rPr lang="zh-CN" altLang="en-US" sz="3200" b="0" dirty="0">
                <a:latin typeface="华文新魏" pitchFamily="2" charset="-122"/>
                <a:ea typeface="华文新魏" pitchFamily="2" charset="-122"/>
              </a:rPr>
              <a:t>同离子效应 </a:t>
            </a:r>
          </a:p>
        </p:txBody>
      </p:sp>
      <p:sp>
        <p:nvSpPr>
          <p:cNvPr id="64514" name="Rectangle 13"/>
          <p:cNvSpPr/>
          <p:nvPr/>
        </p:nvSpPr>
        <p:spPr>
          <a:xfrm>
            <a:off x="5" y="227442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64515" name="Group 17"/>
          <p:cNvGrpSpPr/>
          <p:nvPr/>
        </p:nvGrpSpPr>
        <p:grpSpPr>
          <a:xfrm>
            <a:off x="2411418" y="1436688"/>
            <a:ext cx="6048375" cy="522682"/>
            <a:chOff x="1020" y="754"/>
            <a:chExt cx="3810" cy="438"/>
          </a:xfrm>
        </p:grpSpPr>
        <p:sp>
          <p:nvSpPr>
            <p:cNvPr id="64516" name="Text Box 10"/>
            <p:cNvSpPr txBox="1"/>
            <p:nvPr/>
          </p:nvSpPr>
          <p:spPr>
            <a:xfrm>
              <a:off x="1020" y="754"/>
              <a:ext cx="3810" cy="438"/>
            </a:xfrm>
            <a:prstGeom prst="rect">
              <a:avLst/>
            </a:prstGeom>
            <a:noFill/>
            <a:ln w="9525">
              <a:noFill/>
            </a:ln>
          </p:spPr>
          <p:txBody>
            <a:bodyPr anchor="t" anchorCtr="0">
              <a:spAutoFit/>
            </a:bodyPr>
            <a:lstStyle/>
            <a:p>
              <a:pPr>
                <a:spcBef>
                  <a:spcPct val="50000"/>
                </a:spcBef>
                <a:buClrTx/>
                <a:buFontTx/>
              </a:pPr>
              <a:r>
                <a:rPr lang="en-US" altLang="zh-CN" dirty="0">
                  <a:latin typeface="Times New Roman" panose="02020603050405020304" pitchFamily="18" charset="0"/>
                  <a:ea typeface="宋体" panose="02010600030101010101" pitchFamily="2" charset="-122"/>
                </a:rPr>
                <a:t>CaCO</a:t>
              </a:r>
              <a:r>
                <a:rPr lang="en-US" altLang="zh-CN" baseline="-25000" dirty="0">
                  <a:latin typeface="Times New Roman" panose="02020603050405020304" pitchFamily="18" charset="0"/>
                  <a:ea typeface="宋体" panose="02010600030101010101" pitchFamily="2" charset="-122"/>
                </a:rPr>
                <a:t>3           </a:t>
              </a:r>
              <a:r>
                <a:rPr lang="en-US" altLang="zh-CN" dirty="0">
                  <a:latin typeface="Times New Roman" panose="02020603050405020304" pitchFamily="18" charset="0"/>
                  <a:ea typeface="宋体" panose="02010600030101010101" pitchFamily="2" charset="-122"/>
                </a:rPr>
                <a:t>Ca</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 CO</a:t>
              </a:r>
              <a:r>
                <a:rPr lang="en-US" altLang="zh-CN" baseline="-25000" dirty="0">
                  <a:latin typeface="Times New Roman" panose="02020603050405020304" pitchFamily="18" charset="0"/>
                  <a:ea typeface="宋体" panose="02010600030101010101" pitchFamily="2" charset="-122"/>
                </a:rPr>
                <a:t>3</a:t>
              </a:r>
              <a:r>
                <a:rPr lang="en-US" altLang="zh-CN" baseline="30000" dirty="0">
                  <a:latin typeface="Times New Roman" panose="02020603050405020304" pitchFamily="18" charset="0"/>
                  <a:ea typeface="宋体" panose="02010600030101010101" pitchFamily="2" charset="-122"/>
                </a:rPr>
                <a:t>2-</a:t>
              </a:r>
              <a:endParaRPr lang="zh-CN" altLang="en-US" baseline="30000" dirty="0">
                <a:latin typeface="Times New Roman" panose="02020603050405020304" pitchFamily="18" charset="0"/>
                <a:ea typeface="宋体" panose="02010600030101010101" pitchFamily="2" charset="-122"/>
              </a:endParaRPr>
            </a:p>
          </p:txBody>
        </p:sp>
        <p:graphicFrame>
          <p:nvGraphicFramePr>
            <p:cNvPr id="64517" name="Object 12"/>
            <p:cNvGraphicFramePr>
              <a:graphicFrameLocks noChangeAspect="1"/>
            </p:cNvGraphicFramePr>
            <p:nvPr/>
          </p:nvGraphicFramePr>
          <p:xfrm>
            <a:off x="1791" y="890"/>
            <a:ext cx="408" cy="91"/>
          </p:xfrm>
          <a:graphic>
            <a:graphicData uri="http://schemas.openxmlformats.org/presentationml/2006/ole">
              <mc:AlternateContent xmlns:mc="http://schemas.openxmlformats.org/markup-compatibility/2006">
                <mc:Choice xmlns:v="urn:schemas-microsoft-com:vml" Requires="v">
                  <p:oleObj r:id="rId2" imgW="676275" imgH="171450" progId="Equation.3">
                    <p:embed/>
                  </p:oleObj>
                </mc:Choice>
                <mc:Fallback>
                  <p:oleObj r:id="rId2" imgW="676275" imgH="171450" progId="Equation.3">
                    <p:embed/>
                    <p:pic>
                      <p:nvPicPr>
                        <p:cNvPr id="0" name="图片 3159"/>
                        <p:cNvPicPr/>
                        <p:nvPr/>
                      </p:nvPicPr>
                      <p:blipFill>
                        <a:blip r:embed="rId3"/>
                        <a:stretch>
                          <a:fillRect/>
                        </a:stretch>
                      </p:blipFill>
                      <p:spPr>
                        <a:xfrm>
                          <a:off x="1791" y="890"/>
                          <a:ext cx="408" cy="91"/>
                        </a:xfrm>
                        <a:prstGeom prst="rect">
                          <a:avLst/>
                        </a:prstGeom>
                        <a:noFill/>
                        <a:ln w="38100">
                          <a:noFill/>
                          <a:miter/>
                        </a:ln>
                      </p:spPr>
                    </p:pic>
                  </p:oleObj>
                </mc:Fallback>
              </mc:AlternateContent>
            </a:graphicData>
          </a:graphic>
        </p:graphicFrame>
      </p:grpSp>
      <p:sp>
        <p:nvSpPr>
          <p:cNvPr id="52238" name="Text Box 14"/>
          <p:cNvSpPr txBox="1"/>
          <p:nvPr/>
        </p:nvSpPr>
        <p:spPr>
          <a:xfrm>
            <a:off x="539756" y="2679702"/>
            <a:ext cx="8353425" cy="1384995"/>
          </a:xfrm>
          <a:prstGeom prst="rect">
            <a:avLst/>
          </a:prstGeom>
          <a:noFill/>
          <a:ln w="9525">
            <a:noFill/>
          </a:ln>
        </p:spPr>
        <p:txBody>
          <a:bodyPr anchor="t" anchorCtr="0">
            <a:spAutoFit/>
          </a:bodyPr>
          <a:lstStyle/>
          <a:p>
            <a:pPr>
              <a:lnSpc>
                <a:spcPct val="150000"/>
              </a:lnSpc>
              <a:spcBef>
                <a:spcPct val="50000"/>
              </a:spcBef>
              <a:buClrTx/>
              <a:buFontTx/>
            </a:pPr>
            <a:r>
              <a:rPr lang="zh-CN" altLang="en-US" dirty="0">
                <a:latin typeface="Times New Roman" panose="02020603050405020304" pitchFamily="18" charset="0"/>
                <a:ea typeface="宋体" panose="02010600030101010101" pitchFamily="2" charset="-122"/>
              </a:rPr>
              <a:t>       向难溶电解质加入含相同离子的强电解质，而使难溶电解质溶解度降低的现象也称作</a:t>
            </a:r>
            <a:r>
              <a:rPr lang="zh-CN" altLang="en-US" dirty="0">
                <a:solidFill>
                  <a:srgbClr val="C00000"/>
                </a:solidFill>
                <a:latin typeface="Times New Roman" panose="02020603050405020304" pitchFamily="18" charset="0"/>
                <a:ea typeface="宋体" panose="02010600030101010101" pitchFamily="2" charset="-122"/>
              </a:rPr>
              <a:t>同离子效应</a:t>
            </a:r>
            <a:r>
              <a:rPr lang="zh-CN" altLang="en-US" dirty="0">
                <a:latin typeface="Times New Roman" panose="02020603050405020304" pitchFamily="18" charset="0"/>
                <a:ea typeface="宋体" panose="02010600030101010101" pitchFamily="2" charset="-122"/>
              </a:rPr>
              <a:t>。</a:t>
            </a:r>
          </a:p>
        </p:txBody>
      </p:sp>
      <p:sp>
        <p:nvSpPr>
          <p:cNvPr id="64519" name="Text Box 15"/>
          <p:cNvSpPr txBox="1"/>
          <p:nvPr/>
        </p:nvSpPr>
        <p:spPr>
          <a:xfrm>
            <a:off x="2484444" y="1978025"/>
            <a:ext cx="5400675" cy="523220"/>
          </a:xfrm>
          <a:prstGeom prst="rect">
            <a:avLst/>
          </a:prstGeom>
          <a:noFill/>
          <a:ln w="9525">
            <a:noFill/>
          </a:ln>
        </p:spPr>
        <p:txBody>
          <a:bodyPr anchor="t" anchorCtr="0">
            <a:spAutoFit/>
          </a:bodyPr>
          <a:lstStyle/>
          <a:p>
            <a:pPr>
              <a:spcBef>
                <a:spcPct val="50000"/>
              </a:spcBef>
              <a:buClrTx/>
              <a:buFontTx/>
            </a:pPr>
            <a:r>
              <a:rPr lang="en-US" altLang="zh-CN" dirty="0">
                <a:latin typeface="Times New Roman" panose="02020603050405020304" pitchFamily="18" charset="0"/>
                <a:ea typeface="宋体" panose="02010600030101010101" pitchFamily="2" charset="-122"/>
              </a:rPr>
              <a:t>Na</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CO</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 → CO</a:t>
            </a:r>
            <a:r>
              <a:rPr lang="en-US" altLang="zh-CN" baseline="-25000" dirty="0">
                <a:latin typeface="Times New Roman" panose="02020603050405020304" pitchFamily="18" charset="0"/>
                <a:ea typeface="宋体" panose="02010600030101010101" pitchFamily="2" charset="-122"/>
              </a:rPr>
              <a:t>3</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+Na</a:t>
            </a:r>
            <a:r>
              <a:rPr lang="en-US" altLang="zh-CN" baseline="30000" dirty="0">
                <a:latin typeface="Times New Roman" panose="02020603050405020304" pitchFamily="18" charset="0"/>
                <a:ea typeface="宋体" panose="02010600030101010101" pitchFamily="2" charset="-122"/>
              </a:rPr>
              <a:t>+</a:t>
            </a:r>
            <a:endParaRPr lang="zh-CN" altLang="en-US" baseline="30000" dirty="0">
              <a:latin typeface="Times New Roman" panose="02020603050405020304" pitchFamily="18" charset="0"/>
              <a:ea typeface="宋体" panose="02010600030101010101" pitchFamily="2" charset="-122"/>
            </a:endParaRPr>
          </a:p>
        </p:txBody>
      </p:sp>
      <p:sp>
        <p:nvSpPr>
          <p:cNvPr id="64520" name="Text Box 18"/>
          <p:cNvSpPr txBox="1"/>
          <p:nvPr/>
        </p:nvSpPr>
        <p:spPr>
          <a:xfrm>
            <a:off x="0" y="1436689"/>
            <a:ext cx="2700338" cy="523220"/>
          </a:xfrm>
          <a:prstGeom prst="rect">
            <a:avLst/>
          </a:prstGeom>
          <a:noFill/>
          <a:ln w="9525">
            <a:noFill/>
          </a:ln>
        </p:spPr>
        <p:txBody>
          <a:bodyPr anchor="t" anchorCtr="0">
            <a:spAutoFit/>
          </a:bodyPr>
          <a:lstStyle/>
          <a:p>
            <a:pPr>
              <a:spcBef>
                <a:spcPct val="50000"/>
              </a:spcBef>
              <a:buClrTx/>
              <a:buFontTx/>
            </a:pPr>
            <a:r>
              <a:rPr lang="zh-CN" altLang="en-US" dirty="0">
                <a:latin typeface="宋体" panose="02010600030101010101" pitchFamily="2" charset="-122"/>
                <a:ea typeface="宋体" panose="02010600030101010101" pitchFamily="2" charset="-122"/>
              </a:rPr>
              <a:t>沉淀</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溶解平衡</a:t>
            </a:r>
          </a:p>
        </p:txBody>
      </p:sp>
      <p:grpSp>
        <p:nvGrpSpPr>
          <p:cNvPr id="3" name="Group 19"/>
          <p:cNvGrpSpPr/>
          <p:nvPr/>
        </p:nvGrpSpPr>
        <p:grpSpPr>
          <a:xfrm>
            <a:off x="2700338" y="1112845"/>
            <a:ext cx="5759450" cy="400051"/>
            <a:chOff x="2064" y="754"/>
            <a:chExt cx="3628" cy="336"/>
          </a:xfrm>
        </p:grpSpPr>
        <p:sp>
          <p:nvSpPr>
            <p:cNvPr id="64522" name="Line 20"/>
            <p:cNvSpPr/>
            <p:nvPr/>
          </p:nvSpPr>
          <p:spPr>
            <a:xfrm flipH="1">
              <a:off x="2064" y="935"/>
              <a:ext cx="1678" cy="0"/>
            </a:xfrm>
            <a:prstGeom prst="line">
              <a:avLst/>
            </a:prstGeom>
            <a:ln w="28575" cap="flat" cmpd="sng">
              <a:solidFill>
                <a:srgbClr val="FF0000"/>
              </a:solidFill>
              <a:prstDash val="solid"/>
              <a:round/>
              <a:headEnd type="none" w="med" len="med"/>
              <a:tailEnd type="arrow" w="med" len="med"/>
            </a:ln>
          </p:spPr>
        </p:sp>
        <p:sp>
          <p:nvSpPr>
            <p:cNvPr id="64523" name="Text Box 21"/>
            <p:cNvSpPr txBox="1"/>
            <p:nvPr/>
          </p:nvSpPr>
          <p:spPr>
            <a:xfrm>
              <a:off x="3787" y="754"/>
              <a:ext cx="1905" cy="336"/>
            </a:xfrm>
            <a:prstGeom prst="rect">
              <a:avLst/>
            </a:prstGeom>
            <a:noFill/>
            <a:ln w="9525">
              <a:noFill/>
            </a:ln>
          </p:spPr>
          <p:txBody>
            <a:bodyPr anchor="t" anchorCtr="0">
              <a:spAutoFit/>
            </a:bodyPr>
            <a:lstStyle/>
            <a:p>
              <a:pPr>
                <a:spcBef>
                  <a:spcPct val="50000"/>
                </a:spcBef>
                <a:buClrTx/>
                <a:buFontTx/>
              </a:pPr>
              <a:r>
                <a:rPr lang="zh-CN" altLang="en-US" sz="2000" dirty="0">
                  <a:latin typeface="Times New Roman" panose="02020603050405020304" pitchFamily="18" charset="0"/>
                  <a:ea typeface="幼圆" pitchFamily="49" charset="-122"/>
                </a:rPr>
                <a:t>平衡移动方向</a:t>
              </a:r>
              <a:endParaRPr lang="zh-CN" altLang="en-US" sz="2000" b="0" dirty="0">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2238"/>
                                        </p:tgtEl>
                                        <p:attrNameLst>
                                          <p:attrName>style.visibility</p:attrName>
                                        </p:attrNameLst>
                                      </p:cBhvr>
                                      <p:to>
                                        <p:strVal val="visible"/>
                                      </p:to>
                                    </p:set>
                                    <p:animEffect transition="in" filter="blinds(horizontal)">
                                      <p:cBhvr>
                                        <p:cTn id="13" dur="500"/>
                                        <p:tgtEl>
                                          <p:spTgt spid="52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11"/>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65538" name="Group 25"/>
          <p:cNvGrpSpPr/>
          <p:nvPr/>
        </p:nvGrpSpPr>
        <p:grpSpPr>
          <a:xfrm>
            <a:off x="212725" y="123826"/>
            <a:ext cx="8680450" cy="1092201"/>
            <a:chOff x="204" y="255"/>
            <a:chExt cx="5125" cy="918"/>
          </a:xfrm>
        </p:grpSpPr>
        <p:sp>
          <p:nvSpPr>
            <p:cNvPr id="58378" name="Text Box 9"/>
            <p:cNvSpPr txBox="1">
              <a:spLocks noChangeArrowheads="1"/>
            </p:cNvSpPr>
            <p:nvPr/>
          </p:nvSpPr>
          <p:spPr bwMode="auto">
            <a:xfrm>
              <a:off x="204" y="255"/>
              <a:ext cx="5125" cy="918"/>
            </a:xfrm>
            <a:prstGeom prst="rect">
              <a:avLst/>
            </a:prstGeom>
            <a:solidFill>
              <a:srgbClr val="92D050"/>
            </a:solidFill>
            <a:ln>
              <a:solidFill>
                <a:srgbClr val="9900CC"/>
              </a:solidFill>
            </a:ln>
          </p:spPr>
          <p:style>
            <a:lnRef idx="2">
              <a:schemeClr val="accent5"/>
            </a:lnRef>
            <a:fillRef idx="1">
              <a:schemeClr val="lt1"/>
            </a:fillRef>
            <a:effectRef idx="0">
              <a:schemeClr val="accent5"/>
            </a:effectRef>
            <a:fontRef idx="minor">
              <a:schemeClr val="dk1"/>
            </a:fontRef>
          </p:style>
          <p:txBody>
            <a:bodyPr>
              <a:spAutoFit/>
            </a:bodyPr>
            <a:lstStyle>
              <a:lvl1pPr eaLnBrk="0" hangingPunct="0">
                <a:defRPr sz="2800" b="1">
                  <a:solidFill>
                    <a:schemeClr val="tx1"/>
                  </a:solidFill>
                  <a:latin typeface="Times New Roman" panose="02020603050405020304" pitchFamily="18" charset="0"/>
                  <a:ea typeface="幼圆" pitchFamily="49" charset="-122"/>
                </a:defRPr>
              </a:lvl1pPr>
              <a:lvl2pPr marL="742950" indent="-285750" eaLnBrk="0" hangingPunct="0">
                <a:defRPr sz="2800" b="1">
                  <a:solidFill>
                    <a:schemeClr val="tx1"/>
                  </a:solidFill>
                  <a:latin typeface="Times New Roman" panose="02020603050405020304" pitchFamily="18" charset="0"/>
                  <a:ea typeface="幼圆" pitchFamily="49" charset="-122"/>
                </a:defRPr>
              </a:lvl2pPr>
              <a:lvl3pPr marL="1143000" indent="-228600" eaLnBrk="0" hangingPunct="0">
                <a:defRPr sz="2800" b="1">
                  <a:solidFill>
                    <a:schemeClr val="tx1"/>
                  </a:solidFill>
                  <a:latin typeface="Times New Roman" panose="02020603050405020304" pitchFamily="18" charset="0"/>
                  <a:ea typeface="幼圆" pitchFamily="49" charset="-122"/>
                </a:defRPr>
              </a:lvl3pPr>
              <a:lvl4pPr marL="1600200" indent="-228600" eaLnBrk="0" hangingPunct="0">
                <a:defRPr sz="2800" b="1">
                  <a:solidFill>
                    <a:schemeClr val="tx1"/>
                  </a:solidFill>
                  <a:latin typeface="Times New Roman" panose="02020603050405020304" pitchFamily="18" charset="0"/>
                  <a:ea typeface="幼圆" pitchFamily="49" charset="-122"/>
                </a:defRPr>
              </a:lvl4pPr>
              <a:lvl5pPr marL="2057400" indent="-228600" eaLnBrk="0" hangingPunct="0">
                <a:defRPr sz="2800" b="1">
                  <a:solidFill>
                    <a:schemeClr val="tx1"/>
                  </a:solidFill>
                  <a:latin typeface="Times New Roman" panose="02020603050405020304" pitchFamily="18" charset="0"/>
                  <a:ea typeface="幼圆"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幼圆" pitchFamily="49" charset="-122"/>
                </a:defRPr>
              </a:lvl9pPr>
            </a:lstStyle>
            <a:p>
              <a:pPr marL="0" marR="0" lvl="0" indent="0" algn="l" defTabSz="914400" rtl="0" eaLnBrk="1" fontAlgn="base" latinLnBrk="0" hangingPunct="1">
                <a:lnSpc>
                  <a:spcPts val="39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例</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3.7] </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求</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298.15K</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时，</a:t>
              </a:r>
              <a:r>
                <a:rPr kumimoji="0" lang="en-US" altLang="zh-CN"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AgCl</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在</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0.10mol·L</a:t>
              </a:r>
              <a:r>
                <a:rPr kumimoji="0" lang="en-US" altLang="zh-CN" sz="2800" b="1" i="0" u="none" strike="noStrike" kern="1200" cap="none" spc="0" normalizeH="0" baseline="30000" noProof="0" dirty="0">
                  <a:ln>
                    <a:noFill/>
                  </a:ln>
                  <a:solidFill>
                    <a:schemeClr val="tx1"/>
                  </a:solidFill>
                  <a:effectLst/>
                  <a:uLnTx/>
                  <a:uFillTx/>
                  <a:latin typeface="Times New Roman" panose="02020603050405020304" pitchFamily="18" charset="0"/>
                  <a:ea typeface="宋体" panose="02010600030101010101" pitchFamily="2" charset="-122"/>
                  <a:cs typeface="+mn-cs"/>
                </a:rPr>
                <a:t>-l</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NaCl</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溶液中的溶解度。（已知        </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AgCl</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)=1.77×10</a:t>
              </a:r>
              <a:r>
                <a:rPr kumimoji="0" lang="en-US" altLang="zh-CN" sz="2800" b="1" i="0" u="none" strike="noStrike" kern="1200" cap="none" spc="0" normalizeH="0" baseline="30000" noProof="0" dirty="0">
                  <a:ln>
                    <a:noFill/>
                  </a:ln>
                  <a:solidFill>
                    <a:schemeClr val="tx1"/>
                  </a:solidFill>
                  <a:effectLst/>
                  <a:uLnTx/>
                  <a:uFillTx/>
                  <a:latin typeface="Times New Roman" panose="02020603050405020304" pitchFamily="18" charset="0"/>
                  <a:ea typeface="宋体" panose="02010600030101010101" pitchFamily="2" charset="-122"/>
                  <a:cs typeface="+mn-cs"/>
                </a:rPr>
                <a:t>-10</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p:txBody>
        </p:sp>
        <p:graphicFrame>
          <p:nvGraphicFramePr>
            <p:cNvPr id="65540" name="Object 10"/>
            <p:cNvGraphicFramePr>
              <a:graphicFrameLocks noChangeAspect="1"/>
            </p:cNvGraphicFramePr>
            <p:nvPr/>
          </p:nvGraphicFramePr>
          <p:xfrm>
            <a:off x="2012" y="754"/>
            <a:ext cx="425" cy="340"/>
          </p:xfrm>
          <a:graphic>
            <a:graphicData uri="http://schemas.openxmlformats.org/presentationml/2006/ole">
              <mc:AlternateContent xmlns:mc="http://schemas.openxmlformats.org/markup-compatibility/2006">
                <mc:Choice xmlns:v="urn:schemas-microsoft-com:vml" Requires="v">
                  <p:oleObj r:id="rId2" imgW="250825" imgH="264160" progId="Equation.3">
                    <p:embed/>
                  </p:oleObj>
                </mc:Choice>
                <mc:Fallback>
                  <p:oleObj r:id="rId2" imgW="250825" imgH="264160" progId="Equation.3">
                    <p:embed/>
                    <p:pic>
                      <p:nvPicPr>
                        <p:cNvPr id="0" name="图片 3160"/>
                        <p:cNvPicPr/>
                        <p:nvPr/>
                      </p:nvPicPr>
                      <p:blipFill>
                        <a:blip r:embed="rId3"/>
                        <a:stretch>
                          <a:fillRect/>
                        </a:stretch>
                      </p:blipFill>
                      <p:spPr>
                        <a:xfrm>
                          <a:off x="2012" y="754"/>
                          <a:ext cx="425" cy="340"/>
                        </a:xfrm>
                        <a:prstGeom prst="rect">
                          <a:avLst/>
                        </a:prstGeom>
                        <a:noFill/>
                        <a:ln w="38100">
                          <a:noFill/>
                          <a:miter/>
                        </a:ln>
                      </p:spPr>
                    </p:pic>
                  </p:oleObj>
                </mc:Fallback>
              </mc:AlternateContent>
            </a:graphicData>
          </a:graphic>
        </p:graphicFrame>
      </p:grpSp>
      <p:sp>
        <p:nvSpPr>
          <p:cNvPr id="65541" name="Rectangle 21"/>
          <p:cNvSpPr/>
          <p:nvPr/>
        </p:nvSpPr>
        <p:spPr>
          <a:xfrm>
            <a:off x="5" y="-261609"/>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5542" name="Rectangle 23"/>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3" name="Group 26"/>
          <p:cNvGrpSpPr/>
          <p:nvPr/>
        </p:nvGrpSpPr>
        <p:grpSpPr>
          <a:xfrm>
            <a:off x="250825" y="1168403"/>
            <a:ext cx="8820150" cy="1200151"/>
            <a:chOff x="158" y="981"/>
            <a:chExt cx="5556" cy="1008"/>
          </a:xfrm>
        </p:grpSpPr>
        <p:sp>
          <p:nvSpPr>
            <p:cNvPr id="65544" name="Text Box 13"/>
            <p:cNvSpPr txBox="1"/>
            <p:nvPr/>
          </p:nvSpPr>
          <p:spPr>
            <a:xfrm>
              <a:off x="158" y="981"/>
              <a:ext cx="5556" cy="1008"/>
            </a:xfrm>
            <a:prstGeom prst="rect">
              <a:avLst/>
            </a:prstGeom>
            <a:noFill/>
            <a:ln w="9525">
              <a:noFill/>
            </a:ln>
          </p:spPr>
          <p:txBody>
            <a:bodyPr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解：设</a:t>
              </a:r>
              <a:r>
                <a:rPr lang="en-US" altLang="zh-CN" sz="2400" dirty="0">
                  <a:latin typeface="Times New Roman" panose="02020603050405020304" pitchFamily="18" charset="0"/>
                  <a:ea typeface="宋体" panose="02010600030101010101" pitchFamily="2" charset="-122"/>
                </a:rPr>
                <a:t>AgCl</a:t>
              </a:r>
              <a:r>
                <a:rPr lang="zh-CN" altLang="en-US" sz="2400" dirty="0">
                  <a:latin typeface="Times New Roman" panose="02020603050405020304" pitchFamily="18" charset="0"/>
                  <a:ea typeface="宋体" panose="02010600030101010101" pitchFamily="2" charset="-122"/>
                </a:rPr>
                <a:t>在</a:t>
              </a:r>
              <a:r>
                <a:rPr lang="en-US" altLang="zh-CN" sz="2400" dirty="0">
                  <a:latin typeface="Times New Roman" panose="02020603050405020304" pitchFamily="18" charset="0"/>
                  <a:ea typeface="宋体" panose="02010600030101010101" pitchFamily="2" charset="-122"/>
                </a:rPr>
                <a:t>0.10mol·L-lNaCl</a:t>
              </a:r>
              <a:r>
                <a:rPr lang="zh-CN" altLang="en-US" sz="2400" dirty="0">
                  <a:latin typeface="Times New Roman" panose="02020603050405020304" pitchFamily="18" charset="0"/>
                  <a:ea typeface="宋体" panose="02010600030101010101" pitchFamily="2" charset="-122"/>
                </a:rPr>
                <a:t>溶液中的溶解度为</a:t>
              </a:r>
              <a:r>
                <a:rPr lang="en-US" altLang="zh-CN" sz="2400" i="1" dirty="0">
                  <a:latin typeface="Times New Roman" panose="02020603050405020304" pitchFamily="18" charset="0"/>
                  <a:ea typeface="宋体" panose="02010600030101010101" pitchFamily="2" charset="-122"/>
                </a:rPr>
                <a:t>s</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x </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，则</a:t>
              </a:r>
            </a:p>
            <a:p>
              <a:pPr>
                <a:buClrTx/>
                <a:buFontTx/>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AgCl(s)              Ag</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  Cl</a:t>
              </a:r>
              <a:r>
                <a:rPr lang="en-US" altLang="zh-CN" sz="2400" baseline="30000" dirty="0">
                  <a:latin typeface="Times New Roman" panose="02020603050405020304" pitchFamily="18" charset="0"/>
                  <a:ea typeface="宋体" panose="02010600030101010101" pitchFamily="2" charset="-122"/>
                </a:rPr>
                <a:t>-</a:t>
              </a:r>
            </a:p>
            <a:p>
              <a:pPr>
                <a:buClrTx/>
                <a:buFontTx/>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平衡浓度</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-l </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0.10                         </a:t>
              </a:r>
              <a:endParaRPr lang="zh-CN" altLang="en-US" sz="2400" dirty="0">
                <a:latin typeface="Times New Roman" panose="02020603050405020304" pitchFamily="18" charset="0"/>
                <a:ea typeface="宋体" panose="02010600030101010101" pitchFamily="2" charset="-122"/>
              </a:endParaRPr>
            </a:p>
          </p:txBody>
        </p:sp>
        <p:graphicFrame>
          <p:nvGraphicFramePr>
            <p:cNvPr id="65545" name="Object 20"/>
            <p:cNvGraphicFramePr>
              <a:graphicFrameLocks noChangeAspect="1"/>
            </p:cNvGraphicFramePr>
            <p:nvPr/>
          </p:nvGraphicFramePr>
          <p:xfrm>
            <a:off x="2200" y="1434"/>
            <a:ext cx="545" cy="91"/>
          </p:xfrm>
          <a:graphic>
            <a:graphicData uri="http://schemas.openxmlformats.org/presentationml/2006/ole">
              <mc:AlternateContent xmlns:mc="http://schemas.openxmlformats.org/markup-compatibility/2006">
                <mc:Choice xmlns:v="urn:schemas-microsoft-com:vml" Requires="v">
                  <p:oleObj r:id="rId4" imgW="676275" imgH="171450" progId="Equation.3">
                    <p:embed/>
                  </p:oleObj>
                </mc:Choice>
                <mc:Fallback>
                  <p:oleObj r:id="rId4" imgW="676275" imgH="171450" progId="Equation.3">
                    <p:embed/>
                    <p:pic>
                      <p:nvPicPr>
                        <p:cNvPr id="0" name="图片 3162"/>
                        <p:cNvPicPr/>
                        <p:nvPr/>
                      </p:nvPicPr>
                      <p:blipFill>
                        <a:blip r:embed="rId5"/>
                        <a:stretch>
                          <a:fillRect/>
                        </a:stretch>
                      </p:blipFill>
                      <p:spPr>
                        <a:xfrm>
                          <a:off x="2200" y="1434"/>
                          <a:ext cx="545" cy="91"/>
                        </a:xfrm>
                        <a:prstGeom prst="rect">
                          <a:avLst/>
                        </a:prstGeom>
                        <a:noFill/>
                        <a:ln w="38100">
                          <a:noFill/>
                          <a:miter/>
                        </a:ln>
                      </p:spPr>
                    </p:pic>
                  </p:oleObj>
                </mc:Fallback>
              </mc:AlternateContent>
            </a:graphicData>
          </a:graphic>
        </p:graphicFrame>
      </p:grpSp>
      <p:grpSp>
        <p:nvGrpSpPr>
          <p:cNvPr id="2" name="组合 1"/>
          <p:cNvGrpSpPr/>
          <p:nvPr/>
        </p:nvGrpSpPr>
        <p:grpSpPr>
          <a:xfrm>
            <a:off x="250825" y="2235200"/>
            <a:ext cx="8820150" cy="1569660"/>
            <a:chOff x="250825" y="2235448"/>
            <a:chExt cx="8820150" cy="1569281"/>
          </a:xfrm>
        </p:grpSpPr>
        <p:sp>
          <p:nvSpPr>
            <p:cNvPr id="65547" name="Text Box 13"/>
            <p:cNvSpPr txBox="1"/>
            <p:nvPr/>
          </p:nvSpPr>
          <p:spPr>
            <a:xfrm>
              <a:off x="250825" y="2235448"/>
              <a:ext cx="8820150" cy="1569281"/>
            </a:xfrm>
            <a:prstGeom prst="rect">
              <a:avLst/>
            </a:prstGeom>
            <a:noFill/>
            <a:ln w="9525">
              <a:noFill/>
            </a:ln>
          </p:spPr>
          <p:txBody>
            <a:bodyPr anchor="t" anchorCtr="0">
              <a:spAutoFit/>
            </a:bodyPr>
            <a:lstStyle/>
            <a:p>
              <a:pPr>
                <a:buClrTx/>
                <a:buFontTx/>
              </a:pPr>
              <a:r>
                <a:rPr lang="en-US" altLang="zh-CN" sz="2400" i="1" dirty="0">
                  <a:latin typeface="Times New Roman" panose="02020603050405020304" pitchFamily="18" charset="0"/>
                  <a:ea typeface="宋体" panose="02010600030101010101" pitchFamily="2" charset="-122"/>
                </a:rPr>
                <a:t>                       c</a:t>
              </a:r>
              <a:r>
                <a:rPr lang="en-US" altLang="zh-CN" sz="2400" dirty="0">
                  <a:latin typeface="Times New Roman" panose="02020603050405020304" pitchFamily="18" charset="0"/>
                  <a:ea typeface="宋体" panose="02010600030101010101" pitchFamily="2" charset="-122"/>
                </a:rPr>
                <a:t>(Ag</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(Cl</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(AgCl)</a:t>
              </a:r>
            </a:p>
            <a:p>
              <a:pPr>
                <a:buClrTx/>
                <a:buFontTx/>
              </a:pPr>
              <a:r>
                <a:rPr lang="en-US" altLang="zh-CN" sz="2400" i="1" dirty="0">
                  <a:latin typeface="Times New Roman" panose="02020603050405020304" pitchFamily="18" charset="0"/>
                  <a:ea typeface="宋体" panose="02010600030101010101" pitchFamily="2" charset="-122"/>
                </a:rPr>
                <a:t>                           x</a:t>
              </a:r>
              <a:r>
                <a:rPr lang="zh-CN" altLang="en-US"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0.10</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=1.77×10</a:t>
              </a:r>
              <a:r>
                <a:rPr lang="en-US" altLang="zh-CN" sz="2400" baseline="30000" dirty="0">
                  <a:latin typeface="Times New Roman" panose="02020603050405020304" pitchFamily="18" charset="0"/>
                  <a:ea typeface="宋体" panose="02010600030101010101" pitchFamily="2" charset="-122"/>
                </a:rPr>
                <a:t>-10</a:t>
              </a:r>
            </a:p>
            <a:p>
              <a:pPr>
                <a:buClrTx/>
                <a:buFontTx/>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由于       </a:t>
              </a:r>
              <a:r>
                <a:rPr lang="en-US" altLang="zh-CN" sz="2400" dirty="0">
                  <a:latin typeface="Times New Roman" panose="02020603050405020304" pitchFamily="18" charset="0"/>
                  <a:ea typeface="宋体" panose="02010600030101010101" pitchFamily="2" charset="-122"/>
                </a:rPr>
                <a:t>(AgCl)</a:t>
              </a:r>
              <a:r>
                <a:rPr lang="zh-CN" altLang="en-US" sz="2400" dirty="0">
                  <a:latin typeface="Times New Roman" panose="02020603050405020304" pitchFamily="18" charset="0"/>
                  <a:ea typeface="宋体" panose="02010600030101010101" pitchFamily="2" charset="-122"/>
                </a:rPr>
                <a:t>很小，即</a:t>
              </a:r>
              <a:r>
                <a:rPr lang="en-US" altLang="zh-CN" sz="2400" dirty="0">
                  <a:latin typeface="Times New Roman" panose="02020603050405020304" pitchFamily="18" charset="0"/>
                  <a:ea typeface="宋体" panose="02010600030101010101" pitchFamily="2" charset="-122"/>
                </a:rPr>
                <a:t>AgCl</a:t>
              </a:r>
              <a:r>
                <a:rPr lang="zh-CN" altLang="en-US" sz="2400" dirty="0">
                  <a:latin typeface="Times New Roman" panose="02020603050405020304" pitchFamily="18" charset="0"/>
                  <a:ea typeface="宋体" panose="02010600030101010101" pitchFamily="2" charset="-122"/>
                </a:rPr>
                <a:t>溶解度很小，则</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0.10≈0.10   </a:t>
              </a:r>
            </a:p>
            <a:p>
              <a:pPr>
                <a:buClrTx/>
                <a:buFontTx/>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所以  </a:t>
              </a:r>
              <a:r>
                <a:rPr lang="en-US" altLang="zh-CN" sz="2400" i="1" dirty="0">
                  <a:latin typeface="Times New Roman" panose="02020603050405020304" pitchFamily="18" charset="0"/>
                  <a:ea typeface="宋体" panose="02010600030101010101" pitchFamily="2" charset="-122"/>
                </a:rPr>
                <a:t>x=</a:t>
              </a:r>
              <a:r>
                <a:rPr lang="en-US" altLang="zh-CN" sz="2400" dirty="0">
                  <a:latin typeface="Times New Roman" panose="02020603050405020304" pitchFamily="18" charset="0"/>
                  <a:ea typeface="宋体" panose="02010600030101010101" pitchFamily="2" charset="-122"/>
                </a:rPr>
                <a:t>1.77×10</a:t>
              </a:r>
              <a:r>
                <a:rPr lang="en-US" altLang="zh-CN" sz="2400" baseline="30000" dirty="0">
                  <a:latin typeface="Times New Roman" panose="02020603050405020304" pitchFamily="18" charset="0"/>
                  <a:ea typeface="宋体" panose="02010600030101010101" pitchFamily="2" charset="-122"/>
                </a:rPr>
                <a:t>-9</a:t>
              </a:r>
              <a:r>
                <a:rPr lang="en-US" altLang="zh-CN"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s </a:t>
              </a:r>
              <a:r>
                <a:rPr lang="en-US" altLang="zh-CN" sz="2400" dirty="0">
                  <a:latin typeface="Times New Roman" panose="02020603050405020304" pitchFamily="18" charset="0"/>
                  <a:ea typeface="宋体" panose="02010600030101010101" pitchFamily="2" charset="-122"/>
                </a:rPr>
                <a:t>=1.77×10</a:t>
              </a:r>
              <a:r>
                <a:rPr lang="en-US" altLang="zh-CN" sz="2400" baseline="30000" dirty="0">
                  <a:latin typeface="Times New Roman" panose="02020603050405020304" pitchFamily="18" charset="0"/>
                  <a:ea typeface="宋体" panose="02010600030101010101" pitchFamily="2" charset="-122"/>
                </a:rPr>
                <a:t>-9 </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-l</a:t>
              </a:r>
            </a:p>
          </p:txBody>
        </p:sp>
        <p:graphicFrame>
          <p:nvGraphicFramePr>
            <p:cNvPr id="65548" name="Object 10"/>
            <p:cNvGraphicFramePr>
              <a:graphicFrameLocks noChangeAspect="1"/>
            </p:cNvGraphicFramePr>
            <p:nvPr/>
          </p:nvGraphicFramePr>
          <p:xfrm>
            <a:off x="3941129" y="2297450"/>
            <a:ext cx="719731" cy="404812"/>
          </p:xfrm>
          <a:graphic>
            <a:graphicData uri="http://schemas.openxmlformats.org/presentationml/2006/ole">
              <mc:AlternateContent xmlns:mc="http://schemas.openxmlformats.org/markup-compatibility/2006">
                <mc:Choice xmlns:v="urn:schemas-microsoft-com:vml" Requires="v">
                  <p:oleObj r:id="rId6" imgW="250825" imgH="264160" progId="Equation.DSMT4">
                    <p:embed/>
                  </p:oleObj>
                </mc:Choice>
                <mc:Fallback>
                  <p:oleObj r:id="rId6" imgW="250825" imgH="264160" progId="Equation.DSMT4">
                    <p:embed/>
                    <p:pic>
                      <p:nvPicPr>
                        <p:cNvPr id="0" name="图片 3161"/>
                        <p:cNvPicPr/>
                        <p:nvPr/>
                      </p:nvPicPr>
                      <p:blipFill>
                        <a:blip r:embed="rId3"/>
                        <a:stretch>
                          <a:fillRect/>
                        </a:stretch>
                      </p:blipFill>
                      <p:spPr>
                        <a:xfrm>
                          <a:off x="3941129" y="2297450"/>
                          <a:ext cx="719731" cy="404812"/>
                        </a:xfrm>
                        <a:prstGeom prst="rect">
                          <a:avLst/>
                        </a:prstGeom>
                        <a:noFill/>
                        <a:ln w="38100">
                          <a:noFill/>
                          <a:miter/>
                        </a:ln>
                      </p:spPr>
                    </p:pic>
                  </p:oleObj>
                </mc:Fallback>
              </mc:AlternateContent>
            </a:graphicData>
          </a:graphic>
        </p:graphicFrame>
      </p:grpSp>
      <p:sp>
        <p:nvSpPr>
          <p:cNvPr id="15" name="Text Box 13"/>
          <p:cNvSpPr txBox="1"/>
          <p:nvPr/>
        </p:nvSpPr>
        <p:spPr>
          <a:xfrm>
            <a:off x="142875" y="3800477"/>
            <a:ext cx="8820150" cy="1200329"/>
          </a:xfrm>
          <a:prstGeom prst="rect">
            <a:avLst/>
          </a:prstGeom>
          <a:noFill/>
          <a:ln w="9525">
            <a:noFill/>
          </a:ln>
        </p:spPr>
        <p:txBody>
          <a:bodyPr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       即</a:t>
            </a:r>
            <a:r>
              <a:rPr lang="en-US" altLang="zh-CN" sz="2400" dirty="0">
                <a:latin typeface="Times New Roman" panose="02020603050405020304" pitchFamily="18" charset="0"/>
                <a:ea typeface="宋体" panose="02010600030101010101" pitchFamily="2" charset="-122"/>
              </a:rPr>
              <a:t>298.15K</a:t>
            </a:r>
            <a:r>
              <a:rPr lang="zh-CN" altLang="en-US" sz="2400" dirty="0">
                <a:latin typeface="Times New Roman" panose="02020603050405020304" pitchFamily="18" charset="0"/>
                <a:ea typeface="宋体" panose="02010600030101010101" pitchFamily="2" charset="-122"/>
              </a:rPr>
              <a:t>时，</a:t>
            </a:r>
            <a:r>
              <a:rPr lang="en-US" altLang="zh-CN" sz="2400" dirty="0">
                <a:latin typeface="Times New Roman" panose="02020603050405020304" pitchFamily="18" charset="0"/>
                <a:ea typeface="宋体" panose="02010600030101010101" pitchFamily="2" charset="-122"/>
              </a:rPr>
              <a:t>AgCl</a:t>
            </a:r>
            <a:r>
              <a:rPr lang="zh-CN" altLang="en-US" sz="2400" dirty="0">
                <a:latin typeface="Times New Roman" panose="02020603050405020304" pitchFamily="18" charset="0"/>
                <a:ea typeface="宋体" panose="02010600030101010101" pitchFamily="2" charset="-122"/>
              </a:rPr>
              <a:t>在</a:t>
            </a:r>
            <a:r>
              <a:rPr lang="en-US" altLang="zh-CN" sz="2400" dirty="0">
                <a:latin typeface="Times New Roman" panose="02020603050405020304" pitchFamily="18" charset="0"/>
                <a:ea typeface="宋体" panose="02010600030101010101" pitchFamily="2" charset="-122"/>
              </a:rPr>
              <a:t>0.1mol·L</a:t>
            </a:r>
            <a:r>
              <a:rPr lang="en-US" altLang="zh-CN" sz="2400" baseline="30000" dirty="0">
                <a:latin typeface="Times New Roman" panose="02020603050405020304" pitchFamily="18" charset="0"/>
                <a:ea typeface="宋体" panose="02010600030101010101" pitchFamily="2" charset="-122"/>
              </a:rPr>
              <a:t>-l</a:t>
            </a:r>
            <a:r>
              <a:rPr lang="en-US" altLang="zh-CN" sz="2400" dirty="0">
                <a:latin typeface="Times New Roman" panose="02020603050405020304" pitchFamily="18" charset="0"/>
                <a:ea typeface="宋体" panose="02010600030101010101" pitchFamily="2" charset="-122"/>
              </a:rPr>
              <a:t>NaCl</a:t>
            </a:r>
            <a:r>
              <a:rPr lang="zh-CN" altLang="en-US" sz="2400" dirty="0">
                <a:latin typeface="Times New Roman" panose="02020603050405020304" pitchFamily="18" charset="0"/>
                <a:ea typeface="宋体" panose="02010600030101010101" pitchFamily="2" charset="-122"/>
              </a:rPr>
              <a:t>溶液中的溶解度为</a:t>
            </a:r>
            <a:r>
              <a:rPr lang="en-US" altLang="zh-CN" sz="2400" dirty="0">
                <a:latin typeface="Times New Roman" panose="02020603050405020304" pitchFamily="18" charset="0"/>
                <a:ea typeface="宋体" panose="02010600030101010101" pitchFamily="2" charset="-122"/>
              </a:rPr>
              <a:t>1.77×10</a:t>
            </a:r>
            <a:r>
              <a:rPr lang="en-US" altLang="zh-CN" sz="2400" baseline="30000" dirty="0">
                <a:latin typeface="Times New Roman" panose="02020603050405020304" pitchFamily="18" charset="0"/>
                <a:ea typeface="宋体" panose="02010600030101010101" pitchFamily="2" charset="-122"/>
              </a:rPr>
              <a:t>-9</a:t>
            </a:r>
            <a:r>
              <a:rPr lang="en-US" altLang="zh-CN" sz="2400" dirty="0">
                <a:latin typeface="Times New Roman" panose="02020603050405020304" pitchFamily="18" charset="0"/>
                <a:ea typeface="宋体" panose="02010600030101010101" pitchFamily="2" charset="-122"/>
              </a:rPr>
              <a:t> mol·L</a:t>
            </a:r>
            <a:r>
              <a:rPr lang="en-US" altLang="zh-CN" sz="2400" baseline="30000" dirty="0">
                <a:latin typeface="Times New Roman" panose="02020603050405020304" pitchFamily="18" charset="0"/>
                <a:ea typeface="宋体" panose="02010600030101010101" pitchFamily="2" charset="-122"/>
              </a:rPr>
              <a:t>-l</a:t>
            </a:r>
            <a:r>
              <a:rPr lang="zh-CN" altLang="en-US" sz="2400" dirty="0">
                <a:latin typeface="Times New Roman" panose="02020603050405020304" pitchFamily="18" charset="0"/>
                <a:ea typeface="宋体" panose="02010600030101010101" pitchFamily="2" charset="-122"/>
              </a:rPr>
              <a:t>，相当于在纯水中的溶解度</a:t>
            </a:r>
            <a:r>
              <a:rPr lang="en-US" altLang="zh-CN" sz="2400" dirty="0">
                <a:latin typeface="Times New Roman" panose="02020603050405020304" pitchFamily="18" charset="0"/>
                <a:ea typeface="宋体" panose="02010600030101010101" pitchFamily="2" charset="-122"/>
              </a:rPr>
              <a:t>(1.33×10</a:t>
            </a:r>
            <a:r>
              <a:rPr lang="en-US" altLang="zh-CN" sz="2400" baseline="30000" dirty="0">
                <a:latin typeface="Times New Roman" panose="02020603050405020304" pitchFamily="18" charset="0"/>
                <a:ea typeface="宋体" panose="02010600030101010101" pitchFamily="2" charset="-122"/>
              </a:rPr>
              <a:t>-5</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-l</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的万分之一。</a:t>
            </a:r>
          </a:p>
        </p:txBody>
      </p:sp>
      <p:graphicFrame>
        <p:nvGraphicFramePr>
          <p:cNvPr id="16" name="Object 10"/>
          <p:cNvGraphicFramePr>
            <a:graphicFrameLocks noChangeAspect="1"/>
          </p:cNvGraphicFramePr>
          <p:nvPr>
            <p:extLst>
              <p:ext uri="{D42A27DB-BD31-4B8C-83A1-F6EECF244321}">
                <p14:modId xmlns:p14="http://schemas.microsoft.com/office/powerpoint/2010/main" val="4074353261"/>
              </p:ext>
            </p:extLst>
          </p:nvPr>
        </p:nvGraphicFramePr>
        <p:xfrm>
          <a:off x="971600" y="2992644"/>
          <a:ext cx="690562" cy="482600"/>
        </p:xfrm>
        <a:graphic>
          <a:graphicData uri="http://schemas.openxmlformats.org/presentationml/2006/ole">
            <mc:AlternateContent xmlns:mc="http://schemas.openxmlformats.org/markup-compatibility/2006">
              <mc:Choice xmlns:v="urn:schemas-microsoft-com:vml" Requires="v">
                <p:oleObj name="Equation" r:id="rId7" imgW="241200" imgH="253800" progId="Equation.DSMT4">
                  <p:embed/>
                </p:oleObj>
              </mc:Choice>
              <mc:Fallback>
                <p:oleObj name="Equation" r:id="rId7" imgW="241200" imgH="253800" progId="Equation.DSMT4">
                  <p:embed/>
                  <p:pic>
                    <p:nvPicPr>
                      <p:cNvPr id="0" name=""/>
                      <p:cNvPicPr/>
                      <p:nvPr/>
                    </p:nvPicPr>
                    <p:blipFill>
                      <a:blip r:embed="rId8"/>
                      <a:stretch>
                        <a:fillRect/>
                      </a:stretch>
                    </p:blipFill>
                    <p:spPr>
                      <a:xfrm>
                        <a:off x="971600" y="2992644"/>
                        <a:ext cx="690562" cy="4826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ext Box 22"/>
          <p:cNvSpPr txBox="1"/>
          <p:nvPr/>
        </p:nvSpPr>
        <p:spPr>
          <a:xfrm>
            <a:off x="323856" y="195266"/>
            <a:ext cx="3889375" cy="584775"/>
          </a:xfrm>
          <a:prstGeom prst="rect">
            <a:avLst/>
          </a:prstGeom>
          <a:solidFill>
            <a:srgbClr val="FFFF00"/>
          </a:solidFill>
          <a:ln w="9525">
            <a:noFill/>
          </a:ln>
        </p:spPr>
        <p:txBody>
          <a:bodyPr anchor="t" anchorCtr="0">
            <a:spAutoFit/>
          </a:bodyPr>
          <a:lstStyle/>
          <a:p>
            <a:pPr algn="just">
              <a:spcBef>
                <a:spcPct val="50000"/>
              </a:spcBef>
              <a:buClrTx/>
              <a:buFontTx/>
            </a:pPr>
            <a:r>
              <a:rPr lang="en-US" altLang="zh-CN" sz="3200" dirty="0">
                <a:solidFill>
                  <a:srgbClr val="FF0000"/>
                </a:solidFill>
                <a:latin typeface="华文新魏" pitchFamily="2" charset="-122"/>
                <a:ea typeface="华文新魏" pitchFamily="2" charset="-122"/>
              </a:rPr>
              <a:t>3.4.2 </a:t>
            </a:r>
            <a:r>
              <a:rPr lang="zh-CN" altLang="en-US" sz="3200" dirty="0">
                <a:solidFill>
                  <a:srgbClr val="FF0000"/>
                </a:solidFill>
                <a:latin typeface="华文新魏" pitchFamily="2" charset="-122"/>
                <a:ea typeface="华文新魏" pitchFamily="2" charset="-122"/>
              </a:rPr>
              <a:t>分步沉淀</a:t>
            </a:r>
          </a:p>
        </p:txBody>
      </p:sp>
      <p:sp>
        <p:nvSpPr>
          <p:cNvPr id="7191" name="Text Box 23"/>
          <p:cNvSpPr txBox="1"/>
          <p:nvPr/>
        </p:nvSpPr>
        <p:spPr>
          <a:xfrm>
            <a:off x="466731" y="2500316"/>
            <a:ext cx="8353425" cy="1384995"/>
          </a:xfrm>
          <a:prstGeom prst="rect">
            <a:avLst/>
          </a:prstGeom>
          <a:gradFill rotWithShape="1">
            <a:gsLst>
              <a:gs pos="0">
                <a:srgbClr val="333300">
                  <a:alpha val="67000"/>
                </a:srgbClr>
              </a:gs>
              <a:gs pos="100000">
                <a:srgbClr val="666633">
                  <a:alpha val="60001"/>
                </a:srgbClr>
              </a:gs>
            </a:gsLst>
            <a:lin ang="5400000" scaled="1"/>
            <a:tileRect/>
          </a:gradFill>
          <a:ln w="9525" cap="flat" cmpd="sng">
            <a:solidFill>
              <a:srgbClr val="808000"/>
            </a:solidFill>
            <a:prstDash val="solid"/>
            <a:miter/>
            <a:headEnd type="none" w="med" len="med"/>
            <a:tailEnd type="none" w="med" len="med"/>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        </a:t>
            </a:r>
            <a:r>
              <a:rPr lang="zh-CN" altLang="en-US" dirty="0">
                <a:solidFill>
                  <a:srgbClr val="FFFF00"/>
                </a:solidFill>
                <a:latin typeface="Times New Roman" panose="02020603050405020304" pitchFamily="18" charset="0"/>
                <a:ea typeface="幼圆" pitchFamily="49" charset="-122"/>
              </a:rPr>
              <a:t>混合溶液中，多种离子发生先后沉淀的现象称为</a:t>
            </a:r>
            <a:r>
              <a:rPr lang="zh-CN" altLang="en-US" dirty="0">
                <a:solidFill>
                  <a:srgbClr val="0033CC"/>
                </a:solidFill>
                <a:latin typeface="Times New Roman" panose="02020603050405020304" pitchFamily="18" charset="0"/>
                <a:ea typeface="幼圆" pitchFamily="49" charset="-122"/>
              </a:rPr>
              <a:t>分步沉淀</a:t>
            </a:r>
            <a:r>
              <a:rPr lang="zh-CN" altLang="en-US" dirty="0">
                <a:solidFill>
                  <a:srgbClr val="FFFF00"/>
                </a:solidFill>
                <a:latin typeface="Times New Roman" panose="02020603050405020304" pitchFamily="18" charset="0"/>
                <a:ea typeface="幼圆" pitchFamily="49" charset="-122"/>
              </a:rPr>
              <a:t>。一般当</a:t>
            </a:r>
            <a:r>
              <a:rPr lang="en-US" altLang="zh-CN" i="1" dirty="0">
                <a:solidFill>
                  <a:srgbClr val="FFFF00"/>
                </a:solidFill>
                <a:latin typeface="Times New Roman" panose="02020603050405020304" pitchFamily="18" charset="0"/>
                <a:ea typeface="幼圆" pitchFamily="49" charset="-122"/>
              </a:rPr>
              <a:t>c</a:t>
            </a:r>
            <a:r>
              <a:rPr lang="en-US" altLang="zh-CN" dirty="0">
                <a:solidFill>
                  <a:srgbClr val="FFFF00"/>
                </a:solidFill>
                <a:latin typeface="Times New Roman" panose="02020603050405020304" pitchFamily="18" charset="0"/>
                <a:ea typeface="幼圆" pitchFamily="49" charset="-122"/>
              </a:rPr>
              <a:t>(</a:t>
            </a:r>
            <a:r>
              <a:rPr lang="zh-CN" altLang="en-US" dirty="0">
                <a:solidFill>
                  <a:srgbClr val="FFFF00"/>
                </a:solidFill>
                <a:latin typeface="Times New Roman" panose="02020603050405020304" pitchFamily="18" charset="0"/>
                <a:ea typeface="幼圆" pitchFamily="49" charset="-122"/>
              </a:rPr>
              <a:t>离子</a:t>
            </a:r>
            <a:r>
              <a:rPr lang="en-US" altLang="zh-CN" dirty="0">
                <a:solidFill>
                  <a:srgbClr val="FFFF00"/>
                </a:solidFill>
                <a:latin typeface="Times New Roman" panose="02020603050405020304" pitchFamily="18" charset="0"/>
                <a:ea typeface="幼圆" pitchFamily="49" charset="-122"/>
              </a:rPr>
              <a:t>)</a:t>
            </a:r>
            <a:r>
              <a:rPr lang="zh-CN" altLang="en-US" dirty="0">
                <a:solidFill>
                  <a:srgbClr val="FFFF00"/>
                </a:solidFill>
                <a:latin typeface="Times New Roman" panose="02020603050405020304" pitchFamily="18" charset="0"/>
                <a:ea typeface="幼圆" pitchFamily="49" charset="-122"/>
              </a:rPr>
              <a:t>＜</a:t>
            </a:r>
            <a:r>
              <a:rPr lang="en-US" altLang="zh-CN" dirty="0">
                <a:solidFill>
                  <a:srgbClr val="FFFF00"/>
                </a:solidFill>
                <a:latin typeface="Times New Roman" panose="02020603050405020304" pitchFamily="18" charset="0"/>
                <a:ea typeface="幼圆" pitchFamily="49" charset="-122"/>
              </a:rPr>
              <a:t>10</a:t>
            </a:r>
            <a:r>
              <a:rPr lang="en-US" altLang="zh-CN" baseline="30000" dirty="0">
                <a:solidFill>
                  <a:srgbClr val="FFFF00"/>
                </a:solidFill>
                <a:latin typeface="Times New Roman" panose="02020603050405020304" pitchFamily="18" charset="0"/>
                <a:ea typeface="幼圆" pitchFamily="49" charset="-122"/>
              </a:rPr>
              <a:t>-5</a:t>
            </a:r>
            <a:r>
              <a:rPr lang="en-US" altLang="zh-CN" dirty="0">
                <a:solidFill>
                  <a:srgbClr val="FFFF00"/>
                </a:solidFill>
                <a:latin typeface="Times New Roman" panose="02020603050405020304" pitchFamily="18" charset="0"/>
                <a:ea typeface="幼圆" pitchFamily="49" charset="-122"/>
              </a:rPr>
              <a:t>mol·L</a:t>
            </a:r>
            <a:r>
              <a:rPr lang="en-US" altLang="zh-CN" baseline="30000" dirty="0">
                <a:solidFill>
                  <a:srgbClr val="FFFF00"/>
                </a:solidFill>
                <a:latin typeface="Times New Roman" panose="02020603050405020304" pitchFamily="18" charset="0"/>
                <a:ea typeface="幼圆" pitchFamily="49" charset="-122"/>
              </a:rPr>
              <a:t>-1</a:t>
            </a:r>
            <a:r>
              <a:rPr lang="zh-CN" altLang="en-US" dirty="0">
                <a:solidFill>
                  <a:srgbClr val="FFFF00"/>
                </a:solidFill>
                <a:latin typeface="Times New Roman" panose="02020603050405020304" pitchFamily="18" charset="0"/>
                <a:ea typeface="幼圆" pitchFamily="49" charset="-122"/>
              </a:rPr>
              <a:t>，认为沉淀完全。 </a:t>
            </a:r>
          </a:p>
        </p:txBody>
      </p:sp>
      <p:sp>
        <p:nvSpPr>
          <p:cNvPr id="66563" name="Text Box 24"/>
          <p:cNvSpPr txBox="1"/>
          <p:nvPr/>
        </p:nvSpPr>
        <p:spPr>
          <a:xfrm>
            <a:off x="250831" y="915991"/>
            <a:ext cx="8569325" cy="954107"/>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      在含有等浓度的</a:t>
            </a:r>
            <a:r>
              <a:rPr lang="en-US" altLang="zh-CN" dirty="0">
                <a:latin typeface="Times New Roman" panose="02020603050405020304" pitchFamily="18" charset="0"/>
                <a:ea typeface="幼圆" pitchFamily="49" charset="-122"/>
              </a:rPr>
              <a:t>Cl</a:t>
            </a:r>
            <a:r>
              <a:rPr lang="en-US" altLang="zh-CN" baseline="30000" dirty="0">
                <a:latin typeface="Times New Roman" panose="02020603050405020304" pitchFamily="18" charset="0"/>
                <a:ea typeface="幼圆" pitchFamily="49" charset="-122"/>
              </a:rPr>
              <a:t>-</a:t>
            </a:r>
            <a:r>
              <a:rPr lang="zh-CN" altLang="en-US" dirty="0">
                <a:latin typeface="Times New Roman" panose="02020603050405020304" pitchFamily="18" charset="0"/>
                <a:ea typeface="幼圆" pitchFamily="49" charset="-122"/>
              </a:rPr>
              <a:t>和</a:t>
            </a:r>
            <a:r>
              <a:rPr lang="en-US" altLang="zh-CN" dirty="0">
                <a:latin typeface="Times New Roman" panose="02020603050405020304" pitchFamily="18" charset="0"/>
                <a:ea typeface="幼圆" pitchFamily="49" charset="-122"/>
              </a:rPr>
              <a:t>I</a:t>
            </a:r>
            <a:r>
              <a:rPr lang="en-US" altLang="zh-CN" baseline="30000" dirty="0">
                <a:latin typeface="Times New Roman" panose="02020603050405020304" pitchFamily="18" charset="0"/>
                <a:ea typeface="幼圆" pitchFamily="49" charset="-122"/>
              </a:rPr>
              <a:t>-</a:t>
            </a:r>
            <a:r>
              <a:rPr lang="zh-CN" altLang="en-US" dirty="0">
                <a:latin typeface="Times New Roman" panose="02020603050405020304" pitchFamily="18" charset="0"/>
                <a:ea typeface="幼圆" pitchFamily="49" charset="-122"/>
              </a:rPr>
              <a:t>混合溶液中，逐滴加入</a:t>
            </a:r>
            <a:r>
              <a:rPr lang="en-US" altLang="zh-CN" dirty="0">
                <a:latin typeface="Times New Roman" panose="02020603050405020304" pitchFamily="18" charset="0"/>
                <a:ea typeface="幼圆" pitchFamily="49" charset="-122"/>
              </a:rPr>
              <a:t>AgNO</a:t>
            </a:r>
            <a:r>
              <a:rPr lang="en-US" altLang="zh-CN" baseline="-25000" dirty="0">
                <a:latin typeface="Times New Roman" panose="02020603050405020304" pitchFamily="18" charset="0"/>
                <a:ea typeface="幼圆" pitchFamily="49" charset="-122"/>
              </a:rPr>
              <a:t>3</a:t>
            </a:r>
            <a:r>
              <a:rPr lang="zh-CN" altLang="en-US" dirty="0">
                <a:latin typeface="Times New Roman" panose="02020603050405020304" pitchFamily="18" charset="0"/>
                <a:ea typeface="幼圆" pitchFamily="49" charset="-122"/>
              </a:rPr>
              <a:t>溶液。</a:t>
            </a:r>
          </a:p>
        </p:txBody>
      </p:sp>
      <p:sp>
        <p:nvSpPr>
          <p:cNvPr id="7193" name="Text Box 25"/>
          <p:cNvSpPr txBox="1"/>
          <p:nvPr/>
        </p:nvSpPr>
        <p:spPr>
          <a:xfrm>
            <a:off x="684213" y="4030664"/>
            <a:ext cx="7632700" cy="523220"/>
          </a:xfrm>
          <a:prstGeom prst="rect">
            <a:avLst/>
          </a:prstGeom>
          <a:gradFill rotWithShape="1">
            <a:gsLst>
              <a:gs pos="0">
                <a:srgbClr val="333300">
                  <a:alpha val="67000"/>
                </a:srgbClr>
              </a:gs>
              <a:gs pos="100000">
                <a:srgbClr val="666633">
                  <a:alpha val="56000"/>
                </a:srgbClr>
              </a:gs>
            </a:gsLst>
            <a:lin ang="5400000" scaled="1"/>
            <a:tileRect/>
          </a:gradFill>
          <a:ln w="9525" cap="flat" cmpd="sng">
            <a:solidFill>
              <a:srgbClr val="003300"/>
            </a:solidFill>
            <a:prstDash val="solid"/>
            <a:miter/>
            <a:headEnd type="none" w="med" len="med"/>
            <a:tailEnd type="none" w="med" len="med"/>
          </a:ln>
        </p:spPr>
        <p:txBody>
          <a:bodyPr anchor="t" anchorCtr="0">
            <a:spAutoFit/>
          </a:bodyPr>
          <a:lstStyle/>
          <a:p>
            <a:pPr>
              <a:spcBef>
                <a:spcPct val="50000"/>
              </a:spcBef>
              <a:buClrTx/>
              <a:buFontTx/>
            </a:pPr>
            <a:r>
              <a:rPr lang="zh-CN" altLang="en-US" dirty="0">
                <a:solidFill>
                  <a:srgbClr val="FFFF00"/>
                </a:solidFill>
                <a:latin typeface="Times New Roman" panose="02020603050405020304" pitchFamily="18" charset="0"/>
                <a:ea typeface="幼圆" pitchFamily="49" charset="-122"/>
              </a:rPr>
              <a:t>       利用分步沉淀，可进行离子的分离。</a:t>
            </a:r>
          </a:p>
        </p:txBody>
      </p:sp>
      <p:sp>
        <p:nvSpPr>
          <p:cNvPr id="7194" name="Text Box 26"/>
          <p:cNvSpPr txBox="1"/>
          <p:nvPr/>
        </p:nvSpPr>
        <p:spPr>
          <a:xfrm>
            <a:off x="265119" y="1870075"/>
            <a:ext cx="8713787" cy="523220"/>
          </a:xfrm>
          <a:prstGeom prst="rect">
            <a:avLst/>
          </a:prstGeom>
          <a:noFill/>
          <a:ln w="9525">
            <a:noFill/>
          </a:ln>
        </p:spPr>
        <p:txBody>
          <a:bodyPr anchor="t" anchorCtr="0">
            <a:spAutoFit/>
          </a:bodyPr>
          <a:lstStyle/>
          <a:p>
            <a:pPr>
              <a:spcBef>
                <a:spcPct val="50000"/>
              </a:spcBef>
              <a:buClrTx/>
              <a:buFontTx/>
            </a:pPr>
            <a:r>
              <a:rPr lang="zh-CN" altLang="en-US" dirty="0">
                <a:solidFill>
                  <a:srgbClr val="0000FF"/>
                </a:solidFill>
                <a:latin typeface="Times New Roman" panose="02020603050405020304" pitchFamily="18" charset="0"/>
                <a:ea typeface="幼圆" pitchFamily="49" charset="-122"/>
              </a:rPr>
              <a:t>现象：</a:t>
            </a:r>
            <a:r>
              <a:rPr lang="zh-CN" altLang="en-US" dirty="0">
                <a:latin typeface="Times New Roman" panose="02020603050405020304" pitchFamily="18" charset="0"/>
                <a:ea typeface="幼圆" pitchFamily="49" charset="-122"/>
              </a:rPr>
              <a:t>先产生黄色</a:t>
            </a:r>
            <a:r>
              <a:rPr lang="en-US" altLang="zh-CN" dirty="0">
                <a:latin typeface="Times New Roman" panose="02020603050405020304" pitchFamily="18" charset="0"/>
                <a:ea typeface="幼圆" pitchFamily="49" charset="-122"/>
              </a:rPr>
              <a:t>AgI</a:t>
            </a:r>
            <a:r>
              <a:rPr lang="zh-CN" altLang="en-US" dirty="0">
                <a:latin typeface="Times New Roman" panose="02020603050405020304" pitchFamily="18" charset="0"/>
                <a:ea typeface="幼圆" pitchFamily="49" charset="-122"/>
              </a:rPr>
              <a:t>沉淀，后来出现白色</a:t>
            </a:r>
            <a:r>
              <a:rPr lang="en-US" altLang="zh-CN" dirty="0">
                <a:latin typeface="Times New Roman" panose="02020603050405020304" pitchFamily="18" charset="0"/>
                <a:ea typeface="幼圆" pitchFamily="49" charset="-122"/>
              </a:rPr>
              <a:t>AgCl</a:t>
            </a:r>
            <a:r>
              <a:rPr lang="zh-CN" altLang="en-US" dirty="0">
                <a:latin typeface="Times New Roman" panose="02020603050405020304" pitchFamily="18" charset="0"/>
                <a:ea typeface="幼圆" pitchFamily="49" charset="-122"/>
              </a:rPr>
              <a:t>沉淀。</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94"/>
                                        </p:tgtEl>
                                        <p:attrNameLst>
                                          <p:attrName>style.visibility</p:attrName>
                                        </p:attrNameLst>
                                      </p:cBhvr>
                                      <p:to>
                                        <p:strVal val="visible"/>
                                      </p:to>
                                    </p:set>
                                    <p:anim calcmode="lin" valueType="num">
                                      <p:cBhvr additive="base">
                                        <p:cTn id="7" dur="500" fill="hold"/>
                                        <p:tgtEl>
                                          <p:spTgt spid="7194"/>
                                        </p:tgtEl>
                                        <p:attrNameLst>
                                          <p:attrName>ppt_x</p:attrName>
                                        </p:attrNameLst>
                                      </p:cBhvr>
                                      <p:tavLst>
                                        <p:tav tm="0">
                                          <p:val>
                                            <p:strVal val="#ppt_x"/>
                                          </p:val>
                                        </p:tav>
                                        <p:tav tm="100000">
                                          <p:val>
                                            <p:strVal val="#ppt_x"/>
                                          </p:val>
                                        </p:tav>
                                      </p:tavLst>
                                    </p:anim>
                                    <p:anim calcmode="lin" valueType="num">
                                      <p:cBhvr additive="base">
                                        <p:cTn id="8" dur="500" fill="hold"/>
                                        <p:tgtEl>
                                          <p:spTgt spid="719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191"/>
                                        </p:tgtEl>
                                        <p:attrNameLst>
                                          <p:attrName>style.visibility</p:attrName>
                                        </p:attrNameLst>
                                      </p:cBhvr>
                                      <p:to>
                                        <p:strVal val="visible"/>
                                      </p:to>
                                    </p:set>
                                    <p:anim calcmode="lin" valueType="num">
                                      <p:cBhvr additive="base">
                                        <p:cTn id="11" dur="500" fill="hold"/>
                                        <p:tgtEl>
                                          <p:spTgt spid="7191"/>
                                        </p:tgtEl>
                                        <p:attrNameLst>
                                          <p:attrName>ppt_x</p:attrName>
                                        </p:attrNameLst>
                                      </p:cBhvr>
                                      <p:tavLst>
                                        <p:tav tm="0">
                                          <p:val>
                                            <p:strVal val="#ppt_x"/>
                                          </p:val>
                                        </p:tav>
                                        <p:tav tm="100000">
                                          <p:val>
                                            <p:strVal val="#ppt_x"/>
                                          </p:val>
                                        </p:tav>
                                      </p:tavLst>
                                    </p:anim>
                                    <p:anim calcmode="lin" valueType="num">
                                      <p:cBhvr additive="base">
                                        <p:cTn id="12" dur="500" fill="hold"/>
                                        <p:tgtEl>
                                          <p:spTgt spid="719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193"/>
                                        </p:tgtEl>
                                        <p:attrNameLst>
                                          <p:attrName>style.visibility</p:attrName>
                                        </p:attrNameLst>
                                      </p:cBhvr>
                                      <p:to>
                                        <p:strVal val="visible"/>
                                      </p:to>
                                    </p:set>
                                    <p:animEffect transition="in" filter="box(in)">
                                      <p:cBhvr>
                                        <p:cTn id="17" dur="500"/>
                                        <p:tgtEl>
                                          <p:spTgt spid="7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1" grpId="0" animBg="1"/>
      <p:bldP spid="7193" grpId="0" animBg="1"/>
      <p:bldP spid="719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ext Box 16"/>
          <p:cNvSpPr txBox="1"/>
          <p:nvPr/>
        </p:nvSpPr>
        <p:spPr>
          <a:xfrm>
            <a:off x="109538" y="60327"/>
            <a:ext cx="8926512" cy="1200329"/>
          </a:xfrm>
          <a:prstGeom prst="rect">
            <a:avLst/>
          </a:prstGeom>
          <a:solidFill>
            <a:srgbClr val="FFFF00"/>
          </a:solidFill>
          <a:ln w="12700" cap="flat" cmpd="sng">
            <a:solidFill>
              <a:schemeClr val="tx1"/>
            </a:solidFill>
            <a:prstDash val="solid"/>
            <a:miter/>
            <a:headEnd type="none" w="med" len="med"/>
            <a:tailEnd type="none" w="med" len="med"/>
          </a:ln>
        </p:spPr>
        <p:txBody>
          <a:bodyPr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例</a:t>
            </a:r>
            <a:r>
              <a:rPr lang="en-US" altLang="zh-CN" sz="2400" dirty="0">
                <a:latin typeface="Times New Roman" panose="02020603050405020304" pitchFamily="18" charset="0"/>
                <a:ea typeface="宋体" panose="02010600030101010101" pitchFamily="2" charset="-122"/>
              </a:rPr>
              <a:t>3.8]  </a:t>
            </a:r>
            <a:r>
              <a:rPr lang="zh-CN" altLang="en-US" sz="2400" dirty="0">
                <a:latin typeface="Times New Roman" panose="02020603050405020304" pitchFamily="18" charset="0"/>
                <a:ea typeface="宋体" panose="02010600030101010101" pitchFamily="2" charset="-122"/>
              </a:rPr>
              <a:t>某溶液中含有</a:t>
            </a:r>
            <a:r>
              <a:rPr lang="en-US" altLang="zh-CN" sz="2400" dirty="0">
                <a:latin typeface="Times New Roman" panose="02020603050405020304" pitchFamily="18" charset="0"/>
                <a:ea typeface="宋体" panose="02010600030101010101" pitchFamily="2" charset="-122"/>
              </a:rPr>
              <a:t>0.010mol·L</a:t>
            </a:r>
            <a:r>
              <a:rPr lang="en-US" altLang="zh-CN" sz="2400" baseline="30000" dirty="0">
                <a:latin typeface="Times New Roman" panose="02020603050405020304" pitchFamily="18" charset="0"/>
                <a:ea typeface="宋体" panose="02010600030101010101" pitchFamily="2" charset="-122"/>
              </a:rPr>
              <a:t>-l</a:t>
            </a:r>
            <a:r>
              <a:rPr lang="en-US" altLang="zh-CN" sz="2400" dirty="0">
                <a:latin typeface="Times New Roman" panose="02020603050405020304" pitchFamily="18" charset="0"/>
                <a:ea typeface="宋体" panose="02010600030101010101" pitchFamily="2" charset="-122"/>
              </a:rPr>
              <a:t> Cl</a:t>
            </a:r>
            <a:r>
              <a:rPr lang="en-US" altLang="zh-CN" sz="2400" baseline="300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和</a:t>
            </a:r>
            <a:r>
              <a:rPr lang="en-US" altLang="zh-CN" sz="2400" dirty="0">
                <a:latin typeface="Times New Roman" panose="02020603050405020304" pitchFamily="18" charset="0"/>
                <a:ea typeface="宋体" panose="02010600030101010101" pitchFamily="2" charset="-122"/>
              </a:rPr>
              <a:t>0.010mol·L</a:t>
            </a:r>
            <a:r>
              <a:rPr lang="en-US" altLang="zh-CN" sz="2400" baseline="30000" dirty="0">
                <a:latin typeface="Times New Roman" panose="02020603050405020304" pitchFamily="18" charset="0"/>
                <a:ea typeface="宋体" panose="02010600030101010101" pitchFamily="2" charset="-122"/>
              </a:rPr>
              <a:t>-l</a:t>
            </a:r>
            <a:r>
              <a:rPr lang="en-US" altLang="zh-CN" sz="2400" dirty="0">
                <a:latin typeface="Times New Roman" panose="02020603050405020304" pitchFamily="18" charset="0"/>
                <a:ea typeface="宋体" panose="02010600030101010101" pitchFamily="2" charset="-122"/>
              </a:rPr>
              <a:t> I</a:t>
            </a:r>
            <a:r>
              <a:rPr lang="en-US" altLang="zh-CN" sz="2400" baseline="300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，逐滴加入</a:t>
            </a:r>
            <a:r>
              <a:rPr lang="en-US" altLang="zh-CN" sz="2400" dirty="0">
                <a:latin typeface="Times New Roman" panose="02020603050405020304" pitchFamily="18" charset="0"/>
                <a:ea typeface="宋体" panose="02010600030101010101" pitchFamily="2" charset="-122"/>
              </a:rPr>
              <a:t>AgNO</a:t>
            </a:r>
            <a:r>
              <a:rPr lang="en-US" altLang="zh-CN" sz="2400" baseline="-250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溶液，哪种离子首先被沉淀出来？当第二种离子开始沉淀析出时，第一种离子是否被沉淀完全？（忽略溶液体积变化） </a:t>
            </a:r>
          </a:p>
        </p:txBody>
      </p:sp>
      <p:sp>
        <p:nvSpPr>
          <p:cNvPr id="67586" name="Rectangle 19"/>
          <p:cNvSpPr/>
          <p:nvPr/>
        </p:nvSpPr>
        <p:spPr>
          <a:xfrm>
            <a:off x="5" y="214980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7587" name="Rectangle 21"/>
          <p:cNvSpPr/>
          <p:nvPr/>
        </p:nvSpPr>
        <p:spPr>
          <a:xfrm>
            <a:off x="5" y="214980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7588" name="Rectangle 23"/>
          <p:cNvSpPr/>
          <p:nvPr/>
        </p:nvSpPr>
        <p:spPr>
          <a:xfrm>
            <a:off x="5" y="21672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7589" name="Rectangle 25"/>
          <p:cNvSpPr/>
          <p:nvPr/>
        </p:nvSpPr>
        <p:spPr>
          <a:xfrm>
            <a:off x="5" y="21672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7590" name="Rectangle 27"/>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2" name="Group 29"/>
          <p:cNvGrpSpPr/>
          <p:nvPr/>
        </p:nvGrpSpPr>
        <p:grpSpPr>
          <a:xfrm>
            <a:off x="92081" y="1444628"/>
            <a:ext cx="8856663" cy="1444625"/>
            <a:chOff x="58" y="1192"/>
            <a:chExt cx="5579" cy="1213"/>
          </a:xfrm>
        </p:grpSpPr>
        <p:sp>
          <p:nvSpPr>
            <p:cNvPr id="67592" name="Text Box 17"/>
            <p:cNvSpPr txBox="1"/>
            <p:nvPr/>
          </p:nvSpPr>
          <p:spPr>
            <a:xfrm>
              <a:off x="58" y="1192"/>
              <a:ext cx="5579" cy="1176"/>
            </a:xfrm>
            <a:prstGeom prst="rect">
              <a:avLst/>
            </a:prstGeom>
            <a:noFill/>
            <a:ln w="9525">
              <a:noFill/>
            </a:ln>
          </p:spPr>
          <p:txBody>
            <a:bodyPr anchor="t" anchorCtr="0">
              <a:spAutoFit/>
            </a:bodyPr>
            <a:lstStyle/>
            <a:p>
              <a:pPr>
                <a:lnSpc>
                  <a:spcPts val="3400"/>
                </a:lnSpc>
                <a:buClrTx/>
                <a:buFontTx/>
              </a:pPr>
              <a:r>
                <a:rPr lang="zh-CN" altLang="en-US" sz="2400" dirty="0">
                  <a:latin typeface="Times New Roman" panose="02020603050405020304" pitchFamily="18" charset="0"/>
                  <a:ea typeface="宋体" panose="02010600030101010101" pitchFamily="2" charset="-122"/>
                </a:rPr>
                <a:t>解：查表      </a:t>
              </a:r>
              <a:r>
                <a:rPr lang="en-US" altLang="zh-CN" sz="2400" dirty="0">
                  <a:latin typeface="Times New Roman" panose="02020603050405020304" pitchFamily="18" charset="0"/>
                  <a:ea typeface="宋体" panose="02010600030101010101" pitchFamily="2" charset="-122"/>
                </a:rPr>
                <a:t>(AgCl)=1.77×10</a:t>
              </a:r>
              <a:r>
                <a:rPr lang="en-US" altLang="zh-CN" sz="2400" baseline="30000" dirty="0">
                  <a:latin typeface="Times New Roman" panose="02020603050405020304" pitchFamily="18" charset="0"/>
                  <a:ea typeface="宋体" panose="02010600030101010101" pitchFamily="2" charset="-122"/>
                </a:rPr>
                <a:t>-10</a:t>
              </a: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(AgI)=8.52×10</a:t>
              </a:r>
              <a:r>
                <a:rPr lang="en-US" altLang="zh-CN" sz="2400" baseline="30000" dirty="0">
                  <a:latin typeface="Times New Roman" panose="02020603050405020304" pitchFamily="18" charset="0"/>
                  <a:ea typeface="宋体" panose="02010600030101010101" pitchFamily="2" charset="-122"/>
                </a:rPr>
                <a:t>-17</a:t>
              </a:r>
            </a:p>
            <a:p>
              <a:pPr>
                <a:lnSpc>
                  <a:spcPts val="3400"/>
                </a:lnSpc>
                <a:buClrTx/>
                <a:buFontTx/>
              </a:pPr>
              <a:r>
                <a:rPr lang="zh-CN" altLang="en-US" sz="2400" dirty="0">
                  <a:latin typeface="Times New Roman" panose="02020603050405020304" pitchFamily="18" charset="0"/>
                  <a:ea typeface="宋体" panose="02010600030101010101" pitchFamily="2" charset="-122"/>
                </a:rPr>
                <a:t>根据溶度积规则，生成</a:t>
              </a:r>
              <a:r>
                <a:rPr lang="en-US" altLang="zh-CN" sz="2400" dirty="0">
                  <a:latin typeface="Times New Roman" panose="02020603050405020304" pitchFamily="18" charset="0"/>
                  <a:ea typeface="宋体" panose="02010600030101010101" pitchFamily="2" charset="-122"/>
                </a:rPr>
                <a:t>AgCl</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AgI</a:t>
              </a:r>
              <a:r>
                <a:rPr lang="zh-CN" altLang="en-US" sz="2400" dirty="0">
                  <a:latin typeface="Times New Roman" panose="02020603050405020304" pitchFamily="18" charset="0"/>
                  <a:ea typeface="宋体" panose="02010600030101010101" pitchFamily="2" charset="-122"/>
                </a:rPr>
                <a:t>所需</a:t>
              </a:r>
              <a:r>
                <a:rPr lang="en-US" altLang="zh-CN" sz="2400" dirty="0">
                  <a:latin typeface="Times New Roman" panose="02020603050405020304" pitchFamily="18" charset="0"/>
                  <a:ea typeface="宋体" panose="02010600030101010101" pitchFamily="2" charset="-122"/>
                </a:rPr>
                <a:t>Ag</a:t>
              </a:r>
              <a:r>
                <a:rPr lang="en-US" altLang="zh-CN" sz="2400" baseline="300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的最低浓度分别为</a:t>
              </a:r>
            </a:p>
            <a:p>
              <a:pPr>
                <a:lnSpc>
                  <a:spcPts val="3400"/>
                </a:lnSpc>
                <a:buClrTx/>
                <a:buFontTx/>
              </a:pPr>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AgCl: </a:t>
              </a:r>
              <a:r>
                <a:rPr lang="en-US" altLang="zh-CN" sz="2400" i="1"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(Ag</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&gt;                  =                 mol·L</a:t>
              </a:r>
              <a:r>
                <a:rPr lang="en-US" altLang="zh-CN" sz="2400" baseline="30000" dirty="0">
                  <a:latin typeface="Times New Roman" panose="02020603050405020304" pitchFamily="18" charset="0"/>
                  <a:ea typeface="宋体" panose="02010600030101010101" pitchFamily="2" charset="-122"/>
                </a:rPr>
                <a:t>-l</a:t>
              </a:r>
              <a:r>
                <a:rPr lang="en-US" altLang="zh-CN" sz="2400" dirty="0">
                  <a:latin typeface="Times New Roman" panose="02020603050405020304" pitchFamily="18" charset="0"/>
                  <a:ea typeface="宋体" panose="02010600030101010101" pitchFamily="2" charset="-122"/>
                </a:rPr>
                <a:t> =1.77×10</a:t>
              </a:r>
              <a:r>
                <a:rPr lang="en-US" altLang="zh-CN" sz="2400" baseline="30000" dirty="0">
                  <a:latin typeface="Times New Roman" panose="02020603050405020304" pitchFamily="18" charset="0"/>
                  <a:ea typeface="宋体" panose="02010600030101010101" pitchFamily="2" charset="-122"/>
                </a:rPr>
                <a:t>-8 </a:t>
              </a:r>
              <a:r>
                <a:rPr lang="en-US" altLang="zh-CN" sz="2400" dirty="0">
                  <a:latin typeface="Times New Roman" panose="02020603050405020304" pitchFamily="18" charset="0"/>
                  <a:ea typeface="宋体" panose="02010600030101010101" pitchFamily="2" charset="-122"/>
                </a:rPr>
                <a:t>mol·L</a:t>
              </a:r>
              <a:r>
                <a:rPr lang="en-US" altLang="zh-CN" sz="2400" baseline="30000" dirty="0">
                  <a:latin typeface="Times New Roman" panose="02020603050405020304" pitchFamily="18" charset="0"/>
                  <a:ea typeface="宋体" panose="02010600030101010101" pitchFamily="2" charset="-122"/>
                </a:rPr>
                <a:t>-l</a:t>
              </a:r>
              <a:r>
                <a:rPr lang="en-US" altLang="zh-CN"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aphicFrame>
          <p:nvGraphicFramePr>
            <p:cNvPr id="67593" name="Object 18"/>
            <p:cNvGraphicFramePr>
              <a:graphicFrameLocks noChangeAspect="1"/>
            </p:cNvGraphicFramePr>
            <p:nvPr/>
          </p:nvGraphicFramePr>
          <p:xfrm>
            <a:off x="1565" y="1918"/>
            <a:ext cx="827" cy="487"/>
          </p:xfrm>
          <a:graphic>
            <a:graphicData uri="http://schemas.openxmlformats.org/presentationml/2006/ole">
              <mc:AlternateContent xmlns:mc="http://schemas.openxmlformats.org/markup-compatibility/2006">
                <mc:Choice xmlns:v="urn:schemas-microsoft-com:vml" Requires="v">
                  <p:oleObj r:id="rId3" imgW="806450" imgH="434975" progId="Equation.3">
                    <p:embed/>
                  </p:oleObj>
                </mc:Choice>
                <mc:Fallback>
                  <p:oleObj r:id="rId3" imgW="806450" imgH="434975" progId="Equation.3">
                    <p:embed/>
                    <p:pic>
                      <p:nvPicPr>
                        <p:cNvPr id="0" name="图片 3163"/>
                        <p:cNvPicPr/>
                        <p:nvPr/>
                      </p:nvPicPr>
                      <p:blipFill>
                        <a:blip r:embed="rId4"/>
                        <a:stretch>
                          <a:fillRect/>
                        </a:stretch>
                      </p:blipFill>
                      <p:spPr>
                        <a:xfrm>
                          <a:off x="1565" y="1918"/>
                          <a:ext cx="827" cy="487"/>
                        </a:xfrm>
                        <a:prstGeom prst="rect">
                          <a:avLst/>
                        </a:prstGeom>
                        <a:noFill/>
                        <a:ln w="38100">
                          <a:noFill/>
                          <a:miter/>
                        </a:ln>
                      </p:spPr>
                    </p:pic>
                  </p:oleObj>
                </mc:Fallback>
              </mc:AlternateContent>
            </a:graphicData>
          </a:graphic>
        </p:graphicFrame>
        <p:graphicFrame>
          <p:nvGraphicFramePr>
            <p:cNvPr id="67594" name="Object 22"/>
            <p:cNvGraphicFramePr>
              <a:graphicFrameLocks noChangeAspect="1"/>
            </p:cNvGraphicFramePr>
            <p:nvPr/>
          </p:nvGraphicFramePr>
          <p:xfrm>
            <a:off x="2517" y="1939"/>
            <a:ext cx="789" cy="429"/>
          </p:xfrm>
          <a:graphic>
            <a:graphicData uri="http://schemas.openxmlformats.org/presentationml/2006/ole">
              <mc:AlternateContent xmlns:mc="http://schemas.openxmlformats.org/markup-compatibility/2006">
                <mc:Choice xmlns:v="urn:schemas-microsoft-com:vml" Requires="v">
                  <p:oleObj r:id="rId5" imgW="665480" imgH="384175" progId="Equation.3">
                    <p:embed/>
                  </p:oleObj>
                </mc:Choice>
                <mc:Fallback>
                  <p:oleObj r:id="rId5" imgW="665480" imgH="384175" progId="Equation.3">
                    <p:embed/>
                    <p:pic>
                      <p:nvPicPr>
                        <p:cNvPr id="0" name="图片 3164"/>
                        <p:cNvPicPr/>
                        <p:nvPr/>
                      </p:nvPicPr>
                      <p:blipFill>
                        <a:blip r:embed="rId6"/>
                        <a:stretch>
                          <a:fillRect/>
                        </a:stretch>
                      </p:blipFill>
                      <p:spPr>
                        <a:xfrm>
                          <a:off x="2517" y="1939"/>
                          <a:ext cx="789" cy="429"/>
                        </a:xfrm>
                        <a:prstGeom prst="rect">
                          <a:avLst/>
                        </a:prstGeom>
                        <a:noFill/>
                        <a:ln w="38100">
                          <a:noFill/>
                          <a:miter/>
                        </a:ln>
                      </p:spPr>
                    </p:pic>
                  </p:oleObj>
                </mc:Fallback>
              </mc:AlternateContent>
            </a:graphicData>
          </a:graphic>
        </p:graphicFrame>
        <p:graphicFrame>
          <p:nvGraphicFramePr>
            <p:cNvPr id="67595" name="Object 26"/>
            <p:cNvGraphicFramePr>
              <a:graphicFrameLocks noChangeAspect="1"/>
            </p:cNvGraphicFramePr>
            <p:nvPr/>
          </p:nvGraphicFramePr>
          <p:xfrm>
            <a:off x="884" y="1253"/>
            <a:ext cx="276" cy="298"/>
          </p:xfrm>
          <a:graphic>
            <a:graphicData uri="http://schemas.openxmlformats.org/presentationml/2006/ole">
              <mc:AlternateContent xmlns:mc="http://schemas.openxmlformats.org/markup-compatibility/2006">
                <mc:Choice xmlns:v="urn:schemas-microsoft-com:vml" Requires="v">
                  <p:oleObj r:id="rId7" imgW="250825" imgH="264160" progId="Equation.3">
                    <p:embed/>
                  </p:oleObj>
                </mc:Choice>
                <mc:Fallback>
                  <p:oleObj r:id="rId7" imgW="250825" imgH="264160" progId="Equation.3">
                    <p:embed/>
                    <p:pic>
                      <p:nvPicPr>
                        <p:cNvPr id="0" name="图片 3165"/>
                        <p:cNvPicPr/>
                        <p:nvPr/>
                      </p:nvPicPr>
                      <p:blipFill>
                        <a:blip r:embed="rId8"/>
                        <a:stretch>
                          <a:fillRect/>
                        </a:stretch>
                      </p:blipFill>
                      <p:spPr>
                        <a:xfrm>
                          <a:off x="884" y="1253"/>
                          <a:ext cx="276" cy="298"/>
                        </a:xfrm>
                        <a:prstGeom prst="rect">
                          <a:avLst/>
                        </a:prstGeom>
                        <a:noFill/>
                        <a:ln w="38100">
                          <a:noFill/>
                          <a:miter/>
                        </a:ln>
                      </p:spPr>
                    </p:pic>
                  </p:oleObj>
                </mc:Fallback>
              </mc:AlternateContent>
            </a:graphicData>
          </a:graphic>
        </p:graphicFrame>
        <p:graphicFrame>
          <p:nvGraphicFramePr>
            <p:cNvPr id="67596" name="Object 28"/>
            <p:cNvGraphicFramePr>
              <a:graphicFrameLocks noChangeAspect="1"/>
            </p:cNvGraphicFramePr>
            <p:nvPr/>
          </p:nvGraphicFramePr>
          <p:xfrm>
            <a:off x="2838" y="1223"/>
            <a:ext cx="276" cy="298"/>
          </p:xfrm>
          <a:graphic>
            <a:graphicData uri="http://schemas.openxmlformats.org/presentationml/2006/ole">
              <mc:AlternateContent xmlns:mc="http://schemas.openxmlformats.org/markup-compatibility/2006">
                <mc:Choice xmlns:v="urn:schemas-microsoft-com:vml" Requires="v">
                  <p:oleObj r:id="rId9" imgW="250825" imgH="264160" progId="Equation.3">
                    <p:embed/>
                  </p:oleObj>
                </mc:Choice>
                <mc:Fallback>
                  <p:oleObj r:id="rId9" imgW="250825" imgH="264160" progId="Equation.3">
                    <p:embed/>
                    <p:pic>
                      <p:nvPicPr>
                        <p:cNvPr id="0" name="图片 3166"/>
                        <p:cNvPicPr/>
                        <p:nvPr/>
                      </p:nvPicPr>
                      <p:blipFill>
                        <a:blip r:embed="rId8"/>
                        <a:stretch>
                          <a:fillRect/>
                        </a:stretch>
                      </p:blipFill>
                      <p:spPr>
                        <a:xfrm>
                          <a:off x="2838" y="1223"/>
                          <a:ext cx="276" cy="298"/>
                        </a:xfrm>
                        <a:prstGeom prst="rect">
                          <a:avLst/>
                        </a:prstGeom>
                        <a:noFill/>
                        <a:ln w="38100">
                          <a:noFill/>
                          <a:miter/>
                        </a:ln>
                      </p:spPr>
                    </p:pic>
                  </p:oleObj>
                </mc:Fallback>
              </mc:AlternateContent>
            </a:graphicData>
          </a:graphic>
        </p:graphicFrame>
      </p:grpSp>
      <p:sp>
        <p:nvSpPr>
          <p:cNvPr id="67597" name="Rectangle 32"/>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7598" name="Rectangle 36"/>
          <p:cNvSpPr/>
          <p:nvPr/>
        </p:nvSpPr>
        <p:spPr>
          <a:xfrm>
            <a:off x="5" y="21672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31" name="Text Box 17"/>
          <p:cNvSpPr txBox="1"/>
          <p:nvPr/>
        </p:nvSpPr>
        <p:spPr>
          <a:xfrm>
            <a:off x="179388" y="3892551"/>
            <a:ext cx="8856662" cy="528350"/>
          </a:xfrm>
          <a:prstGeom prst="rect">
            <a:avLst/>
          </a:prstGeom>
          <a:noFill/>
          <a:ln w="9525">
            <a:noFill/>
          </a:ln>
        </p:spPr>
        <p:txBody>
          <a:bodyPr anchor="t" anchorCtr="0">
            <a:spAutoFit/>
          </a:bodyPr>
          <a:lstStyle/>
          <a:p>
            <a:pPr>
              <a:lnSpc>
                <a:spcPts val="3400"/>
              </a:lnSpc>
              <a:buClrTx/>
              <a:buFontTx/>
            </a:pPr>
            <a:r>
              <a:rPr lang="en-US" altLang="zh-CN" sz="2400" i="1"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(Ag</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 </a:t>
            </a:r>
            <a:r>
              <a:rPr lang="en-US" altLang="zh-CN" sz="2400" i="1" dirty="0">
                <a:latin typeface="Times New Roman" panose="02020603050405020304" pitchFamily="18" charset="0"/>
                <a:ea typeface="宋体" panose="02010600030101010101" pitchFamily="2" charset="-122"/>
              </a:rPr>
              <a:t>c</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(Ag</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，所以</a:t>
            </a:r>
            <a:r>
              <a:rPr lang="en-US" altLang="zh-CN" sz="2400" dirty="0">
                <a:latin typeface="Times New Roman" panose="02020603050405020304" pitchFamily="18" charset="0"/>
                <a:ea typeface="宋体" panose="02010600030101010101" pitchFamily="2" charset="-122"/>
              </a:rPr>
              <a:t>AgI</a:t>
            </a:r>
            <a:r>
              <a:rPr lang="zh-CN" altLang="en-US" sz="2400" dirty="0">
                <a:latin typeface="Times New Roman" panose="02020603050405020304" pitchFamily="18" charset="0"/>
                <a:ea typeface="宋体" panose="02010600030101010101" pitchFamily="2" charset="-122"/>
              </a:rPr>
              <a:t>先沉淀出来，</a:t>
            </a:r>
            <a:r>
              <a:rPr lang="en-US" altLang="zh-CN" sz="2400" dirty="0">
                <a:latin typeface="Times New Roman" panose="02020603050405020304" pitchFamily="18" charset="0"/>
                <a:ea typeface="宋体" panose="02010600030101010101" pitchFamily="2" charset="-122"/>
              </a:rPr>
              <a:t>AgCl</a:t>
            </a:r>
            <a:r>
              <a:rPr lang="zh-CN" altLang="en-US" sz="2400" dirty="0">
                <a:latin typeface="Times New Roman" panose="02020603050405020304" pitchFamily="18" charset="0"/>
                <a:ea typeface="宋体" panose="02010600030101010101" pitchFamily="2" charset="-122"/>
              </a:rPr>
              <a:t>后沉淀出来。</a:t>
            </a:r>
          </a:p>
        </p:txBody>
      </p:sp>
      <p:grpSp>
        <p:nvGrpSpPr>
          <p:cNvPr id="5" name="组合 4"/>
          <p:cNvGrpSpPr/>
          <p:nvPr/>
        </p:nvGrpSpPr>
        <p:grpSpPr>
          <a:xfrm>
            <a:off x="144463" y="3152773"/>
            <a:ext cx="8856662" cy="547748"/>
            <a:chOff x="144461" y="3152858"/>
            <a:chExt cx="8856663" cy="546807"/>
          </a:xfrm>
        </p:grpSpPr>
        <p:sp>
          <p:nvSpPr>
            <p:cNvPr id="67604" name="Text Box 17"/>
            <p:cNvSpPr txBox="1"/>
            <p:nvPr/>
          </p:nvSpPr>
          <p:spPr>
            <a:xfrm>
              <a:off x="144461" y="3172223"/>
              <a:ext cx="8856663" cy="527442"/>
            </a:xfrm>
            <a:prstGeom prst="rect">
              <a:avLst/>
            </a:prstGeom>
            <a:noFill/>
            <a:ln w="9525">
              <a:noFill/>
            </a:ln>
          </p:spPr>
          <p:txBody>
            <a:bodyPr anchor="t" anchorCtr="0">
              <a:spAutoFit/>
            </a:bodyPr>
            <a:lstStyle/>
            <a:p>
              <a:pPr>
                <a:lnSpc>
                  <a:spcPts val="3400"/>
                </a:lnSpc>
                <a:buClrTx/>
                <a:buFontTx/>
              </a:pPr>
              <a:r>
                <a:rPr lang="en-US" altLang="zh-CN" sz="2400" dirty="0">
                  <a:latin typeface="Times New Roman" panose="02020603050405020304" pitchFamily="18" charset="0"/>
                  <a:ea typeface="宋体" panose="02010600030101010101" pitchFamily="2" charset="-122"/>
                </a:rPr>
                <a:t>   </a:t>
              </a:r>
              <a:r>
                <a:rPr lang="pt-BR" altLang="zh-CN" sz="2400" dirty="0">
                  <a:latin typeface="Times New Roman" panose="02020603050405020304" pitchFamily="18" charset="0"/>
                  <a:ea typeface="宋体" panose="02010600030101010101" pitchFamily="2" charset="-122"/>
                </a:rPr>
                <a:t>AgI:  </a:t>
              </a:r>
              <a:r>
                <a:rPr lang="pt-BR" altLang="zh-CN" sz="2400" i="1" dirty="0">
                  <a:latin typeface="Times New Roman" panose="02020603050405020304" pitchFamily="18" charset="0"/>
                  <a:ea typeface="宋体" panose="02010600030101010101" pitchFamily="2" charset="-122"/>
                </a:rPr>
                <a:t>c</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(Ag</a:t>
              </a:r>
              <a:r>
                <a:rPr lang="pt-BR" altLang="zh-CN" sz="2400" baseline="30000" dirty="0">
                  <a:latin typeface="Times New Roman" panose="02020603050405020304" pitchFamily="18" charset="0"/>
                  <a:ea typeface="宋体" panose="02010600030101010101" pitchFamily="2" charset="-122"/>
                </a:rPr>
                <a:t>+</a:t>
              </a:r>
              <a:r>
                <a:rPr lang="pt-BR" altLang="zh-CN" sz="2400" dirty="0">
                  <a:latin typeface="Times New Roman" panose="02020603050405020304" pitchFamily="18" charset="0"/>
                  <a:ea typeface="宋体" panose="02010600030101010101" pitchFamily="2" charset="-122"/>
                </a:rPr>
                <a:t>) &gt;                  =              mol·L</a:t>
              </a:r>
              <a:r>
                <a:rPr lang="pt-BR" altLang="zh-CN" sz="2400" baseline="30000" dirty="0">
                  <a:latin typeface="Times New Roman" panose="02020603050405020304" pitchFamily="18" charset="0"/>
                  <a:ea typeface="宋体" panose="02010600030101010101" pitchFamily="2" charset="-122"/>
                </a:rPr>
                <a:t>-l</a:t>
              </a:r>
              <a:r>
                <a:rPr lang="pt-BR" altLang="zh-CN" sz="2400" dirty="0">
                  <a:latin typeface="Times New Roman" panose="02020603050405020304" pitchFamily="18" charset="0"/>
                  <a:ea typeface="宋体" panose="02010600030101010101" pitchFamily="2" charset="-122"/>
                </a:rPr>
                <a:t>=8.52×10</a:t>
              </a:r>
              <a:r>
                <a:rPr lang="pt-BR" altLang="zh-CN" sz="2400" baseline="30000" dirty="0">
                  <a:latin typeface="Times New Roman" panose="02020603050405020304" pitchFamily="18" charset="0"/>
                  <a:ea typeface="宋体" panose="02010600030101010101" pitchFamily="2" charset="-122"/>
                </a:rPr>
                <a:t>-15</a:t>
              </a:r>
              <a:r>
                <a:rPr lang="pt-BR" altLang="zh-CN" sz="2400" dirty="0">
                  <a:latin typeface="Times New Roman" panose="02020603050405020304" pitchFamily="18" charset="0"/>
                  <a:ea typeface="宋体" panose="02010600030101010101" pitchFamily="2" charset="-122"/>
                </a:rPr>
                <a:t> mol·L</a:t>
              </a:r>
              <a:r>
                <a:rPr lang="pt-BR" altLang="zh-CN" sz="2400" baseline="30000" dirty="0">
                  <a:latin typeface="Times New Roman" panose="02020603050405020304" pitchFamily="18" charset="0"/>
                  <a:ea typeface="宋体" panose="02010600030101010101" pitchFamily="2" charset="-122"/>
                </a:rPr>
                <a:t>-l</a:t>
              </a:r>
              <a:r>
                <a:rPr lang="pt-BR" altLang="zh-CN" sz="2400" i="1"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aphicFrame>
          <p:nvGraphicFramePr>
            <p:cNvPr id="67605" name="Object 20"/>
            <p:cNvGraphicFramePr>
              <a:graphicFrameLocks noChangeAspect="1"/>
            </p:cNvGraphicFramePr>
            <p:nvPr/>
          </p:nvGraphicFramePr>
          <p:xfrm>
            <a:off x="2339752" y="3152858"/>
            <a:ext cx="1368425" cy="495300"/>
          </p:xfrm>
          <a:graphic>
            <a:graphicData uri="http://schemas.openxmlformats.org/presentationml/2006/ole">
              <mc:AlternateContent xmlns:mc="http://schemas.openxmlformats.org/markup-compatibility/2006">
                <mc:Choice xmlns:v="urn:schemas-microsoft-com:vml" Requires="v">
                  <p:oleObj r:id="rId10" imgW="742315" imgH="434975" progId="Equation.3">
                    <p:embed/>
                  </p:oleObj>
                </mc:Choice>
                <mc:Fallback>
                  <p:oleObj r:id="rId10" imgW="742315" imgH="434975" progId="Equation.3">
                    <p:embed/>
                    <p:pic>
                      <p:nvPicPr>
                        <p:cNvPr id="0" name="图片 3167"/>
                        <p:cNvPicPr/>
                        <p:nvPr/>
                      </p:nvPicPr>
                      <p:blipFill>
                        <a:blip r:embed="rId11"/>
                        <a:stretch>
                          <a:fillRect/>
                        </a:stretch>
                      </p:blipFill>
                      <p:spPr>
                        <a:xfrm>
                          <a:off x="2339752" y="3152858"/>
                          <a:ext cx="1368425" cy="495300"/>
                        </a:xfrm>
                        <a:prstGeom prst="rect">
                          <a:avLst/>
                        </a:prstGeom>
                        <a:noFill/>
                        <a:ln w="38100">
                          <a:noFill/>
                          <a:miter/>
                        </a:ln>
                      </p:spPr>
                    </p:pic>
                  </p:oleObj>
                </mc:Fallback>
              </mc:AlternateContent>
            </a:graphicData>
          </a:graphic>
        </p:graphicFrame>
        <p:graphicFrame>
          <p:nvGraphicFramePr>
            <p:cNvPr id="67606" name="Object 24"/>
            <p:cNvGraphicFramePr>
              <a:graphicFrameLocks noChangeAspect="1"/>
            </p:cNvGraphicFramePr>
            <p:nvPr/>
          </p:nvGraphicFramePr>
          <p:xfrm>
            <a:off x="3924077" y="3206436"/>
            <a:ext cx="1008063" cy="447675"/>
          </p:xfrm>
          <a:graphic>
            <a:graphicData uri="http://schemas.openxmlformats.org/presentationml/2006/ole">
              <mc:AlternateContent xmlns:mc="http://schemas.openxmlformats.org/markup-compatibility/2006">
                <mc:Choice xmlns:v="urn:schemas-microsoft-com:vml" Requires="v">
                  <p:oleObj r:id="rId12" imgW="665480" imgH="384175" progId="Equation.3">
                    <p:embed/>
                  </p:oleObj>
                </mc:Choice>
                <mc:Fallback>
                  <p:oleObj r:id="rId12" imgW="665480" imgH="384175" progId="Equation.3">
                    <p:embed/>
                    <p:pic>
                      <p:nvPicPr>
                        <p:cNvPr id="0" name="图片 3168"/>
                        <p:cNvPicPr/>
                        <p:nvPr/>
                      </p:nvPicPr>
                      <p:blipFill>
                        <a:blip r:embed="rId13"/>
                        <a:stretch>
                          <a:fillRect/>
                        </a:stretch>
                      </p:blipFill>
                      <p:spPr>
                        <a:xfrm>
                          <a:off x="3924077" y="3206436"/>
                          <a:ext cx="1008063" cy="447675"/>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ext Box 16"/>
          <p:cNvSpPr txBox="1"/>
          <p:nvPr/>
        </p:nvSpPr>
        <p:spPr>
          <a:xfrm>
            <a:off x="109538" y="60327"/>
            <a:ext cx="8926512" cy="1200329"/>
          </a:xfrm>
          <a:prstGeom prst="rect">
            <a:avLst/>
          </a:prstGeom>
          <a:solidFill>
            <a:srgbClr val="FFFF00"/>
          </a:solidFill>
          <a:ln w="12700" cap="flat" cmpd="sng">
            <a:solidFill>
              <a:schemeClr val="tx1"/>
            </a:solidFill>
            <a:prstDash val="solid"/>
            <a:miter/>
            <a:headEnd type="none" w="med" len="med"/>
            <a:tailEnd type="none" w="med" len="med"/>
          </a:ln>
        </p:spPr>
        <p:txBody>
          <a:bodyPr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例</a:t>
            </a:r>
            <a:r>
              <a:rPr lang="en-US" altLang="zh-CN" sz="2400" dirty="0">
                <a:latin typeface="Times New Roman" panose="02020603050405020304" pitchFamily="18" charset="0"/>
                <a:ea typeface="宋体" panose="02010600030101010101" pitchFamily="2" charset="-122"/>
              </a:rPr>
              <a:t>3.8]  </a:t>
            </a:r>
            <a:r>
              <a:rPr lang="zh-CN" altLang="en-US" sz="2400" dirty="0">
                <a:latin typeface="Times New Roman" panose="02020603050405020304" pitchFamily="18" charset="0"/>
                <a:ea typeface="宋体" panose="02010600030101010101" pitchFamily="2" charset="-122"/>
              </a:rPr>
              <a:t>某溶液中含有</a:t>
            </a:r>
            <a:r>
              <a:rPr lang="en-US" altLang="zh-CN" sz="2400" dirty="0">
                <a:latin typeface="Times New Roman" panose="02020603050405020304" pitchFamily="18" charset="0"/>
                <a:ea typeface="宋体" panose="02010600030101010101" pitchFamily="2" charset="-122"/>
              </a:rPr>
              <a:t>0.010mol·L</a:t>
            </a:r>
            <a:r>
              <a:rPr lang="en-US" altLang="zh-CN" sz="2400" baseline="30000" dirty="0">
                <a:latin typeface="Times New Roman" panose="02020603050405020304" pitchFamily="18" charset="0"/>
                <a:ea typeface="宋体" panose="02010600030101010101" pitchFamily="2" charset="-122"/>
              </a:rPr>
              <a:t>-l</a:t>
            </a:r>
            <a:r>
              <a:rPr lang="en-US" altLang="zh-CN" sz="2400" dirty="0">
                <a:latin typeface="Times New Roman" panose="02020603050405020304" pitchFamily="18" charset="0"/>
                <a:ea typeface="宋体" panose="02010600030101010101" pitchFamily="2" charset="-122"/>
              </a:rPr>
              <a:t> Cl</a:t>
            </a:r>
            <a:r>
              <a:rPr lang="en-US" altLang="zh-CN" sz="2400" baseline="300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和</a:t>
            </a:r>
            <a:r>
              <a:rPr lang="en-US" altLang="zh-CN" sz="2400" dirty="0">
                <a:latin typeface="Times New Roman" panose="02020603050405020304" pitchFamily="18" charset="0"/>
                <a:ea typeface="宋体" panose="02010600030101010101" pitchFamily="2" charset="-122"/>
              </a:rPr>
              <a:t>0.010mol·L</a:t>
            </a:r>
            <a:r>
              <a:rPr lang="en-US" altLang="zh-CN" sz="2400" baseline="30000" dirty="0">
                <a:latin typeface="Times New Roman" panose="02020603050405020304" pitchFamily="18" charset="0"/>
                <a:ea typeface="宋体" panose="02010600030101010101" pitchFamily="2" charset="-122"/>
              </a:rPr>
              <a:t>-l</a:t>
            </a:r>
            <a:r>
              <a:rPr lang="en-US" altLang="zh-CN" sz="2400" dirty="0">
                <a:latin typeface="Times New Roman" panose="02020603050405020304" pitchFamily="18" charset="0"/>
                <a:ea typeface="宋体" panose="02010600030101010101" pitchFamily="2" charset="-122"/>
              </a:rPr>
              <a:t> I</a:t>
            </a:r>
            <a:r>
              <a:rPr lang="en-US" altLang="zh-CN" sz="2400" baseline="300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，逐滴加入</a:t>
            </a:r>
            <a:r>
              <a:rPr lang="en-US" altLang="zh-CN" sz="2400" dirty="0">
                <a:latin typeface="Times New Roman" panose="02020603050405020304" pitchFamily="18" charset="0"/>
                <a:ea typeface="宋体" panose="02010600030101010101" pitchFamily="2" charset="-122"/>
              </a:rPr>
              <a:t>AgNO</a:t>
            </a:r>
            <a:r>
              <a:rPr lang="en-US" altLang="zh-CN" sz="2400" baseline="-25000" dirty="0">
                <a:latin typeface="Times New Roman" panose="02020603050405020304" pitchFamily="18" charset="0"/>
                <a:ea typeface="宋体" panose="02010600030101010101" pitchFamily="2" charset="-122"/>
              </a:rPr>
              <a:t>3</a:t>
            </a:r>
            <a:r>
              <a:rPr lang="zh-CN" altLang="en-US" sz="2400" dirty="0">
                <a:latin typeface="Times New Roman" panose="02020603050405020304" pitchFamily="18" charset="0"/>
                <a:ea typeface="宋体" panose="02010600030101010101" pitchFamily="2" charset="-122"/>
              </a:rPr>
              <a:t>溶液，哪种离子首先被沉淀出来？当第二种离子开始沉淀析出时，第一种离子是否被沉淀完全？（忽略溶液体积变化） </a:t>
            </a:r>
          </a:p>
        </p:txBody>
      </p:sp>
      <p:sp>
        <p:nvSpPr>
          <p:cNvPr id="68610" name="Rectangle 19"/>
          <p:cNvSpPr/>
          <p:nvPr/>
        </p:nvSpPr>
        <p:spPr>
          <a:xfrm>
            <a:off x="5" y="214980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8611" name="Rectangle 21"/>
          <p:cNvSpPr/>
          <p:nvPr/>
        </p:nvSpPr>
        <p:spPr>
          <a:xfrm>
            <a:off x="5" y="214980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8612" name="Rectangle 23"/>
          <p:cNvSpPr/>
          <p:nvPr/>
        </p:nvSpPr>
        <p:spPr>
          <a:xfrm>
            <a:off x="5" y="21672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8613" name="Rectangle 25"/>
          <p:cNvSpPr/>
          <p:nvPr/>
        </p:nvSpPr>
        <p:spPr>
          <a:xfrm>
            <a:off x="5" y="21672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8614" name="Rectangle 27"/>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8615" name="Rectangle 32"/>
          <p:cNvSpPr/>
          <p:nvPr/>
        </p:nvSpPr>
        <p:spPr>
          <a:xfrm>
            <a:off x="5" y="2213304"/>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68616" name="Rectangle 36"/>
          <p:cNvSpPr/>
          <p:nvPr/>
        </p:nvSpPr>
        <p:spPr>
          <a:xfrm>
            <a:off x="5" y="21672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8" name="组合 7"/>
          <p:cNvGrpSpPr/>
          <p:nvPr/>
        </p:nvGrpSpPr>
        <p:grpSpPr>
          <a:xfrm>
            <a:off x="138113" y="1428750"/>
            <a:ext cx="8964612" cy="1569660"/>
            <a:chOff x="143660" y="1518048"/>
            <a:chExt cx="8964612" cy="1568865"/>
          </a:xfrm>
        </p:grpSpPr>
        <p:sp>
          <p:nvSpPr>
            <p:cNvPr id="68618" name="Text Box 30"/>
            <p:cNvSpPr txBox="1"/>
            <p:nvPr/>
          </p:nvSpPr>
          <p:spPr>
            <a:xfrm>
              <a:off x="143660" y="1518048"/>
              <a:ext cx="8964612" cy="1568865"/>
            </a:xfrm>
            <a:prstGeom prst="rect">
              <a:avLst/>
            </a:prstGeom>
            <a:noFill/>
            <a:ln w="9525">
              <a:noFill/>
            </a:ln>
          </p:spPr>
          <p:txBody>
            <a:bodyPr anchor="t" anchorCtr="0">
              <a:spAutoFit/>
            </a:bodyPr>
            <a:lstStyle/>
            <a:p>
              <a:pPr>
                <a:buClrTx/>
                <a:buFontTx/>
              </a:pPr>
              <a:r>
                <a:rPr lang="zh-CN" altLang="en-US" sz="2400" dirty="0">
                  <a:latin typeface="Times New Roman" panose="02020603050405020304" pitchFamily="18" charset="0"/>
                  <a:ea typeface="宋体" panose="02010600030101010101" pitchFamily="2" charset="-122"/>
                </a:rPr>
                <a:t>    当</a:t>
              </a:r>
              <a:r>
                <a:rPr lang="en-US" altLang="zh-CN" sz="2400" dirty="0">
                  <a:latin typeface="Times New Roman" panose="02020603050405020304" pitchFamily="18" charset="0"/>
                  <a:ea typeface="宋体" panose="02010600030101010101" pitchFamily="2" charset="-122"/>
                </a:rPr>
                <a:t>AgCl</a:t>
              </a:r>
              <a:r>
                <a:rPr lang="zh-CN" altLang="en-US" sz="2400" dirty="0">
                  <a:latin typeface="Times New Roman" panose="02020603050405020304" pitchFamily="18" charset="0"/>
                  <a:ea typeface="宋体" panose="02010600030101010101" pitchFamily="2" charset="-122"/>
                </a:rPr>
                <a:t>开始沉淀的前一瞬间，溶液中的 </a:t>
              </a:r>
              <a:r>
                <a:rPr lang="en-US" altLang="zh-CN" sz="2400" i="1" dirty="0">
                  <a:latin typeface="Times New Roman" panose="02020603050405020304" pitchFamily="18" charset="0"/>
                  <a:ea typeface="宋体" panose="02010600030101010101" pitchFamily="2" charset="-122"/>
                </a:rPr>
                <a:t>c</a:t>
              </a:r>
              <a:r>
                <a:rPr lang="en-US" altLang="zh-CN" sz="2400" dirty="0">
                  <a:latin typeface="Times New Roman" panose="02020603050405020304" pitchFamily="18" charset="0"/>
                  <a:ea typeface="宋体" panose="02010600030101010101" pitchFamily="2" charset="-122"/>
                </a:rPr>
                <a:t>(Ag</a:t>
              </a:r>
              <a:r>
                <a:rPr lang="en-US" altLang="zh-CN" sz="2400" baseline="300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必须同时满足下列两个关系式</a:t>
              </a:r>
              <a:r>
                <a:rPr lang="zh-CN" altLang="de-DE" sz="2400" dirty="0">
                  <a:latin typeface="Times New Roman" panose="02020603050405020304" pitchFamily="18" charset="0"/>
                  <a:ea typeface="宋体" panose="02010600030101010101" pitchFamily="2" charset="-122"/>
                </a:rPr>
                <a:t>        </a:t>
              </a:r>
              <a:r>
                <a:rPr lang="de-DE" altLang="zh-CN" sz="2400" i="1" dirty="0">
                  <a:latin typeface="Times New Roman" panose="02020603050405020304" pitchFamily="18" charset="0"/>
                  <a:ea typeface="宋体" panose="02010600030101010101" pitchFamily="2" charset="-122"/>
                </a:rPr>
                <a:t>c</a:t>
              </a:r>
              <a:r>
                <a:rPr lang="de-DE" altLang="zh-CN" sz="2400" dirty="0">
                  <a:latin typeface="Times New Roman" panose="02020603050405020304" pitchFamily="18" charset="0"/>
                  <a:ea typeface="宋体" panose="02010600030101010101" pitchFamily="2" charset="-122"/>
                </a:rPr>
                <a:t>(Ag</a:t>
              </a:r>
              <a:r>
                <a:rPr lang="de-DE" altLang="zh-CN" sz="2400" baseline="30000" dirty="0">
                  <a:latin typeface="Times New Roman" panose="02020603050405020304" pitchFamily="18" charset="0"/>
                  <a:ea typeface="宋体" panose="02010600030101010101" pitchFamily="2" charset="-122"/>
                </a:rPr>
                <a:t>+</a:t>
              </a:r>
              <a:r>
                <a:rPr lang="de-DE" altLang="zh-CN" sz="2400" dirty="0">
                  <a:latin typeface="Times New Roman" panose="02020603050405020304" pitchFamily="18" charset="0"/>
                  <a:ea typeface="宋体" panose="02010600030101010101" pitchFamily="2" charset="-122"/>
                </a:rPr>
                <a:t>)·</a:t>
              </a:r>
              <a:r>
                <a:rPr lang="de-DE" altLang="zh-CN" sz="2400" i="1" dirty="0">
                  <a:latin typeface="Times New Roman" panose="02020603050405020304" pitchFamily="18" charset="0"/>
                  <a:ea typeface="宋体" panose="02010600030101010101" pitchFamily="2" charset="-122"/>
                </a:rPr>
                <a:t>c</a:t>
              </a:r>
              <a:r>
                <a:rPr lang="de-DE" altLang="zh-CN" sz="2400" dirty="0">
                  <a:latin typeface="Times New Roman" panose="02020603050405020304" pitchFamily="18" charset="0"/>
                  <a:ea typeface="宋体" panose="02010600030101010101" pitchFamily="2" charset="-122"/>
                </a:rPr>
                <a:t>(Cl</a:t>
              </a:r>
              <a:r>
                <a:rPr lang="de-DE" altLang="zh-CN" sz="2400" baseline="30000" dirty="0">
                  <a:latin typeface="Times New Roman" panose="02020603050405020304" pitchFamily="18" charset="0"/>
                  <a:ea typeface="宋体" panose="02010600030101010101" pitchFamily="2" charset="-122"/>
                </a:rPr>
                <a:t>-</a:t>
              </a:r>
              <a:r>
                <a:rPr lang="de-DE" altLang="zh-CN" sz="2400" dirty="0">
                  <a:latin typeface="Times New Roman" panose="02020603050405020304" pitchFamily="18" charset="0"/>
                  <a:ea typeface="宋体" panose="02010600030101010101" pitchFamily="2" charset="-122"/>
                </a:rPr>
                <a:t>)=        (AgCl)</a:t>
              </a:r>
            </a:p>
            <a:p>
              <a:pPr>
                <a:buClrTx/>
                <a:buFontTx/>
              </a:pPr>
              <a:r>
                <a:rPr lang="de-DE" altLang="zh-CN" sz="2400" dirty="0">
                  <a:latin typeface="Times New Roman" panose="02020603050405020304" pitchFamily="18" charset="0"/>
                  <a:ea typeface="宋体" panose="02010600030101010101" pitchFamily="2" charset="-122"/>
                </a:rPr>
                <a:t>                                 </a:t>
              </a:r>
              <a:r>
                <a:rPr lang="de-DE" altLang="zh-CN" sz="2400" i="1" dirty="0">
                  <a:latin typeface="Times New Roman" panose="02020603050405020304" pitchFamily="18" charset="0"/>
                  <a:ea typeface="宋体" panose="02010600030101010101" pitchFamily="2" charset="-122"/>
                </a:rPr>
                <a:t>c</a:t>
              </a:r>
              <a:r>
                <a:rPr lang="de-DE" altLang="zh-CN" sz="2400" dirty="0">
                  <a:latin typeface="Times New Roman" panose="02020603050405020304" pitchFamily="18" charset="0"/>
                  <a:ea typeface="宋体" panose="02010600030101010101" pitchFamily="2" charset="-122"/>
                </a:rPr>
                <a:t>(Ag</a:t>
              </a:r>
              <a:r>
                <a:rPr lang="de-DE" altLang="zh-CN" sz="2400" baseline="30000" dirty="0">
                  <a:latin typeface="Times New Roman" panose="02020603050405020304" pitchFamily="18" charset="0"/>
                  <a:ea typeface="宋体" panose="02010600030101010101" pitchFamily="2" charset="-122"/>
                </a:rPr>
                <a:t>+</a:t>
              </a:r>
              <a:r>
                <a:rPr lang="de-DE" altLang="zh-CN" sz="2400" dirty="0">
                  <a:latin typeface="Times New Roman" panose="02020603050405020304" pitchFamily="18" charset="0"/>
                  <a:ea typeface="宋体" panose="02010600030101010101" pitchFamily="2" charset="-122"/>
                </a:rPr>
                <a:t>)·</a:t>
              </a:r>
              <a:r>
                <a:rPr lang="de-DE" altLang="zh-CN" sz="2400" i="1" dirty="0">
                  <a:latin typeface="Times New Roman" panose="02020603050405020304" pitchFamily="18" charset="0"/>
                  <a:ea typeface="宋体" panose="02010600030101010101" pitchFamily="2" charset="-122"/>
                </a:rPr>
                <a:t>c</a:t>
              </a:r>
              <a:r>
                <a:rPr lang="de-DE" altLang="zh-CN" sz="2400" dirty="0">
                  <a:latin typeface="Times New Roman" panose="02020603050405020304" pitchFamily="18" charset="0"/>
                  <a:ea typeface="宋体" panose="02010600030101010101" pitchFamily="2" charset="-122"/>
                </a:rPr>
                <a:t>(I</a:t>
              </a:r>
              <a:r>
                <a:rPr lang="de-DE" altLang="zh-CN" sz="2400" baseline="30000" dirty="0">
                  <a:latin typeface="Times New Roman" panose="02020603050405020304" pitchFamily="18" charset="0"/>
                  <a:ea typeface="宋体" panose="02010600030101010101" pitchFamily="2" charset="-122"/>
                </a:rPr>
                <a:t>-</a:t>
              </a:r>
              <a:r>
                <a:rPr lang="de-DE" altLang="zh-CN" sz="2400" dirty="0">
                  <a:latin typeface="Times New Roman" panose="02020603050405020304" pitchFamily="18" charset="0"/>
                  <a:ea typeface="宋体" panose="02010600030101010101" pitchFamily="2" charset="-122"/>
                </a:rPr>
                <a:t>)=          (AgI)</a:t>
              </a:r>
            </a:p>
            <a:p>
              <a:pPr>
                <a:buClrTx/>
                <a:buFontTx/>
              </a:pPr>
              <a:r>
                <a:rPr lang="zh-CN" altLang="de-DE" sz="2400" dirty="0">
                  <a:latin typeface="Times New Roman" panose="02020603050405020304" pitchFamily="18" charset="0"/>
                  <a:ea typeface="宋体" panose="02010600030101010101" pitchFamily="2" charset="-122"/>
                </a:rPr>
                <a:t>即在</a:t>
              </a:r>
              <a:r>
                <a:rPr lang="de-DE" altLang="zh-CN" sz="2400" dirty="0">
                  <a:latin typeface="Times New Roman" panose="02020603050405020304" pitchFamily="18" charset="0"/>
                  <a:ea typeface="宋体" panose="02010600030101010101" pitchFamily="2" charset="-122"/>
                </a:rPr>
                <a:t>AgCl</a:t>
              </a:r>
              <a:r>
                <a:rPr lang="zh-CN" altLang="de-DE" sz="2400" dirty="0">
                  <a:latin typeface="Times New Roman" panose="02020603050405020304" pitchFamily="18" charset="0"/>
                  <a:ea typeface="宋体" panose="02010600030101010101" pitchFamily="2" charset="-122"/>
                </a:rPr>
                <a:t>开始沉淀的前一瞬间，溶液中的</a:t>
              </a:r>
              <a:r>
                <a:rPr lang="de-DE" altLang="zh-CN" sz="2400" i="1" dirty="0">
                  <a:latin typeface="Times New Roman" panose="02020603050405020304" pitchFamily="18" charset="0"/>
                  <a:ea typeface="宋体" panose="02010600030101010101" pitchFamily="2" charset="-122"/>
                </a:rPr>
                <a:t>c</a:t>
              </a:r>
              <a:r>
                <a:rPr lang="de-DE" altLang="zh-CN" sz="2400" dirty="0">
                  <a:latin typeface="Times New Roman" panose="02020603050405020304" pitchFamily="18" charset="0"/>
                  <a:ea typeface="宋体" panose="02010600030101010101" pitchFamily="2" charset="-122"/>
                </a:rPr>
                <a:t>(I</a:t>
              </a:r>
              <a:r>
                <a:rPr lang="de-DE" altLang="zh-CN" sz="2400" baseline="30000" dirty="0">
                  <a:latin typeface="Times New Roman" panose="02020603050405020304" pitchFamily="18" charset="0"/>
                  <a:ea typeface="宋体" panose="02010600030101010101" pitchFamily="2" charset="-122"/>
                </a:rPr>
                <a:t>-</a:t>
              </a:r>
              <a:r>
                <a:rPr lang="de-DE" altLang="zh-CN" sz="2400" dirty="0">
                  <a:latin typeface="Times New Roman" panose="02020603050405020304" pitchFamily="18" charset="0"/>
                  <a:ea typeface="宋体" panose="02010600030101010101" pitchFamily="2" charset="-122"/>
                </a:rPr>
                <a:t>)</a:t>
              </a:r>
              <a:r>
                <a:rPr lang="zh-CN" altLang="de-DE" sz="2400" dirty="0">
                  <a:latin typeface="Times New Roman" panose="02020603050405020304" pitchFamily="18" charset="0"/>
                  <a:ea typeface="宋体" panose="02010600030101010101" pitchFamily="2" charset="-122"/>
                </a:rPr>
                <a:t>为</a:t>
              </a:r>
              <a:endParaRPr lang="zh-CN" altLang="de-DE" sz="2400" i="1" dirty="0">
                <a:latin typeface="Times New Roman" panose="02020603050405020304" pitchFamily="18" charset="0"/>
                <a:ea typeface="宋体" panose="02010600030101010101" pitchFamily="2" charset="-122"/>
              </a:endParaRPr>
            </a:p>
          </p:txBody>
        </p:sp>
        <p:graphicFrame>
          <p:nvGraphicFramePr>
            <p:cNvPr id="68619" name="Object 31"/>
            <p:cNvGraphicFramePr>
              <a:graphicFrameLocks noChangeAspect="1"/>
            </p:cNvGraphicFramePr>
            <p:nvPr/>
          </p:nvGraphicFramePr>
          <p:xfrm>
            <a:off x="4499992" y="1887685"/>
            <a:ext cx="709612" cy="457200"/>
          </p:xfrm>
          <a:graphic>
            <a:graphicData uri="http://schemas.openxmlformats.org/presentationml/2006/ole">
              <mc:AlternateContent xmlns:mc="http://schemas.openxmlformats.org/markup-compatibility/2006">
                <mc:Choice xmlns:v="urn:schemas-microsoft-com:vml" Requires="v">
                  <p:oleObj r:id="rId2" imgW="250825" imgH="264160" progId="Equation.3">
                    <p:embed/>
                  </p:oleObj>
                </mc:Choice>
                <mc:Fallback>
                  <p:oleObj r:id="rId2" imgW="250825" imgH="264160" progId="Equation.3">
                    <p:embed/>
                    <p:pic>
                      <p:nvPicPr>
                        <p:cNvPr id="0" name="图片 3169"/>
                        <p:cNvPicPr/>
                        <p:nvPr/>
                      </p:nvPicPr>
                      <p:blipFill>
                        <a:blip r:embed="rId3"/>
                        <a:stretch>
                          <a:fillRect/>
                        </a:stretch>
                      </p:blipFill>
                      <p:spPr>
                        <a:xfrm>
                          <a:off x="4499992" y="1887685"/>
                          <a:ext cx="709612" cy="457200"/>
                        </a:xfrm>
                        <a:prstGeom prst="rect">
                          <a:avLst/>
                        </a:prstGeom>
                        <a:noFill/>
                        <a:ln w="38100">
                          <a:noFill/>
                          <a:miter/>
                        </a:ln>
                      </p:spPr>
                    </p:pic>
                  </p:oleObj>
                </mc:Fallback>
              </mc:AlternateContent>
            </a:graphicData>
          </a:graphic>
        </p:graphicFrame>
        <p:graphicFrame>
          <p:nvGraphicFramePr>
            <p:cNvPr id="68620" name="Object 33"/>
            <p:cNvGraphicFramePr>
              <a:graphicFrameLocks noChangeAspect="1"/>
            </p:cNvGraphicFramePr>
            <p:nvPr/>
          </p:nvGraphicFramePr>
          <p:xfrm>
            <a:off x="4499992" y="2302669"/>
            <a:ext cx="630237" cy="404812"/>
          </p:xfrm>
          <a:graphic>
            <a:graphicData uri="http://schemas.openxmlformats.org/presentationml/2006/ole">
              <mc:AlternateContent xmlns:mc="http://schemas.openxmlformats.org/markup-compatibility/2006">
                <mc:Choice xmlns:v="urn:schemas-microsoft-com:vml" Requires="v">
                  <p:oleObj r:id="rId4" imgW="250825" imgH="264160" progId="Equation.3">
                    <p:embed/>
                  </p:oleObj>
                </mc:Choice>
                <mc:Fallback>
                  <p:oleObj r:id="rId4" imgW="250825" imgH="264160" progId="Equation.3">
                    <p:embed/>
                    <p:pic>
                      <p:nvPicPr>
                        <p:cNvPr id="0" name="图片 3170"/>
                        <p:cNvPicPr/>
                        <p:nvPr/>
                      </p:nvPicPr>
                      <p:blipFill>
                        <a:blip r:embed="rId3"/>
                        <a:stretch>
                          <a:fillRect/>
                        </a:stretch>
                      </p:blipFill>
                      <p:spPr>
                        <a:xfrm>
                          <a:off x="4499992" y="2302669"/>
                          <a:ext cx="630237" cy="404812"/>
                        </a:xfrm>
                        <a:prstGeom prst="rect">
                          <a:avLst/>
                        </a:prstGeom>
                        <a:noFill/>
                        <a:ln w="38100">
                          <a:noFill/>
                          <a:miter/>
                        </a:ln>
                      </p:spPr>
                    </p:pic>
                  </p:oleObj>
                </mc:Fallback>
              </mc:AlternateContent>
            </a:graphicData>
          </a:graphic>
        </p:graphicFrame>
      </p:grpSp>
      <p:grpSp>
        <p:nvGrpSpPr>
          <p:cNvPr id="7" name="组合 6"/>
          <p:cNvGrpSpPr/>
          <p:nvPr/>
        </p:nvGrpSpPr>
        <p:grpSpPr>
          <a:xfrm>
            <a:off x="114306" y="3292473"/>
            <a:ext cx="8964613" cy="902901"/>
            <a:chOff x="251520" y="3219822"/>
            <a:chExt cx="8964612" cy="904208"/>
          </a:xfrm>
        </p:grpSpPr>
        <p:graphicFrame>
          <p:nvGraphicFramePr>
            <p:cNvPr id="68622" name="Object 34"/>
            <p:cNvGraphicFramePr>
              <a:graphicFrameLocks noChangeAspect="1"/>
            </p:cNvGraphicFramePr>
            <p:nvPr/>
          </p:nvGraphicFramePr>
          <p:xfrm>
            <a:off x="1187624" y="3399412"/>
            <a:ext cx="503237" cy="323850"/>
          </p:xfrm>
          <a:graphic>
            <a:graphicData uri="http://schemas.openxmlformats.org/presentationml/2006/ole">
              <mc:AlternateContent xmlns:mc="http://schemas.openxmlformats.org/markup-compatibility/2006">
                <mc:Choice xmlns:v="urn:schemas-microsoft-com:vml" Requires="v">
                  <p:oleObj r:id="rId5" imgW="250825" imgH="264160" progId="Equation.DSMT4">
                    <p:embed/>
                  </p:oleObj>
                </mc:Choice>
                <mc:Fallback>
                  <p:oleObj r:id="rId5" imgW="250825" imgH="264160" progId="Equation.DSMT4">
                    <p:embed/>
                    <p:pic>
                      <p:nvPicPr>
                        <p:cNvPr id="0" name="图片 3171"/>
                        <p:cNvPicPr/>
                        <p:nvPr/>
                      </p:nvPicPr>
                      <p:blipFill>
                        <a:blip r:embed="rId3"/>
                        <a:stretch>
                          <a:fillRect/>
                        </a:stretch>
                      </p:blipFill>
                      <p:spPr>
                        <a:xfrm>
                          <a:off x="1187624" y="3399412"/>
                          <a:ext cx="503237" cy="323850"/>
                        </a:xfrm>
                        <a:prstGeom prst="rect">
                          <a:avLst/>
                        </a:prstGeom>
                        <a:noFill/>
                        <a:ln w="38100">
                          <a:noFill/>
                          <a:miter/>
                        </a:ln>
                      </p:spPr>
                    </p:pic>
                  </p:oleObj>
                </mc:Fallback>
              </mc:AlternateContent>
            </a:graphicData>
          </a:graphic>
        </p:graphicFrame>
        <p:grpSp>
          <p:nvGrpSpPr>
            <p:cNvPr id="68623" name="组合 5"/>
            <p:cNvGrpSpPr/>
            <p:nvPr/>
          </p:nvGrpSpPr>
          <p:grpSpPr>
            <a:xfrm>
              <a:off x="251520" y="3219822"/>
              <a:ext cx="8964612" cy="904208"/>
              <a:chOff x="251520" y="3219822"/>
              <a:chExt cx="8964612" cy="904208"/>
            </a:xfrm>
          </p:grpSpPr>
          <p:graphicFrame>
            <p:nvGraphicFramePr>
              <p:cNvPr id="68624" name="Object 35"/>
              <p:cNvGraphicFramePr>
                <a:graphicFrameLocks noChangeAspect="1"/>
              </p:cNvGraphicFramePr>
              <p:nvPr/>
            </p:nvGraphicFramePr>
            <p:xfrm>
              <a:off x="4788024" y="3219822"/>
              <a:ext cx="1690687" cy="552450"/>
            </p:xfrm>
            <a:graphic>
              <a:graphicData uri="http://schemas.openxmlformats.org/presentationml/2006/ole">
                <mc:AlternateContent xmlns:mc="http://schemas.openxmlformats.org/markup-compatibility/2006">
                  <mc:Choice xmlns:v="urn:schemas-microsoft-com:vml" Requires="v">
                    <p:oleObj r:id="rId6" imgW="1062355" imgH="384175" progId="Equation.DSMT4">
                      <p:embed/>
                    </p:oleObj>
                  </mc:Choice>
                  <mc:Fallback>
                    <p:oleObj r:id="rId6" imgW="1062355" imgH="384175" progId="Equation.DSMT4">
                      <p:embed/>
                      <p:pic>
                        <p:nvPicPr>
                          <p:cNvPr id="0" name="图片 3172"/>
                          <p:cNvPicPr/>
                          <p:nvPr/>
                        </p:nvPicPr>
                        <p:blipFill>
                          <a:blip r:embed="rId7"/>
                          <a:stretch>
                            <a:fillRect/>
                          </a:stretch>
                        </p:blipFill>
                        <p:spPr>
                          <a:xfrm>
                            <a:off x="4788024" y="3219822"/>
                            <a:ext cx="1690687" cy="552450"/>
                          </a:xfrm>
                          <a:prstGeom prst="rect">
                            <a:avLst/>
                          </a:prstGeom>
                          <a:noFill/>
                          <a:ln w="38100">
                            <a:noFill/>
                            <a:miter/>
                          </a:ln>
                        </p:spPr>
                      </p:pic>
                    </p:oleObj>
                  </mc:Fallback>
                </mc:AlternateContent>
              </a:graphicData>
            </a:graphic>
          </p:graphicFrame>
          <p:grpSp>
            <p:nvGrpSpPr>
              <p:cNvPr id="68625" name="组合 4"/>
              <p:cNvGrpSpPr/>
              <p:nvPr/>
            </p:nvGrpSpPr>
            <p:grpSpPr>
              <a:xfrm>
                <a:off x="251520" y="3291830"/>
                <a:ext cx="8964612" cy="832200"/>
                <a:chOff x="251520" y="3291830"/>
                <a:chExt cx="8964612" cy="832200"/>
              </a:xfrm>
            </p:grpSpPr>
            <p:graphicFrame>
              <p:nvGraphicFramePr>
                <p:cNvPr id="68626" name="Object 34"/>
                <p:cNvGraphicFramePr>
                  <a:graphicFrameLocks noChangeAspect="1"/>
                </p:cNvGraphicFramePr>
                <p:nvPr/>
              </p:nvGraphicFramePr>
              <p:xfrm>
                <a:off x="3203848" y="3363092"/>
                <a:ext cx="503237" cy="323850"/>
              </p:xfrm>
              <a:graphic>
                <a:graphicData uri="http://schemas.openxmlformats.org/presentationml/2006/ole">
                  <mc:AlternateContent xmlns:mc="http://schemas.openxmlformats.org/markup-compatibility/2006">
                    <mc:Choice xmlns:v="urn:schemas-microsoft-com:vml" Requires="v">
                      <p:oleObj r:id="rId8" imgW="250825" imgH="264160" progId="Equation.3">
                        <p:embed/>
                      </p:oleObj>
                    </mc:Choice>
                    <mc:Fallback>
                      <p:oleObj r:id="rId8" imgW="250825" imgH="264160" progId="Equation.3">
                        <p:embed/>
                        <p:pic>
                          <p:nvPicPr>
                            <p:cNvPr id="0" name="图片 3173"/>
                            <p:cNvPicPr/>
                            <p:nvPr/>
                          </p:nvPicPr>
                          <p:blipFill>
                            <a:blip r:embed="rId3"/>
                            <a:stretch>
                              <a:fillRect/>
                            </a:stretch>
                          </p:blipFill>
                          <p:spPr>
                            <a:xfrm>
                              <a:off x="3203848" y="3363092"/>
                              <a:ext cx="503237" cy="323850"/>
                            </a:xfrm>
                            <a:prstGeom prst="rect">
                              <a:avLst/>
                            </a:prstGeom>
                            <a:noFill/>
                            <a:ln w="38100">
                              <a:noFill/>
                              <a:miter/>
                            </a:ln>
                          </p:spPr>
                        </p:pic>
                      </p:oleObj>
                    </mc:Fallback>
                  </mc:AlternateContent>
                </a:graphicData>
              </a:graphic>
            </p:graphicFrame>
            <p:sp>
              <p:nvSpPr>
                <p:cNvPr id="68627" name="Text Box 30"/>
                <p:cNvSpPr txBox="1"/>
                <p:nvPr/>
              </p:nvSpPr>
              <p:spPr>
                <a:xfrm>
                  <a:off x="251520" y="3291830"/>
                  <a:ext cx="8964612" cy="832200"/>
                </a:xfrm>
                <a:prstGeom prst="rect">
                  <a:avLst/>
                </a:prstGeom>
                <a:noFill/>
                <a:ln w="9525">
                  <a:noFill/>
                </a:ln>
              </p:spPr>
              <p:txBody>
                <a:bodyPr anchor="t" anchorCtr="0">
                  <a:spAutoFit/>
                </a:bodyPr>
                <a:lstStyle/>
                <a:p>
                  <a:pPr>
                    <a:buClrTx/>
                    <a:buFontTx/>
                  </a:pPr>
                  <a:r>
                    <a:rPr lang="zh-CN" altLang="de-DE" sz="2400" i="1" dirty="0">
                      <a:latin typeface="Times New Roman" panose="02020603050405020304" pitchFamily="18" charset="0"/>
                      <a:ea typeface="宋体" panose="02010600030101010101" pitchFamily="2" charset="-122"/>
                    </a:rPr>
                    <a:t>  </a:t>
                  </a:r>
                  <a:r>
                    <a:rPr lang="de-DE" altLang="zh-CN" sz="2400" i="1" dirty="0">
                      <a:latin typeface="Times New Roman" panose="02020603050405020304" pitchFamily="18" charset="0"/>
                      <a:ea typeface="宋体" panose="02010600030101010101" pitchFamily="2" charset="-122"/>
                    </a:rPr>
                    <a:t>c</a:t>
                  </a:r>
                  <a:r>
                    <a:rPr lang="de-DE" altLang="zh-CN" sz="2400" dirty="0">
                      <a:latin typeface="Times New Roman" panose="02020603050405020304" pitchFamily="18" charset="0"/>
                      <a:ea typeface="宋体" panose="02010600030101010101" pitchFamily="2" charset="-122"/>
                    </a:rPr>
                    <a:t>(I</a:t>
                  </a:r>
                  <a:r>
                    <a:rPr lang="de-DE" altLang="zh-CN" sz="2400" baseline="30000" dirty="0">
                      <a:latin typeface="Times New Roman" panose="02020603050405020304" pitchFamily="18" charset="0"/>
                      <a:ea typeface="宋体" panose="02010600030101010101" pitchFamily="2" charset="-122"/>
                    </a:rPr>
                    <a:t>-</a:t>
                  </a:r>
                  <a:r>
                    <a:rPr lang="de-DE" altLang="zh-CN" sz="2400" dirty="0">
                      <a:latin typeface="Times New Roman" panose="02020603050405020304" pitchFamily="18" charset="0"/>
                      <a:ea typeface="宋体" panose="02010600030101010101" pitchFamily="2" charset="-122"/>
                    </a:rPr>
                    <a:t>)=      (AgI)·</a:t>
                  </a:r>
                  <a:r>
                    <a:rPr lang="de-DE" altLang="zh-CN" sz="2400" i="1" dirty="0">
                      <a:latin typeface="Times New Roman" panose="02020603050405020304" pitchFamily="18" charset="0"/>
                      <a:ea typeface="宋体" panose="02010600030101010101" pitchFamily="2" charset="-122"/>
                    </a:rPr>
                    <a:t>c</a:t>
                  </a:r>
                  <a:r>
                    <a:rPr lang="de-DE" altLang="zh-CN" sz="2400" dirty="0">
                      <a:latin typeface="Times New Roman" panose="02020603050405020304" pitchFamily="18" charset="0"/>
                      <a:ea typeface="宋体" panose="02010600030101010101" pitchFamily="2" charset="-122"/>
                    </a:rPr>
                    <a:t>(Cl</a:t>
                  </a:r>
                  <a:r>
                    <a:rPr lang="de-DE" altLang="zh-CN" sz="2400" baseline="30000" dirty="0">
                      <a:latin typeface="Times New Roman" panose="02020603050405020304" pitchFamily="18" charset="0"/>
                      <a:ea typeface="宋体" panose="02010600030101010101" pitchFamily="2" charset="-122"/>
                    </a:rPr>
                    <a:t>-</a:t>
                  </a:r>
                  <a:r>
                    <a:rPr lang="de-DE" altLang="zh-CN" sz="2400" dirty="0">
                      <a:latin typeface="Times New Roman" panose="02020603050405020304" pitchFamily="18" charset="0"/>
                      <a:ea typeface="宋体" panose="02010600030101010101" pitchFamily="2" charset="-122"/>
                    </a:rPr>
                    <a:t>)/     (AgCl) =                      mol·L</a:t>
                  </a:r>
                  <a:r>
                    <a:rPr lang="de-DE" altLang="zh-CN" sz="2400" baseline="30000" dirty="0">
                      <a:latin typeface="Times New Roman" panose="02020603050405020304" pitchFamily="18" charset="0"/>
                      <a:ea typeface="宋体" panose="02010600030101010101" pitchFamily="2" charset="-122"/>
                    </a:rPr>
                    <a:t>-l</a:t>
                  </a:r>
                </a:p>
                <a:p>
                  <a:pPr>
                    <a:buClrTx/>
                    <a:buFontTx/>
                  </a:pPr>
                  <a:r>
                    <a:rPr lang="de-DE" altLang="zh-CN" sz="2400" baseline="30000" dirty="0">
                      <a:latin typeface="Times New Roman" panose="02020603050405020304" pitchFamily="18" charset="0"/>
                      <a:ea typeface="宋体" panose="02010600030101010101" pitchFamily="2" charset="-122"/>
                    </a:rPr>
                    <a:t>                                                                                   </a:t>
                  </a:r>
                  <a:r>
                    <a:rPr lang="de-DE" altLang="zh-CN" sz="2400" dirty="0">
                      <a:latin typeface="Times New Roman" panose="02020603050405020304" pitchFamily="18" charset="0"/>
                      <a:ea typeface="宋体" panose="02010600030101010101" pitchFamily="2" charset="-122"/>
                    </a:rPr>
                    <a:t>=4.81×10</a:t>
                  </a:r>
                  <a:r>
                    <a:rPr lang="de-DE" altLang="zh-CN" sz="2400" baseline="30000" dirty="0">
                      <a:latin typeface="Times New Roman" panose="02020603050405020304" pitchFamily="18" charset="0"/>
                      <a:ea typeface="宋体" panose="02010600030101010101" pitchFamily="2" charset="-122"/>
                    </a:rPr>
                    <a:t>-9</a:t>
                  </a:r>
                  <a:r>
                    <a:rPr lang="de-DE" altLang="zh-CN" sz="2400" dirty="0">
                      <a:latin typeface="Times New Roman" panose="02020603050405020304" pitchFamily="18" charset="0"/>
                      <a:ea typeface="宋体" panose="02010600030101010101" pitchFamily="2" charset="-122"/>
                    </a:rPr>
                    <a:t>mol·L</a:t>
                  </a:r>
                  <a:r>
                    <a:rPr lang="de-DE" altLang="zh-CN" sz="2400" baseline="30000" dirty="0">
                      <a:latin typeface="Times New Roman" panose="02020603050405020304" pitchFamily="18" charset="0"/>
                      <a:ea typeface="宋体" panose="02010600030101010101" pitchFamily="2" charset="-122"/>
                    </a:rPr>
                    <a:t>-l</a:t>
                  </a:r>
                  <a:r>
                    <a:rPr lang="de-DE" altLang="zh-CN"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pSp>
        </p:grpSp>
      </p:grpSp>
      <p:sp>
        <p:nvSpPr>
          <p:cNvPr id="36" name="Text Box 39"/>
          <p:cNvSpPr txBox="1"/>
          <p:nvPr/>
        </p:nvSpPr>
        <p:spPr>
          <a:xfrm>
            <a:off x="425450" y="2090738"/>
            <a:ext cx="8388350" cy="1815882"/>
          </a:xfrm>
          <a:prstGeom prst="rect">
            <a:avLst/>
          </a:prstGeom>
          <a:gradFill rotWithShape="1">
            <a:gsLst>
              <a:gs pos="0">
                <a:srgbClr val="333300"/>
              </a:gs>
              <a:gs pos="100000">
                <a:srgbClr val="666633"/>
              </a:gs>
            </a:gsLst>
            <a:lin ang="5400000" scaled="1"/>
            <a:tileRect/>
          </a:gradFill>
          <a:ln w="9525" cap="flat" cmpd="sng">
            <a:solidFill>
              <a:srgbClr val="666633"/>
            </a:solidFill>
            <a:prstDash val="solid"/>
            <a:miter/>
            <a:headEnd type="none" w="med" len="med"/>
            <a:tailEnd type="none" w="med" len="med"/>
          </a:ln>
        </p:spPr>
        <p:txBody>
          <a:bodyPr anchor="t" anchorCtr="0">
            <a:spAutoFit/>
          </a:bodyPr>
          <a:lstStyle/>
          <a:p>
            <a:pPr>
              <a:spcBef>
                <a:spcPct val="50000"/>
              </a:spcBef>
              <a:buClrTx/>
              <a:buFontTx/>
            </a:pPr>
            <a:r>
              <a:rPr lang="zh-CN" altLang="en-US" dirty="0">
                <a:latin typeface="Times New Roman" panose="02020603050405020304" pitchFamily="18" charset="0"/>
                <a:ea typeface="宋体" panose="02010600030101010101" pitchFamily="2" charset="-122"/>
              </a:rPr>
              <a:t>       </a:t>
            </a:r>
            <a:r>
              <a:rPr lang="zh-CN" altLang="en-US" dirty="0">
                <a:solidFill>
                  <a:srgbClr val="FFFF00"/>
                </a:solidFill>
                <a:latin typeface="Times New Roman" panose="02020603050405020304" pitchFamily="18" charset="0"/>
                <a:ea typeface="宋体" panose="02010600030101010101" pitchFamily="2" charset="-122"/>
              </a:rPr>
              <a:t>在</a:t>
            </a:r>
            <a:r>
              <a:rPr lang="de-DE" altLang="zh-CN" dirty="0">
                <a:solidFill>
                  <a:srgbClr val="FFFF00"/>
                </a:solidFill>
                <a:latin typeface="Times New Roman" panose="02020603050405020304" pitchFamily="18" charset="0"/>
                <a:ea typeface="宋体" panose="02010600030101010101" pitchFamily="2" charset="-122"/>
              </a:rPr>
              <a:t>AgCl</a:t>
            </a:r>
            <a:r>
              <a:rPr lang="zh-CN" altLang="en-US" dirty="0">
                <a:solidFill>
                  <a:srgbClr val="FFFF00"/>
                </a:solidFill>
                <a:latin typeface="Times New Roman" panose="02020603050405020304" pitchFamily="18" charset="0"/>
                <a:ea typeface="宋体" panose="02010600030101010101" pitchFamily="2" charset="-122"/>
              </a:rPr>
              <a:t>开始沉淀的前一瞬间</a:t>
            </a:r>
            <a:r>
              <a:rPr lang="zh-CN" altLang="de-DE" dirty="0">
                <a:solidFill>
                  <a:srgbClr val="FFFF00"/>
                </a:solidFill>
                <a:latin typeface="Times New Roman" panose="02020603050405020304" pitchFamily="18" charset="0"/>
                <a:ea typeface="宋体" panose="02010600030101010101" pitchFamily="2" charset="-122"/>
              </a:rPr>
              <a:t>，</a:t>
            </a:r>
            <a:r>
              <a:rPr lang="zh-CN" altLang="en-US" dirty="0">
                <a:solidFill>
                  <a:srgbClr val="FFFF00"/>
                </a:solidFill>
                <a:latin typeface="Times New Roman" panose="02020603050405020304" pitchFamily="18" charset="0"/>
                <a:ea typeface="宋体" panose="02010600030101010101" pitchFamily="2" charset="-122"/>
              </a:rPr>
              <a:t>溶液中</a:t>
            </a:r>
            <a:r>
              <a:rPr lang="de-DE" altLang="zh-CN" i="1" dirty="0">
                <a:solidFill>
                  <a:srgbClr val="FFFF00"/>
                </a:solidFill>
                <a:latin typeface="Times New Roman" panose="02020603050405020304" pitchFamily="18" charset="0"/>
                <a:ea typeface="宋体" panose="02010600030101010101" pitchFamily="2" charset="-122"/>
              </a:rPr>
              <a:t>c</a:t>
            </a:r>
            <a:r>
              <a:rPr lang="de-DE" altLang="zh-CN" dirty="0">
                <a:solidFill>
                  <a:srgbClr val="FFFF00"/>
                </a:solidFill>
                <a:latin typeface="Times New Roman" panose="02020603050405020304" pitchFamily="18" charset="0"/>
                <a:ea typeface="宋体" panose="02010600030101010101" pitchFamily="2" charset="-122"/>
              </a:rPr>
              <a:t>(I</a:t>
            </a:r>
            <a:r>
              <a:rPr lang="de-DE" altLang="zh-CN" baseline="30000" dirty="0">
                <a:solidFill>
                  <a:srgbClr val="FFFF00"/>
                </a:solidFill>
                <a:latin typeface="Times New Roman" panose="02020603050405020304" pitchFamily="18" charset="0"/>
                <a:ea typeface="宋体" panose="02010600030101010101" pitchFamily="2" charset="-122"/>
              </a:rPr>
              <a:t>-</a:t>
            </a:r>
            <a:r>
              <a:rPr lang="de-DE" altLang="zh-CN" dirty="0">
                <a:solidFill>
                  <a:srgbClr val="FFFF00"/>
                </a:solidFill>
                <a:latin typeface="Times New Roman" panose="02020603050405020304" pitchFamily="18" charset="0"/>
                <a:ea typeface="宋体" panose="02010600030101010101" pitchFamily="2" charset="-122"/>
              </a:rPr>
              <a:t>)=4.81×10</a:t>
            </a:r>
            <a:r>
              <a:rPr lang="de-DE" altLang="zh-CN" baseline="30000" dirty="0">
                <a:solidFill>
                  <a:srgbClr val="FFFF00"/>
                </a:solidFill>
                <a:latin typeface="Times New Roman" panose="02020603050405020304" pitchFamily="18" charset="0"/>
                <a:ea typeface="宋体" panose="02010600030101010101" pitchFamily="2" charset="-122"/>
              </a:rPr>
              <a:t>-9</a:t>
            </a:r>
            <a:r>
              <a:rPr lang="de-DE" altLang="zh-CN" dirty="0">
                <a:solidFill>
                  <a:srgbClr val="FFFF00"/>
                </a:solidFill>
                <a:latin typeface="Times New Roman" panose="02020603050405020304" pitchFamily="18" charset="0"/>
                <a:ea typeface="宋体" panose="02010600030101010101" pitchFamily="2" charset="-122"/>
              </a:rPr>
              <a:t>mol·L</a:t>
            </a:r>
            <a:r>
              <a:rPr lang="de-DE" altLang="zh-CN" baseline="30000" dirty="0">
                <a:solidFill>
                  <a:srgbClr val="FFFF00"/>
                </a:solidFill>
                <a:latin typeface="Times New Roman" panose="02020603050405020304" pitchFamily="18" charset="0"/>
                <a:ea typeface="宋体" panose="02010600030101010101" pitchFamily="2" charset="-122"/>
              </a:rPr>
              <a:t>-l</a:t>
            </a:r>
            <a:r>
              <a:rPr lang="de-DE" altLang="zh-CN" dirty="0">
                <a:solidFill>
                  <a:srgbClr val="FFFF00"/>
                </a:solidFill>
                <a:latin typeface="Times New Roman" panose="02020603050405020304" pitchFamily="18" charset="0"/>
                <a:ea typeface="宋体" panose="02010600030101010101" pitchFamily="2" charset="-122"/>
              </a:rPr>
              <a:t>&lt;1.0×10</a:t>
            </a:r>
            <a:r>
              <a:rPr lang="de-DE" altLang="zh-CN" baseline="30000" dirty="0">
                <a:solidFill>
                  <a:srgbClr val="FFFF00"/>
                </a:solidFill>
                <a:latin typeface="Times New Roman" panose="02020603050405020304" pitchFamily="18" charset="0"/>
                <a:ea typeface="宋体" panose="02010600030101010101" pitchFamily="2" charset="-122"/>
              </a:rPr>
              <a:t>-5 </a:t>
            </a:r>
            <a:r>
              <a:rPr lang="de-DE" altLang="zh-CN" dirty="0">
                <a:solidFill>
                  <a:srgbClr val="FFFF00"/>
                </a:solidFill>
                <a:latin typeface="Times New Roman" panose="02020603050405020304" pitchFamily="18" charset="0"/>
                <a:ea typeface="宋体" panose="02010600030101010101" pitchFamily="2" charset="-122"/>
              </a:rPr>
              <a:t>mol·L</a:t>
            </a:r>
            <a:r>
              <a:rPr lang="de-DE" altLang="zh-CN" baseline="30000" dirty="0">
                <a:solidFill>
                  <a:srgbClr val="FFFF00"/>
                </a:solidFill>
                <a:latin typeface="Times New Roman" panose="02020603050405020304" pitchFamily="18" charset="0"/>
                <a:ea typeface="宋体" panose="02010600030101010101" pitchFamily="2" charset="-122"/>
              </a:rPr>
              <a:t>-l</a:t>
            </a:r>
            <a:r>
              <a:rPr lang="zh-CN" altLang="de-DE" dirty="0">
                <a:solidFill>
                  <a:srgbClr val="FFFF00"/>
                </a:solidFill>
                <a:latin typeface="Times New Roman" panose="02020603050405020304" pitchFamily="18" charset="0"/>
                <a:ea typeface="宋体" panose="02010600030101010101" pitchFamily="2" charset="-122"/>
              </a:rPr>
              <a:t>，</a:t>
            </a:r>
            <a:r>
              <a:rPr lang="zh-CN" altLang="en-US" dirty="0">
                <a:solidFill>
                  <a:srgbClr val="FFFF00"/>
                </a:solidFill>
                <a:latin typeface="Times New Roman" panose="02020603050405020304" pitchFamily="18" charset="0"/>
                <a:ea typeface="宋体" panose="02010600030101010101" pitchFamily="2" charset="-122"/>
              </a:rPr>
              <a:t>即溶液中</a:t>
            </a:r>
            <a:r>
              <a:rPr lang="de-DE" altLang="zh-CN" dirty="0">
                <a:solidFill>
                  <a:srgbClr val="FFFF00"/>
                </a:solidFill>
                <a:latin typeface="Times New Roman" panose="02020603050405020304" pitchFamily="18" charset="0"/>
                <a:ea typeface="宋体" panose="02010600030101010101" pitchFamily="2" charset="-122"/>
              </a:rPr>
              <a:t>I</a:t>
            </a:r>
            <a:r>
              <a:rPr lang="de-DE" altLang="zh-CN" baseline="30000" dirty="0">
                <a:solidFill>
                  <a:srgbClr val="FFFF00"/>
                </a:solidFill>
                <a:latin typeface="Times New Roman" panose="02020603050405020304" pitchFamily="18" charset="0"/>
                <a:ea typeface="宋体" panose="02010600030101010101" pitchFamily="2" charset="-122"/>
              </a:rPr>
              <a:t>-</a:t>
            </a:r>
            <a:r>
              <a:rPr lang="zh-CN" altLang="en-US" dirty="0">
                <a:solidFill>
                  <a:srgbClr val="FFFF00"/>
                </a:solidFill>
                <a:latin typeface="Times New Roman" panose="02020603050405020304" pitchFamily="18" charset="0"/>
                <a:ea typeface="宋体" panose="02010600030101010101" pitchFamily="2" charset="-122"/>
              </a:rPr>
              <a:t>已沉淀完全</a:t>
            </a:r>
            <a:r>
              <a:rPr lang="zh-CN" altLang="de-DE" dirty="0">
                <a:solidFill>
                  <a:srgbClr val="FFFF00"/>
                </a:solidFill>
                <a:latin typeface="Times New Roman" panose="02020603050405020304" pitchFamily="18" charset="0"/>
                <a:ea typeface="宋体" panose="02010600030101010101" pitchFamily="2" charset="-122"/>
              </a:rPr>
              <a:t>，</a:t>
            </a:r>
            <a:r>
              <a:rPr lang="zh-CN" altLang="en-US" dirty="0">
                <a:solidFill>
                  <a:srgbClr val="FFFF00"/>
                </a:solidFill>
                <a:latin typeface="Times New Roman" panose="02020603050405020304" pitchFamily="18" charset="0"/>
                <a:ea typeface="宋体" panose="02010600030101010101" pitchFamily="2" charset="-122"/>
              </a:rPr>
              <a:t>所以通过逐滴加入</a:t>
            </a:r>
            <a:r>
              <a:rPr lang="de-DE" altLang="zh-CN" dirty="0">
                <a:solidFill>
                  <a:srgbClr val="FFFF00"/>
                </a:solidFill>
                <a:latin typeface="Times New Roman" panose="02020603050405020304" pitchFamily="18" charset="0"/>
                <a:ea typeface="宋体" panose="02010600030101010101" pitchFamily="2" charset="-122"/>
              </a:rPr>
              <a:t>AgNO</a:t>
            </a:r>
            <a:r>
              <a:rPr lang="de-DE" altLang="zh-CN" baseline="-25000" dirty="0">
                <a:solidFill>
                  <a:srgbClr val="FFFF00"/>
                </a:solidFill>
                <a:latin typeface="Times New Roman" panose="02020603050405020304" pitchFamily="18" charset="0"/>
                <a:ea typeface="宋体" panose="02010600030101010101" pitchFamily="2" charset="-122"/>
              </a:rPr>
              <a:t>3</a:t>
            </a:r>
            <a:r>
              <a:rPr lang="zh-CN" altLang="en-US" dirty="0">
                <a:solidFill>
                  <a:srgbClr val="FFFF00"/>
                </a:solidFill>
                <a:latin typeface="Times New Roman" panose="02020603050405020304" pitchFamily="18" charset="0"/>
                <a:ea typeface="宋体" panose="02010600030101010101" pitchFamily="2" charset="-122"/>
              </a:rPr>
              <a:t>溶液即可达到</a:t>
            </a:r>
            <a:r>
              <a:rPr lang="de-DE" altLang="zh-CN" dirty="0">
                <a:solidFill>
                  <a:srgbClr val="FFFF00"/>
                </a:solidFill>
                <a:latin typeface="Times New Roman" panose="02020603050405020304" pitchFamily="18" charset="0"/>
                <a:ea typeface="宋体" panose="02010600030101010101" pitchFamily="2" charset="-122"/>
              </a:rPr>
              <a:t>Cl</a:t>
            </a:r>
            <a:r>
              <a:rPr lang="de-DE" altLang="zh-CN" baseline="30000" dirty="0">
                <a:solidFill>
                  <a:srgbClr val="FFFF00"/>
                </a:solidFill>
                <a:latin typeface="Times New Roman" panose="02020603050405020304" pitchFamily="18" charset="0"/>
                <a:ea typeface="宋体" panose="02010600030101010101" pitchFamily="2" charset="-122"/>
              </a:rPr>
              <a:t>-</a:t>
            </a:r>
            <a:r>
              <a:rPr lang="zh-CN" altLang="en-US" dirty="0">
                <a:solidFill>
                  <a:srgbClr val="FFFF00"/>
                </a:solidFill>
                <a:latin typeface="Times New Roman" panose="02020603050405020304" pitchFamily="18" charset="0"/>
                <a:ea typeface="宋体" panose="02010600030101010101" pitchFamily="2" charset="-122"/>
              </a:rPr>
              <a:t>与</a:t>
            </a:r>
            <a:r>
              <a:rPr lang="de-DE" altLang="zh-CN" dirty="0">
                <a:solidFill>
                  <a:srgbClr val="FFFF00"/>
                </a:solidFill>
                <a:latin typeface="Times New Roman" panose="02020603050405020304" pitchFamily="18" charset="0"/>
                <a:ea typeface="宋体" panose="02010600030101010101" pitchFamily="2" charset="-122"/>
              </a:rPr>
              <a:t>I</a:t>
            </a:r>
            <a:r>
              <a:rPr lang="de-DE" altLang="zh-CN" baseline="30000" dirty="0">
                <a:solidFill>
                  <a:srgbClr val="FFFF00"/>
                </a:solidFill>
                <a:latin typeface="Times New Roman" panose="02020603050405020304" pitchFamily="18" charset="0"/>
                <a:ea typeface="宋体" panose="02010600030101010101" pitchFamily="2" charset="-122"/>
              </a:rPr>
              <a:t>-</a:t>
            </a:r>
            <a:r>
              <a:rPr lang="zh-CN" altLang="en-US" dirty="0">
                <a:solidFill>
                  <a:srgbClr val="FFFF00"/>
                </a:solidFill>
                <a:latin typeface="Times New Roman" panose="02020603050405020304" pitchFamily="18" charset="0"/>
                <a:ea typeface="宋体" panose="02010600030101010101" pitchFamily="2" charset="-122"/>
              </a:rPr>
              <a:t>分离的目的。 </a:t>
            </a:r>
          </a:p>
        </p:txBody>
      </p:sp>
      <p:sp>
        <p:nvSpPr>
          <p:cNvPr id="37" name="Text Box 46"/>
          <p:cNvSpPr txBox="1"/>
          <p:nvPr/>
        </p:nvSpPr>
        <p:spPr>
          <a:xfrm>
            <a:off x="280988" y="3571878"/>
            <a:ext cx="8532812" cy="1458913"/>
          </a:xfrm>
          <a:prstGeom prst="rect">
            <a:avLst/>
          </a:prstGeom>
          <a:gradFill rotWithShape="1">
            <a:gsLst>
              <a:gs pos="0">
                <a:srgbClr val="18185E"/>
              </a:gs>
              <a:gs pos="50000">
                <a:srgbClr val="3333CC"/>
              </a:gs>
              <a:gs pos="100000">
                <a:srgbClr val="18185E"/>
              </a:gs>
            </a:gsLst>
            <a:lin ang="5400000" scaled="1"/>
            <a:tileRect/>
          </a:gradFill>
          <a:ln w="9525">
            <a:noFill/>
          </a:ln>
        </p:spPr>
        <p:txBody>
          <a:bodyPr lIns="0" rIns="0" anchor="t" anchorCtr="0"/>
          <a:lstStyle/>
          <a:p>
            <a:pPr>
              <a:buClrTx/>
              <a:buFontTx/>
            </a:pPr>
            <a:r>
              <a:rPr lang="zh-CN" altLang="en-US" sz="3200" dirty="0">
                <a:solidFill>
                  <a:schemeClr val="bg1"/>
                </a:solidFill>
                <a:latin typeface="Times New Roman" panose="02020603050405020304" pitchFamily="18" charset="0"/>
                <a:ea typeface="幼圆" pitchFamily="49" charset="-122"/>
              </a:rPr>
              <a:t>沉淀次序</a:t>
            </a:r>
            <a:r>
              <a:rPr lang="en-US" altLang="zh-CN" sz="3200" dirty="0">
                <a:solidFill>
                  <a:schemeClr val="bg1"/>
                </a:solidFill>
                <a:latin typeface="Times New Roman" panose="02020603050405020304" pitchFamily="18" charset="0"/>
                <a:ea typeface="幼圆" pitchFamily="49" charset="-122"/>
              </a:rPr>
              <a:t>: </a:t>
            </a:r>
            <a:r>
              <a:rPr lang="zh-CN" altLang="en-US" sz="3200" dirty="0">
                <a:solidFill>
                  <a:schemeClr val="bg1"/>
                </a:solidFill>
                <a:latin typeface="Times New Roman" panose="02020603050405020304" pitchFamily="18" charset="0"/>
                <a:ea typeface="幼圆" pitchFamily="49" charset="-122"/>
              </a:rPr>
              <a:t>同类型、同浓度</a:t>
            </a:r>
            <a:r>
              <a:rPr lang="en-US" altLang="zh-CN" sz="3200" dirty="0">
                <a:solidFill>
                  <a:schemeClr val="bg1"/>
                </a:solidFill>
                <a:latin typeface="Times New Roman" panose="02020603050405020304" pitchFamily="18" charset="0"/>
                <a:ea typeface="幼圆" pitchFamily="49" charset="-122"/>
              </a:rPr>
              <a:t>, </a:t>
            </a:r>
            <a:r>
              <a:rPr lang="en-US" altLang="zh-CN" sz="3200" i="1" dirty="0">
                <a:solidFill>
                  <a:schemeClr val="bg1"/>
                </a:solidFill>
                <a:latin typeface="Times New Roman" panose="02020603050405020304" pitchFamily="18" charset="0"/>
                <a:ea typeface="幼圆" pitchFamily="49" charset="-122"/>
              </a:rPr>
              <a:t>K</a:t>
            </a:r>
            <a:r>
              <a:rPr lang="en-US" altLang="zh-CN" sz="3200" baseline="-25000" dirty="0">
                <a:solidFill>
                  <a:schemeClr val="bg1"/>
                </a:solidFill>
                <a:latin typeface="Times New Roman" panose="02020603050405020304" pitchFamily="18" charset="0"/>
                <a:ea typeface="幼圆" pitchFamily="49" charset="-122"/>
              </a:rPr>
              <a:t>sp</a:t>
            </a:r>
            <a:r>
              <a:rPr lang="zh-CN" altLang="en-US" sz="3200" dirty="0">
                <a:solidFill>
                  <a:schemeClr val="bg1"/>
                </a:solidFill>
                <a:latin typeface="Times New Roman" panose="02020603050405020304" pitchFamily="18" charset="0"/>
                <a:ea typeface="幼圆" pitchFamily="49" charset="-122"/>
              </a:rPr>
              <a:t>小的先沉淀</a:t>
            </a:r>
            <a:r>
              <a:rPr lang="en-US" altLang="zh-CN" sz="3200" dirty="0">
                <a:solidFill>
                  <a:schemeClr val="bg1"/>
                </a:solidFill>
                <a:latin typeface="Times New Roman" panose="02020603050405020304" pitchFamily="18" charset="0"/>
                <a:ea typeface="幼圆" pitchFamily="49" charset="-122"/>
              </a:rPr>
              <a:t>;</a:t>
            </a:r>
            <a:r>
              <a:rPr lang="zh-CN" altLang="en-US" sz="3200" dirty="0">
                <a:solidFill>
                  <a:schemeClr val="bg1"/>
                </a:solidFill>
                <a:latin typeface="Times New Roman" panose="02020603050405020304" pitchFamily="18" charset="0"/>
                <a:ea typeface="宋体" panose="02010600030101010101" pitchFamily="2" charset="-122"/>
              </a:rPr>
              <a:t>不同  </a:t>
            </a:r>
          </a:p>
          <a:p>
            <a:pPr>
              <a:buClrTx/>
              <a:buFontTx/>
            </a:pPr>
            <a:r>
              <a:rPr lang="zh-CN" altLang="en-US" sz="3200" dirty="0">
                <a:solidFill>
                  <a:schemeClr val="bg1"/>
                </a:solidFill>
                <a:latin typeface="Times New Roman" panose="02020603050405020304" pitchFamily="18" charset="0"/>
                <a:ea typeface="宋体" panose="02010600030101010101" pitchFamily="2" charset="-122"/>
              </a:rPr>
              <a:t>                  类型，须计算开始沉淀所需沉淀剂的  </a:t>
            </a:r>
          </a:p>
          <a:p>
            <a:pPr>
              <a:buClrTx/>
              <a:buFontTx/>
            </a:pPr>
            <a:r>
              <a:rPr lang="zh-CN" altLang="en-US" sz="3200" dirty="0">
                <a:solidFill>
                  <a:schemeClr val="bg1"/>
                </a:solidFill>
                <a:latin typeface="Times New Roman" panose="02020603050405020304" pitchFamily="18" charset="0"/>
                <a:ea typeface="宋体" panose="02010600030101010101" pitchFamily="2" charset="-122"/>
              </a:rPr>
              <a:t>                  浓度，所需浓度小的先沉淀。</a:t>
            </a:r>
            <a:endParaRPr lang="zh-CN" altLang="en-US" sz="320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p:cTn id="17" dur="500" fill="hold"/>
                                        <p:tgtEl>
                                          <p:spTgt spid="36"/>
                                        </p:tgtEl>
                                        <p:attrNameLst>
                                          <p:attrName>ppt_w</p:attrName>
                                        </p:attrNameLst>
                                      </p:cBhvr>
                                      <p:tavLst>
                                        <p:tav tm="0">
                                          <p:val>
                                            <p:fltVal val="0"/>
                                          </p:val>
                                        </p:tav>
                                        <p:tav tm="100000">
                                          <p:val>
                                            <p:strVal val="#ppt_w"/>
                                          </p:val>
                                        </p:tav>
                                      </p:tavLst>
                                    </p:anim>
                                    <p:anim calcmode="lin" valueType="num">
                                      <p:cBhvr>
                                        <p:cTn id="18" dur="500" fill="hold"/>
                                        <p:tgtEl>
                                          <p:spTgt spid="36"/>
                                        </p:tgtEl>
                                        <p:attrNameLst>
                                          <p:attrName>ppt_h</p:attrName>
                                        </p:attrNameLst>
                                      </p:cBhvr>
                                      <p:tavLst>
                                        <p:tav tm="0">
                                          <p:val>
                                            <p:fltVal val="0"/>
                                          </p:val>
                                        </p:tav>
                                        <p:tav tm="100000">
                                          <p:val>
                                            <p:strVal val="#ppt_h"/>
                                          </p:val>
                                        </p:tav>
                                      </p:tavLst>
                                    </p:anim>
                                    <p:animEffect transition="in" filter="fade">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p:cTn id="24" dur="500" fill="hold"/>
                                        <p:tgtEl>
                                          <p:spTgt spid="37"/>
                                        </p:tgtEl>
                                        <p:attrNameLst>
                                          <p:attrName>ppt_w</p:attrName>
                                        </p:attrNameLst>
                                      </p:cBhvr>
                                      <p:tavLst>
                                        <p:tav tm="0">
                                          <p:val>
                                            <p:fltVal val="0"/>
                                          </p:val>
                                        </p:tav>
                                        <p:tav tm="100000">
                                          <p:val>
                                            <p:strVal val="#ppt_w"/>
                                          </p:val>
                                        </p:tav>
                                      </p:tavLst>
                                    </p:anim>
                                    <p:anim calcmode="lin" valueType="num">
                                      <p:cBhvr>
                                        <p:cTn id="25" dur="500" fill="hold"/>
                                        <p:tgtEl>
                                          <p:spTgt spid="37"/>
                                        </p:tgtEl>
                                        <p:attrNameLst>
                                          <p:attrName>ppt_h</p:attrName>
                                        </p:attrNameLst>
                                      </p:cBhvr>
                                      <p:tavLst>
                                        <p:tav tm="0">
                                          <p:val>
                                            <p:fltVal val="0"/>
                                          </p:val>
                                        </p:tav>
                                        <p:tav tm="100000">
                                          <p:val>
                                            <p:strVal val="#ppt_h"/>
                                          </p:val>
                                        </p:tav>
                                      </p:tavLst>
                                    </p:anim>
                                    <p:animEffect transition="in" filter="fade">
                                      <p:cBhvr>
                                        <p:cTn id="2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396819" y="987574"/>
            <a:ext cx="864235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a:solidFill>
                  <a:schemeClr val="tx1"/>
                </a:solidFill>
                <a:latin typeface="Times New Roman" pitchFamily="18" charset="0"/>
                <a:ea typeface="宋体" pitchFamily="2" charset="-122"/>
              </a:defRPr>
            </a:lvl1pPr>
            <a:lvl2pPr marL="742950" indent="-285750">
              <a:defRPr sz="3200">
                <a:solidFill>
                  <a:schemeClr val="tx1"/>
                </a:solidFill>
                <a:latin typeface="Times New Roman" pitchFamily="18" charset="0"/>
                <a:ea typeface="宋体" pitchFamily="2" charset="-122"/>
              </a:defRPr>
            </a:lvl2pPr>
            <a:lvl3pPr marL="1143000" indent="-228600">
              <a:defRPr sz="3200">
                <a:solidFill>
                  <a:schemeClr val="tx1"/>
                </a:solidFill>
                <a:latin typeface="Times New Roman" pitchFamily="18" charset="0"/>
                <a:ea typeface="宋体" pitchFamily="2" charset="-122"/>
              </a:defRPr>
            </a:lvl3pPr>
            <a:lvl4pPr marL="1600200" indent="-228600">
              <a:defRPr sz="3200">
                <a:solidFill>
                  <a:schemeClr val="tx1"/>
                </a:solidFill>
                <a:latin typeface="Times New Roman" pitchFamily="18" charset="0"/>
                <a:ea typeface="宋体" pitchFamily="2" charset="-122"/>
              </a:defRPr>
            </a:lvl4pPr>
            <a:lvl5pPr marL="2057400" indent="-228600">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a:solidFill>
                  <a:schemeClr val="tx1"/>
                </a:solidFill>
                <a:latin typeface="Times New Roman" pitchFamily="18" charset="0"/>
                <a:ea typeface="宋体" pitchFamily="2" charset="-122"/>
              </a:defRPr>
            </a:lvl9pPr>
          </a:lstStyle>
          <a:p>
            <a:r>
              <a:rPr lang="en-US" altLang="zh-CN" sz="2400" b="1" dirty="0">
                <a:ea typeface="黑体" pitchFamily="49" charset="-122"/>
              </a:rPr>
              <a:t>2</a:t>
            </a:r>
            <a:r>
              <a:rPr lang="zh-CN" altLang="en-US" sz="2400" b="1" dirty="0">
                <a:ea typeface="黑体" pitchFamily="49" charset="-122"/>
              </a:rPr>
              <a:t>、如果某一含</a:t>
            </a:r>
            <a:r>
              <a:rPr lang="en-US" altLang="zh-CN" sz="2400" b="1" dirty="0">
                <a:ea typeface="黑体" pitchFamily="49" charset="-122"/>
              </a:rPr>
              <a:t>CO</a:t>
            </a:r>
            <a:r>
              <a:rPr lang="en-US" altLang="zh-CN" sz="2400" b="1" baseline="-25000" dirty="0">
                <a:ea typeface="黑体" pitchFamily="49" charset="-122"/>
              </a:rPr>
              <a:t>3</a:t>
            </a:r>
            <a:r>
              <a:rPr lang="en-US" altLang="zh-CN" sz="2400" b="1" baseline="30000" dirty="0">
                <a:ea typeface="黑体" pitchFamily="49" charset="-122"/>
              </a:rPr>
              <a:t>2-</a:t>
            </a:r>
            <a:r>
              <a:rPr lang="zh-CN" altLang="en-US" sz="2400" b="1" dirty="0">
                <a:ea typeface="黑体" pitchFamily="49" charset="-122"/>
              </a:rPr>
              <a:t>离子</a:t>
            </a:r>
            <a:r>
              <a:rPr lang="en-US" altLang="zh-CN" sz="2400" b="1" dirty="0">
                <a:ea typeface="黑体" pitchFamily="49" charset="-122"/>
              </a:rPr>
              <a:t>0.0001mol·L</a:t>
            </a:r>
            <a:r>
              <a:rPr lang="en-US" altLang="zh-CN" sz="2400" b="1" baseline="30000" dirty="0">
                <a:ea typeface="黑体" pitchFamily="49" charset="-122"/>
              </a:rPr>
              <a:t>-1</a:t>
            </a:r>
            <a:r>
              <a:rPr lang="zh-CN" altLang="en-US" sz="2400" b="1" dirty="0">
                <a:ea typeface="黑体" pitchFamily="49" charset="-122"/>
              </a:rPr>
              <a:t>的溶液与等体积</a:t>
            </a:r>
            <a:r>
              <a:rPr lang="en-US" altLang="zh-CN" sz="2400" b="1" dirty="0" err="1">
                <a:ea typeface="黑体" pitchFamily="49" charset="-122"/>
              </a:rPr>
              <a:t>ⅡA</a:t>
            </a:r>
            <a:r>
              <a:rPr lang="zh-CN" altLang="en-US" sz="2400" b="1" dirty="0">
                <a:ea typeface="黑体" pitchFamily="49" charset="-122"/>
              </a:rPr>
              <a:t>族某金属离子的</a:t>
            </a:r>
            <a:r>
              <a:rPr lang="en-US" altLang="zh-CN" sz="2400" b="1" dirty="0">
                <a:ea typeface="黑体" pitchFamily="49" charset="-122"/>
              </a:rPr>
              <a:t>0.0001mol·L</a:t>
            </a:r>
            <a:r>
              <a:rPr lang="en-US" altLang="zh-CN" sz="2400" b="1" baseline="30000" dirty="0">
                <a:ea typeface="黑体" pitchFamily="49" charset="-122"/>
              </a:rPr>
              <a:t>-1</a:t>
            </a:r>
            <a:r>
              <a:rPr lang="zh-CN" altLang="en-US" sz="2400" b="1" dirty="0">
                <a:ea typeface="黑体" pitchFamily="49" charset="-122"/>
              </a:rPr>
              <a:t>溶液混合，下列碳酸盐会沉淀出来的是</a:t>
            </a:r>
            <a:r>
              <a:rPr lang="en-US" altLang="zh-CN" sz="2400" b="1" dirty="0">
                <a:ea typeface="黑体" pitchFamily="49" charset="-122"/>
              </a:rPr>
              <a:t>(    )</a:t>
            </a:r>
          </a:p>
          <a:p>
            <a:r>
              <a:rPr lang="en-US" altLang="zh-CN" sz="2400" b="1" dirty="0">
                <a:ea typeface="黑体" pitchFamily="49" charset="-122"/>
              </a:rPr>
              <a:t>                                     </a:t>
            </a:r>
            <a:r>
              <a:rPr lang="en-US" altLang="zh-CN" sz="2400" b="1" i="1" dirty="0" err="1">
                <a:ea typeface="黑体" pitchFamily="49" charset="-122"/>
              </a:rPr>
              <a:t>K</a:t>
            </a:r>
            <a:r>
              <a:rPr lang="en-US" altLang="zh-CN" sz="2400" b="1" baseline="-25000" dirty="0" err="1">
                <a:ea typeface="黑体" pitchFamily="49" charset="-122"/>
              </a:rPr>
              <a:t>sp</a:t>
            </a:r>
            <a:r>
              <a:rPr lang="en-US" altLang="zh-CN" sz="2400" b="1" dirty="0">
                <a:ea typeface="黑体" pitchFamily="49" charset="-122"/>
              </a:rPr>
              <a:t>(298k)</a:t>
            </a:r>
          </a:p>
          <a:p>
            <a:r>
              <a:rPr lang="en-US" altLang="zh-CN" sz="2400" b="1" dirty="0">
                <a:ea typeface="黑体" pitchFamily="49" charset="-122"/>
              </a:rPr>
              <a:t>    </a:t>
            </a:r>
            <a:r>
              <a:rPr lang="pt-BR" altLang="en-US" sz="2400" b="1" dirty="0">
                <a:ea typeface="黑体" pitchFamily="49" charset="-122"/>
              </a:rPr>
              <a:t>A. MgCO</a:t>
            </a:r>
            <a:r>
              <a:rPr lang="pt-BR" altLang="en-US" sz="2400" b="1" baseline="-25000" dirty="0">
                <a:ea typeface="黑体" pitchFamily="49" charset="-122"/>
              </a:rPr>
              <a:t>3</a:t>
            </a:r>
            <a:r>
              <a:rPr lang="pt-BR" altLang="en-US" sz="2400" b="1" dirty="0">
                <a:ea typeface="黑体" pitchFamily="49" charset="-122"/>
              </a:rPr>
              <a:t>              1.1×10</a:t>
            </a:r>
            <a:r>
              <a:rPr lang="pt-BR" altLang="en-US" sz="2400" b="1" baseline="30000" dirty="0">
                <a:ea typeface="黑体" pitchFamily="49" charset="-122"/>
              </a:rPr>
              <a:t>-5</a:t>
            </a:r>
            <a:endParaRPr lang="en-US" altLang="zh-CN" sz="2400" b="1" baseline="30000" dirty="0">
              <a:ea typeface="黑体" pitchFamily="49" charset="-122"/>
            </a:endParaRPr>
          </a:p>
          <a:p>
            <a:r>
              <a:rPr lang="pt-BR" altLang="en-US" sz="2400" b="1" dirty="0">
                <a:ea typeface="黑体" pitchFamily="49" charset="-122"/>
              </a:rPr>
              <a:t>    B. CaCO</a:t>
            </a:r>
            <a:r>
              <a:rPr lang="pt-BR" altLang="en-US" sz="2400" b="1" baseline="-25000" dirty="0">
                <a:ea typeface="黑体" pitchFamily="49" charset="-122"/>
              </a:rPr>
              <a:t>3</a:t>
            </a:r>
            <a:r>
              <a:rPr lang="pt-BR" altLang="en-US" sz="2400" b="1" dirty="0">
                <a:ea typeface="黑体" pitchFamily="49" charset="-122"/>
              </a:rPr>
              <a:t>               5.0×10</a:t>
            </a:r>
            <a:r>
              <a:rPr lang="pt-BR" altLang="en-US" sz="2400" b="1" baseline="30000" dirty="0">
                <a:ea typeface="黑体" pitchFamily="49" charset="-122"/>
              </a:rPr>
              <a:t>-9</a:t>
            </a:r>
            <a:endParaRPr lang="en-US" altLang="zh-CN" sz="2400" b="1" baseline="30000" dirty="0">
              <a:ea typeface="黑体" pitchFamily="49" charset="-122"/>
            </a:endParaRPr>
          </a:p>
          <a:p>
            <a:r>
              <a:rPr lang="pt-BR" altLang="en-US" sz="2400" b="1" dirty="0">
                <a:ea typeface="黑体" pitchFamily="49" charset="-122"/>
              </a:rPr>
              <a:t>    C. SnCO</a:t>
            </a:r>
            <a:r>
              <a:rPr lang="pt-BR" altLang="en-US" sz="2400" b="1" baseline="-25000" dirty="0">
                <a:ea typeface="黑体" pitchFamily="49" charset="-122"/>
              </a:rPr>
              <a:t>3</a:t>
            </a:r>
            <a:r>
              <a:rPr lang="pt-BR" altLang="en-US" sz="2400" b="1" dirty="0">
                <a:ea typeface="黑体" pitchFamily="49" charset="-122"/>
              </a:rPr>
              <a:t>               1.1×10</a:t>
            </a:r>
            <a:r>
              <a:rPr lang="pt-BR" altLang="en-US" sz="2400" b="1" baseline="30000" dirty="0">
                <a:ea typeface="黑体" pitchFamily="49" charset="-122"/>
              </a:rPr>
              <a:t>-10</a:t>
            </a:r>
            <a:endParaRPr lang="en-US" altLang="zh-CN" sz="2400" b="1" baseline="30000" dirty="0">
              <a:ea typeface="黑体" pitchFamily="49" charset="-122"/>
            </a:endParaRPr>
          </a:p>
          <a:p>
            <a:r>
              <a:rPr lang="pt-BR" altLang="en-US" sz="2400" b="1" dirty="0">
                <a:ea typeface="黑体" pitchFamily="49" charset="-122"/>
              </a:rPr>
              <a:t>    D. BaCO</a:t>
            </a:r>
            <a:r>
              <a:rPr lang="pt-BR" altLang="en-US" sz="2400" b="1" baseline="-25000" dirty="0">
                <a:ea typeface="黑体" pitchFamily="49" charset="-122"/>
              </a:rPr>
              <a:t>3</a:t>
            </a:r>
            <a:r>
              <a:rPr lang="pt-BR" altLang="en-US" sz="2400" b="1" dirty="0">
                <a:ea typeface="黑体" pitchFamily="49" charset="-122"/>
              </a:rPr>
              <a:t>               5.5×10</a:t>
            </a:r>
            <a:r>
              <a:rPr lang="pt-BR" altLang="en-US" sz="2400" b="1" baseline="30000" dirty="0">
                <a:ea typeface="黑体" pitchFamily="49" charset="-122"/>
              </a:rPr>
              <a:t>-10</a:t>
            </a:r>
          </a:p>
          <a:p>
            <a:r>
              <a:rPr lang="zh-CN" altLang="en-US" sz="2400" b="1" dirty="0">
                <a:ea typeface="黑体" pitchFamily="49" charset="-122"/>
              </a:rPr>
              <a:t>答：</a:t>
            </a:r>
            <a:r>
              <a:rPr lang="pt-BR" altLang="en-US" sz="2400" b="1" dirty="0">
                <a:ea typeface="黑体" pitchFamily="49" charset="-122"/>
              </a:rPr>
              <a:t>C  D</a:t>
            </a:r>
          </a:p>
        </p:txBody>
      </p:sp>
    </p:spTree>
    <p:extLst>
      <p:ext uri="{BB962C8B-B14F-4D97-AF65-F5344CB8AC3E}">
        <p14:creationId xmlns:p14="http://schemas.microsoft.com/office/powerpoint/2010/main" val="3749700663"/>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trips(downRigh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trips(downRigh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strips(downRigh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strips(downRigh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strips(downRigh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strips(downRigh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strips(downRigh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79512" y="1275606"/>
            <a:ext cx="90741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tabLst>
                <a:tab pos="20235863" algn="l"/>
              </a:tabLst>
              <a:defRPr sz="3200">
                <a:solidFill>
                  <a:schemeClr val="tx1"/>
                </a:solidFill>
                <a:latin typeface="Times New Roman" pitchFamily="18" charset="0"/>
                <a:ea typeface="宋体" pitchFamily="2" charset="-122"/>
              </a:defRPr>
            </a:lvl1pPr>
            <a:lvl2pPr marL="742950" indent="-285750">
              <a:tabLst>
                <a:tab pos="20235863" algn="l"/>
              </a:tabLst>
              <a:defRPr sz="3200">
                <a:solidFill>
                  <a:schemeClr val="tx1"/>
                </a:solidFill>
                <a:latin typeface="Times New Roman" pitchFamily="18" charset="0"/>
                <a:ea typeface="宋体" pitchFamily="2" charset="-122"/>
              </a:defRPr>
            </a:lvl2pPr>
            <a:lvl3pPr marL="1143000" indent="-228600">
              <a:tabLst>
                <a:tab pos="20235863" algn="l"/>
              </a:tabLst>
              <a:defRPr sz="3200">
                <a:solidFill>
                  <a:schemeClr val="tx1"/>
                </a:solidFill>
                <a:latin typeface="Times New Roman" pitchFamily="18" charset="0"/>
                <a:ea typeface="宋体" pitchFamily="2" charset="-122"/>
              </a:defRPr>
            </a:lvl3pPr>
            <a:lvl4pPr marL="1600200" indent="-228600">
              <a:tabLst>
                <a:tab pos="20235863" algn="l"/>
              </a:tabLst>
              <a:defRPr sz="3200">
                <a:solidFill>
                  <a:schemeClr val="tx1"/>
                </a:solidFill>
                <a:latin typeface="Times New Roman" pitchFamily="18" charset="0"/>
                <a:ea typeface="宋体" pitchFamily="2" charset="-122"/>
              </a:defRPr>
            </a:lvl4pPr>
            <a:lvl5pPr marL="2057400" indent="-228600">
              <a:tabLst>
                <a:tab pos="20235863" algn="l"/>
              </a:tabLst>
              <a:defRPr sz="3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tabLst>
                <a:tab pos="20235863" algn="l"/>
              </a:tabLst>
              <a:defRPr sz="3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tabLst>
                <a:tab pos="20235863" algn="l"/>
              </a:tabLst>
              <a:defRPr sz="3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tabLst>
                <a:tab pos="20235863" algn="l"/>
              </a:tabLst>
              <a:defRPr sz="3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tabLst>
                <a:tab pos="20235863" algn="l"/>
              </a:tabLst>
              <a:defRPr sz="3200">
                <a:solidFill>
                  <a:schemeClr val="tx1"/>
                </a:solidFill>
                <a:latin typeface="Times New Roman" pitchFamily="18" charset="0"/>
                <a:ea typeface="宋体" pitchFamily="2" charset="-122"/>
              </a:defRPr>
            </a:lvl9pPr>
          </a:lstStyle>
          <a:p>
            <a:r>
              <a:rPr lang="en-US" altLang="zh-CN" sz="2400" b="1" dirty="0">
                <a:ea typeface="黑体" pitchFamily="49" charset="-122"/>
              </a:rPr>
              <a:t>6</a:t>
            </a:r>
            <a:r>
              <a:rPr lang="zh-CN" altLang="en-US" sz="2400" b="1" dirty="0">
                <a:ea typeface="黑体" pitchFamily="49" charset="-122"/>
              </a:rPr>
              <a:t>、</a:t>
            </a:r>
            <a:r>
              <a:rPr lang="en-US" altLang="zh-CN" sz="2400" b="1" dirty="0">
                <a:ea typeface="黑体" pitchFamily="49" charset="-122"/>
              </a:rPr>
              <a:t>Cl</a:t>
            </a:r>
            <a:r>
              <a:rPr lang="zh-CN" altLang="en-US" sz="2400" b="1" baseline="30000" dirty="0">
                <a:ea typeface="黑体" pitchFamily="49" charset="-122"/>
              </a:rPr>
              <a:t>－ </a:t>
            </a:r>
            <a:r>
              <a:rPr lang="en-US" altLang="zh-CN" sz="2400" b="1" dirty="0">
                <a:ea typeface="黑体" pitchFamily="49" charset="-122"/>
              </a:rPr>
              <a:t>,Br</a:t>
            </a:r>
            <a:r>
              <a:rPr lang="zh-CN" altLang="en-US" sz="2400" b="1" baseline="30000" dirty="0">
                <a:ea typeface="黑体" pitchFamily="49" charset="-122"/>
              </a:rPr>
              <a:t>－</a:t>
            </a:r>
            <a:r>
              <a:rPr lang="en-US" altLang="zh-CN" sz="2400" b="1" dirty="0">
                <a:ea typeface="黑体" pitchFamily="49" charset="-122"/>
              </a:rPr>
              <a:t>,I</a:t>
            </a:r>
            <a:r>
              <a:rPr lang="zh-CN" altLang="en-US" sz="2400" b="1" baseline="30000" dirty="0">
                <a:ea typeface="黑体" pitchFamily="49" charset="-122"/>
              </a:rPr>
              <a:t>－</a:t>
            </a:r>
            <a:r>
              <a:rPr lang="zh-CN" altLang="en-US" sz="2400" b="1" dirty="0">
                <a:ea typeface="黑体" pitchFamily="49" charset="-122"/>
              </a:rPr>
              <a:t> 都能与</a:t>
            </a:r>
            <a:r>
              <a:rPr lang="en-US" altLang="zh-CN" sz="2400" b="1" dirty="0">
                <a:ea typeface="黑体" pitchFamily="49" charset="-122"/>
              </a:rPr>
              <a:t>Ag</a:t>
            </a:r>
            <a:r>
              <a:rPr lang="en-US" altLang="zh-CN" sz="2400" b="1" baseline="30000" dirty="0">
                <a:ea typeface="黑体" pitchFamily="49" charset="-122"/>
              </a:rPr>
              <a:t>+</a:t>
            </a:r>
            <a:r>
              <a:rPr lang="zh-CN" altLang="en-US" sz="2400" b="1" dirty="0">
                <a:ea typeface="黑体" pitchFamily="49" charset="-122"/>
              </a:rPr>
              <a:t>生成难溶性银盐</a:t>
            </a:r>
            <a:r>
              <a:rPr lang="en-US" altLang="zh-CN" sz="2400" b="1" dirty="0">
                <a:ea typeface="黑体" pitchFamily="49" charset="-122"/>
              </a:rPr>
              <a:t>,</a:t>
            </a:r>
            <a:r>
              <a:rPr lang="zh-CN" altLang="en-US" sz="2400" b="1" dirty="0">
                <a:ea typeface="黑体" pitchFamily="49" charset="-122"/>
              </a:rPr>
              <a:t>当混合溶液中上述三种离子的浓度都是</a:t>
            </a:r>
            <a:r>
              <a:rPr lang="en-US" altLang="zh-CN" sz="2400" b="1" dirty="0">
                <a:ea typeface="黑体" pitchFamily="49" charset="-122"/>
              </a:rPr>
              <a:t>0.01mol·L</a:t>
            </a:r>
            <a:r>
              <a:rPr lang="en-US" altLang="zh-CN" sz="2400" b="1" baseline="30000" dirty="0">
                <a:ea typeface="黑体" pitchFamily="49" charset="-122"/>
              </a:rPr>
              <a:t>-1</a:t>
            </a:r>
            <a:r>
              <a:rPr lang="zh-CN" altLang="en-US" sz="2400" b="1" dirty="0">
                <a:ea typeface="黑体" pitchFamily="49" charset="-122"/>
              </a:rPr>
              <a:t>时，加入硝酸银溶液 </a:t>
            </a:r>
            <a:r>
              <a:rPr lang="en-US" altLang="zh-CN" sz="2400" b="1" dirty="0">
                <a:ea typeface="黑体" pitchFamily="49" charset="-122"/>
              </a:rPr>
              <a:t>, (     )</a:t>
            </a:r>
            <a:r>
              <a:rPr lang="zh-CN" altLang="en-US" sz="2400" b="1" dirty="0">
                <a:ea typeface="黑体" pitchFamily="49" charset="-122"/>
              </a:rPr>
              <a:t>首先沉淀析出</a:t>
            </a:r>
            <a:r>
              <a:rPr lang="en-US" altLang="zh-CN" sz="2400" b="1" dirty="0">
                <a:ea typeface="黑体" pitchFamily="49" charset="-122"/>
              </a:rPr>
              <a:t>,(     )</a:t>
            </a:r>
            <a:r>
              <a:rPr lang="zh-CN" altLang="en-US" sz="2400" b="1" dirty="0">
                <a:ea typeface="黑体" pitchFamily="49" charset="-122"/>
              </a:rPr>
              <a:t>最后析出</a:t>
            </a:r>
          </a:p>
          <a:p>
            <a:r>
              <a:rPr lang="zh-CN" altLang="en-US" sz="2400" b="1" dirty="0">
                <a:ea typeface="黑体" pitchFamily="49" charset="-122"/>
              </a:rPr>
              <a:t>    </a:t>
            </a:r>
            <a:r>
              <a:rPr lang="en-US" altLang="zh-CN" sz="2400" b="1" dirty="0">
                <a:ea typeface="黑体" pitchFamily="49" charset="-122"/>
              </a:rPr>
              <a:t>A. </a:t>
            </a:r>
            <a:r>
              <a:rPr lang="en-US" altLang="zh-CN" sz="2400" b="1" dirty="0" err="1">
                <a:ea typeface="黑体" pitchFamily="49" charset="-122"/>
              </a:rPr>
              <a:t>AgI</a:t>
            </a:r>
            <a:r>
              <a:rPr lang="en-US" altLang="zh-CN" sz="2400" b="1" dirty="0">
                <a:ea typeface="黑体" pitchFamily="49" charset="-122"/>
              </a:rPr>
              <a:t>        B. </a:t>
            </a:r>
            <a:r>
              <a:rPr lang="en-US" altLang="zh-CN" sz="2400" b="1" dirty="0" err="1">
                <a:ea typeface="黑体" pitchFamily="49" charset="-122"/>
              </a:rPr>
              <a:t>AgBr</a:t>
            </a:r>
            <a:r>
              <a:rPr lang="en-US" altLang="zh-CN" sz="2400" b="1" dirty="0">
                <a:ea typeface="黑体" pitchFamily="49" charset="-122"/>
              </a:rPr>
              <a:t>      C. </a:t>
            </a:r>
            <a:r>
              <a:rPr lang="en-US" altLang="zh-CN" sz="2400" b="1" dirty="0" err="1">
                <a:ea typeface="黑体" pitchFamily="49" charset="-122"/>
              </a:rPr>
              <a:t>AgCl</a:t>
            </a:r>
            <a:r>
              <a:rPr lang="en-US" altLang="zh-CN" sz="2400" b="1" dirty="0">
                <a:ea typeface="黑体" pitchFamily="49" charset="-122"/>
              </a:rPr>
              <a:t>         D. Ag  </a:t>
            </a:r>
          </a:p>
          <a:p>
            <a:r>
              <a:rPr lang="en-US" altLang="zh-CN" sz="2400" b="1" dirty="0">
                <a:ea typeface="黑体" pitchFamily="49" charset="-122"/>
              </a:rPr>
              <a:t>( </a:t>
            </a:r>
            <a:r>
              <a:rPr lang="en-US" altLang="zh-CN" sz="2400" b="1" i="1" dirty="0" err="1">
                <a:ea typeface="黑体" pitchFamily="49" charset="-122"/>
              </a:rPr>
              <a:t>K</a:t>
            </a:r>
            <a:r>
              <a:rPr lang="en-US" altLang="zh-CN" sz="2400" b="1" baseline="-25000" dirty="0" err="1">
                <a:ea typeface="黑体" pitchFamily="49" charset="-122"/>
              </a:rPr>
              <a:t>sp</a:t>
            </a:r>
            <a:r>
              <a:rPr lang="en-US" altLang="zh-CN" sz="2400" b="1" dirty="0">
                <a:ea typeface="黑体" pitchFamily="49" charset="-122"/>
              </a:rPr>
              <a:t> </a:t>
            </a:r>
            <a:r>
              <a:rPr lang="en-US" altLang="zh-CN" sz="2400" b="1" dirty="0" err="1">
                <a:ea typeface="黑体" pitchFamily="49" charset="-122"/>
              </a:rPr>
              <a:t>AgCl</a:t>
            </a:r>
            <a:r>
              <a:rPr lang="en-US" altLang="zh-CN" sz="2400" b="1" dirty="0">
                <a:ea typeface="黑体" pitchFamily="49" charset="-122"/>
              </a:rPr>
              <a:t> = 1.56×10</a:t>
            </a:r>
            <a:r>
              <a:rPr lang="en-US" altLang="zh-CN" sz="2400" b="1" baseline="30000" dirty="0">
                <a:ea typeface="黑体" pitchFamily="49" charset="-122"/>
              </a:rPr>
              <a:t>-10</a:t>
            </a:r>
            <a:r>
              <a:rPr lang="en-US" altLang="zh-CN" sz="2400" b="1" dirty="0">
                <a:ea typeface="黑体" pitchFamily="49" charset="-122"/>
              </a:rPr>
              <a:t> ; </a:t>
            </a:r>
            <a:r>
              <a:rPr lang="en-US" altLang="zh-CN" sz="2400" b="1" i="1" dirty="0" err="1">
                <a:ea typeface="黑体" pitchFamily="49" charset="-122"/>
              </a:rPr>
              <a:t>K</a:t>
            </a:r>
            <a:r>
              <a:rPr lang="en-US" altLang="zh-CN" sz="2400" b="1" baseline="-25000" dirty="0" err="1">
                <a:ea typeface="黑体" pitchFamily="49" charset="-122"/>
              </a:rPr>
              <a:t>sp</a:t>
            </a:r>
            <a:r>
              <a:rPr lang="en-US" altLang="zh-CN" sz="2400" b="1" dirty="0">
                <a:ea typeface="黑体" pitchFamily="49" charset="-122"/>
              </a:rPr>
              <a:t> </a:t>
            </a:r>
            <a:r>
              <a:rPr lang="en-US" altLang="zh-CN" sz="2400" b="1" dirty="0" err="1">
                <a:ea typeface="黑体" pitchFamily="49" charset="-122"/>
              </a:rPr>
              <a:t>AgBr</a:t>
            </a:r>
            <a:r>
              <a:rPr lang="en-US" altLang="zh-CN" sz="2400" b="1" dirty="0">
                <a:ea typeface="黑体" pitchFamily="49" charset="-122"/>
              </a:rPr>
              <a:t> =7.7×10</a:t>
            </a:r>
            <a:r>
              <a:rPr lang="en-US" altLang="zh-CN" sz="2400" b="1" baseline="30000" dirty="0">
                <a:ea typeface="黑体" pitchFamily="49" charset="-122"/>
              </a:rPr>
              <a:t>-13 </a:t>
            </a:r>
            <a:r>
              <a:rPr lang="en-US" altLang="zh-CN" sz="2400" b="1" dirty="0">
                <a:ea typeface="黑体" pitchFamily="49" charset="-122"/>
              </a:rPr>
              <a:t>; </a:t>
            </a:r>
            <a:r>
              <a:rPr lang="en-US" altLang="zh-CN" sz="2400" b="1" i="1" dirty="0" err="1">
                <a:ea typeface="黑体" pitchFamily="49" charset="-122"/>
              </a:rPr>
              <a:t>K</a:t>
            </a:r>
            <a:r>
              <a:rPr lang="en-US" altLang="zh-CN" sz="2400" b="1" baseline="-25000" dirty="0" err="1">
                <a:ea typeface="黑体" pitchFamily="49" charset="-122"/>
              </a:rPr>
              <a:t>sp</a:t>
            </a:r>
            <a:r>
              <a:rPr lang="en-US" altLang="zh-CN" sz="2400" b="1" dirty="0">
                <a:ea typeface="黑体" pitchFamily="49" charset="-122"/>
              </a:rPr>
              <a:t> </a:t>
            </a:r>
            <a:r>
              <a:rPr lang="en-US" altLang="zh-CN" sz="2400" b="1" dirty="0" err="1">
                <a:ea typeface="黑体" pitchFamily="49" charset="-122"/>
              </a:rPr>
              <a:t>AgI</a:t>
            </a:r>
            <a:r>
              <a:rPr lang="en-US" altLang="zh-CN" sz="2400" b="1" dirty="0">
                <a:ea typeface="黑体" pitchFamily="49" charset="-122"/>
              </a:rPr>
              <a:t>=1.5×10</a:t>
            </a:r>
            <a:r>
              <a:rPr lang="en-US" altLang="zh-CN" sz="2400" b="1" baseline="30000" dirty="0">
                <a:ea typeface="黑体" pitchFamily="49" charset="-122"/>
              </a:rPr>
              <a:t>-16</a:t>
            </a:r>
            <a:r>
              <a:rPr lang="en-US" altLang="zh-CN" sz="2400" b="1" dirty="0">
                <a:ea typeface="黑体" pitchFamily="49" charset="-122"/>
              </a:rPr>
              <a:t>)</a:t>
            </a:r>
          </a:p>
          <a:p>
            <a:r>
              <a:rPr lang="zh-CN" altLang="en-US" sz="2400" b="1" dirty="0">
                <a:ea typeface="黑体" pitchFamily="49" charset="-122"/>
              </a:rPr>
              <a:t>答： </a:t>
            </a:r>
            <a:r>
              <a:rPr lang="en-US" altLang="zh-CN" sz="2400" b="1" dirty="0">
                <a:ea typeface="黑体" pitchFamily="49" charset="-122"/>
              </a:rPr>
              <a:t>A   C</a:t>
            </a:r>
          </a:p>
        </p:txBody>
      </p:sp>
    </p:spTree>
    <p:extLst>
      <p:ext uri="{BB962C8B-B14F-4D97-AF65-F5344CB8AC3E}">
        <p14:creationId xmlns:p14="http://schemas.microsoft.com/office/powerpoint/2010/main" val="1052094168"/>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ext Box 10"/>
          <p:cNvSpPr txBox="1"/>
          <p:nvPr/>
        </p:nvSpPr>
        <p:spPr>
          <a:xfrm>
            <a:off x="179394" y="250828"/>
            <a:ext cx="5106987" cy="584775"/>
          </a:xfrm>
          <a:prstGeom prst="rect">
            <a:avLst/>
          </a:prstGeom>
          <a:solidFill>
            <a:srgbClr val="FFFF00"/>
          </a:solidFill>
          <a:ln w="9525">
            <a:noFill/>
          </a:ln>
        </p:spPr>
        <p:txBody>
          <a:bodyPr anchor="t" anchorCtr="0">
            <a:spAutoFit/>
          </a:bodyPr>
          <a:lstStyle/>
          <a:p>
            <a:pPr algn="just">
              <a:spcBef>
                <a:spcPct val="50000"/>
              </a:spcBef>
              <a:buClrTx/>
              <a:buFontTx/>
            </a:pPr>
            <a:r>
              <a:rPr lang="en-US" altLang="zh-CN" sz="3200" dirty="0">
                <a:latin typeface="华文新魏" pitchFamily="2" charset="-122"/>
                <a:ea typeface="华文新魏" pitchFamily="2" charset="-122"/>
              </a:rPr>
              <a:t>3.4.3 </a:t>
            </a:r>
            <a:r>
              <a:rPr lang="zh-CN" altLang="en-US" sz="3200" dirty="0">
                <a:latin typeface="华文新魏" pitchFamily="2" charset="-122"/>
                <a:ea typeface="华文新魏" pitchFamily="2" charset="-122"/>
              </a:rPr>
              <a:t>沉淀的溶解和转化</a:t>
            </a:r>
          </a:p>
        </p:txBody>
      </p:sp>
      <p:sp>
        <p:nvSpPr>
          <p:cNvPr id="69634" name="Text Box 11"/>
          <p:cNvSpPr txBox="1"/>
          <p:nvPr/>
        </p:nvSpPr>
        <p:spPr>
          <a:xfrm>
            <a:off x="250831" y="788991"/>
            <a:ext cx="3025775" cy="584775"/>
          </a:xfrm>
          <a:prstGeom prst="rect">
            <a:avLst/>
          </a:prstGeom>
          <a:noFill/>
          <a:ln w="9525">
            <a:noFill/>
          </a:ln>
        </p:spPr>
        <p:txBody>
          <a:bodyPr anchor="t" anchorCtr="0">
            <a:spAutoFit/>
          </a:bodyPr>
          <a:lstStyle/>
          <a:p>
            <a:pPr>
              <a:spcBef>
                <a:spcPct val="50000"/>
              </a:spcBef>
              <a:buClrTx/>
              <a:buFontTx/>
            </a:pPr>
            <a:r>
              <a:rPr lang="zh-CN" altLang="en-US" sz="3200" b="0" dirty="0">
                <a:latin typeface="华文新魏" pitchFamily="2" charset="-122"/>
                <a:ea typeface="华文新魏" pitchFamily="2" charset="-122"/>
              </a:rPr>
              <a:t> </a:t>
            </a:r>
            <a:r>
              <a:rPr lang="en-US" altLang="zh-CN" sz="3200" b="0" dirty="0">
                <a:latin typeface="华文新魏" pitchFamily="2" charset="-122"/>
                <a:ea typeface="华文新魏" pitchFamily="2" charset="-122"/>
              </a:rPr>
              <a:t>1.</a:t>
            </a:r>
            <a:r>
              <a:rPr lang="zh-CN" altLang="en-US" sz="3200" b="0" dirty="0">
                <a:latin typeface="华文新魏" pitchFamily="2" charset="-122"/>
                <a:ea typeface="华文新魏" pitchFamily="2" charset="-122"/>
              </a:rPr>
              <a:t>沉淀的溶解</a:t>
            </a:r>
          </a:p>
        </p:txBody>
      </p:sp>
      <p:sp>
        <p:nvSpPr>
          <p:cNvPr id="55308" name="Text Box 12"/>
          <p:cNvSpPr txBox="1"/>
          <p:nvPr/>
        </p:nvSpPr>
        <p:spPr>
          <a:xfrm>
            <a:off x="323850" y="1168403"/>
            <a:ext cx="3529013" cy="584775"/>
          </a:xfrm>
          <a:prstGeom prst="rect">
            <a:avLst/>
          </a:prstGeom>
          <a:noFill/>
          <a:ln w="9525">
            <a:noFill/>
          </a:ln>
        </p:spPr>
        <p:txBody>
          <a:bodyPr anchor="t" anchorCtr="0">
            <a:spAutoFit/>
          </a:bodyPr>
          <a:lstStyle/>
          <a:p>
            <a:pPr>
              <a:spcBef>
                <a:spcPct val="50000"/>
              </a:spcBef>
              <a:buClrTx/>
              <a:buFontTx/>
            </a:pPr>
            <a:r>
              <a:rPr lang="en-US" altLang="zh-CN" sz="3200" b="0" dirty="0">
                <a:latin typeface="华文新魏" pitchFamily="2" charset="-122"/>
                <a:ea typeface="华文新魏" pitchFamily="2" charset="-122"/>
              </a:rPr>
              <a:t>1) </a:t>
            </a:r>
            <a:r>
              <a:rPr lang="zh-CN" altLang="en-US" sz="3200" b="0" dirty="0">
                <a:latin typeface="华文新魏" pitchFamily="2" charset="-122"/>
                <a:ea typeface="华文新魏" pitchFamily="2" charset="-122"/>
                <a:hlinkClick r:id="rId2" action="ppaction://hlinkfile"/>
              </a:rPr>
              <a:t>生成弱电解质</a:t>
            </a:r>
            <a:endParaRPr lang="zh-CN" altLang="en-US" sz="3200" b="0" dirty="0">
              <a:latin typeface="华文新魏" pitchFamily="2" charset="-122"/>
              <a:ea typeface="华文新魏" pitchFamily="2" charset="-122"/>
            </a:endParaRPr>
          </a:p>
        </p:txBody>
      </p:sp>
      <p:sp>
        <p:nvSpPr>
          <p:cNvPr id="55309" name="Text Box 13"/>
          <p:cNvSpPr txBox="1"/>
          <p:nvPr/>
        </p:nvSpPr>
        <p:spPr>
          <a:xfrm>
            <a:off x="468319" y="1762128"/>
            <a:ext cx="8027987" cy="954107"/>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宋体" panose="02010600030101010101" pitchFamily="2" charset="-122"/>
              </a:rPr>
              <a:t>      利用酸与难溶电解质的组分离子结合成可溶性弱电解质，如 </a:t>
            </a:r>
          </a:p>
        </p:txBody>
      </p:sp>
      <p:grpSp>
        <p:nvGrpSpPr>
          <p:cNvPr id="2" name="Group 17"/>
          <p:cNvGrpSpPr/>
          <p:nvPr/>
        </p:nvGrpSpPr>
        <p:grpSpPr>
          <a:xfrm>
            <a:off x="2843219" y="2085975"/>
            <a:ext cx="6048375" cy="2678113"/>
            <a:chOff x="1791" y="1752"/>
            <a:chExt cx="3810" cy="2249"/>
          </a:xfrm>
        </p:grpSpPr>
        <p:sp>
          <p:nvSpPr>
            <p:cNvPr id="69638" name="Text Box 14"/>
            <p:cNvSpPr txBox="1"/>
            <p:nvPr/>
          </p:nvSpPr>
          <p:spPr>
            <a:xfrm>
              <a:off x="1791" y="1752"/>
              <a:ext cx="3810" cy="2249"/>
            </a:xfrm>
            <a:prstGeom prst="rect">
              <a:avLst/>
            </a:prstGeom>
            <a:noFill/>
            <a:ln w="9525">
              <a:noFill/>
            </a:ln>
          </p:spPr>
          <p:txBody>
            <a:bodyPr anchor="t" anchorCtr="0">
              <a:spAutoFit/>
            </a:bodyPr>
            <a:lstStyle/>
            <a:p>
              <a:pPr>
                <a:spcBef>
                  <a:spcPct val="50000"/>
                </a:spcBef>
                <a:buClrTx/>
                <a:buFontTx/>
              </a:pPr>
              <a:r>
                <a:rPr lang="en-US" altLang="zh-CN" dirty="0">
                  <a:latin typeface="Times New Roman" panose="02020603050405020304" pitchFamily="18" charset="0"/>
                  <a:ea typeface="宋体" panose="02010600030101010101" pitchFamily="2" charset="-122"/>
                </a:rPr>
                <a:t>Mg(OH)</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(s)           Mg</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+2OH</a:t>
              </a:r>
              <a:r>
                <a:rPr lang="en-US" altLang="zh-CN" baseline="30000" dirty="0">
                  <a:latin typeface="Times New Roman" panose="02020603050405020304" pitchFamily="18" charset="0"/>
                  <a:ea typeface="宋体" panose="02010600030101010101" pitchFamily="2" charset="-122"/>
                </a:rPr>
                <a:t>-</a:t>
              </a:r>
            </a:p>
            <a:p>
              <a:pPr>
                <a:spcBef>
                  <a:spcPct val="50000"/>
                </a:spcBef>
                <a:buClrTx/>
                <a:buFontTx/>
              </a:pPr>
              <a:r>
                <a:rPr lang="en-US" altLang="zh-CN" baseline="3000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t>
              </a:r>
            </a:p>
            <a:p>
              <a:pPr>
                <a:spcBef>
                  <a:spcPct val="50000"/>
                </a:spcBef>
                <a:buClrTx/>
                <a:buFontTx/>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2HCl → 2Cl</a:t>
              </a:r>
              <a:r>
                <a:rPr lang="en-US" altLang="zh-CN" baseline="300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+2H</a:t>
              </a:r>
              <a:r>
                <a:rPr lang="en-US" altLang="zh-CN" baseline="300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p>
            <a:p>
              <a:pPr>
                <a:buClrTx/>
                <a:buFontTx/>
              </a:pPr>
              <a:r>
                <a:rPr lang="zh-CN" altLang="en-US" dirty="0">
                  <a:latin typeface="Times New Roman" panose="02020603050405020304" pitchFamily="18" charset="0"/>
                  <a:ea typeface="宋体" panose="02010600030101010101" pitchFamily="2" charset="-122"/>
                </a:rPr>
                <a:t>                                               ↓                                                 </a:t>
              </a:r>
            </a:p>
            <a:p>
              <a:pPr>
                <a:buClrTx/>
                <a:buFontTx/>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2H</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O </a:t>
              </a:r>
              <a:endParaRPr lang="zh-CN" altLang="en-US" dirty="0">
                <a:latin typeface="Times New Roman" panose="02020603050405020304" pitchFamily="18" charset="0"/>
                <a:ea typeface="宋体" panose="02010600030101010101" pitchFamily="2" charset="-122"/>
              </a:endParaRPr>
            </a:p>
          </p:txBody>
        </p:sp>
        <p:graphicFrame>
          <p:nvGraphicFramePr>
            <p:cNvPr id="69639" name="Object 15"/>
            <p:cNvGraphicFramePr>
              <a:graphicFrameLocks noChangeAspect="1"/>
            </p:cNvGraphicFramePr>
            <p:nvPr/>
          </p:nvGraphicFramePr>
          <p:xfrm>
            <a:off x="3152" y="1888"/>
            <a:ext cx="454" cy="118"/>
          </p:xfrm>
          <a:graphic>
            <a:graphicData uri="http://schemas.openxmlformats.org/presentationml/2006/ole">
              <mc:AlternateContent xmlns:mc="http://schemas.openxmlformats.org/markup-compatibility/2006">
                <mc:Choice xmlns:v="urn:schemas-microsoft-com:vml" Requires="v">
                  <p:oleObj r:id="rId3" imgW="676275" imgH="171450" progId="Equation.3">
                    <p:embed/>
                  </p:oleObj>
                </mc:Choice>
                <mc:Fallback>
                  <p:oleObj r:id="rId3" imgW="676275" imgH="171450" progId="Equation.3">
                    <p:embed/>
                    <p:pic>
                      <p:nvPicPr>
                        <p:cNvPr id="0" name="图片 3174"/>
                        <p:cNvPicPr/>
                        <p:nvPr/>
                      </p:nvPicPr>
                      <p:blipFill>
                        <a:blip r:embed="rId4"/>
                        <a:stretch>
                          <a:fillRect/>
                        </a:stretch>
                      </p:blipFill>
                      <p:spPr>
                        <a:xfrm>
                          <a:off x="3152" y="1888"/>
                          <a:ext cx="454" cy="118"/>
                        </a:xfrm>
                        <a:prstGeom prst="rect">
                          <a:avLst/>
                        </a:prstGeom>
                        <a:noFill/>
                        <a:ln w="38100">
                          <a:noFill/>
                          <a:miter/>
                        </a:ln>
                      </p:spPr>
                    </p:pic>
                  </p:oleObj>
                </mc:Fallback>
              </mc:AlternateContent>
            </a:graphicData>
          </a:graphic>
        </p:graphicFrame>
      </p:grpSp>
      <p:pic>
        <p:nvPicPr>
          <p:cNvPr id="69640" name="Picture 18" descr="next">
            <a:hlinkClick r:id="rId5" action="ppaction://hlinksldjump"/>
          </p:cNvPr>
          <p:cNvPicPr>
            <a:picLocks noChangeAspect="1"/>
          </p:cNvPicPr>
          <p:nvPr/>
        </p:nvPicPr>
        <p:blipFill>
          <a:blip r:embed="rId6"/>
          <a:stretch>
            <a:fillRect/>
          </a:stretch>
        </p:blipFill>
        <p:spPr>
          <a:xfrm>
            <a:off x="8388350" y="4516439"/>
            <a:ext cx="515938" cy="401637"/>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308"/>
                                        </p:tgtEl>
                                        <p:attrNameLst>
                                          <p:attrName>style.visibility</p:attrName>
                                        </p:attrNameLst>
                                      </p:cBhvr>
                                      <p:to>
                                        <p:strVal val="visible"/>
                                      </p:to>
                                    </p:set>
                                    <p:anim calcmode="lin" valueType="num">
                                      <p:cBhvr additive="base">
                                        <p:cTn id="7" dur="500" fill="hold"/>
                                        <p:tgtEl>
                                          <p:spTgt spid="55308"/>
                                        </p:tgtEl>
                                        <p:attrNameLst>
                                          <p:attrName>ppt_x</p:attrName>
                                        </p:attrNameLst>
                                      </p:cBhvr>
                                      <p:tavLst>
                                        <p:tav tm="0">
                                          <p:val>
                                            <p:strVal val="#ppt_x"/>
                                          </p:val>
                                        </p:tav>
                                        <p:tav tm="100000">
                                          <p:val>
                                            <p:strVal val="#ppt_x"/>
                                          </p:val>
                                        </p:tav>
                                      </p:tavLst>
                                    </p:anim>
                                    <p:anim calcmode="lin" valueType="num">
                                      <p:cBhvr additive="base">
                                        <p:cTn id="8" dur="500" fill="hold"/>
                                        <p:tgtEl>
                                          <p:spTgt spid="5530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5309"/>
                                        </p:tgtEl>
                                        <p:attrNameLst>
                                          <p:attrName>style.visibility</p:attrName>
                                        </p:attrNameLst>
                                      </p:cBhvr>
                                      <p:to>
                                        <p:strVal val="visible"/>
                                      </p:to>
                                    </p:set>
                                    <p:anim calcmode="lin" valueType="num">
                                      <p:cBhvr additive="base">
                                        <p:cTn id="11" dur="500" fill="hold"/>
                                        <p:tgtEl>
                                          <p:spTgt spid="55309"/>
                                        </p:tgtEl>
                                        <p:attrNameLst>
                                          <p:attrName>ppt_x</p:attrName>
                                        </p:attrNameLst>
                                      </p:cBhvr>
                                      <p:tavLst>
                                        <p:tav tm="0">
                                          <p:val>
                                            <p:strVal val="#ppt_x"/>
                                          </p:val>
                                        </p:tav>
                                        <p:tav tm="100000">
                                          <p:val>
                                            <p:strVal val="#ppt_x"/>
                                          </p:val>
                                        </p:tav>
                                      </p:tavLst>
                                    </p:anim>
                                    <p:anim calcmode="lin" valueType="num">
                                      <p:cBhvr additive="base">
                                        <p:cTn id="12" dur="500" fill="hold"/>
                                        <p:tgtEl>
                                          <p:spTgt spid="5530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8" grpId="0"/>
      <p:bldP spid="5530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15"/>
          <p:cNvSpPr/>
          <p:nvPr/>
        </p:nvSpPr>
        <p:spPr>
          <a:xfrm>
            <a:off x="323856" y="175133"/>
            <a:ext cx="2816797" cy="584775"/>
          </a:xfrm>
          <a:prstGeom prst="rect">
            <a:avLst/>
          </a:prstGeom>
          <a:noFill/>
          <a:ln w="9525">
            <a:noFill/>
          </a:ln>
        </p:spPr>
        <p:txBody>
          <a:bodyPr wrap="none" anchor="ctr" anchorCtr="0">
            <a:spAutoFit/>
          </a:bodyPr>
          <a:lstStyle/>
          <a:p>
            <a:pPr eaLnBrk="0" hangingPunct="0">
              <a:buClrTx/>
              <a:buFontTx/>
            </a:pPr>
            <a:r>
              <a:rPr lang="en-US" altLang="zh-CN" sz="3200" dirty="0">
                <a:latin typeface="华文新魏" pitchFamily="2" charset="-122"/>
                <a:ea typeface="华文新魏" pitchFamily="2" charset="-122"/>
              </a:rPr>
              <a:t>2) </a:t>
            </a:r>
            <a:r>
              <a:rPr lang="zh-CN" altLang="en-US" sz="3200" dirty="0">
                <a:latin typeface="华文新魏" pitchFamily="2" charset="-122"/>
                <a:ea typeface="华文新魏" pitchFamily="2" charset="-122"/>
              </a:rPr>
              <a:t>氧化还原法 </a:t>
            </a:r>
          </a:p>
        </p:txBody>
      </p:sp>
      <p:sp>
        <p:nvSpPr>
          <p:cNvPr id="70658" name="Rectangle 17"/>
          <p:cNvSpPr/>
          <p:nvPr/>
        </p:nvSpPr>
        <p:spPr>
          <a:xfrm>
            <a:off x="71444" y="989007"/>
            <a:ext cx="8893175" cy="954107"/>
          </a:xfrm>
          <a:prstGeom prst="rect">
            <a:avLst/>
          </a:prstGeom>
          <a:noFill/>
          <a:ln w="9525">
            <a:noFill/>
          </a:ln>
        </p:spPr>
        <p:txBody>
          <a:bodyPr anchor="ctr" anchorCtr="0">
            <a:spAutoFit/>
          </a:bodyPr>
          <a:lstStyle/>
          <a:p>
            <a:pPr eaLnBrk="0" hangingPunct="0">
              <a:buClrTx/>
              <a:buFontTx/>
            </a:pPr>
            <a:r>
              <a:rPr lang="zh-CN" altLang="en-US" dirty="0">
                <a:latin typeface="Times New Roman" panose="02020603050405020304" pitchFamily="18" charset="0"/>
                <a:ea typeface="宋体" panose="02010600030101010101" pitchFamily="2" charset="-122"/>
              </a:rPr>
              <a:t>       利用氧化还原反应可降低难溶电解质组分离子的浓度，使</a:t>
            </a:r>
            <a:r>
              <a:rPr lang="en-US" altLang="zh-CN" i="1" dirty="0">
                <a:latin typeface="Times New Roman" panose="02020603050405020304" pitchFamily="18" charset="0"/>
                <a:ea typeface="宋体" panose="02010600030101010101" pitchFamily="2" charset="-122"/>
              </a:rPr>
              <a:t>Q </a:t>
            </a:r>
            <a:r>
              <a:rPr lang="en-US" altLang="zh-CN" dirty="0">
                <a:latin typeface="Arial" panose="020B0604020202020204" pitchFamily="34" charset="0"/>
                <a:ea typeface="宋体" panose="02010600030101010101" pitchFamily="2" charset="-122"/>
              </a:rPr>
              <a:t>&lt;        </a:t>
            </a:r>
            <a:r>
              <a:rPr lang="zh-CN" altLang="en-US" dirty="0">
                <a:latin typeface="Times New Roman" panose="02020603050405020304" pitchFamily="18" charset="0"/>
                <a:ea typeface="宋体" panose="02010600030101010101" pitchFamily="2" charset="-122"/>
              </a:rPr>
              <a:t>，于是平衡向着沉淀溶解方向移动。 </a:t>
            </a:r>
            <a:endParaRPr lang="en-US" altLang="zh-CN" dirty="0">
              <a:latin typeface="Times New Roman" panose="02020603050405020304" pitchFamily="18" charset="0"/>
              <a:ea typeface="宋体" panose="02010600030101010101" pitchFamily="2" charset="-122"/>
            </a:endParaRPr>
          </a:p>
        </p:txBody>
      </p:sp>
      <p:graphicFrame>
        <p:nvGraphicFramePr>
          <p:cNvPr id="70659" name="Object 16"/>
          <p:cNvGraphicFramePr>
            <a:graphicFrameLocks noChangeAspect="1"/>
          </p:cNvGraphicFramePr>
          <p:nvPr/>
        </p:nvGraphicFramePr>
        <p:xfrm>
          <a:off x="1908175" y="1436691"/>
          <a:ext cx="533400" cy="433387"/>
        </p:xfrm>
        <a:graphic>
          <a:graphicData uri="http://schemas.openxmlformats.org/presentationml/2006/ole">
            <mc:AlternateContent xmlns:mc="http://schemas.openxmlformats.org/markup-compatibility/2006">
              <mc:Choice xmlns:v="urn:schemas-microsoft-com:vml" Requires="v">
                <p:oleObj r:id="rId2" imgW="250825" imgH="264160" progId="Equation.3">
                  <p:embed/>
                </p:oleObj>
              </mc:Choice>
              <mc:Fallback>
                <p:oleObj r:id="rId2" imgW="250825" imgH="264160" progId="Equation.3">
                  <p:embed/>
                  <p:pic>
                    <p:nvPicPr>
                      <p:cNvPr id="0" name="图片 3175"/>
                      <p:cNvPicPr/>
                      <p:nvPr/>
                    </p:nvPicPr>
                    <p:blipFill>
                      <a:blip r:embed="rId3"/>
                      <a:stretch>
                        <a:fillRect/>
                      </a:stretch>
                    </p:blipFill>
                    <p:spPr>
                      <a:xfrm>
                        <a:off x="1908175" y="1436691"/>
                        <a:ext cx="533400" cy="433387"/>
                      </a:xfrm>
                      <a:prstGeom prst="rect">
                        <a:avLst/>
                      </a:prstGeom>
                      <a:noFill/>
                      <a:ln w="38100">
                        <a:noFill/>
                        <a:miter/>
                      </a:ln>
                    </p:spPr>
                  </p:pic>
                </p:oleObj>
              </mc:Fallback>
            </mc:AlternateContent>
          </a:graphicData>
        </a:graphic>
      </p:graphicFrame>
      <p:sp>
        <p:nvSpPr>
          <p:cNvPr id="70660" name="Rectangle 21"/>
          <p:cNvSpPr/>
          <p:nvPr/>
        </p:nvSpPr>
        <p:spPr>
          <a:xfrm>
            <a:off x="5" y="227442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70661" name="Group 22"/>
          <p:cNvGrpSpPr/>
          <p:nvPr/>
        </p:nvGrpSpPr>
        <p:grpSpPr>
          <a:xfrm>
            <a:off x="611188" y="1978027"/>
            <a:ext cx="6553200" cy="2246312"/>
            <a:chOff x="385" y="1661"/>
            <a:chExt cx="4128" cy="1887"/>
          </a:xfrm>
        </p:grpSpPr>
        <p:sp>
          <p:nvSpPr>
            <p:cNvPr id="70662" name="Text Box 19"/>
            <p:cNvSpPr txBox="1"/>
            <p:nvPr/>
          </p:nvSpPr>
          <p:spPr>
            <a:xfrm>
              <a:off x="385" y="1661"/>
              <a:ext cx="4128" cy="1887"/>
            </a:xfrm>
            <a:prstGeom prst="rect">
              <a:avLst/>
            </a:prstGeom>
            <a:noFill/>
            <a:ln w="9525">
              <a:noFill/>
            </a:ln>
          </p:spPr>
          <p:txBody>
            <a:bodyPr anchor="t" anchorCtr="0">
              <a:spAutoFit/>
            </a:bodyPr>
            <a:lstStyle/>
            <a:p>
              <a:pPr>
                <a:buClrTx/>
                <a:buFontTx/>
              </a:pPr>
              <a:r>
                <a:rPr lang="en-US" altLang="zh-CN" dirty="0">
                  <a:latin typeface="Times New Roman" panose="02020603050405020304" pitchFamily="18" charset="0"/>
                  <a:ea typeface="宋体" panose="02010600030101010101" pitchFamily="2" charset="-122"/>
                </a:rPr>
                <a:t>             3CuS(s)        3Cu</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+3S</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a:t>
              </a:r>
            </a:p>
            <a:p>
              <a:pPr>
                <a:buClrTx/>
                <a:buFontTx/>
              </a:pPr>
              <a:r>
                <a:rPr lang="en-US" altLang="zh-CN" dirty="0">
                  <a:latin typeface="Times New Roman" panose="02020603050405020304" pitchFamily="18" charset="0"/>
                  <a:ea typeface="宋体" panose="02010600030101010101" pitchFamily="2" charset="-122"/>
                </a:rPr>
                <a:t>                                              +</a:t>
              </a:r>
            </a:p>
            <a:p>
              <a:pPr>
                <a:buClrTx/>
                <a:buFontTx/>
              </a:pPr>
              <a:r>
                <a:rPr lang="en-US" altLang="zh-CN" dirty="0">
                  <a:latin typeface="Times New Roman" panose="02020603050405020304" pitchFamily="18" charset="0"/>
                  <a:ea typeface="宋体" panose="02010600030101010101" pitchFamily="2" charset="-122"/>
                </a:rPr>
                <a:t>                                       8H</a:t>
              </a:r>
              <a:r>
                <a:rPr lang="en-US" altLang="zh-CN" baseline="300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+2NO</a:t>
              </a:r>
              <a:r>
                <a:rPr lang="en-US" altLang="zh-CN" baseline="-25000" dirty="0">
                  <a:latin typeface="Times New Roman" panose="02020603050405020304" pitchFamily="18" charset="0"/>
                  <a:ea typeface="宋体" panose="02010600030101010101" pitchFamily="2" charset="-122"/>
                </a:rPr>
                <a:t>3</a:t>
              </a:r>
              <a:r>
                <a:rPr lang="en-US" altLang="zh-CN" baseline="30000" dirty="0">
                  <a:latin typeface="Times New Roman" panose="02020603050405020304" pitchFamily="18" charset="0"/>
                  <a:ea typeface="宋体" panose="02010600030101010101" pitchFamily="2" charset="-122"/>
                </a:rPr>
                <a:t>-</a:t>
              </a:r>
            </a:p>
            <a:p>
              <a:pPr>
                <a:buClrTx/>
                <a:buFontTx/>
              </a:pPr>
              <a:r>
                <a:rPr lang="en-US" altLang="zh-CN" dirty="0">
                  <a:latin typeface="Times New Roman" panose="02020603050405020304" pitchFamily="18" charset="0"/>
                  <a:ea typeface="宋体" panose="02010600030101010101" pitchFamily="2" charset="-122"/>
                </a:rPr>
                <a:t>                                             ↓   </a:t>
              </a:r>
            </a:p>
            <a:p>
              <a:pPr>
                <a:buClrTx/>
                <a:buFontTx/>
              </a:pPr>
              <a:r>
                <a:rPr lang="en-US" altLang="zh-CN" dirty="0">
                  <a:latin typeface="Times New Roman" panose="02020603050405020304" pitchFamily="18" charset="0"/>
                  <a:ea typeface="宋体" panose="02010600030101010101" pitchFamily="2" charset="-122"/>
                </a:rPr>
                <a:t>                                  3S↓+2NO↑+4H</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O</a:t>
              </a:r>
              <a:endParaRPr lang="zh-CN" altLang="en-US" dirty="0">
                <a:latin typeface="Times New Roman" panose="02020603050405020304" pitchFamily="18" charset="0"/>
                <a:ea typeface="宋体" panose="02010600030101010101" pitchFamily="2" charset="-122"/>
              </a:endParaRPr>
            </a:p>
          </p:txBody>
        </p:sp>
        <p:graphicFrame>
          <p:nvGraphicFramePr>
            <p:cNvPr id="70663" name="Object 20"/>
            <p:cNvGraphicFramePr>
              <a:graphicFrameLocks noChangeAspect="1"/>
            </p:cNvGraphicFramePr>
            <p:nvPr/>
          </p:nvGraphicFramePr>
          <p:xfrm>
            <a:off x="2018" y="1787"/>
            <a:ext cx="272" cy="101"/>
          </p:xfrm>
          <a:graphic>
            <a:graphicData uri="http://schemas.openxmlformats.org/presentationml/2006/ole">
              <mc:AlternateContent xmlns:mc="http://schemas.openxmlformats.org/markup-compatibility/2006">
                <mc:Choice xmlns:v="urn:schemas-microsoft-com:vml" Requires="v">
                  <p:oleObj r:id="rId4" imgW="676275" imgH="171450" progId="Equation.3">
                    <p:embed/>
                  </p:oleObj>
                </mc:Choice>
                <mc:Fallback>
                  <p:oleObj r:id="rId4" imgW="676275" imgH="171450" progId="Equation.3">
                    <p:embed/>
                    <p:pic>
                      <p:nvPicPr>
                        <p:cNvPr id="0" name="图片 3176"/>
                        <p:cNvPicPr/>
                        <p:nvPr/>
                      </p:nvPicPr>
                      <p:blipFill>
                        <a:blip r:embed="rId5"/>
                        <a:stretch>
                          <a:fillRect/>
                        </a:stretch>
                      </p:blipFill>
                      <p:spPr>
                        <a:xfrm>
                          <a:off x="2018" y="1787"/>
                          <a:ext cx="272" cy="101"/>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ext Box 14"/>
          <p:cNvSpPr txBox="1"/>
          <p:nvPr/>
        </p:nvSpPr>
        <p:spPr>
          <a:xfrm>
            <a:off x="250825" y="303216"/>
            <a:ext cx="4752975" cy="584775"/>
          </a:xfrm>
          <a:prstGeom prst="rect">
            <a:avLst/>
          </a:prstGeom>
          <a:noFill/>
          <a:ln w="9525">
            <a:noFill/>
          </a:ln>
        </p:spPr>
        <p:txBody>
          <a:bodyPr anchor="t" anchorCtr="0">
            <a:spAutoFit/>
          </a:bodyPr>
          <a:lstStyle/>
          <a:p>
            <a:pPr>
              <a:spcBef>
                <a:spcPct val="50000"/>
              </a:spcBef>
              <a:buClrTx/>
              <a:buFontTx/>
            </a:pPr>
            <a:r>
              <a:rPr lang="en-US" altLang="zh-CN" sz="3200" b="0" dirty="0">
                <a:latin typeface="华文新魏" pitchFamily="2" charset="-122"/>
                <a:ea typeface="华文新魏" pitchFamily="2" charset="-122"/>
              </a:rPr>
              <a:t>3) </a:t>
            </a:r>
            <a:r>
              <a:rPr lang="zh-CN" altLang="en-US" sz="3200" b="0" dirty="0">
                <a:latin typeface="华文新魏" pitchFamily="2" charset="-122"/>
                <a:ea typeface="华文新魏" pitchFamily="2" charset="-122"/>
              </a:rPr>
              <a:t>生成难解离的配离子 </a:t>
            </a:r>
          </a:p>
        </p:txBody>
      </p:sp>
      <p:sp>
        <p:nvSpPr>
          <p:cNvPr id="71682" name="Text Box 15"/>
          <p:cNvSpPr txBox="1"/>
          <p:nvPr/>
        </p:nvSpPr>
        <p:spPr>
          <a:xfrm>
            <a:off x="539750" y="896941"/>
            <a:ext cx="7920038" cy="1384995"/>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宋体" panose="02010600030101010101" pitchFamily="2" charset="-122"/>
              </a:rPr>
              <a:t>      若难溶电解质中解离出的简单离子能与某些试剂形成配离子，使简单离子的浓度降低，从而达到</a:t>
            </a:r>
            <a:r>
              <a:rPr lang="en-US" altLang="zh-CN" i="1" dirty="0">
                <a:latin typeface="Times New Roman" panose="02020603050405020304" pitchFamily="18" charset="0"/>
                <a:ea typeface="宋体" panose="02010600030101010101" pitchFamily="2" charset="-122"/>
              </a:rPr>
              <a:t>Q</a:t>
            </a:r>
            <a:r>
              <a:rPr lang="en-US" altLang="zh-CN" dirty="0">
                <a:latin typeface="Times New Roman" panose="02020603050405020304" pitchFamily="18" charset="0"/>
                <a:ea typeface="宋体" panose="02010600030101010101" pitchFamily="2" charset="-122"/>
              </a:rPr>
              <a:t>&lt;         </a:t>
            </a:r>
            <a:r>
              <a:rPr lang="zh-CN" altLang="en-US" dirty="0">
                <a:latin typeface="Times New Roman" panose="02020603050405020304" pitchFamily="18" charset="0"/>
                <a:ea typeface="宋体" panose="02010600030101010101" pitchFamily="2" charset="-122"/>
              </a:rPr>
              <a:t>，使沉淀溶解。 </a:t>
            </a:r>
          </a:p>
        </p:txBody>
      </p:sp>
      <p:sp>
        <p:nvSpPr>
          <p:cNvPr id="71683" name="Text Box 16"/>
          <p:cNvSpPr txBox="1"/>
          <p:nvPr/>
        </p:nvSpPr>
        <p:spPr>
          <a:xfrm>
            <a:off x="827088" y="2139950"/>
            <a:ext cx="7416800" cy="2893100"/>
          </a:xfrm>
          <a:prstGeom prst="rect">
            <a:avLst/>
          </a:prstGeom>
          <a:noFill/>
          <a:ln w="9525">
            <a:noFill/>
          </a:ln>
        </p:spPr>
        <p:txBody>
          <a:bodyPr anchor="t" anchorCtr="0">
            <a:spAutoFit/>
          </a:bodyPr>
          <a:lstStyle/>
          <a:p>
            <a:pPr>
              <a:buClrTx/>
              <a:buFontTx/>
            </a:pPr>
            <a:r>
              <a:rPr lang="de-DE" altLang="zh-CN" dirty="0">
                <a:latin typeface="Times New Roman" panose="02020603050405020304" pitchFamily="18" charset="0"/>
                <a:ea typeface="宋体" panose="02010600030101010101" pitchFamily="2" charset="-122"/>
              </a:rPr>
              <a:t>         AgCl(s)          Ag</a:t>
            </a:r>
            <a:r>
              <a:rPr lang="de-DE" altLang="zh-CN" baseline="30000" dirty="0">
                <a:latin typeface="Times New Roman" panose="02020603050405020304" pitchFamily="18" charset="0"/>
                <a:ea typeface="宋体" panose="02010600030101010101" pitchFamily="2" charset="-122"/>
              </a:rPr>
              <a:t>+</a:t>
            </a:r>
            <a:r>
              <a:rPr lang="de-DE" altLang="zh-CN" dirty="0">
                <a:latin typeface="Times New Roman" panose="02020603050405020304" pitchFamily="18" charset="0"/>
                <a:ea typeface="宋体" panose="02010600030101010101" pitchFamily="2" charset="-122"/>
              </a:rPr>
              <a:t> +Cl</a:t>
            </a:r>
            <a:r>
              <a:rPr lang="de-DE" altLang="zh-CN" baseline="30000" dirty="0">
                <a:latin typeface="Times New Roman" panose="02020603050405020304" pitchFamily="18" charset="0"/>
                <a:ea typeface="宋体" panose="02010600030101010101" pitchFamily="2" charset="-122"/>
              </a:rPr>
              <a:t>-</a:t>
            </a:r>
          </a:p>
          <a:p>
            <a:pPr>
              <a:buClrTx/>
              <a:buFontTx/>
            </a:pPr>
            <a:r>
              <a:rPr lang="de-DE" altLang="zh-CN"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  </a:t>
            </a:r>
          </a:p>
          <a:p>
            <a:pPr>
              <a:buClrTx/>
              <a:buFontTx/>
            </a:pPr>
            <a:r>
              <a:rPr lang="pt-BR" altLang="zh-CN" dirty="0">
                <a:latin typeface="Times New Roman" panose="02020603050405020304" pitchFamily="18" charset="0"/>
                <a:ea typeface="宋体" panose="02010600030101010101" pitchFamily="2" charset="-122"/>
              </a:rPr>
              <a:t>                            2NH</a:t>
            </a:r>
            <a:r>
              <a:rPr lang="pt-BR" altLang="zh-CN" baseline="-25000" dirty="0">
                <a:latin typeface="Times New Roman" panose="02020603050405020304" pitchFamily="18" charset="0"/>
                <a:ea typeface="宋体" panose="02010600030101010101" pitchFamily="2" charset="-122"/>
              </a:rPr>
              <a:t>3</a:t>
            </a:r>
            <a:r>
              <a:rPr lang="pt-BR" altLang="zh-CN" dirty="0">
                <a:latin typeface="Times New Roman" panose="02020603050405020304" pitchFamily="18" charset="0"/>
                <a:ea typeface="宋体" panose="02010600030101010101" pitchFamily="2" charset="-122"/>
              </a:rPr>
              <a:t>·H</a:t>
            </a:r>
            <a:r>
              <a:rPr lang="pt-BR" altLang="zh-CN" baseline="-25000" dirty="0">
                <a:latin typeface="Times New Roman" panose="02020603050405020304" pitchFamily="18" charset="0"/>
                <a:ea typeface="宋体" panose="02010600030101010101" pitchFamily="2" charset="-122"/>
              </a:rPr>
              <a:t>2</a:t>
            </a:r>
            <a:r>
              <a:rPr lang="pt-BR" altLang="zh-CN" dirty="0">
                <a:latin typeface="Times New Roman" panose="02020603050405020304" pitchFamily="18" charset="0"/>
                <a:ea typeface="宋体" panose="02010600030101010101" pitchFamily="2" charset="-122"/>
              </a:rPr>
              <a:t>O</a:t>
            </a:r>
          </a:p>
          <a:p>
            <a:pPr>
              <a:buClrTx/>
              <a:buFontTx/>
            </a:pPr>
            <a:r>
              <a:rPr lang="pt-BR" altLang="zh-CN"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p>
          <a:p>
            <a:pPr>
              <a:buClrTx/>
              <a:buFontTx/>
            </a:pPr>
            <a:r>
              <a:rPr lang="en-US" altLang="zh-CN" dirty="0">
                <a:latin typeface="Times New Roman" panose="02020603050405020304" pitchFamily="18" charset="0"/>
                <a:ea typeface="宋体" panose="02010600030101010101" pitchFamily="2" charset="-122"/>
              </a:rPr>
              <a:t>                         [Ag(NH</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2H</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O </a:t>
            </a:r>
          </a:p>
          <a:p>
            <a:pPr>
              <a:spcBef>
                <a:spcPct val="50000"/>
              </a:spcBef>
              <a:buClrTx/>
              <a:buFontTx/>
            </a:pPr>
            <a:endParaRPr lang="zh-CN" altLang="en-US" dirty="0">
              <a:latin typeface="Times New Roman" panose="02020603050405020304" pitchFamily="18" charset="0"/>
              <a:ea typeface="宋体" panose="02010600030101010101" pitchFamily="2" charset="-122"/>
            </a:endParaRPr>
          </a:p>
        </p:txBody>
      </p:sp>
      <p:sp>
        <p:nvSpPr>
          <p:cNvPr id="71684" name="Rectangle 18"/>
          <p:cNvSpPr/>
          <p:nvPr/>
        </p:nvSpPr>
        <p:spPr>
          <a:xfrm>
            <a:off x="5" y="-261609"/>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aphicFrame>
        <p:nvGraphicFramePr>
          <p:cNvPr id="71685" name="Object 17"/>
          <p:cNvGraphicFramePr>
            <a:graphicFrameLocks noChangeAspect="1"/>
          </p:cNvGraphicFramePr>
          <p:nvPr/>
        </p:nvGraphicFramePr>
        <p:xfrm>
          <a:off x="1619256" y="1779588"/>
          <a:ext cx="588963" cy="431800"/>
        </p:xfrm>
        <a:graphic>
          <a:graphicData uri="http://schemas.openxmlformats.org/presentationml/2006/ole">
            <mc:AlternateContent xmlns:mc="http://schemas.openxmlformats.org/markup-compatibility/2006">
              <mc:Choice xmlns:v="urn:schemas-microsoft-com:vml" Requires="v">
                <p:oleObj r:id="rId2" imgW="250825" imgH="264160" progId="Equation.DSMT4">
                  <p:embed/>
                </p:oleObj>
              </mc:Choice>
              <mc:Fallback>
                <p:oleObj r:id="rId2" imgW="250825" imgH="264160" progId="Equation.DSMT4">
                  <p:embed/>
                  <p:pic>
                    <p:nvPicPr>
                      <p:cNvPr id="0" name="图片 3177"/>
                      <p:cNvPicPr/>
                      <p:nvPr/>
                    </p:nvPicPr>
                    <p:blipFill>
                      <a:blip r:embed="rId3"/>
                      <a:stretch>
                        <a:fillRect/>
                      </a:stretch>
                    </p:blipFill>
                    <p:spPr>
                      <a:xfrm>
                        <a:off x="1619256" y="1779588"/>
                        <a:ext cx="588963" cy="431800"/>
                      </a:xfrm>
                      <a:prstGeom prst="rect">
                        <a:avLst/>
                      </a:prstGeom>
                      <a:noFill/>
                      <a:ln w="38100">
                        <a:noFill/>
                        <a:miter/>
                      </a:ln>
                    </p:spPr>
                  </p:pic>
                </p:oleObj>
              </mc:Fallback>
            </mc:AlternateContent>
          </a:graphicData>
        </a:graphic>
      </p:graphicFrame>
      <p:sp>
        <p:nvSpPr>
          <p:cNvPr id="71686" name="Rectangle 20"/>
          <p:cNvSpPr/>
          <p:nvPr/>
        </p:nvSpPr>
        <p:spPr>
          <a:xfrm>
            <a:off x="5" y="-261609"/>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aphicFrame>
        <p:nvGraphicFramePr>
          <p:cNvPr id="71687" name="Object 19"/>
          <p:cNvGraphicFramePr>
            <a:graphicFrameLocks noChangeAspect="1"/>
          </p:cNvGraphicFramePr>
          <p:nvPr/>
        </p:nvGraphicFramePr>
        <p:xfrm>
          <a:off x="2987675" y="2301877"/>
          <a:ext cx="647700" cy="120650"/>
        </p:xfrm>
        <a:graphic>
          <a:graphicData uri="http://schemas.openxmlformats.org/presentationml/2006/ole">
            <mc:AlternateContent xmlns:mc="http://schemas.openxmlformats.org/markup-compatibility/2006">
              <mc:Choice xmlns:v="urn:schemas-microsoft-com:vml" Requires="v">
                <p:oleObj r:id="rId4" imgW="676275" imgH="171450" progId="Equation.3">
                  <p:embed/>
                </p:oleObj>
              </mc:Choice>
              <mc:Fallback>
                <p:oleObj r:id="rId4" imgW="676275" imgH="171450" progId="Equation.3">
                  <p:embed/>
                  <p:pic>
                    <p:nvPicPr>
                      <p:cNvPr id="0" name="图片 3178"/>
                      <p:cNvPicPr/>
                      <p:nvPr/>
                    </p:nvPicPr>
                    <p:blipFill>
                      <a:blip r:embed="rId5"/>
                      <a:stretch>
                        <a:fillRect/>
                      </a:stretch>
                    </p:blipFill>
                    <p:spPr>
                      <a:xfrm>
                        <a:off x="2987675" y="2301877"/>
                        <a:ext cx="647700" cy="12065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ext Box 5"/>
          <p:cNvSpPr txBox="1"/>
          <p:nvPr/>
        </p:nvSpPr>
        <p:spPr>
          <a:xfrm>
            <a:off x="468319" y="303216"/>
            <a:ext cx="3095625" cy="584775"/>
          </a:xfrm>
          <a:prstGeom prst="rect">
            <a:avLst/>
          </a:prstGeom>
          <a:noFill/>
          <a:ln w="9525">
            <a:noFill/>
          </a:ln>
        </p:spPr>
        <p:txBody>
          <a:bodyPr anchor="t" anchorCtr="0">
            <a:spAutoFit/>
          </a:bodyPr>
          <a:lstStyle/>
          <a:p>
            <a:pPr>
              <a:spcBef>
                <a:spcPct val="50000"/>
              </a:spcBef>
              <a:buClrTx/>
              <a:buFontTx/>
            </a:pPr>
            <a:r>
              <a:rPr lang="en-US" altLang="zh-CN" sz="3200" dirty="0">
                <a:latin typeface="华文新魏" pitchFamily="2" charset="-122"/>
                <a:ea typeface="华文新魏" pitchFamily="2" charset="-122"/>
              </a:rPr>
              <a:t>2. </a:t>
            </a:r>
            <a:r>
              <a:rPr lang="zh-CN" altLang="en-US" sz="3200" dirty="0">
                <a:latin typeface="华文新魏" pitchFamily="2" charset="-122"/>
                <a:ea typeface="华文新魏" pitchFamily="2" charset="-122"/>
                <a:hlinkClick r:id="rId2" action="ppaction://hlinkfile"/>
              </a:rPr>
              <a:t>沉淀的转化 </a:t>
            </a:r>
            <a:endParaRPr lang="zh-CN" altLang="en-US" sz="3200" dirty="0">
              <a:latin typeface="华文新魏" pitchFamily="2" charset="-122"/>
              <a:ea typeface="华文新魏" pitchFamily="2" charset="-122"/>
            </a:endParaRPr>
          </a:p>
        </p:txBody>
      </p:sp>
      <p:sp>
        <p:nvSpPr>
          <p:cNvPr id="72706" name="Text Box 6"/>
          <p:cNvSpPr txBox="1"/>
          <p:nvPr/>
        </p:nvSpPr>
        <p:spPr>
          <a:xfrm>
            <a:off x="395294" y="1006479"/>
            <a:ext cx="7704137" cy="1118255"/>
          </a:xfrm>
          <a:prstGeom prst="rect">
            <a:avLst/>
          </a:prstGeom>
          <a:noFill/>
          <a:ln w="9525">
            <a:noFill/>
          </a:ln>
        </p:spPr>
        <p:txBody>
          <a:bodyPr anchor="t" anchorCtr="0">
            <a:spAutoFit/>
          </a:bodyPr>
          <a:lstStyle/>
          <a:p>
            <a:pPr>
              <a:lnSpc>
                <a:spcPts val="4000"/>
              </a:lnSpc>
              <a:spcBef>
                <a:spcPct val="50000"/>
              </a:spcBef>
              <a:buClrTx/>
              <a:buFontTx/>
            </a:pPr>
            <a:r>
              <a:rPr lang="zh-CN" altLang="en-US" dirty="0">
                <a:latin typeface="Times New Roman" panose="02020603050405020304" pitchFamily="18" charset="0"/>
                <a:ea typeface="宋体" panose="02010600030101010101" pitchFamily="2" charset="-122"/>
              </a:rPr>
              <a:t>       借助于某一试剂，将一种难溶电解质向另一种难溶电解质转变的过程，称为</a:t>
            </a:r>
            <a:r>
              <a:rPr lang="zh-CN" altLang="en-US" dirty="0">
                <a:solidFill>
                  <a:srgbClr val="C00000"/>
                </a:solidFill>
                <a:latin typeface="Times New Roman" panose="02020603050405020304" pitchFamily="18" charset="0"/>
                <a:ea typeface="宋体" panose="02010600030101010101" pitchFamily="2" charset="-122"/>
              </a:rPr>
              <a:t>沉淀的转化</a:t>
            </a:r>
            <a:r>
              <a:rPr lang="zh-CN" altLang="en-US" dirty="0">
                <a:latin typeface="Times New Roman" panose="02020603050405020304" pitchFamily="18" charset="0"/>
                <a:ea typeface="宋体" panose="02010600030101010101" pitchFamily="2" charset="-122"/>
              </a:rPr>
              <a:t>。 </a:t>
            </a:r>
          </a:p>
        </p:txBody>
      </p:sp>
      <p:sp>
        <p:nvSpPr>
          <p:cNvPr id="72707" name="Text Box 8"/>
          <p:cNvSpPr txBox="1"/>
          <p:nvPr/>
        </p:nvSpPr>
        <p:spPr>
          <a:xfrm>
            <a:off x="395294" y="2733675"/>
            <a:ext cx="8137525" cy="1631216"/>
          </a:xfrm>
          <a:prstGeom prst="rect">
            <a:avLst/>
          </a:prstGeom>
          <a:noFill/>
          <a:ln w="9525">
            <a:noFill/>
          </a:ln>
        </p:spPr>
        <p:txBody>
          <a:bodyPr anchor="t" anchorCtr="0">
            <a:spAutoFit/>
          </a:bodyPr>
          <a:lstStyle/>
          <a:p>
            <a:pPr>
              <a:lnSpc>
                <a:spcPts val="4000"/>
              </a:lnSpc>
              <a:spcBef>
                <a:spcPct val="50000"/>
              </a:spcBef>
              <a:buClrTx/>
              <a:buFontTx/>
            </a:pPr>
            <a:r>
              <a:rPr lang="zh-CN" altLang="en-US" dirty="0">
                <a:latin typeface="Times New Roman" panose="02020603050405020304" pitchFamily="18" charset="0"/>
                <a:ea typeface="宋体" panose="02010600030101010101" pitchFamily="2" charset="-122"/>
              </a:rPr>
              <a:t>         一般说来，由一种难溶的电解质转化为更难溶的电解质的过程很容易实现，而由一种很难溶的电解质转化为不太难溶的电解质则比较困难。 </a:t>
            </a:r>
          </a:p>
        </p:txBody>
      </p:sp>
      <p:sp>
        <p:nvSpPr>
          <p:cNvPr id="72708" name="Rectangle 10"/>
          <p:cNvSpPr/>
          <p:nvPr/>
        </p:nvSpPr>
        <p:spPr>
          <a:xfrm>
            <a:off x="5" y="2274423"/>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72709" name="Group 11"/>
          <p:cNvGrpSpPr/>
          <p:nvPr/>
        </p:nvGrpSpPr>
        <p:grpSpPr>
          <a:xfrm>
            <a:off x="1260481" y="2073276"/>
            <a:ext cx="6696075" cy="522682"/>
            <a:chOff x="612" y="1616"/>
            <a:chExt cx="4218" cy="438"/>
          </a:xfrm>
        </p:grpSpPr>
        <p:sp>
          <p:nvSpPr>
            <p:cNvPr id="72710" name="Text Box 7"/>
            <p:cNvSpPr txBox="1"/>
            <p:nvPr/>
          </p:nvSpPr>
          <p:spPr>
            <a:xfrm>
              <a:off x="612" y="1616"/>
              <a:ext cx="4218" cy="438"/>
            </a:xfrm>
            <a:prstGeom prst="rect">
              <a:avLst/>
            </a:prstGeom>
            <a:noFill/>
            <a:ln w="9525">
              <a:noFill/>
            </a:ln>
          </p:spPr>
          <p:txBody>
            <a:bodyPr anchor="t" anchorCtr="0">
              <a:spAutoFit/>
            </a:bodyPr>
            <a:lstStyle/>
            <a:p>
              <a:pPr>
                <a:spcBef>
                  <a:spcPct val="50000"/>
                </a:spcBef>
                <a:buClrTx/>
                <a:buFontTx/>
              </a:pPr>
              <a:r>
                <a:rPr lang="zh-CN" altLang="pt-BR"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CaSO</a:t>
              </a:r>
              <a:r>
                <a:rPr lang="pt-BR" altLang="zh-CN" baseline="-25000" dirty="0">
                  <a:latin typeface="Times New Roman" panose="02020603050405020304" pitchFamily="18" charset="0"/>
                  <a:ea typeface="宋体" panose="02010600030101010101" pitchFamily="2" charset="-122"/>
                </a:rPr>
                <a:t>4</a:t>
              </a:r>
              <a:r>
                <a:rPr lang="pt-BR" altLang="zh-CN" dirty="0">
                  <a:latin typeface="Times New Roman" panose="02020603050405020304" pitchFamily="18" charset="0"/>
                  <a:ea typeface="宋体" panose="02010600030101010101" pitchFamily="2" charset="-122"/>
                </a:rPr>
                <a:t>(s)+ CO</a:t>
              </a:r>
              <a:r>
                <a:rPr lang="pt-BR" altLang="zh-CN" baseline="-25000" dirty="0">
                  <a:latin typeface="Times New Roman" panose="02020603050405020304" pitchFamily="18" charset="0"/>
                  <a:ea typeface="宋体" panose="02010600030101010101" pitchFamily="2" charset="-122"/>
                </a:rPr>
                <a:t>3</a:t>
              </a:r>
              <a:r>
                <a:rPr lang="pt-BR" altLang="zh-CN" baseline="30000" dirty="0">
                  <a:latin typeface="Times New Roman" panose="02020603050405020304" pitchFamily="18" charset="0"/>
                  <a:ea typeface="宋体" panose="02010600030101010101" pitchFamily="2" charset="-122"/>
                </a:rPr>
                <a:t>2-</a:t>
              </a:r>
              <a:r>
                <a:rPr lang="pt-BR" altLang="zh-CN" dirty="0">
                  <a:latin typeface="Times New Roman" panose="02020603050405020304" pitchFamily="18" charset="0"/>
                  <a:ea typeface="宋体" panose="02010600030101010101" pitchFamily="2" charset="-122"/>
                </a:rPr>
                <a:t>           CaCO</a:t>
              </a:r>
              <a:r>
                <a:rPr lang="pt-BR" altLang="zh-CN" baseline="-25000" dirty="0">
                  <a:latin typeface="Times New Roman" panose="02020603050405020304" pitchFamily="18" charset="0"/>
                  <a:ea typeface="宋体" panose="02010600030101010101" pitchFamily="2" charset="-122"/>
                </a:rPr>
                <a:t>3</a:t>
              </a:r>
              <a:r>
                <a:rPr lang="pt-BR" altLang="zh-CN" dirty="0">
                  <a:latin typeface="Times New Roman" panose="02020603050405020304" pitchFamily="18" charset="0"/>
                  <a:ea typeface="宋体" panose="02010600030101010101" pitchFamily="2" charset="-122"/>
                </a:rPr>
                <a:t>(s)+ SO</a:t>
              </a:r>
              <a:r>
                <a:rPr lang="pt-BR" altLang="zh-CN" baseline="-25000" dirty="0">
                  <a:latin typeface="Times New Roman" panose="02020603050405020304" pitchFamily="18" charset="0"/>
                  <a:ea typeface="宋体" panose="02010600030101010101" pitchFamily="2" charset="-122"/>
                </a:rPr>
                <a:t>4</a:t>
              </a:r>
              <a:r>
                <a:rPr lang="pt-BR" altLang="zh-CN" baseline="30000" dirty="0">
                  <a:latin typeface="Times New Roman" panose="02020603050405020304" pitchFamily="18" charset="0"/>
                  <a:ea typeface="宋体" panose="02010600030101010101" pitchFamily="2" charset="-122"/>
                </a:rPr>
                <a:t>2-</a:t>
              </a:r>
              <a:endParaRPr lang="zh-CN" altLang="en-US" baseline="30000" dirty="0">
                <a:latin typeface="Times New Roman" panose="02020603050405020304" pitchFamily="18" charset="0"/>
                <a:ea typeface="宋体" panose="02010600030101010101" pitchFamily="2" charset="-122"/>
              </a:endParaRPr>
            </a:p>
          </p:txBody>
        </p:sp>
        <p:graphicFrame>
          <p:nvGraphicFramePr>
            <p:cNvPr id="72711" name="Object 9"/>
            <p:cNvGraphicFramePr>
              <a:graphicFrameLocks noChangeAspect="1"/>
            </p:cNvGraphicFramePr>
            <p:nvPr/>
          </p:nvGraphicFramePr>
          <p:xfrm>
            <a:off x="2426" y="1752"/>
            <a:ext cx="499" cy="106"/>
          </p:xfrm>
          <a:graphic>
            <a:graphicData uri="http://schemas.openxmlformats.org/presentationml/2006/ole">
              <mc:AlternateContent xmlns:mc="http://schemas.openxmlformats.org/markup-compatibility/2006">
                <mc:Choice xmlns:v="urn:schemas-microsoft-com:vml" Requires="v">
                  <p:oleObj r:id="rId3" imgW="676275" imgH="171450" progId="Equation.3">
                    <p:embed/>
                  </p:oleObj>
                </mc:Choice>
                <mc:Fallback>
                  <p:oleObj r:id="rId3" imgW="676275" imgH="171450" progId="Equation.3">
                    <p:embed/>
                    <p:pic>
                      <p:nvPicPr>
                        <p:cNvPr id="0" name="图片 3179"/>
                        <p:cNvPicPr/>
                        <p:nvPr/>
                      </p:nvPicPr>
                      <p:blipFill>
                        <a:blip r:embed="rId4"/>
                        <a:stretch>
                          <a:fillRect/>
                        </a:stretch>
                      </p:blipFill>
                      <p:spPr>
                        <a:xfrm>
                          <a:off x="2426" y="1752"/>
                          <a:ext cx="499" cy="106"/>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9"/>
          <p:cNvSpPr txBox="1"/>
          <p:nvPr/>
        </p:nvSpPr>
        <p:spPr>
          <a:xfrm>
            <a:off x="0" y="712791"/>
            <a:ext cx="5975350" cy="584775"/>
          </a:xfrm>
          <a:prstGeom prst="rect">
            <a:avLst/>
          </a:prstGeom>
          <a:solidFill>
            <a:srgbClr val="FFFF00"/>
          </a:solidFill>
          <a:ln w="9525">
            <a:noFill/>
          </a:ln>
        </p:spPr>
        <p:txBody>
          <a:bodyPr anchor="t" anchorCtr="0">
            <a:spAutoFit/>
          </a:bodyPr>
          <a:lstStyle/>
          <a:p>
            <a:pPr algn="just">
              <a:spcBef>
                <a:spcPct val="50000"/>
              </a:spcBef>
              <a:buClrTx/>
              <a:buFontTx/>
            </a:pPr>
            <a:r>
              <a:rPr lang="en-US" altLang="zh-CN" sz="3200" dirty="0">
                <a:latin typeface="华文新魏" pitchFamily="2" charset="-122"/>
                <a:ea typeface="华文新魏" pitchFamily="2" charset="-122"/>
              </a:rPr>
              <a:t>3.5.1 </a:t>
            </a:r>
            <a:r>
              <a:rPr lang="zh-CN" altLang="en-US" sz="3200" dirty="0">
                <a:latin typeface="华文新魏" pitchFamily="2" charset="-122"/>
                <a:ea typeface="华文新魏" pitchFamily="2" charset="-122"/>
              </a:rPr>
              <a:t>配位化合物的组成和命名</a:t>
            </a:r>
          </a:p>
        </p:txBody>
      </p:sp>
      <p:sp>
        <p:nvSpPr>
          <p:cNvPr id="70659" name="Text Box 10"/>
          <p:cNvSpPr txBox="1"/>
          <p:nvPr/>
        </p:nvSpPr>
        <p:spPr>
          <a:xfrm>
            <a:off x="107315" y="1203646"/>
            <a:ext cx="3671888" cy="584775"/>
          </a:xfrm>
          <a:prstGeom prst="rect">
            <a:avLst/>
          </a:prstGeom>
          <a:noFill/>
          <a:ln w="9525">
            <a:noFill/>
          </a:ln>
        </p:spPr>
        <p:txBody>
          <a:bodyPr anchor="t" anchorCtr="0">
            <a:spAutoFit/>
          </a:bodyPr>
          <a:lstStyle/>
          <a:p>
            <a:pPr>
              <a:spcBef>
                <a:spcPct val="50000"/>
              </a:spcBef>
              <a:buClrTx/>
              <a:buFontTx/>
            </a:pPr>
            <a:r>
              <a:rPr lang="en-US" altLang="zh-CN" sz="3200" dirty="0">
                <a:latin typeface="华文新魏" pitchFamily="2" charset="-122"/>
                <a:ea typeface="华文新魏" pitchFamily="2" charset="-122"/>
              </a:rPr>
              <a:t>1.</a:t>
            </a:r>
            <a:r>
              <a:rPr lang="zh-CN" altLang="en-US" sz="3200" dirty="0">
                <a:latin typeface="华文新魏" pitchFamily="2" charset="-122"/>
                <a:ea typeface="华文新魏" pitchFamily="2" charset="-122"/>
              </a:rPr>
              <a:t>配合物的组成</a:t>
            </a:r>
            <a:r>
              <a:rPr lang="zh-CN" altLang="en-US" sz="3200" b="0" dirty="0">
                <a:latin typeface="华文新魏" pitchFamily="2" charset="-122"/>
                <a:ea typeface="华文新魏" pitchFamily="2" charset="-122"/>
              </a:rPr>
              <a:t> </a:t>
            </a:r>
          </a:p>
        </p:txBody>
      </p:sp>
      <p:sp>
        <p:nvSpPr>
          <p:cNvPr id="73731" name="Text Box 44"/>
          <p:cNvSpPr txBox="1"/>
          <p:nvPr/>
        </p:nvSpPr>
        <p:spPr>
          <a:xfrm>
            <a:off x="1114425" y="2571750"/>
            <a:ext cx="1081088"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70661" name="Text Box 45"/>
          <p:cNvSpPr txBox="1"/>
          <p:nvPr/>
        </p:nvSpPr>
        <p:spPr>
          <a:xfrm>
            <a:off x="3922719" y="2408239"/>
            <a:ext cx="4752975" cy="923330"/>
          </a:xfrm>
          <a:prstGeom prst="rect">
            <a:avLst/>
          </a:prstGeom>
          <a:noFill/>
          <a:ln w="9525">
            <a:noFill/>
          </a:ln>
        </p:spPr>
        <p:txBody>
          <a:bodyPr anchor="t" anchorCtr="0">
            <a:spAutoFit/>
          </a:bodyPr>
          <a:lstStyle/>
          <a:p>
            <a:pPr>
              <a:spcBef>
                <a:spcPct val="50000"/>
              </a:spcBef>
              <a:buClrTx/>
              <a:buFontTx/>
            </a:pPr>
            <a:r>
              <a:rPr lang="en-US" altLang="zh-CN" sz="5400" dirty="0">
                <a:latin typeface="Times New Roman" panose="02020603050405020304" pitchFamily="18" charset="0"/>
                <a:ea typeface="ˎ̥"/>
              </a:rPr>
              <a:t>[</a:t>
            </a:r>
            <a:r>
              <a:rPr lang="en-US" altLang="zh-CN" sz="5400" dirty="0">
                <a:solidFill>
                  <a:srgbClr val="3333FF"/>
                </a:solidFill>
                <a:latin typeface="Times New Roman" panose="02020603050405020304" pitchFamily="18" charset="0"/>
                <a:ea typeface="ˎ̥"/>
              </a:rPr>
              <a:t>Cu</a:t>
            </a:r>
            <a:r>
              <a:rPr lang="en-US" altLang="zh-CN" sz="5400" dirty="0">
                <a:latin typeface="Times New Roman" panose="02020603050405020304" pitchFamily="18" charset="0"/>
                <a:ea typeface="ˎ̥"/>
              </a:rPr>
              <a:t>(</a:t>
            </a:r>
            <a:r>
              <a:rPr lang="en-US" altLang="zh-CN" sz="5400" dirty="0">
                <a:solidFill>
                  <a:srgbClr val="FF3300"/>
                </a:solidFill>
                <a:latin typeface="Times New Roman" panose="02020603050405020304" pitchFamily="18" charset="0"/>
                <a:ea typeface="ˎ̥"/>
              </a:rPr>
              <a:t>NH</a:t>
            </a:r>
            <a:r>
              <a:rPr lang="en-US" altLang="zh-CN" sz="5400" baseline="-25000" dirty="0">
                <a:solidFill>
                  <a:srgbClr val="FF3300"/>
                </a:solidFill>
                <a:latin typeface="Times New Roman" panose="02020603050405020304" pitchFamily="18" charset="0"/>
                <a:ea typeface="ˎ̥"/>
              </a:rPr>
              <a:t>3</a:t>
            </a:r>
            <a:r>
              <a:rPr lang="en-US" altLang="zh-CN" sz="5400" dirty="0">
                <a:latin typeface="Times New Roman" panose="02020603050405020304" pitchFamily="18" charset="0"/>
                <a:ea typeface="ˎ̥"/>
              </a:rPr>
              <a:t>)</a:t>
            </a:r>
            <a:r>
              <a:rPr lang="en-US" altLang="zh-CN" sz="5400" baseline="-25000" dirty="0">
                <a:solidFill>
                  <a:srgbClr val="9900CC"/>
                </a:solidFill>
                <a:latin typeface="Times New Roman" panose="02020603050405020304" pitchFamily="18" charset="0"/>
                <a:ea typeface="ˎ̥"/>
              </a:rPr>
              <a:t>4</a:t>
            </a:r>
            <a:r>
              <a:rPr lang="en-US" altLang="zh-CN" sz="5400" dirty="0">
                <a:latin typeface="Times New Roman" panose="02020603050405020304" pitchFamily="18" charset="0"/>
                <a:ea typeface="ˎ̥"/>
              </a:rPr>
              <a:t>]</a:t>
            </a:r>
            <a:r>
              <a:rPr lang="en-US" altLang="zh-CN" sz="5400" dirty="0">
                <a:solidFill>
                  <a:srgbClr val="009900"/>
                </a:solidFill>
                <a:latin typeface="Times New Roman" panose="02020603050405020304" pitchFamily="18" charset="0"/>
                <a:ea typeface="ˎ̥"/>
              </a:rPr>
              <a:t>SO</a:t>
            </a:r>
            <a:r>
              <a:rPr lang="en-US" altLang="zh-CN" sz="5400" baseline="-25000" dirty="0">
                <a:solidFill>
                  <a:srgbClr val="009900"/>
                </a:solidFill>
                <a:latin typeface="Times New Roman" panose="02020603050405020304" pitchFamily="18" charset="0"/>
                <a:ea typeface="ˎ̥"/>
              </a:rPr>
              <a:t>4</a:t>
            </a:r>
            <a:endParaRPr lang="en-US" altLang="zh-CN" sz="1800" b="0" dirty="0">
              <a:latin typeface="Arial" panose="020B0604020202020204" pitchFamily="34" charset="0"/>
              <a:ea typeface="宋体" panose="02010600030101010101" pitchFamily="2" charset="-122"/>
            </a:endParaRPr>
          </a:p>
        </p:txBody>
      </p:sp>
      <p:grpSp>
        <p:nvGrpSpPr>
          <p:cNvPr id="2" name="Group 46"/>
          <p:cNvGrpSpPr/>
          <p:nvPr/>
        </p:nvGrpSpPr>
        <p:grpSpPr>
          <a:xfrm>
            <a:off x="250825" y="1635763"/>
            <a:ext cx="7278688" cy="930275"/>
            <a:chOff x="68" y="940"/>
            <a:chExt cx="4585" cy="781"/>
          </a:xfrm>
        </p:grpSpPr>
        <p:sp>
          <p:nvSpPr>
            <p:cNvPr id="73734" name="Text Box 47"/>
            <p:cNvSpPr txBox="1"/>
            <p:nvPr/>
          </p:nvSpPr>
          <p:spPr>
            <a:xfrm>
              <a:off x="68" y="940"/>
              <a:ext cx="4083" cy="543"/>
            </a:xfrm>
            <a:prstGeom prst="rect">
              <a:avLst/>
            </a:prstGeom>
            <a:noFill/>
            <a:ln w="9525">
              <a:noFill/>
            </a:ln>
          </p:spPr>
          <p:txBody>
            <a:bodyPr anchor="t" anchorCtr="0">
              <a:spAutoFit/>
            </a:bodyPr>
            <a:lstStyle/>
            <a:p>
              <a:pPr>
                <a:spcBef>
                  <a:spcPct val="50000"/>
                </a:spcBef>
                <a:buClrTx/>
                <a:buFontTx/>
              </a:pPr>
              <a:r>
                <a:rPr lang="en-US" altLang="zh-CN" sz="3600" dirty="0">
                  <a:latin typeface="Times New Roman" panose="02020603050405020304" pitchFamily="18" charset="0"/>
                  <a:ea typeface="幼圆" pitchFamily="49" charset="-122"/>
                </a:rPr>
                <a:t>([Cu(NH</a:t>
              </a:r>
              <a:r>
                <a:rPr lang="en-US" altLang="zh-CN" sz="3600" baseline="-25000" dirty="0">
                  <a:latin typeface="Times New Roman" panose="02020603050405020304" pitchFamily="18" charset="0"/>
                  <a:ea typeface="幼圆" pitchFamily="49" charset="-122"/>
                </a:rPr>
                <a:t>3</a:t>
              </a:r>
              <a:r>
                <a:rPr lang="en-US" altLang="zh-CN" sz="3600" dirty="0">
                  <a:latin typeface="Times New Roman" panose="02020603050405020304" pitchFamily="18" charset="0"/>
                  <a:ea typeface="幼圆" pitchFamily="49" charset="-122"/>
                </a:rPr>
                <a:t>)</a:t>
              </a:r>
              <a:r>
                <a:rPr lang="en-US" altLang="zh-CN" sz="3600" baseline="-25000" dirty="0">
                  <a:latin typeface="Times New Roman" panose="02020603050405020304" pitchFamily="18" charset="0"/>
                  <a:ea typeface="幼圆" pitchFamily="49" charset="-122"/>
                </a:rPr>
                <a:t>4</a:t>
              </a:r>
              <a:r>
                <a:rPr lang="en-US" altLang="zh-CN" sz="3600" dirty="0">
                  <a:latin typeface="Times New Roman" panose="02020603050405020304" pitchFamily="18" charset="0"/>
                  <a:ea typeface="幼圆" pitchFamily="49" charset="-122"/>
                </a:rPr>
                <a:t>]</a:t>
              </a:r>
              <a:r>
                <a:rPr lang="en-US" altLang="zh-CN" sz="3600" baseline="30000" dirty="0">
                  <a:latin typeface="Times New Roman" panose="02020603050405020304" pitchFamily="18" charset="0"/>
                  <a:ea typeface="幼圆" pitchFamily="49" charset="-122"/>
                </a:rPr>
                <a:t>2+</a:t>
              </a:r>
              <a:r>
                <a:rPr lang="en-US" altLang="zh-CN" sz="3600" dirty="0">
                  <a:latin typeface="Times New Roman" panose="02020603050405020304" pitchFamily="18" charset="0"/>
                  <a:ea typeface="幼圆" pitchFamily="49" charset="-122"/>
                </a:rPr>
                <a:t>——</a:t>
              </a:r>
              <a:r>
                <a:rPr lang="zh-CN" altLang="en-US" sz="3600" dirty="0">
                  <a:latin typeface="幼圆" pitchFamily="49" charset="-122"/>
                  <a:ea typeface="幼圆" pitchFamily="49" charset="-122"/>
                </a:rPr>
                <a:t>配离子</a:t>
              </a:r>
              <a:r>
                <a:rPr lang="en-US" altLang="zh-CN" sz="3600" dirty="0">
                  <a:latin typeface="幼圆" pitchFamily="49" charset="-122"/>
                  <a:ea typeface="幼圆" pitchFamily="49" charset="-122"/>
                </a:rPr>
                <a:t>)</a:t>
              </a:r>
              <a:r>
                <a:rPr lang="zh-CN" altLang="en-US" sz="3600" dirty="0">
                  <a:latin typeface="幼圆" pitchFamily="49" charset="-122"/>
                  <a:ea typeface="幼圆" pitchFamily="49" charset="-122"/>
                </a:rPr>
                <a:t>内界</a:t>
              </a:r>
              <a:endParaRPr lang="zh-CN" altLang="en-US" sz="1800" b="0" dirty="0">
                <a:latin typeface="Arial" panose="020B0604020202020204" pitchFamily="34" charset="0"/>
                <a:ea typeface="宋体" panose="02010600030101010101" pitchFamily="2" charset="-122"/>
              </a:endParaRPr>
            </a:p>
          </p:txBody>
        </p:sp>
        <p:sp>
          <p:nvSpPr>
            <p:cNvPr id="73735" name="Line 48"/>
            <p:cNvSpPr/>
            <p:nvPr/>
          </p:nvSpPr>
          <p:spPr>
            <a:xfrm>
              <a:off x="2757" y="1721"/>
              <a:ext cx="1896" cy="0"/>
            </a:xfrm>
            <a:prstGeom prst="line">
              <a:avLst/>
            </a:prstGeom>
            <a:ln w="38100" cap="flat" cmpd="sng">
              <a:solidFill>
                <a:schemeClr val="tx1"/>
              </a:solidFill>
              <a:prstDash val="solid"/>
              <a:round/>
              <a:headEnd type="triangle" w="med" len="med"/>
              <a:tailEnd type="triangle" w="med" len="med"/>
            </a:ln>
          </p:spPr>
        </p:sp>
        <p:sp>
          <p:nvSpPr>
            <p:cNvPr id="73736" name="Line 49"/>
            <p:cNvSpPr/>
            <p:nvPr/>
          </p:nvSpPr>
          <p:spPr>
            <a:xfrm flipV="1">
              <a:off x="3705" y="1359"/>
              <a:ext cx="0" cy="362"/>
            </a:xfrm>
            <a:prstGeom prst="line">
              <a:avLst/>
            </a:prstGeom>
            <a:ln w="9525" cap="flat" cmpd="sng">
              <a:solidFill>
                <a:schemeClr val="tx1"/>
              </a:solidFill>
              <a:prstDash val="solid"/>
              <a:round/>
              <a:headEnd type="none" w="med" len="med"/>
              <a:tailEnd type="triangle" w="med" len="med"/>
            </a:ln>
          </p:spPr>
        </p:sp>
      </p:grpSp>
      <p:grpSp>
        <p:nvGrpSpPr>
          <p:cNvPr id="3" name="Group 50"/>
          <p:cNvGrpSpPr/>
          <p:nvPr/>
        </p:nvGrpSpPr>
        <p:grpSpPr>
          <a:xfrm>
            <a:off x="6657975" y="3155950"/>
            <a:ext cx="649288" cy="1817688"/>
            <a:chOff x="4376" y="2251"/>
            <a:chExt cx="409" cy="1526"/>
          </a:xfrm>
        </p:grpSpPr>
        <p:sp>
          <p:nvSpPr>
            <p:cNvPr id="73738" name="Line 51"/>
            <p:cNvSpPr/>
            <p:nvPr/>
          </p:nvSpPr>
          <p:spPr>
            <a:xfrm>
              <a:off x="4558" y="2251"/>
              <a:ext cx="0" cy="408"/>
            </a:xfrm>
            <a:prstGeom prst="line">
              <a:avLst/>
            </a:prstGeom>
            <a:ln w="9525" cap="flat" cmpd="sng">
              <a:solidFill>
                <a:srgbClr val="9900CC"/>
              </a:solidFill>
              <a:prstDash val="solid"/>
              <a:round/>
              <a:headEnd type="none" w="med" len="med"/>
              <a:tailEnd type="triangle" w="med" len="med"/>
            </a:ln>
          </p:spPr>
        </p:sp>
        <p:sp>
          <p:nvSpPr>
            <p:cNvPr id="73739" name="Text Box 52"/>
            <p:cNvSpPr txBox="1"/>
            <p:nvPr/>
          </p:nvSpPr>
          <p:spPr>
            <a:xfrm>
              <a:off x="4376" y="2614"/>
              <a:ext cx="409" cy="1163"/>
            </a:xfrm>
            <a:prstGeom prst="rect">
              <a:avLst/>
            </a:prstGeom>
            <a:noFill/>
            <a:ln w="9525">
              <a:noFill/>
            </a:ln>
          </p:spPr>
          <p:txBody>
            <a:bodyPr anchor="t" anchorCtr="0">
              <a:spAutoFit/>
            </a:bodyPr>
            <a:lstStyle/>
            <a:p>
              <a:pPr>
                <a:spcBef>
                  <a:spcPct val="50000"/>
                </a:spcBef>
                <a:buClrTx/>
                <a:buFontTx/>
              </a:pPr>
              <a:r>
                <a:rPr lang="zh-CN" altLang="en-US" dirty="0">
                  <a:solidFill>
                    <a:srgbClr val="9900CC"/>
                  </a:solidFill>
                  <a:latin typeface="幼圆" pitchFamily="49" charset="-122"/>
                  <a:ea typeface="幼圆" pitchFamily="49" charset="-122"/>
                </a:rPr>
                <a:t>配位数</a:t>
              </a:r>
              <a:endParaRPr lang="zh-CN" altLang="en-US" sz="1400" b="0" dirty="0">
                <a:latin typeface="Arial" panose="020B0604020202020204" pitchFamily="34" charset="0"/>
                <a:ea typeface="宋体" panose="02010600030101010101" pitchFamily="2" charset="-122"/>
              </a:endParaRPr>
            </a:p>
          </p:txBody>
        </p:sp>
      </p:grpSp>
      <p:grpSp>
        <p:nvGrpSpPr>
          <p:cNvPr id="4" name="Group 53"/>
          <p:cNvGrpSpPr/>
          <p:nvPr/>
        </p:nvGrpSpPr>
        <p:grpSpPr>
          <a:xfrm>
            <a:off x="5938838" y="3135313"/>
            <a:ext cx="649287" cy="1386284"/>
            <a:chOff x="3651" y="2251"/>
            <a:chExt cx="409" cy="1163"/>
          </a:xfrm>
        </p:grpSpPr>
        <p:sp>
          <p:nvSpPr>
            <p:cNvPr id="73741" name="Line 54"/>
            <p:cNvSpPr/>
            <p:nvPr/>
          </p:nvSpPr>
          <p:spPr>
            <a:xfrm>
              <a:off x="3878" y="2251"/>
              <a:ext cx="0" cy="408"/>
            </a:xfrm>
            <a:prstGeom prst="line">
              <a:avLst/>
            </a:prstGeom>
            <a:ln w="9525" cap="flat" cmpd="sng">
              <a:solidFill>
                <a:srgbClr val="FF3300"/>
              </a:solidFill>
              <a:prstDash val="solid"/>
              <a:round/>
              <a:headEnd type="none" w="med" len="med"/>
              <a:tailEnd type="triangle" w="med" len="med"/>
            </a:ln>
          </p:spPr>
        </p:sp>
        <p:sp>
          <p:nvSpPr>
            <p:cNvPr id="73742" name="Text Box 55"/>
            <p:cNvSpPr txBox="1"/>
            <p:nvPr/>
          </p:nvSpPr>
          <p:spPr>
            <a:xfrm>
              <a:off x="3651" y="2614"/>
              <a:ext cx="409" cy="800"/>
            </a:xfrm>
            <a:prstGeom prst="rect">
              <a:avLst/>
            </a:prstGeom>
            <a:noFill/>
            <a:ln w="9525">
              <a:noFill/>
            </a:ln>
          </p:spPr>
          <p:txBody>
            <a:bodyPr anchor="t" anchorCtr="0">
              <a:spAutoFit/>
            </a:bodyPr>
            <a:lstStyle/>
            <a:p>
              <a:pPr>
                <a:spcBef>
                  <a:spcPct val="50000"/>
                </a:spcBef>
                <a:buClrTx/>
                <a:buFontTx/>
              </a:pPr>
              <a:r>
                <a:rPr lang="zh-CN" altLang="en-US" dirty="0">
                  <a:solidFill>
                    <a:srgbClr val="FF3300"/>
                  </a:solidFill>
                  <a:latin typeface="幼圆" pitchFamily="49" charset="-122"/>
                  <a:ea typeface="幼圆" pitchFamily="49" charset="-122"/>
                </a:rPr>
                <a:t>配体</a:t>
              </a:r>
              <a:endParaRPr lang="zh-CN" altLang="en-US" sz="1400" b="0" dirty="0">
                <a:latin typeface="Arial" panose="020B0604020202020204" pitchFamily="34" charset="0"/>
                <a:ea typeface="宋体" panose="02010600030101010101" pitchFamily="2" charset="-122"/>
              </a:endParaRPr>
            </a:p>
          </p:txBody>
        </p:sp>
      </p:grpSp>
      <p:grpSp>
        <p:nvGrpSpPr>
          <p:cNvPr id="5" name="Group 56"/>
          <p:cNvGrpSpPr/>
          <p:nvPr/>
        </p:nvGrpSpPr>
        <p:grpSpPr>
          <a:xfrm>
            <a:off x="3481388" y="3048005"/>
            <a:ext cx="2089150" cy="1940323"/>
            <a:chOff x="2471" y="2160"/>
            <a:chExt cx="1316" cy="1629"/>
          </a:xfrm>
        </p:grpSpPr>
        <p:sp>
          <p:nvSpPr>
            <p:cNvPr id="73744" name="Line 57"/>
            <p:cNvSpPr/>
            <p:nvPr/>
          </p:nvSpPr>
          <p:spPr>
            <a:xfrm>
              <a:off x="3107" y="2160"/>
              <a:ext cx="0" cy="408"/>
            </a:xfrm>
            <a:prstGeom prst="line">
              <a:avLst/>
            </a:prstGeom>
            <a:ln w="9525" cap="flat" cmpd="sng">
              <a:solidFill>
                <a:srgbClr val="3333FF"/>
              </a:solidFill>
              <a:prstDash val="solid"/>
              <a:round/>
              <a:headEnd type="none" w="med" len="med"/>
              <a:tailEnd type="triangle" w="med" len="med"/>
            </a:ln>
          </p:spPr>
        </p:sp>
        <p:sp>
          <p:nvSpPr>
            <p:cNvPr id="73745" name="Text Box 58"/>
            <p:cNvSpPr txBox="1"/>
            <p:nvPr/>
          </p:nvSpPr>
          <p:spPr>
            <a:xfrm>
              <a:off x="2471" y="2523"/>
              <a:ext cx="1316" cy="1266"/>
            </a:xfrm>
            <a:prstGeom prst="rect">
              <a:avLst/>
            </a:prstGeom>
            <a:noFill/>
            <a:ln w="9525">
              <a:noFill/>
            </a:ln>
          </p:spPr>
          <p:txBody>
            <a:bodyPr anchor="t" anchorCtr="0">
              <a:spAutoFit/>
            </a:bodyPr>
            <a:lstStyle/>
            <a:p>
              <a:pPr>
                <a:spcBef>
                  <a:spcPct val="50000"/>
                </a:spcBef>
                <a:buClrTx/>
                <a:buFontTx/>
              </a:pPr>
              <a:r>
                <a:rPr lang="zh-CN" altLang="en-US" sz="3600" dirty="0">
                  <a:solidFill>
                    <a:srgbClr val="3333FF"/>
                  </a:solidFill>
                  <a:latin typeface="幼圆" pitchFamily="49" charset="-122"/>
                  <a:ea typeface="幼圆" pitchFamily="49" charset="-122"/>
                </a:rPr>
                <a:t>  </a:t>
              </a:r>
              <a:r>
                <a:rPr lang="zh-CN" altLang="en-US" dirty="0">
                  <a:solidFill>
                    <a:srgbClr val="3333FF"/>
                  </a:solidFill>
                  <a:latin typeface="幼圆" pitchFamily="49" charset="-122"/>
                  <a:ea typeface="幼圆" pitchFamily="49" charset="-122"/>
                </a:rPr>
                <a:t>中心 </a:t>
              </a:r>
              <a:endParaRPr lang="zh-CN" altLang="en-US" b="0" dirty="0">
                <a:latin typeface="Arial" panose="020B0604020202020204" pitchFamily="34" charset="0"/>
                <a:ea typeface="ˎ̥"/>
              </a:endParaRPr>
            </a:p>
            <a:p>
              <a:pPr>
                <a:lnSpc>
                  <a:spcPct val="50000"/>
                </a:lnSpc>
                <a:spcBef>
                  <a:spcPct val="50000"/>
                </a:spcBef>
                <a:buClrTx/>
                <a:buFontTx/>
              </a:pPr>
              <a:r>
                <a:rPr lang="zh-CN" altLang="en-US" dirty="0">
                  <a:solidFill>
                    <a:srgbClr val="3333FF"/>
                  </a:solidFill>
                  <a:latin typeface="幼圆" pitchFamily="49" charset="-122"/>
                  <a:ea typeface="幼圆" pitchFamily="49" charset="-122"/>
                </a:rPr>
                <a:t>  离子 </a:t>
              </a:r>
              <a:endParaRPr lang="zh-CN" altLang="en-US" b="0" dirty="0">
                <a:latin typeface="Arial" panose="020B0604020202020204" pitchFamily="34" charset="0"/>
                <a:ea typeface="ˎ̥"/>
              </a:endParaRPr>
            </a:p>
            <a:p>
              <a:pPr>
                <a:lnSpc>
                  <a:spcPct val="50000"/>
                </a:lnSpc>
                <a:spcBef>
                  <a:spcPct val="50000"/>
                </a:spcBef>
                <a:buClrTx/>
                <a:buFontTx/>
              </a:pPr>
              <a:r>
                <a:rPr lang="en-US" altLang="zh-CN" dirty="0">
                  <a:solidFill>
                    <a:srgbClr val="3333FF"/>
                  </a:solidFill>
                  <a:latin typeface="幼圆" pitchFamily="49" charset="-122"/>
                  <a:ea typeface="幼圆" pitchFamily="49" charset="-122"/>
                </a:rPr>
                <a:t>(</a:t>
              </a:r>
              <a:r>
                <a:rPr lang="zh-CN" altLang="en-US" dirty="0">
                  <a:solidFill>
                    <a:srgbClr val="3333FF"/>
                  </a:solidFill>
                  <a:latin typeface="幼圆" pitchFamily="49" charset="-122"/>
                  <a:ea typeface="幼圆" pitchFamily="49" charset="-122"/>
                </a:rPr>
                <a:t>形成体</a:t>
              </a:r>
              <a:r>
                <a:rPr lang="en-US" altLang="zh-CN" dirty="0">
                  <a:solidFill>
                    <a:srgbClr val="3333FF"/>
                  </a:solidFill>
                  <a:latin typeface="幼圆" pitchFamily="49" charset="-122"/>
                  <a:ea typeface="幼圆" pitchFamily="49" charset="-122"/>
                </a:rPr>
                <a:t>)</a:t>
              </a:r>
              <a:endParaRPr lang="en-US" altLang="zh-CN" b="0" dirty="0">
                <a:latin typeface="Arial" panose="020B0604020202020204" pitchFamily="34" charset="0"/>
                <a:ea typeface="宋体" panose="02010600030101010101" pitchFamily="2" charset="-122"/>
              </a:endParaRPr>
            </a:p>
          </p:txBody>
        </p:sp>
      </p:grpSp>
      <p:sp>
        <p:nvSpPr>
          <p:cNvPr id="59451" name="Text Box 59"/>
          <p:cNvSpPr txBox="1"/>
          <p:nvPr/>
        </p:nvSpPr>
        <p:spPr>
          <a:xfrm>
            <a:off x="4140200" y="2408239"/>
            <a:ext cx="1150938" cy="923330"/>
          </a:xfrm>
          <a:prstGeom prst="rect">
            <a:avLst/>
          </a:prstGeom>
          <a:noFill/>
          <a:ln w="9525">
            <a:noFill/>
          </a:ln>
        </p:spPr>
        <p:txBody>
          <a:bodyPr anchor="t" anchorCtr="0">
            <a:spAutoFit/>
          </a:bodyPr>
          <a:lstStyle/>
          <a:p>
            <a:pPr>
              <a:spcBef>
                <a:spcPct val="50000"/>
              </a:spcBef>
              <a:buClrTx/>
              <a:buFontTx/>
            </a:pPr>
            <a:r>
              <a:rPr lang="en-US" altLang="zh-CN" sz="5400" dirty="0">
                <a:solidFill>
                  <a:srgbClr val="3333FF"/>
                </a:solidFill>
                <a:latin typeface="Times New Roman" panose="02020603050405020304" pitchFamily="18" charset="0"/>
                <a:ea typeface="ˎ̥"/>
              </a:rPr>
              <a:t>Cu</a:t>
            </a:r>
            <a:endParaRPr lang="en-US" altLang="zh-CN" sz="1800" b="0" dirty="0">
              <a:latin typeface="Arial" panose="020B0604020202020204" pitchFamily="34" charset="0"/>
              <a:ea typeface="宋体" panose="02010600030101010101" pitchFamily="2" charset="-122"/>
            </a:endParaRPr>
          </a:p>
        </p:txBody>
      </p:sp>
      <p:sp>
        <p:nvSpPr>
          <p:cNvPr id="59452" name="Text Box 60"/>
          <p:cNvSpPr txBox="1"/>
          <p:nvPr/>
        </p:nvSpPr>
        <p:spPr>
          <a:xfrm>
            <a:off x="5292725" y="2408239"/>
            <a:ext cx="1511300" cy="923330"/>
          </a:xfrm>
          <a:prstGeom prst="rect">
            <a:avLst/>
          </a:prstGeom>
          <a:noFill/>
          <a:ln w="9525">
            <a:noFill/>
          </a:ln>
        </p:spPr>
        <p:txBody>
          <a:bodyPr anchor="t" anchorCtr="0">
            <a:spAutoFit/>
          </a:bodyPr>
          <a:lstStyle/>
          <a:p>
            <a:pPr>
              <a:spcBef>
                <a:spcPct val="50000"/>
              </a:spcBef>
              <a:buClrTx/>
              <a:buFontTx/>
            </a:pPr>
            <a:r>
              <a:rPr lang="en-US" altLang="zh-CN" sz="5400" dirty="0">
                <a:solidFill>
                  <a:srgbClr val="FF3300"/>
                </a:solidFill>
                <a:latin typeface="Times New Roman" panose="02020603050405020304" pitchFamily="18" charset="0"/>
                <a:ea typeface="ˎ̥"/>
              </a:rPr>
              <a:t>NH</a:t>
            </a:r>
            <a:r>
              <a:rPr lang="en-US" altLang="zh-CN" sz="5400" baseline="-25000" dirty="0">
                <a:solidFill>
                  <a:srgbClr val="FF3300"/>
                </a:solidFill>
                <a:latin typeface="Times New Roman" panose="02020603050405020304" pitchFamily="18" charset="0"/>
                <a:ea typeface="ˎ̥"/>
              </a:rPr>
              <a:t>3</a:t>
            </a:r>
            <a:endParaRPr lang="en-US" altLang="zh-CN" sz="1800" b="0" dirty="0">
              <a:latin typeface="Arial" panose="020B0604020202020204" pitchFamily="34" charset="0"/>
              <a:ea typeface="宋体" panose="02010600030101010101" pitchFamily="2" charset="-122"/>
            </a:endParaRPr>
          </a:p>
        </p:txBody>
      </p:sp>
      <p:sp>
        <p:nvSpPr>
          <p:cNvPr id="59453" name="Text Box 61"/>
          <p:cNvSpPr txBox="1"/>
          <p:nvPr/>
        </p:nvSpPr>
        <p:spPr>
          <a:xfrm>
            <a:off x="6731006" y="2371726"/>
            <a:ext cx="504825" cy="923330"/>
          </a:xfrm>
          <a:prstGeom prst="rect">
            <a:avLst/>
          </a:prstGeom>
          <a:noFill/>
          <a:ln w="9525">
            <a:noFill/>
          </a:ln>
        </p:spPr>
        <p:txBody>
          <a:bodyPr anchor="t" anchorCtr="0">
            <a:spAutoFit/>
          </a:bodyPr>
          <a:lstStyle/>
          <a:p>
            <a:pPr>
              <a:spcBef>
                <a:spcPct val="50000"/>
              </a:spcBef>
              <a:buClrTx/>
              <a:buFontTx/>
            </a:pPr>
            <a:r>
              <a:rPr lang="en-US" altLang="zh-CN" sz="5400" baseline="-25000" dirty="0">
                <a:solidFill>
                  <a:srgbClr val="9900CC"/>
                </a:solidFill>
                <a:latin typeface="Times New Roman" panose="02020603050405020304" pitchFamily="18" charset="0"/>
                <a:ea typeface="ˎ̥"/>
              </a:rPr>
              <a:t>4</a:t>
            </a:r>
            <a:endParaRPr lang="en-US" altLang="zh-CN" sz="1800" b="0" dirty="0">
              <a:latin typeface="Arial" panose="020B0604020202020204" pitchFamily="34" charset="0"/>
              <a:ea typeface="宋体" panose="02010600030101010101" pitchFamily="2" charset="-122"/>
            </a:endParaRPr>
          </a:p>
        </p:txBody>
      </p:sp>
      <p:sp>
        <p:nvSpPr>
          <p:cNvPr id="70669" name="Text Box 62"/>
          <p:cNvSpPr txBox="1"/>
          <p:nvPr/>
        </p:nvSpPr>
        <p:spPr>
          <a:xfrm>
            <a:off x="7235828" y="2408239"/>
            <a:ext cx="1368425" cy="923330"/>
          </a:xfrm>
          <a:prstGeom prst="rect">
            <a:avLst/>
          </a:prstGeom>
          <a:noFill/>
          <a:ln w="9525">
            <a:noFill/>
          </a:ln>
        </p:spPr>
        <p:txBody>
          <a:bodyPr anchor="t" anchorCtr="0">
            <a:spAutoFit/>
          </a:bodyPr>
          <a:lstStyle/>
          <a:p>
            <a:pPr>
              <a:spcBef>
                <a:spcPct val="50000"/>
              </a:spcBef>
              <a:buClrTx/>
              <a:buFontTx/>
            </a:pPr>
            <a:r>
              <a:rPr lang="en-US" altLang="zh-CN" sz="5400" dirty="0">
                <a:solidFill>
                  <a:srgbClr val="009900"/>
                </a:solidFill>
                <a:latin typeface="Times New Roman" panose="02020603050405020304" pitchFamily="18" charset="0"/>
                <a:ea typeface="ˎ̥"/>
              </a:rPr>
              <a:t>SO</a:t>
            </a:r>
            <a:r>
              <a:rPr lang="en-US" altLang="zh-CN" sz="5400" baseline="-25000" dirty="0">
                <a:solidFill>
                  <a:srgbClr val="009900"/>
                </a:solidFill>
                <a:latin typeface="Times New Roman" panose="02020603050405020304" pitchFamily="18" charset="0"/>
                <a:ea typeface="ˎ̥"/>
              </a:rPr>
              <a:t>4</a:t>
            </a:r>
            <a:endParaRPr lang="en-US" altLang="zh-CN" sz="1800" b="0" dirty="0">
              <a:latin typeface="Arial" panose="020B0604020202020204" pitchFamily="34" charset="0"/>
              <a:ea typeface="宋体" panose="02010600030101010101" pitchFamily="2" charset="-122"/>
            </a:endParaRPr>
          </a:p>
        </p:txBody>
      </p:sp>
      <p:grpSp>
        <p:nvGrpSpPr>
          <p:cNvPr id="6" name="Group 63"/>
          <p:cNvGrpSpPr/>
          <p:nvPr/>
        </p:nvGrpSpPr>
        <p:grpSpPr>
          <a:xfrm>
            <a:off x="5289550" y="3100390"/>
            <a:ext cx="649288" cy="1989138"/>
            <a:chOff x="3651" y="2251"/>
            <a:chExt cx="409" cy="1671"/>
          </a:xfrm>
        </p:grpSpPr>
        <p:sp>
          <p:nvSpPr>
            <p:cNvPr id="73751" name="Line 64"/>
            <p:cNvSpPr/>
            <p:nvPr/>
          </p:nvSpPr>
          <p:spPr>
            <a:xfrm>
              <a:off x="3878" y="2251"/>
              <a:ext cx="0" cy="408"/>
            </a:xfrm>
            <a:prstGeom prst="line">
              <a:avLst/>
            </a:prstGeom>
            <a:ln w="9525" cap="flat" cmpd="sng">
              <a:solidFill>
                <a:srgbClr val="FF3300"/>
              </a:solidFill>
              <a:prstDash val="solid"/>
              <a:round/>
              <a:headEnd type="none" w="med" len="med"/>
              <a:tailEnd type="triangle" w="med" len="med"/>
            </a:ln>
          </p:spPr>
        </p:sp>
        <p:sp>
          <p:nvSpPr>
            <p:cNvPr id="73752" name="Text Box 65"/>
            <p:cNvSpPr txBox="1"/>
            <p:nvPr/>
          </p:nvSpPr>
          <p:spPr>
            <a:xfrm>
              <a:off x="3651" y="2614"/>
              <a:ext cx="409" cy="1308"/>
            </a:xfrm>
            <a:prstGeom prst="rect">
              <a:avLst/>
            </a:prstGeom>
            <a:noFill/>
            <a:ln w="9525">
              <a:noFill/>
            </a:ln>
          </p:spPr>
          <p:txBody>
            <a:bodyPr anchor="t" anchorCtr="0">
              <a:spAutoFit/>
            </a:bodyPr>
            <a:lstStyle/>
            <a:p>
              <a:pPr>
                <a:lnSpc>
                  <a:spcPct val="85000"/>
                </a:lnSpc>
                <a:spcBef>
                  <a:spcPct val="50000"/>
                </a:spcBef>
                <a:buClrTx/>
                <a:buFontTx/>
              </a:pPr>
              <a:r>
                <a:rPr lang="zh-CN" altLang="en-US" dirty="0">
                  <a:solidFill>
                    <a:srgbClr val="FF3300"/>
                  </a:solidFill>
                  <a:latin typeface="幼圆" pitchFamily="49" charset="-122"/>
                  <a:ea typeface="幼圆" pitchFamily="49" charset="-122"/>
                </a:rPr>
                <a:t>配位原子</a:t>
              </a:r>
              <a:endParaRPr lang="zh-CN" altLang="en-US" sz="1400" b="0" dirty="0">
                <a:latin typeface="Arial" panose="020B0604020202020204" pitchFamily="34" charset="0"/>
                <a:ea typeface="宋体" panose="02010600030101010101" pitchFamily="2" charset="-122"/>
              </a:endParaRPr>
            </a:p>
          </p:txBody>
        </p:sp>
      </p:grpSp>
      <p:grpSp>
        <p:nvGrpSpPr>
          <p:cNvPr id="7" name="Group 71"/>
          <p:cNvGrpSpPr/>
          <p:nvPr/>
        </p:nvGrpSpPr>
        <p:grpSpPr>
          <a:xfrm>
            <a:off x="7092956" y="1166816"/>
            <a:ext cx="1584325" cy="1341437"/>
            <a:chOff x="4604" y="594"/>
            <a:chExt cx="998" cy="1127"/>
          </a:xfrm>
        </p:grpSpPr>
        <p:grpSp>
          <p:nvGrpSpPr>
            <p:cNvPr id="73754" name="Group 72"/>
            <p:cNvGrpSpPr/>
            <p:nvPr/>
          </p:nvGrpSpPr>
          <p:grpSpPr>
            <a:xfrm>
              <a:off x="4604" y="594"/>
              <a:ext cx="998" cy="1127"/>
              <a:chOff x="4604" y="594"/>
              <a:chExt cx="998" cy="1127"/>
            </a:xfrm>
          </p:grpSpPr>
          <p:sp>
            <p:nvSpPr>
              <p:cNvPr id="73755" name="Line 73"/>
              <p:cNvSpPr/>
              <p:nvPr/>
            </p:nvSpPr>
            <p:spPr>
              <a:xfrm flipV="1">
                <a:off x="5092" y="1352"/>
                <a:ext cx="0" cy="362"/>
              </a:xfrm>
              <a:prstGeom prst="line">
                <a:avLst/>
              </a:prstGeom>
              <a:ln w="9525" cap="flat" cmpd="sng">
                <a:solidFill>
                  <a:srgbClr val="009900"/>
                </a:solidFill>
                <a:prstDash val="solid"/>
                <a:round/>
                <a:headEnd type="none" w="med" len="med"/>
                <a:tailEnd type="triangle" w="med" len="med"/>
              </a:ln>
            </p:spPr>
          </p:sp>
          <p:sp>
            <p:nvSpPr>
              <p:cNvPr id="73756" name="Text Box 74"/>
              <p:cNvSpPr txBox="1"/>
              <p:nvPr/>
            </p:nvSpPr>
            <p:spPr>
              <a:xfrm>
                <a:off x="4604" y="594"/>
                <a:ext cx="998" cy="1008"/>
              </a:xfrm>
              <a:prstGeom prst="rect">
                <a:avLst/>
              </a:prstGeom>
              <a:noFill/>
              <a:ln w="9525">
                <a:noFill/>
              </a:ln>
            </p:spPr>
            <p:txBody>
              <a:bodyPr anchor="t" anchorCtr="0">
                <a:spAutoFit/>
              </a:bodyPr>
              <a:lstStyle/>
              <a:p>
                <a:pPr>
                  <a:spcBef>
                    <a:spcPct val="50000"/>
                  </a:spcBef>
                  <a:buClrTx/>
                  <a:buFontTx/>
                </a:pPr>
                <a:r>
                  <a:rPr lang="en-US" altLang="zh-CN" sz="3600" dirty="0">
                    <a:solidFill>
                      <a:srgbClr val="009900"/>
                    </a:solidFill>
                    <a:latin typeface="Times New Roman" panose="02020603050405020304" pitchFamily="18" charset="0"/>
                    <a:ea typeface="幼圆" pitchFamily="49" charset="-122"/>
                  </a:rPr>
                  <a:t>(SO</a:t>
                </a:r>
                <a:r>
                  <a:rPr lang="en-US" altLang="zh-CN" sz="3600" baseline="-25000" dirty="0">
                    <a:solidFill>
                      <a:srgbClr val="009900"/>
                    </a:solidFill>
                    <a:latin typeface="Times New Roman" panose="02020603050405020304" pitchFamily="18" charset="0"/>
                    <a:ea typeface="幼圆" pitchFamily="49" charset="-122"/>
                  </a:rPr>
                  <a:t>4  </a:t>
                </a:r>
                <a:r>
                  <a:rPr lang="en-US" altLang="zh-CN" sz="3600" dirty="0">
                    <a:solidFill>
                      <a:srgbClr val="009900"/>
                    </a:solidFill>
                    <a:latin typeface="Times New Roman" panose="02020603050405020304" pitchFamily="18" charset="0"/>
                    <a:ea typeface="幼圆" pitchFamily="49" charset="-122"/>
                  </a:rPr>
                  <a:t>) </a:t>
                </a:r>
                <a:endParaRPr lang="en-US" altLang="zh-CN" sz="1800" b="0" dirty="0">
                  <a:latin typeface="Arial" panose="020B0604020202020204" pitchFamily="34" charset="0"/>
                  <a:ea typeface="ˎ̥"/>
                </a:endParaRPr>
              </a:p>
              <a:p>
                <a:pPr>
                  <a:lnSpc>
                    <a:spcPct val="50000"/>
                  </a:lnSpc>
                  <a:spcBef>
                    <a:spcPct val="50000"/>
                  </a:spcBef>
                  <a:buClrTx/>
                  <a:buFontTx/>
                </a:pPr>
                <a:r>
                  <a:rPr lang="en-US" altLang="zh-CN" sz="3600" dirty="0">
                    <a:solidFill>
                      <a:srgbClr val="009900"/>
                    </a:solidFill>
                    <a:latin typeface="Times New Roman" panose="02020603050405020304" pitchFamily="18" charset="0"/>
                    <a:ea typeface="幼圆" pitchFamily="49" charset="-122"/>
                  </a:rPr>
                  <a:t>  </a:t>
                </a:r>
                <a:r>
                  <a:rPr lang="zh-CN" altLang="en-US" sz="3600" dirty="0">
                    <a:solidFill>
                      <a:srgbClr val="009900"/>
                    </a:solidFill>
                    <a:latin typeface="幼圆" pitchFamily="49" charset="-122"/>
                    <a:ea typeface="幼圆" pitchFamily="49" charset="-122"/>
                  </a:rPr>
                  <a:t>外界</a:t>
                </a:r>
                <a:endParaRPr lang="zh-CN" altLang="en-US" sz="1800" b="0" dirty="0">
                  <a:latin typeface="Arial" panose="020B0604020202020204" pitchFamily="34" charset="0"/>
                  <a:ea typeface="宋体" panose="02010600030101010101" pitchFamily="2" charset="-122"/>
                </a:endParaRPr>
              </a:p>
            </p:txBody>
          </p:sp>
          <p:sp>
            <p:nvSpPr>
              <p:cNvPr id="73757" name="Line 75"/>
              <p:cNvSpPr/>
              <p:nvPr/>
            </p:nvSpPr>
            <p:spPr>
              <a:xfrm flipV="1">
                <a:off x="4744" y="1721"/>
                <a:ext cx="721" cy="0"/>
              </a:xfrm>
              <a:prstGeom prst="line">
                <a:avLst/>
              </a:prstGeom>
              <a:ln w="38100" cap="flat" cmpd="sng">
                <a:solidFill>
                  <a:schemeClr val="hlink"/>
                </a:solidFill>
                <a:prstDash val="solid"/>
                <a:round/>
                <a:headEnd type="triangle" w="med" len="med"/>
                <a:tailEnd type="triangle" w="med" len="med"/>
              </a:ln>
            </p:spPr>
          </p:sp>
        </p:grpSp>
        <p:sp>
          <p:nvSpPr>
            <p:cNvPr id="73758" name="Text Box 76"/>
            <p:cNvSpPr txBox="1"/>
            <p:nvPr/>
          </p:nvSpPr>
          <p:spPr>
            <a:xfrm>
              <a:off x="5096" y="605"/>
              <a:ext cx="408" cy="388"/>
            </a:xfrm>
            <a:prstGeom prst="rect">
              <a:avLst/>
            </a:prstGeom>
            <a:noFill/>
            <a:ln w="9525">
              <a:noFill/>
            </a:ln>
          </p:spPr>
          <p:txBody>
            <a:bodyPr anchor="t" anchorCtr="0">
              <a:spAutoFit/>
            </a:bodyPr>
            <a:lstStyle/>
            <a:p>
              <a:pPr>
                <a:spcBef>
                  <a:spcPct val="50000"/>
                </a:spcBef>
                <a:buClrTx/>
                <a:buFontTx/>
              </a:pPr>
              <a:r>
                <a:rPr lang="en-US" altLang="zh-CN" sz="2400" dirty="0">
                  <a:solidFill>
                    <a:srgbClr val="339933"/>
                  </a:solidFill>
                  <a:latin typeface="Times New Roman" panose="02020603050405020304" pitchFamily="18" charset="0"/>
                  <a:ea typeface="ˎ̥"/>
                </a:rPr>
                <a:t>2-</a:t>
              </a:r>
              <a:endParaRPr lang="en-US" altLang="zh-CN" sz="1800" b="0" dirty="0">
                <a:latin typeface="Arial" panose="020B0604020202020204" pitchFamily="34" charset="0"/>
                <a:ea typeface="宋体" panose="02010600030101010101" pitchFamily="2" charset="-122"/>
              </a:endParaRPr>
            </a:p>
          </p:txBody>
        </p:sp>
      </p:grpSp>
      <p:sp>
        <p:nvSpPr>
          <p:cNvPr id="33" name="Rectangle 2"/>
          <p:cNvSpPr>
            <a:spLocks noChangeArrowheads="1"/>
          </p:cNvSpPr>
          <p:nvPr/>
        </p:nvSpPr>
        <p:spPr bwMode="auto">
          <a:xfrm>
            <a:off x="0" y="147638"/>
            <a:ext cx="9144000" cy="541338"/>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0" fontAlgn="base" latinLnBrk="0" hangingPunct="0">
              <a:lnSpc>
                <a:spcPct val="115000"/>
              </a:lnSpc>
              <a:spcBef>
                <a:spcPct val="0"/>
              </a:spcBef>
              <a:spcAft>
                <a:spcPct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n-cs"/>
              </a:rPr>
              <a:t>§</a:t>
            </a:r>
            <a:r>
              <a:rPr kumimoji="0" lang="en-US" altLang="zh-CN" sz="36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 3.5</a:t>
            </a:r>
            <a:r>
              <a:rPr kumimoji="0" lang="zh-CN" altLang="en-US" sz="3600" b="1" i="0" u="none" strike="noStrike" kern="1200" cap="none" spc="0" normalizeH="0" baseline="0" noProof="0" dirty="0">
                <a:ln>
                  <a:noFill/>
                </a:ln>
                <a:solidFill>
                  <a:schemeClr val="accent3"/>
                </a:solidFill>
                <a:effectLst/>
                <a:uLnTx/>
                <a:uFillTx/>
                <a:latin typeface="华文新魏" pitchFamily="2" charset="-122"/>
                <a:ea typeface="华文新魏" pitchFamily="2" charset="-122"/>
                <a:cs typeface="+mn-cs"/>
              </a:rPr>
              <a:t>配位化合物和配离子的解离平衡</a:t>
            </a:r>
            <a:endParaRPr kumimoji="0" lang="zh-CN" altLang="en-US" sz="3600" b="1" i="0" u="none" strike="noStrike" kern="1200" cap="none" spc="0" normalizeH="0" baseline="0" noProof="0" dirty="0">
              <a:ln>
                <a:noFill/>
              </a:ln>
              <a:solidFill>
                <a:schemeClr val="bg1"/>
              </a:solidFill>
              <a:effectLst/>
              <a:uLnTx/>
              <a:uFillTx/>
              <a:latin typeface="Times New Roman" panose="02020603050405020304" pitchFamily="18" charset="0"/>
              <a:ea typeface="幼圆" pitchFamily="49" charset="-122"/>
              <a:cs typeface="+mn-cs"/>
            </a:endParaRPr>
          </a:p>
        </p:txBody>
      </p:sp>
      <p:pic>
        <p:nvPicPr>
          <p:cNvPr id="11" name="图片 10" descr="C:/Users/ADMINI~1/AppData/Local/Temp/kaimatting_20201202165524/output_20201202165531..pngoutput_20201202165531."/>
          <p:cNvPicPr>
            <a:picLocks noChangeAspect="1"/>
          </p:cNvPicPr>
          <p:nvPr/>
        </p:nvPicPr>
        <p:blipFill>
          <a:blip r:embed="rId2" cstate="print"/>
          <a:stretch>
            <a:fillRect/>
          </a:stretch>
        </p:blipFill>
        <p:spPr>
          <a:xfrm>
            <a:off x="250831" y="3310890"/>
            <a:ext cx="1722755" cy="17233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anim calcmode="lin" valueType="num">
                                      <p:cBhvr>
                                        <p:cTn id="9"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70658"/>
                                        </p:tgtEl>
                                        <p:attrNameLst>
                                          <p:attrName>style.visibility</p:attrName>
                                        </p:attrNameLst>
                                      </p:cBhvr>
                                      <p:to>
                                        <p:strVal val="visible"/>
                                      </p:to>
                                    </p:set>
                                    <p:animEffect transition="in" filter="checkerboard(across)">
                                      <p:cBhvr>
                                        <p:cTn id="16" dur="500"/>
                                        <p:tgtEl>
                                          <p:spTgt spid="70658"/>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70659"/>
                                        </p:tgtEl>
                                        <p:attrNameLst>
                                          <p:attrName>style.visibility</p:attrName>
                                        </p:attrNameLst>
                                      </p:cBhvr>
                                      <p:to>
                                        <p:strVal val="visible"/>
                                      </p:to>
                                    </p:set>
                                    <p:animEffect transition="in" filter="checkerboard(across)">
                                      <p:cBhvr>
                                        <p:cTn id="21" dur="500"/>
                                        <p:tgtEl>
                                          <p:spTgt spid="70659"/>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ox(in)">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0661"/>
                                        </p:tgtEl>
                                        <p:attrNameLst>
                                          <p:attrName>style.visibility</p:attrName>
                                        </p:attrNameLst>
                                      </p:cBhvr>
                                      <p:to>
                                        <p:strVal val="visible"/>
                                      </p:to>
                                    </p:set>
                                    <p:animEffect transition="in" filter="wipe(left)">
                                      <p:cBhvr>
                                        <p:cTn id="31" dur="500"/>
                                        <p:tgtEl>
                                          <p:spTgt spid="7066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70669"/>
                                        </p:tgtEl>
                                        <p:attrNameLst>
                                          <p:attrName>style.visibility</p:attrName>
                                        </p:attrNameLst>
                                      </p:cBhvr>
                                      <p:to>
                                        <p:strVal val="visible"/>
                                      </p:to>
                                    </p:set>
                                    <p:animEffect transition="in" filter="wipe(down)">
                                      <p:cBhvr>
                                        <p:cTn id="36" dur="500"/>
                                        <p:tgtEl>
                                          <p:spTgt spid="70669"/>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1"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slide(fromTop)">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1" presetClass="entr" presetSubtype="0" fill="hold" grpId="0" nodeType="clickEffect">
                                  <p:stCondLst>
                                    <p:cond delay="0"/>
                                  </p:stCondLst>
                                  <p:childTnLst>
                                    <p:set>
                                      <p:cBhvr>
                                        <p:cTn id="45" dur="75">
                                          <p:stCondLst>
                                            <p:cond delay="0"/>
                                          </p:stCondLst>
                                        </p:cTn>
                                        <p:tgtEl>
                                          <p:spTgt spid="59451"/>
                                        </p:tgtEl>
                                        <p:attrNameLst>
                                          <p:attrName>style.visibility</p:attrName>
                                        </p:attrNameLst>
                                      </p:cBhvr>
                                      <p:to>
                                        <p:strVal val="visible"/>
                                      </p:to>
                                    </p:set>
                                  </p:childTnLst>
                                </p:cTn>
                              </p:par>
                            </p:childTnLst>
                          </p:cTn>
                        </p:par>
                        <p:par>
                          <p:cTn id="46" fill="hold">
                            <p:stCondLst>
                              <p:cond delay="500"/>
                            </p:stCondLst>
                            <p:childTnLst>
                              <p:par>
                                <p:cTn id="47" presetID="12" presetClass="entr" presetSubtype="4" fill="hold" nodeType="after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slide(fromBottom)">
                                      <p:cBhvr>
                                        <p:cTn id="49" dur="500"/>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11" presetClass="entr" presetSubtype="0" fill="hold" grpId="0" nodeType="clickEffect">
                                  <p:stCondLst>
                                    <p:cond delay="0"/>
                                  </p:stCondLst>
                                  <p:childTnLst>
                                    <p:set>
                                      <p:cBhvr>
                                        <p:cTn id="53" dur="75">
                                          <p:stCondLst>
                                            <p:cond delay="0"/>
                                          </p:stCondLst>
                                        </p:cTn>
                                        <p:tgtEl>
                                          <p:spTgt spid="59452"/>
                                        </p:tgtEl>
                                        <p:attrNameLst>
                                          <p:attrName>style.visibility</p:attrName>
                                        </p:attrNameLst>
                                      </p:cBhvr>
                                      <p:to>
                                        <p:strVal val="visible"/>
                                      </p:to>
                                    </p:set>
                                  </p:childTnLst>
                                </p:cTn>
                              </p:par>
                            </p:childTnLst>
                          </p:cTn>
                        </p:par>
                        <p:par>
                          <p:cTn id="54" fill="hold">
                            <p:stCondLst>
                              <p:cond delay="500"/>
                            </p:stCondLst>
                            <p:childTnLst>
                              <p:par>
                                <p:cTn id="55" presetID="12" presetClass="entr" presetSubtype="4"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slide(fromBottom)">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6"/>
                                        </p:tgtEl>
                                        <p:attrNameLst>
                                          <p:attrName>style.visibility</p:attrName>
                                        </p:attrNameLst>
                                      </p:cBhvr>
                                      <p:to>
                                        <p:strVal val="visible"/>
                                      </p:to>
                                    </p:set>
                                    <p:anim calcmode="lin" valueType="num">
                                      <p:cBhvr additive="base">
                                        <p:cTn id="62" dur="500" fill="hold"/>
                                        <p:tgtEl>
                                          <p:spTgt spid="6"/>
                                        </p:tgtEl>
                                        <p:attrNameLst>
                                          <p:attrName>ppt_x</p:attrName>
                                        </p:attrNameLst>
                                      </p:cBhvr>
                                      <p:tavLst>
                                        <p:tav tm="0">
                                          <p:val>
                                            <p:strVal val="#ppt_x"/>
                                          </p:val>
                                        </p:tav>
                                        <p:tav tm="100000">
                                          <p:val>
                                            <p:strVal val="#ppt_x"/>
                                          </p:val>
                                        </p:tav>
                                      </p:tavLst>
                                    </p:anim>
                                    <p:anim calcmode="lin" valueType="num">
                                      <p:cBhvr additive="base">
                                        <p:cTn id="6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1" presetClass="entr" presetSubtype="0" fill="hold" grpId="0" nodeType="clickEffect">
                                  <p:stCondLst>
                                    <p:cond delay="0"/>
                                  </p:stCondLst>
                                  <p:childTnLst>
                                    <p:set>
                                      <p:cBhvr>
                                        <p:cTn id="67" dur="75">
                                          <p:stCondLst>
                                            <p:cond delay="0"/>
                                          </p:stCondLst>
                                        </p:cTn>
                                        <p:tgtEl>
                                          <p:spTgt spid="59453"/>
                                        </p:tgtEl>
                                        <p:attrNameLst>
                                          <p:attrName>style.visibility</p:attrName>
                                        </p:attrNameLst>
                                      </p:cBhvr>
                                      <p:to>
                                        <p:strVal val="visible"/>
                                      </p:to>
                                    </p:set>
                                  </p:childTnLst>
                                </p:cTn>
                              </p:par>
                            </p:childTnLst>
                          </p:cTn>
                        </p:par>
                        <p:par>
                          <p:cTn id="68" fill="hold">
                            <p:stCondLst>
                              <p:cond delay="500"/>
                            </p:stCondLst>
                            <p:childTnLst>
                              <p:par>
                                <p:cTn id="69" presetID="12" presetClass="entr" presetSubtype="4" fill="hold" nodeType="after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slide(fromBottom)">
                                      <p:cBhvr>
                                        <p:cTn id="7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bldLvl="0" animBg="1"/>
      <p:bldP spid="70659" grpId="0"/>
      <p:bldP spid="70661" grpId="0"/>
      <p:bldP spid="59451" grpId="0"/>
      <p:bldP spid="59452" grpId="0"/>
      <p:bldP spid="59453" grpId="0"/>
      <p:bldP spid="7066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ext Box 34"/>
          <p:cNvSpPr txBox="1"/>
          <p:nvPr/>
        </p:nvSpPr>
        <p:spPr>
          <a:xfrm>
            <a:off x="1403350" y="2355850"/>
            <a:ext cx="1081088"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74754" name="Text Box 35">
            <a:hlinkClick r:id="rId2"/>
          </p:cNvPr>
          <p:cNvSpPr txBox="1"/>
          <p:nvPr/>
        </p:nvSpPr>
        <p:spPr>
          <a:xfrm>
            <a:off x="2411415" y="1993900"/>
            <a:ext cx="4752975" cy="923330"/>
          </a:xfrm>
          <a:prstGeom prst="rect">
            <a:avLst/>
          </a:prstGeom>
          <a:noFill/>
          <a:ln w="9525">
            <a:noFill/>
          </a:ln>
        </p:spPr>
        <p:txBody>
          <a:bodyPr anchor="t" anchorCtr="0">
            <a:spAutoFit/>
          </a:bodyPr>
          <a:lstStyle/>
          <a:p>
            <a:pPr>
              <a:spcBef>
                <a:spcPct val="50000"/>
              </a:spcBef>
              <a:buClrTx/>
              <a:buFontTx/>
            </a:pPr>
            <a:r>
              <a:rPr lang="en-US" altLang="zh-CN" sz="5400" dirty="0">
                <a:latin typeface="Times New Roman" panose="02020603050405020304" pitchFamily="18" charset="0"/>
                <a:ea typeface="ˎ̥"/>
              </a:rPr>
              <a:t>[</a:t>
            </a:r>
            <a:r>
              <a:rPr lang="en-US" altLang="zh-CN" sz="5400" dirty="0">
                <a:solidFill>
                  <a:srgbClr val="3333FF"/>
                </a:solidFill>
                <a:latin typeface="Times New Roman" panose="02020603050405020304" pitchFamily="18" charset="0"/>
                <a:ea typeface="ˎ̥"/>
              </a:rPr>
              <a:t>Fe</a:t>
            </a:r>
            <a:r>
              <a:rPr lang="en-US" altLang="zh-CN" sz="5400" dirty="0">
                <a:latin typeface="Times New Roman" panose="02020603050405020304" pitchFamily="18" charset="0"/>
                <a:ea typeface="ˎ̥"/>
              </a:rPr>
              <a:t>(</a:t>
            </a:r>
            <a:r>
              <a:rPr lang="en-US" altLang="zh-CN" sz="5400" dirty="0">
                <a:solidFill>
                  <a:srgbClr val="FF3300"/>
                </a:solidFill>
                <a:latin typeface="Times New Roman" panose="02020603050405020304" pitchFamily="18" charset="0"/>
                <a:ea typeface="ˎ̥"/>
              </a:rPr>
              <a:t>CO</a:t>
            </a:r>
            <a:r>
              <a:rPr lang="en-US" altLang="zh-CN" sz="5400" dirty="0">
                <a:latin typeface="Times New Roman" panose="02020603050405020304" pitchFamily="18" charset="0"/>
                <a:ea typeface="ˎ̥"/>
              </a:rPr>
              <a:t>)</a:t>
            </a:r>
            <a:r>
              <a:rPr lang="en-US" altLang="zh-CN" sz="5400" baseline="-25000" dirty="0">
                <a:solidFill>
                  <a:srgbClr val="9900CC"/>
                </a:solidFill>
                <a:latin typeface="Times New Roman" panose="02020603050405020304" pitchFamily="18" charset="0"/>
                <a:ea typeface="ˎ̥"/>
              </a:rPr>
              <a:t>5</a:t>
            </a:r>
            <a:r>
              <a:rPr lang="en-US" altLang="zh-CN" sz="5400" dirty="0">
                <a:latin typeface="Times New Roman" panose="02020603050405020304" pitchFamily="18" charset="0"/>
                <a:ea typeface="ˎ̥"/>
              </a:rPr>
              <a:t>]</a:t>
            </a:r>
            <a:r>
              <a:rPr lang="en-US" altLang="zh-CN" sz="5400" baseline="-25000" dirty="0">
                <a:solidFill>
                  <a:srgbClr val="009900"/>
                </a:solidFill>
                <a:latin typeface="Times New Roman" panose="02020603050405020304" pitchFamily="18" charset="0"/>
                <a:ea typeface="宋体" panose="02010600030101010101" pitchFamily="2" charset="-122"/>
              </a:rPr>
              <a:t> </a:t>
            </a:r>
            <a:endParaRPr lang="en-US" altLang="zh-CN" sz="1800" b="0" dirty="0">
              <a:latin typeface="Arial" panose="020B0604020202020204" pitchFamily="34" charset="0"/>
              <a:ea typeface="宋体" panose="02010600030101010101" pitchFamily="2" charset="-122"/>
            </a:endParaRPr>
          </a:p>
        </p:txBody>
      </p:sp>
      <p:grpSp>
        <p:nvGrpSpPr>
          <p:cNvPr id="2" name="Group 36"/>
          <p:cNvGrpSpPr/>
          <p:nvPr/>
        </p:nvGrpSpPr>
        <p:grpSpPr>
          <a:xfrm>
            <a:off x="4787900" y="2733676"/>
            <a:ext cx="649288" cy="2185988"/>
            <a:chOff x="4376" y="2251"/>
            <a:chExt cx="409" cy="1836"/>
          </a:xfrm>
        </p:grpSpPr>
        <p:sp>
          <p:nvSpPr>
            <p:cNvPr id="74756" name="Line 37"/>
            <p:cNvSpPr/>
            <p:nvPr/>
          </p:nvSpPr>
          <p:spPr>
            <a:xfrm>
              <a:off x="4558" y="2251"/>
              <a:ext cx="0" cy="408"/>
            </a:xfrm>
            <a:prstGeom prst="line">
              <a:avLst/>
            </a:prstGeom>
            <a:ln w="9525" cap="flat" cmpd="sng">
              <a:solidFill>
                <a:srgbClr val="9900CC"/>
              </a:solidFill>
              <a:prstDash val="solid"/>
              <a:round/>
              <a:headEnd type="none" w="med" len="med"/>
              <a:tailEnd type="triangle" w="med" len="med"/>
            </a:ln>
          </p:spPr>
        </p:sp>
        <p:sp>
          <p:nvSpPr>
            <p:cNvPr id="74757" name="Text Box 38"/>
            <p:cNvSpPr txBox="1"/>
            <p:nvPr/>
          </p:nvSpPr>
          <p:spPr>
            <a:xfrm>
              <a:off x="4376" y="2614"/>
              <a:ext cx="409" cy="1473"/>
            </a:xfrm>
            <a:prstGeom prst="rect">
              <a:avLst/>
            </a:prstGeom>
            <a:noFill/>
            <a:ln w="9525">
              <a:noFill/>
            </a:ln>
          </p:spPr>
          <p:txBody>
            <a:bodyPr anchor="t" anchorCtr="0">
              <a:spAutoFit/>
            </a:bodyPr>
            <a:lstStyle/>
            <a:p>
              <a:pPr>
                <a:spcBef>
                  <a:spcPct val="50000"/>
                </a:spcBef>
                <a:buClrTx/>
                <a:buFontTx/>
              </a:pPr>
              <a:r>
                <a:rPr lang="zh-CN" altLang="en-US" sz="3600" dirty="0">
                  <a:solidFill>
                    <a:srgbClr val="9900CC"/>
                  </a:solidFill>
                  <a:latin typeface="幼圆" pitchFamily="49" charset="-122"/>
                  <a:ea typeface="幼圆" pitchFamily="49" charset="-122"/>
                </a:rPr>
                <a:t>配位数</a:t>
              </a:r>
              <a:endParaRPr lang="zh-CN" altLang="en-US" sz="1800" b="0" dirty="0">
                <a:latin typeface="Arial" panose="020B0604020202020204" pitchFamily="34" charset="0"/>
                <a:ea typeface="宋体" panose="02010600030101010101" pitchFamily="2" charset="-122"/>
              </a:endParaRPr>
            </a:p>
          </p:txBody>
        </p:sp>
      </p:grpSp>
      <p:grpSp>
        <p:nvGrpSpPr>
          <p:cNvPr id="3" name="Group 39"/>
          <p:cNvGrpSpPr/>
          <p:nvPr/>
        </p:nvGrpSpPr>
        <p:grpSpPr>
          <a:xfrm>
            <a:off x="3995744" y="2725738"/>
            <a:ext cx="649287" cy="1631949"/>
            <a:chOff x="3651" y="2251"/>
            <a:chExt cx="409" cy="1371"/>
          </a:xfrm>
        </p:grpSpPr>
        <p:sp>
          <p:nvSpPr>
            <p:cNvPr id="74759" name="Line 40"/>
            <p:cNvSpPr/>
            <p:nvPr/>
          </p:nvSpPr>
          <p:spPr>
            <a:xfrm>
              <a:off x="3878" y="2251"/>
              <a:ext cx="0" cy="408"/>
            </a:xfrm>
            <a:prstGeom prst="line">
              <a:avLst/>
            </a:prstGeom>
            <a:ln w="9525" cap="flat" cmpd="sng">
              <a:solidFill>
                <a:srgbClr val="FF3300"/>
              </a:solidFill>
              <a:prstDash val="solid"/>
              <a:round/>
              <a:headEnd type="none" w="med" len="med"/>
              <a:tailEnd type="triangle" w="med" len="med"/>
            </a:ln>
          </p:spPr>
        </p:sp>
        <p:sp>
          <p:nvSpPr>
            <p:cNvPr id="74760" name="Text Box 41"/>
            <p:cNvSpPr txBox="1"/>
            <p:nvPr/>
          </p:nvSpPr>
          <p:spPr>
            <a:xfrm>
              <a:off x="3651" y="2614"/>
              <a:ext cx="409" cy="1008"/>
            </a:xfrm>
            <a:prstGeom prst="rect">
              <a:avLst/>
            </a:prstGeom>
            <a:noFill/>
            <a:ln w="9525">
              <a:noFill/>
            </a:ln>
          </p:spPr>
          <p:txBody>
            <a:bodyPr anchor="t" anchorCtr="0">
              <a:spAutoFit/>
            </a:bodyPr>
            <a:lstStyle/>
            <a:p>
              <a:pPr>
                <a:spcBef>
                  <a:spcPct val="50000"/>
                </a:spcBef>
                <a:buClrTx/>
                <a:buFontTx/>
              </a:pPr>
              <a:r>
                <a:rPr lang="zh-CN" altLang="en-US" sz="3600" dirty="0">
                  <a:solidFill>
                    <a:srgbClr val="FF3300"/>
                  </a:solidFill>
                  <a:latin typeface="幼圆" pitchFamily="49" charset="-122"/>
                  <a:ea typeface="幼圆" pitchFamily="49" charset="-122"/>
                </a:rPr>
                <a:t>配体</a:t>
              </a:r>
              <a:endParaRPr lang="zh-CN" altLang="en-US" sz="1800" b="0" dirty="0">
                <a:latin typeface="Arial" panose="020B0604020202020204" pitchFamily="34" charset="0"/>
                <a:ea typeface="宋体" panose="02010600030101010101" pitchFamily="2" charset="-122"/>
              </a:endParaRPr>
            </a:p>
          </p:txBody>
        </p:sp>
      </p:grpSp>
      <p:sp>
        <p:nvSpPr>
          <p:cNvPr id="60458" name="Text Box 42"/>
          <p:cNvSpPr txBox="1"/>
          <p:nvPr/>
        </p:nvSpPr>
        <p:spPr>
          <a:xfrm>
            <a:off x="2628900" y="1993900"/>
            <a:ext cx="1150938" cy="923330"/>
          </a:xfrm>
          <a:prstGeom prst="rect">
            <a:avLst/>
          </a:prstGeom>
          <a:noFill/>
          <a:ln w="9525">
            <a:noFill/>
          </a:ln>
        </p:spPr>
        <p:txBody>
          <a:bodyPr anchor="t" anchorCtr="0">
            <a:spAutoFit/>
          </a:bodyPr>
          <a:lstStyle/>
          <a:p>
            <a:pPr>
              <a:spcBef>
                <a:spcPct val="50000"/>
              </a:spcBef>
              <a:buClrTx/>
              <a:buFontTx/>
            </a:pPr>
            <a:r>
              <a:rPr lang="en-US" altLang="zh-CN" sz="5400" dirty="0">
                <a:solidFill>
                  <a:srgbClr val="3333FF"/>
                </a:solidFill>
                <a:latin typeface="Times New Roman" panose="02020603050405020304" pitchFamily="18" charset="0"/>
                <a:ea typeface="ˎ̥"/>
              </a:rPr>
              <a:t>Fe</a:t>
            </a:r>
            <a:endParaRPr lang="en-US" altLang="zh-CN" sz="1800" b="0" dirty="0">
              <a:latin typeface="Arial" panose="020B0604020202020204" pitchFamily="34" charset="0"/>
              <a:ea typeface="宋体" panose="02010600030101010101" pitchFamily="2" charset="-122"/>
            </a:endParaRPr>
          </a:p>
        </p:txBody>
      </p:sp>
      <p:sp>
        <p:nvSpPr>
          <p:cNvPr id="60459" name="Text Box 43"/>
          <p:cNvSpPr txBox="1"/>
          <p:nvPr/>
        </p:nvSpPr>
        <p:spPr>
          <a:xfrm>
            <a:off x="3603625" y="1993900"/>
            <a:ext cx="1511300" cy="923330"/>
          </a:xfrm>
          <a:prstGeom prst="rect">
            <a:avLst/>
          </a:prstGeom>
          <a:noFill/>
          <a:ln w="9525">
            <a:noFill/>
          </a:ln>
        </p:spPr>
        <p:txBody>
          <a:bodyPr anchor="t" anchorCtr="0">
            <a:spAutoFit/>
          </a:bodyPr>
          <a:lstStyle/>
          <a:p>
            <a:pPr>
              <a:spcBef>
                <a:spcPct val="50000"/>
              </a:spcBef>
              <a:buClrTx/>
              <a:buFontTx/>
            </a:pPr>
            <a:r>
              <a:rPr lang="en-US" altLang="zh-CN" sz="5400" dirty="0">
                <a:solidFill>
                  <a:srgbClr val="FF3300"/>
                </a:solidFill>
                <a:latin typeface="Times New Roman" panose="02020603050405020304" pitchFamily="18" charset="0"/>
                <a:ea typeface="ˎ̥"/>
              </a:rPr>
              <a:t>CO</a:t>
            </a:r>
            <a:r>
              <a:rPr lang="en-US" altLang="zh-CN" sz="5400" baseline="-25000" dirty="0">
                <a:solidFill>
                  <a:srgbClr val="FF3300"/>
                </a:solidFill>
                <a:latin typeface="Times New Roman" panose="02020603050405020304" pitchFamily="18" charset="0"/>
                <a:ea typeface="宋体" panose="02010600030101010101" pitchFamily="2" charset="-122"/>
              </a:rPr>
              <a:t> </a:t>
            </a:r>
            <a:endParaRPr lang="en-US" altLang="zh-CN" sz="1800" b="0" dirty="0">
              <a:latin typeface="Arial" panose="020B0604020202020204" pitchFamily="34" charset="0"/>
              <a:ea typeface="宋体" panose="02010600030101010101" pitchFamily="2" charset="-122"/>
            </a:endParaRPr>
          </a:p>
        </p:txBody>
      </p:sp>
      <p:grpSp>
        <p:nvGrpSpPr>
          <p:cNvPr id="4" name="Group 44"/>
          <p:cNvGrpSpPr/>
          <p:nvPr/>
        </p:nvGrpSpPr>
        <p:grpSpPr>
          <a:xfrm>
            <a:off x="2051050" y="2724153"/>
            <a:ext cx="2016125" cy="2187577"/>
            <a:chOff x="1292" y="2288"/>
            <a:chExt cx="1270" cy="1837"/>
          </a:xfrm>
        </p:grpSpPr>
        <p:sp>
          <p:nvSpPr>
            <p:cNvPr id="74764" name="Line 45"/>
            <p:cNvSpPr/>
            <p:nvPr/>
          </p:nvSpPr>
          <p:spPr>
            <a:xfrm>
              <a:off x="1927" y="2288"/>
              <a:ext cx="0" cy="408"/>
            </a:xfrm>
            <a:prstGeom prst="line">
              <a:avLst/>
            </a:prstGeom>
            <a:ln w="9525" cap="flat" cmpd="sng">
              <a:solidFill>
                <a:srgbClr val="3333FF"/>
              </a:solidFill>
              <a:prstDash val="solid"/>
              <a:round/>
              <a:headEnd type="none" w="med" len="med"/>
              <a:tailEnd type="triangle" w="med" len="med"/>
            </a:ln>
          </p:spPr>
        </p:sp>
        <p:sp>
          <p:nvSpPr>
            <p:cNvPr id="74765" name="Text Box 46"/>
            <p:cNvSpPr txBox="1"/>
            <p:nvPr/>
          </p:nvSpPr>
          <p:spPr>
            <a:xfrm>
              <a:off x="1292" y="2652"/>
              <a:ext cx="1270" cy="1473"/>
            </a:xfrm>
            <a:prstGeom prst="rect">
              <a:avLst/>
            </a:prstGeom>
            <a:noFill/>
            <a:ln w="9525">
              <a:noFill/>
            </a:ln>
          </p:spPr>
          <p:txBody>
            <a:bodyPr anchor="t" anchorCtr="0">
              <a:spAutoFit/>
            </a:bodyPr>
            <a:lstStyle/>
            <a:p>
              <a:pPr>
                <a:spcBef>
                  <a:spcPct val="50000"/>
                </a:spcBef>
                <a:buClrTx/>
                <a:buFontTx/>
              </a:pPr>
              <a:r>
                <a:rPr lang="zh-CN" altLang="en-US" sz="3600" dirty="0">
                  <a:solidFill>
                    <a:srgbClr val="3333FF"/>
                  </a:solidFill>
                  <a:latin typeface="幼圆" pitchFamily="49" charset="-122"/>
                  <a:ea typeface="幼圆" pitchFamily="49" charset="-122"/>
                </a:rPr>
                <a:t>  中心 </a:t>
              </a:r>
              <a:endParaRPr lang="zh-CN" altLang="en-US" sz="1800" b="0" dirty="0">
                <a:latin typeface="Arial" panose="020B0604020202020204" pitchFamily="34" charset="0"/>
                <a:ea typeface="ˎ̥"/>
              </a:endParaRPr>
            </a:p>
            <a:p>
              <a:pPr>
                <a:lnSpc>
                  <a:spcPct val="50000"/>
                </a:lnSpc>
                <a:spcBef>
                  <a:spcPct val="50000"/>
                </a:spcBef>
                <a:buClrTx/>
                <a:buFontTx/>
              </a:pPr>
              <a:r>
                <a:rPr lang="zh-CN" altLang="en-US" sz="3600" dirty="0">
                  <a:solidFill>
                    <a:srgbClr val="3333FF"/>
                  </a:solidFill>
                  <a:latin typeface="幼圆" pitchFamily="49" charset="-122"/>
                  <a:ea typeface="幼圆" pitchFamily="49" charset="-122"/>
                </a:rPr>
                <a:t>  原子 </a:t>
              </a:r>
              <a:endParaRPr lang="zh-CN" altLang="en-US" sz="1800" b="0" dirty="0">
                <a:latin typeface="Arial" panose="020B0604020202020204" pitchFamily="34" charset="0"/>
                <a:ea typeface="ˎ̥"/>
              </a:endParaRPr>
            </a:p>
            <a:p>
              <a:pPr>
                <a:lnSpc>
                  <a:spcPct val="50000"/>
                </a:lnSpc>
                <a:spcBef>
                  <a:spcPct val="50000"/>
                </a:spcBef>
                <a:buClrTx/>
                <a:buFontTx/>
              </a:pPr>
              <a:r>
                <a:rPr lang="en-US" altLang="zh-CN" sz="3600" dirty="0">
                  <a:solidFill>
                    <a:srgbClr val="3333FF"/>
                  </a:solidFill>
                  <a:latin typeface="幼圆" pitchFamily="49" charset="-122"/>
                  <a:ea typeface="幼圆" pitchFamily="49" charset="-122"/>
                </a:rPr>
                <a:t>(</a:t>
              </a:r>
              <a:r>
                <a:rPr lang="zh-CN" altLang="en-US" sz="3600" dirty="0">
                  <a:solidFill>
                    <a:srgbClr val="3333FF"/>
                  </a:solidFill>
                  <a:latin typeface="幼圆" pitchFamily="49" charset="-122"/>
                  <a:ea typeface="幼圆" pitchFamily="49" charset="-122"/>
                </a:rPr>
                <a:t>形成体</a:t>
              </a:r>
              <a:r>
                <a:rPr lang="en-US" altLang="zh-CN" sz="3600" dirty="0">
                  <a:solidFill>
                    <a:srgbClr val="3333FF"/>
                  </a:solidFill>
                  <a:latin typeface="幼圆" pitchFamily="49" charset="-122"/>
                  <a:ea typeface="幼圆" pitchFamily="49" charset="-122"/>
                </a:rPr>
                <a:t>)</a:t>
              </a:r>
              <a:endParaRPr lang="en-US" altLang="zh-CN" sz="1800" b="0" dirty="0">
                <a:latin typeface="Arial" panose="020B0604020202020204" pitchFamily="34" charset="0"/>
                <a:ea typeface="宋体" panose="02010600030101010101" pitchFamily="2" charset="-122"/>
              </a:endParaRPr>
            </a:p>
          </p:txBody>
        </p:sp>
      </p:grpSp>
      <p:grpSp>
        <p:nvGrpSpPr>
          <p:cNvPr id="5" name="Group 47"/>
          <p:cNvGrpSpPr/>
          <p:nvPr/>
        </p:nvGrpSpPr>
        <p:grpSpPr>
          <a:xfrm>
            <a:off x="2916238" y="1060453"/>
            <a:ext cx="2089150" cy="1025525"/>
            <a:chOff x="1837" y="890"/>
            <a:chExt cx="1316" cy="862"/>
          </a:xfrm>
        </p:grpSpPr>
        <p:sp>
          <p:nvSpPr>
            <p:cNvPr id="74767" name="Line 48"/>
            <p:cNvSpPr/>
            <p:nvPr/>
          </p:nvSpPr>
          <p:spPr>
            <a:xfrm>
              <a:off x="2517" y="1344"/>
              <a:ext cx="0" cy="408"/>
            </a:xfrm>
            <a:prstGeom prst="line">
              <a:avLst/>
            </a:prstGeom>
            <a:ln w="9525" cap="flat" cmpd="sng">
              <a:solidFill>
                <a:srgbClr val="FF3300"/>
              </a:solidFill>
              <a:prstDash val="solid"/>
              <a:round/>
              <a:headEnd type="none" w="med" len="med"/>
              <a:tailEnd type="triangle" w="med" len="med"/>
            </a:ln>
          </p:spPr>
        </p:sp>
        <p:sp>
          <p:nvSpPr>
            <p:cNvPr id="74768" name="Text Box 49"/>
            <p:cNvSpPr txBox="1"/>
            <p:nvPr/>
          </p:nvSpPr>
          <p:spPr>
            <a:xfrm>
              <a:off x="1837" y="890"/>
              <a:ext cx="1316" cy="473"/>
            </a:xfrm>
            <a:prstGeom prst="rect">
              <a:avLst/>
            </a:prstGeom>
            <a:noFill/>
            <a:ln w="9525">
              <a:noFill/>
            </a:ln>
          </p:spPr>
          <p:txBody>
            <a:bodyPr anchor="t" anchorCtr="0">
              <a:spAutoFit/>
            </a:bodyPr>
            <a:lstStyle/>
            <a:p>
              <a:pPr>
                <a:lnSpc>
                  <a:spcPct val="85000"/>
                </a:lnSpc>
                <a:spcBef>
                  <a:spcPct val="50000"/>
                </a:spcBef>
                <a:buClrTx/>
                <a:buFontTx/>
              </a:pPr>
              <a:r>
                <a:rPr lang="zh-CN" altLang="en-US" sz="3600" dirty="0">
                  <a:solidFill>
                    <a:srgbClr val="FF3300"/>
                  </a:solidFill>
                  <a:latin typeface="幼圆" pitchFamily="49" charset="-122"/>
                  <a:ea typeface="幼圆" pitchFamily="49" charset="-122"/>
                </a:rPr>
                <a:t>配位原子</a:t>
              </a:r>
              <a:endParaRPr lang="zh-CN" altLang="en-US" sz="1800" b="0" dirty="0">
                <a:latin typeface="Arial" panose="020B0604020202020204" pitchFamily="34" charset="0"/>
                <a:ea typeface="宋体" panose="02010600030101010101" pitchFamily="2" charset="-122"/>
              </a:endParaRPr>
            </a:p>
          </p:txBody>
        </p:sp>
      </p:grpSp>
      <p:sp>
        <p:nvSpPr>
          <p:cNvPr id="74769" name="Text Box 50"/>
          <p:cNvSpPr txBox="1"/>
          <p:nvPr/>
        </p:nvSpPr>
        <p:spPr>
          <a:xfrm>
            <a:off x="107950" y="87314"/>
            <a:ext cx="7850188" cy="523220"/>
          </a:xfrm>
          <a:prstGeom prst="rect">
            <a:avLst/>
          </a:prstGeom>
          <a:noFill/>
          <a:ln w="9525">
            <a:noFill/>
          </a:ln>
        </p:spPr>
        <p:txBody>
          <a:bodyPr anchor="t"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74770" name="Rectangle 51"/>
          <p:cNvSpPr/>
          <p:nvPr/>
        </p:nvSpPr>
        <p:spPr>
          <a:xfrm>
            <a:off x="179393" y="112608"/>
            <a:ext cx="3270447" cy="646331"/>
          </a:xfrm>
          <a:prstGeom prst="rect">
            <a:avLst/>
          </a:prstGeom>
          <a:noFill/>
          <a:ln w="9525">
            <a:noFill/>
          </a:ln>
        </p:spPr>
        <p:txBody>
          <a:bodyPr wrap="none" anchor="ctr" anchorCtr="0">
            <a:spAutoFit/>
          </a:bodyPr>
          <a:lstStyle/>
          <a:p>
            <a:pPr>
              <a:spcBef>
                <a:spcPct val="50000"/>
              </a:spcBef>
              <a:buClrTx/>
              <a:buFontTx/>
            </a:pPr>
            <a:r>
              <a:rPr lang="en-US" altLang="zh-CN" sz="3600" dirty="0">
                <a:solidFill>
                  <a:srgbClr val="FF0066"/>
                </a:solidFill>
                <a:latin typeface="华文新魏" pitchFamily="2" charset="-122"/>
                <a:ea typeface="华文新魏" pitchFamily="2" charset="-122"/>
              </a:rPr>
              <a:t>1.</a:t>
            </a:r>
            <a:r>
              <a:rPr lang="zh-CN" altLang="en-US" sz="3600" dirty="0">
                <a:solidFill>
                  <a:srgbClr val="FF0066"/>
                </a:solidFill>
                <a:latin typeface="华文新魏" pitchFamily="2" charset="-122"/>
                <a:ea typeface="华文新魏" pitchFamily="2" charset="-122"/>
              </a:rPr>
              <a:t>配合物的组成</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grpId="0" nodeType="clickEffect">
                                  <p:stCondLst>
                                    <p:cond delay="0"/>
                                  </p:stCondLst>
                                  <p:childTnLst>
                                    <p:set>
                                      <p:cBhvr>
                                        <p:cTn id="6" dur="75">
                                          <p:stCondLst>
                                            <p:cond delay="0"/>
                                          </p:stCondLst>
                                        </p:cTn>
                                        <p:tgtEl>
                                          <p:spTgt spid="60458"/>
                                        </p:tgtEl>
                                        <p:attrNameLst>
                                          <p:attrName>style.visibility</p:attrName>
                                        </p:attrNameLst>
                                      </p:cBhvr>
                                      <p:to>
                                        <p:strVal val="visible"/>
                                      </p:to>
                                    </p:set>
                                  </p:childTnLst>
                                </p:cTn>
                              </p:par>
                            </p:childTnLst>
                          </p:cTn>
                        </p:par>
                        <p:par>
                          <p:cTn id="7" fill="hold">
                            <p:stCondLst>
                              <p:cond delay="500"/>
                            </p:stCondLst>
                            <p:childTnLst>
                              <p:par>
                                <p:cTn id="8" presetID="12" presetClass="entr" presetSubtype="4"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slide(fromBottom)">
                                      <p:cBhvr>
                                        <p:cTn id="10" dur="500"/>
                                        <p:tgtEl>
                                          <p:spTgt spid="4"/>
                                        </p:tgtEl>
                                      </p:cBhvr>
                                    </p:animEffect>
                                  </p:childTnLst>
                                </p:cTn>
                              </p:par>
                            </p:childTnLst>
                          </p:cTn>
                        </p:par>
                        <p:par>
                          <p:cTn id="11" fill="hold">
                            <p:stCondLst>
                              <p:cond delay="1000"/>
                            </p:stCondLst>
                            <p:childTnLst>
                              <p:par>
                                <p:cTn id="12" presetID="11" presetClass="entr" presetSubtype="0" fill="hold" grpId="0" nodeType="afterEffect">
                                  <p:stCondLst>
                                    <p:cond delay="0"/>
                                  </p:stCondLst>
                                  <p:childTnLst>
                                    <p:set>
                                      <p:cBhvr>
                                        <p:cTn id="13" dur="75">
                                          <p:stCondLst>
                                            <p:cond delay="0"/>
                                          </p:stCondLst>
                                        </p:cTn>
                                        <p:tgtEl>
                                          <p:spTgt spid="60459"/>
                                        </p:tgtEl>
                                        <p:attrNameLst>
                                          <p:attrName>style.visibility</p:attrName>
                                        </p:attrNameLst>
                                      </p:cBhvr>
                                      <p:to>
                                        <p:strVal val="visible"/>
                                      </p:to>
                                    </p:set>
                                  </p:childTnLst>
                                </p:cTn>
                              </p:par>
                            </p:childTnLst>
                          </p:cTn>
                        </p:par>
                        <p:par>
                          <p:cTn id="14" fill="hold">
                            <p:stCondLst>
                              <p:cond delay="1500"/>
                            </p:stCondLst>
                            <p:childTnLst>
                              <p:par>
                                <p:cTn id="15" presetID="12" presetClass="entr" presetSubtype="4"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lide(fromBottom)">
                                      <p:cBhvr>
                                        <p:cTn id="17" dur="500"/>
                                        <p:tgtEl>
                                          <p:spTgt spid="3"/>
                                        </p:tgtEl>
                                      </p:cBhvr>
                                    </p:animEffect>
                                  </p:childTnLst>
                                </p:cTn>
                              </p:par>
                            </p:childTnLst>
                          </p:cTn>
                        </p:par>
                        <p:par>
                          <p:cTn id="18" fill="hold">
                            <p:stCondLst>
                              <p:cond delay="2000"/>
                            </p:stCondLst>
                            <p:childTnLst>
                              <p:par>
                                <p:cTn id="19" presetID="12" presetClass="entr" presetSubtype="1"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slide(fromTop)">
                                      <p:cBhvr>
                                        <p:cTn id="21" dur="500"/>
                                        <p:tgtEl>
                                          <p:spTgt spid="5"/>
                                        </p:tgtEl>
                                      </p:cBhvr>
                                    </p:animEffect>
                                  </p:childTnLst>
                                </p:cTn>
                              </p:par>
                            </p:childTnLst>
                          </p:cTn>
                        </p:par>
                        <p:par>
                          <p:cTn id="22" fill="hold">
                            <p:stCondLst>
                              <p:cond delay="2500"/>
                            </p:stCondLst>
                            <p:childTnLst>
                              <p:par>
                                <p:cTn id="23" presetID="12" presetClass="entr" presetSubtype="4"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slide(fromBottom)">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58" grpId="0"/>
      <p:bldP spid="6045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ext Box 25"/>
          <p:cNvSpPr txBox="1"/>
          <p:nvPr/>
        </p:nvSpPr>
        <p:spPr>
          <a:xfrm>
            <a:off x="322586" y="195266"/>
            <a:ext cx="2663825" cy="646331"/>
          </a:xfrm>
          <a:prstGeom prst="rect">
            <a:avLst/>
          </a:prstGeom>
          <a:noFill/>
          <a:ln w="9525">
            <a:noFill/>
          </a:ln>
        </p:spPr>
        <p:txBody>
          <a:bodyPr anchor="t" anchorCtr="0">
            <a:spAutoFit/>
          </a:bodyPr>
          <a:lstStyle/>
          <a:p>
            <a:pPr>
              <a:spcBef>
                <a:spcPct val="50000"/>
              </a:spcBef>
              <a:buClrTx/>
              <a:buFontTx/>
            </a:pPr>
            <a:r>
              <a:rPr lang="en-US" altLang="zh-CN" sz="3600" dirty="0">
                <a:latin typeface="华文新魏" pitchFamily="2" charset="-122"/>
                <a:ea typeface="华文新魏" pitchFamily="2" charset="-122"/>
              </a:rPr>
              <a:t>1) </a:t>
            </a:r>
            <a:r>
              <a:rPr lang="zh-CN" altLang="en-US" sz="3600" dirty="0">
                <a:latin typeface="华文新魏" pitchFamily="2" charset="-122"/>
                <a:ea typeface="华文新魏" pitchFamily="2" charset="-122"/>
              </a:rPr>
              <a:t>形成体 </a:t>
            </a:r>
          </a:p>
        </p:txBody>
      </p:sp>
      <p:sp>
        <p:nvSpPr>
          <p:cNvPr id="75778" name="Text Box 26"/>
          <p:cNvSpPr txBox="1"/>
          <p:nvPr/>
        </p:nvSpPr>
        <p:spPr>
          <a:xfrm>
            <a:off x="395294" y="699771"/>
            <a:ext cx="8567737" cy="1631216"/>
          </a:xfrm>
          <a:prstGeom prst="rect">
            <a:avLst/>
          </a:prstGeom>
          <a:noFill/>
          <a:ln w="9525">
            <a:noFill/>
          </a:ln>
        </p:spPr>
        <p:txBody>
          <a:bodyPr anchor="t" anchorCtr="0">
            <a:spAutoFit/>
          </a:bodyPr>
          <a:lstStyle/>
          <a:p>
            <a:pPr>
              <a:lnSpc>
                <a:spcPts val="4000"/>
              </a:lnSpc>
              <a:spcBef>
                <a:spcPct val="50000"/>
              </a:spcBef>
              <a:buClrTx/>
              <a:buFontTx/>
            </a:pPr>
            <a:r>
              <a:rPr lang="zh-CN" altLang="en-US" dirty="0">
                <a:latin typeface="Times New Roman" panose="02020603050405020304" pitchFamily="18" charset="0"/>
                <a:ea typeface="宋体" panose="02010600030101010101" pitchFamily="2" charset="-122"/>
              </a:rPr>
              <a:t> 在配合物内界，位于中心位置的带正电荷的离子（或中性原子）称为配合物的</a:t>
            </a:r>
            <a:r>
              <a:rPr lang="zh-CN" altLang="en-US" dirty="0">
                <a:solidFill>
                  <a:srgbClr val="FF0066"/>
                </a:solidFill>
                <a:latin typeface="Times New Roman" panose="02020603050405020304" pitchFamily="18" charset="0"/>
                <a:ea typeface="宋体" panose="02010600030101010101" pitchFamily="2" charset="-122"/>
              </a:rPr>
              <a:t>中心离子</a:t>
            </a:r>
            <a:r>
              <a:rPr lang="zh-CN" altLang="en-US" dirty="0">
                <a:latin typeface="Times New Roman" panose="02020603050405020304" pitchFamily="18" charset="0"/>
                <a:ea typeface="宋体" panose="02010600030101010101" pitchFamily="2" charset="-122"/>
              </a:rPr>
              <a:t>（或原子），也叫配合物的形成体。 </a:t>
            </a:r>
          </a:p>
        </p:txBody>
      </p:sp>
      <p:sp>
        <p:nvSpPr>
          <p:cNvPr id="75779" name="Oval 27"/>
          <p:cNvSpPr/>
          <p:nvPr/>
        </p:nvSpPr>
        <p:spPr>
          <a:xfrm>
            <a:off x="468319" y="1274765"/>
            <a:ext cx="217487" cy="161925"/>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nvGrpSpPr>
          <p:cNvPr id="2" name="Group 31"/>
          <p:cNvGrpSpPr/>
          <p:nvPr/>
        </p:nvGrpSpPr>
        <p:grpSpPr>
          <a:xfrm>
            <a:off x="320675" y="2152335"/>
            <a:ext cx="8642350" cy="2970610"/>
            <a:chOff x="248" y="1918"/>
            <a:chExt cx="5444" cy="2495"/>
          </a:xfrm>
        </p:grpSpPr>
        <p:sp>
          <p:nvSpPr>
            <p:cNvPr id="75781" name="Oval 28"/>
            <p:cNvSpPr/>
            <p:nvPr/>
          </p:nvSpPr>
          <p:spPr>
            <a:xfrm>
              <a:off x="249" y="2205"/>
              <a:ext cx="137" cy="136"/>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75782" name="Oval 29"/>
            <p:cNvSpPr/>
            <p:nvPr/>
          </p:nvSpPr>
          <p:spPr>
            <a:xfrm>
              <a:off x="248" y="3249"/>
              <a:ext cx="137" cy="136"/>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75783" name="Text Box 30"/>
            <p:cNvSpPr txBox="1"/>
            <p:nvPr/>
          </p:nvSpPr>
          <p:spPr>
            <a:xfrm>
              <a:off x="331" y="1918"/>
              <a:ext cx="5361" cy="2495"/>
            </a:xfrm>
            <a:prstGeom prst="rect">
              <a:avLst/>
            </a:prstGeom>
            <a:noFill/>
            <a:ln w="9525">
              <a:noFill/>
            </a:ln>
          </p:spPr>
          <p:txBody>
            <a:bodyPr anchor="t" anchorCtr="0">
              <a:spAutoFit/>
            </a:bodyPr>
            <a:lstStyle/>
            <a:p>
              <a:pPr>
                <a:lnSpc>
                  <a:spcPct val="130000"/>
                </a:lnSpc>
                <a:spcBef>
                  <a:spcPts val="600"/>
                </a:spcBef>
                <a:buClrTx/>
                <a:buFontTx/>
              </a:pPr>
              <a:r>
                <a:rPr lang="zh-CN" altLang="en-US" dirty="0">
                  <a:latin typeface="Times New Roman" panose="02020603050405020304" pitchFamily="18" charset="0"/>
                  <a:ea typeface="宋体" panose="02010600030101010101" pitchFamily="2" charset="-122"/>
                </a:rPr>
                <a:t> 形成体通常是金属阳离子和原子，如</a:t>
              </a:r>
              <a:r>
                <a:rPr lang="en-US" altLang="zh-CN" dirty="0">
                  <a:latin typeface="Times New Roman" panose="02020603050405020304" pitchFamily="18" charset="0"/>
                  <a:ea typeface="宋体" panose="02010600030101010101" pitchFamily="2" charset="-122"/>
                </a:rPr>
                <a:t>[Cu(NH</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中的</a:t>
              </a:r>
              <a:r>
                <a:rPr lang="de-DE" altLang="zh-CN" dirty="0">
                  <a:latin typeface="Times New Roman" panose="02020603050405020304" pitchFamily="18" charset="0"/>
                  <a:ea typeface="宋体" panose="02010600030101010101" pitchFamily="2" charset="-122"/>
                </a:rPr>
                <a:t>Cu</a:t>
              </a:r>
              <a:r>
                <a:rPr lang="de-DE" altLang="zh-CN" baseline="30000" dirty="0">
                  <a:latin typeface="Times New Roman" panose="02020603050405020304" pitchFamily="18" charset="0"/>
                  <a:ea typeface="宋体" panose="02010600030101010101" pitchFamily="2" charset="-122"/>
                </a:rPr>
                <a:t>2+</a:t>
              </a:r>
              <a:r>
                <a:rPr lang="zh-CN" altLang="de-DE" dirty="0">
                  <a:latin typeface="Times New Roman" panose="02020603050405020304" pitchFamily="18" charset="0"/>
                  <a:ea typeface="宋体" panose="02010600030101010101" pitchFamily="2" charset="-122"/>
                </a:rPr>
                <a:t>，</a:t>
              </a:r>
              <a:r>
                <a:rPr lang="de-DE" altLang="zh-CN" dirty="0">
                  <a:latin typeface="Times New Roman" panose="02020603050405020304" pitchFamily="18" charset="0"/>
                  <a:ea typeface="宋体" panose="02010600030101010101" pitchFamily="2" charset="-122"/>
                </a:rPr>
                <a:t>[Fe(CN)</a:t>
              </a:r>
              <a:r>
                <a:rPr lang="de-DE" altLang="zh-CN" baseline="-25000" dirty="0">
                  <a:latin typeface="Times New Roman" panose="02020603050405020304" pitchFamily="18" charset="0"/>
                  <a:ea typeface="宋体" panose="02010600030101010101" pitchFamily="2" charset="-122"/>
                </a:rPr>
                <a:t>6</a:t>
              </a:r>
              <a:r>
                <a:rPr lang="de-DE" altLang="zh-CN" dirty="0">
                  <a:latin typeface="Times New Roman" panose="02020603050405020304" pitchFamily="18" charset="0"/>
                  <a:ea typeface="宋体" panose="02010600030101010101" pitchFamily="2" charset="-122"/>
                </a:rPr>
                <a:t>]</a:t>
              </a:r>
              <a:r>
                <a:rPr lang="de-DE" altLang="zh-CN" baseline="30000" dirty="0">
                  <a:latin typeface="Times New Roman" panose="02020603050405020304" pitchFamily="18" charset="0"/>
                  <a:ea typeface="宋体" panose="02010600030101010101" pitchFamily="2" charset="-122"/>
                </a:rPr>
                <a:t>4-</a:t>
              </a:r>
              <a:r>
                <a:rPr lang="zh-CN" altLang="de-DE" dirty="0">
                  <a:latin typeface="Times New Roman" panose="02020603050405020304" pitchFamily="18" charset="0"/>
                  <a:ea typeface="宋体" panose="02010600030101010101" pitchFamily="2" charset="-122"/>
                </a:rPr>
                <a:t>中的</a:t>
              </a:r>
              <a:r>
                <a:rPr lang="de-DE" altLang="zh-CN" dirty="0">
                  <a:latin typeface="Times New Roman" panose="02020603050405020304" pitchFamily="18" charset="0"/>
                  <a:ea typeface="宋体" panose="02010600030101010101" pitchFamily="2" charset="-122"/>
                </a:rPr>
                <a:t>Fe</a:t>
              </a:r>
              <a:r>
                <a:rPr lang="en-US" altLang="zh-CN" baseline="30000" dirty="0">
                  <a:latin typeface="Times New Roman" panose="02020603050405020304" pitchFamily="18" charset="0"/>
                  <a:ea typeface="宋体" panose="02010600030101010101" pitchFamily="2" charset="-122"/>
                </a:rPr>
                <a:t>2</a:t>
              </a:r>
              <a:r>
                <a:rPr lang="de-DE" altLang="zh-CN" baseline="30000" dirty="0">
                  <a:latin typeface="Times New Roman" panose="02020603050405020304" pitchFamily="18" charset="0"/>
                  <a:ea typeface="宋体" panose="02010600030101010101" pitchFamily="2" charset="-122"/>
                </a:rPr>
                <a:t>+</a:t>
              </a:r>
              <a:r>
                <a:rPr lang="zh-CN" altLang="de-DE"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[Ni(CO)</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中的</a:t>
              </a:r>
              <a:r>
                <a:rPr lang="en-US" altLang="zh-CN" dirty="0">
                  <a:latin typeface="Times New Roman" panose="02020603050405020304" pitchFamily="18" charset="0"/>
                  <a:ea typeface="宋体" panose="02010600030101010101" pitchFamily="2" charset="-122"/>
                </a:rPr>
                <a:t>Ni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[Fe(CO)</a:t>
              </a:r>
              <a:r>
                <a:rPr lang="en-US" altLang="zh-CN" baseline="-25000" dirty="0">
                  <a:latin typeface="Times New Roman" panose="02020603050405020304" pitchFamily="18" charset="0"/>
                  <a:ea typeface="宋体" panose="02010600030101010101" pitchFamily="2" charset="-122"/>
                </a:rPr>
                <a:t>5</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中的</a:t>
              </a:r>
              <a:r>
                <a:rPr lang="en-US" altLang="zh-CN" dirty="0">
                  <a:latin typeface="Times New Roman" panose="02020603050405020304" pitchFamily="18" charset="0"/>
                  <a:ea typeface="宋体" panose="02010600030101010101" pitchFamily="2" charset="-122"/>
                </a:rPr>
                <a:t>Fe</a:t>
              </a:r>
              <a:r>
                <a:rPr lang="zh-CN" altLang="en-US" dirty="0">
                  <a:latin typeface="Times New Roman" panose="02020603050405020304" pitchFamily="18" charset="0"/>
                  <a:ea typeface="宋体" panose="02010600030101010101" pitchFamily="2" charset="-122"/>
                </a:rPr>
                <a:t>。</a:t>
              </a:r>
            </a:p>
            <a:p>
              <a:pPr>
                <a:lnSpc>
                  <a:spcPct val="130000"/>
                </a:lnSpc>
                <a:spcBef>
                  <a:spcPts val="600"/>
                </a:spcBef>
                <a:buClrTx/>
                <a:buFontTx/>
              </a:pPr>
              <a:r>
                <a:rPr lang="zh-CN" altLang="en-US" dirty="0">
                  <a:latin typeface="Times New Roman" panose="02020603050405020304" pitchFamily="18" charset="0"/>
                  <a:ea typeface="宋体" panose="02010600030101010101" pitchFamily="2" charset="-122"/>
                </a:rPr>
                <a:t>少数高氧化态的非金属元素也可作为中心离子，如   </a:t>
              </a:r>
              <a:r>
                <a:rPr lang="en-US" altLang="zh-CN" dirty="0">
                  <a:latin typeface="Times New Roman" panose="02020603050405020304" pitchFamily="18" charset="0"/>
                  <a:ea typeface="宋体" panose="02010600030101010101" pitchFamily="2" charset="-122"/>
                </a:rPr>
                <a:t>[SiF</a:t>
              </a:r>
              <a:r>
                <a:rPr lang="en-US" altLang="zh-CN" baseline="-25000" dirty="0">
                  <a:latin typeface="Times New Roman" panose="02020603050405020304" pitchFamily="18" charset="0"/>
                  <a:ea typeface="宋体" panose="02010600030101010101" pitchFamily="2" charset="-122"/>
                </a:rPr>
                <a:t>6</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中的</a:t>
              </a:r>
              <a:r>
                <a:rPr lang="en-US" altLang="zh-CN" dirty="0">
                  <a:latin typeface="Times New Roman" panose="02020603050405020304" pitchFamily="18" charset="0"/>
                  <a:ea typeface="宋体" panose="02010600030101010101" pitchFamily="2" charset="-122"/>
                </a:rPr>
                <a:t>Si</a:t>
              </a:r>
              <a:r>
                <a:rPr lang="en-US" altLang="zh-CN" baseline="30000"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[BF</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中的</a:t>
              </a:r>
              <a:r>
                <a:rPr lang="en-US" altLang="zh-CN" dirty="0">
                  <a:latin typeface="Times New Roman" panose="02020603050405020304" pitchFamily="18" charset="0"/>
                  <a:ea typeface="宋体" panose="02010600030101010101" pitchFamily="2" charset="-122"/>
                </a:rPr>
                <a:t>B</a:t>
              </a:r>
              <a:r>
                <a:rPr lang="en-US" altLang="zh-CN" baseline="30000"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p>
          </p:txBody>
        </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8"/>
          <p:cNvSpPr/>
          <p:nvPr/>
        </p:nvSpPr>
        <p:spPr>
          <a:xfrm>
            <a:off x="179394" y="194183"/>
            <a:ext cx="6099747" cy="584775"/>
          </a:xfrm>
          <a:prstGeom prst="rect">
            <a:avLst/>
          </a:prstGeom>
          <a:noFill/>
          <a:ln w="9525">
            <a:noFill/>
          </a:ln>
        </p:spPr>
        <p:txBody>
          <a:bodyPr wrap="none" anchor="ctr" anchorCtr="0">
            <a:spAutoFit/>
          </a:bodyPr>
          <a:lstStyle/>
          <a:p>
            <a:pPr eaLnBrk="0" hangingPunct="0">
              <a:buClrTx/>
              <a:buFontTx/>
            </a:pPr>
            <a:r>
              <a:rPr lang="en-US" altLang="zh-CN" sz="3200" dirty="0">
                <a:latin typeface="华文新魏" pitchFamily="2" charset="-122"/>
                <a:ea typeface="华文新魏" pitchFamily="2" charset="-122"/>
              </a:rPr>
              <a:t>2) </a:t>
            </a:r>
            <a:r>
              <a:rPr lang="zh-CN" altLang="en-US" sz="3200" dirty="0">
                <a:latin typeface="华文新魏" pitchFamily="2" charset="-122"/>
                <a:ea typeface="华文新魏" pitchFamily="2" charset="-122"/>
              </a:rPr>
              <a:t>配位个体、配位体和配位原子 </a:t>
            </a:r>
          </a:p>
        </p:txBody>
      </p:sp>
      <p:sp>
        <p:nvSpPr>
          <p:cNvPr id="76802" name="Text Box 39"/>
          <p:cNvSpPr txBox="1"/>
          <p:nvPr/>
        </p:nvSpPr>
        <p:spPr>
          <a:xfrm>
            <a:off x="1250950" y="2770188"/>
            <a:ext cx="1081088"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grpSp>
        <p:nvGrpSpPr>
          <p:cNvPr id="76803" name="Group 40"/>
          <p:cNvGrpSpPr/>
          <p:nvPr/>
        </p:nvGrpSpPr>
        <p:grpSpPr>
          <a:xfrm>
            <a:off x="179388" y="782641"/>
            <a:ext cx="8964612" cy="522682"/>
            <a:chOff x="204" y="1026"/>
            <a:chExt cx="5465" cy="438"/>
          </a:xfrm>
        </p:grpSpPr>
        <p:sp>
          <p:nvSpPr>
            <p:cNvPr id="76804" name="Oval 41"/>
            <p:cNvSpPr/>
            <p:nvPr/>
          </p:nvSpPr>
          <p:spPr>
            <a:xfrm>
              <a:off x="204" y="1182"/>
              <a:ext cx="136" cy="136"/>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76805" name="Text Box 42"/>
            <p:cNvSpPr txBox="1"/>
            <p:nvPr/>
          </p:nvSpPr>
          <p:spPr>
            <a:xfrm>
              <a:off x="340" y="1026"/>
              <a:ext cx="5329" cy="438"/>
            </a:xfrm>
            <a:prstGeom prst="rect">
              <a:avLst/>
            </a:prstGeom>
            <a:noFill/>
            <a:ln w="9525">
              <a:noFill/>
            </a:ln>
          </p:spPr>
          <p:txBody>
            <a:bodyPr anchor="t" anchorCtr="0">
              <a:spAutoFit/>
            </a:bodyPr>
            <a:lstStyle/>
            <a:p>
              <a:pPr>
                <a:spcBef>
                  <a:spcPct val="50000"/>
                </a:spcBef>
                <a:buClrTx/>
                <a:buFontTx/>
              </a:pPr>
              <a:r>
                <a:rPr lang="zh-CN" altLang="en-US" dirty="0">
                  <a:latin typeface="幼圆" pitchFamily="49" charset="-122"/>
                  <a:ea typeface="幼圆" pitchFamily="49" charset="-122"/>
                </a:rPr>
                <a:t>配位个体</a:t>
              </a:r>
              <a:r>
                <a:rPr lang="en-US" altLang="zh-CN" dirty="0">
                  <a:latin typeface="Arial" panose="020B0604020202020204" pitchFamily="34" charset="0"/>
                  <a:ea typeface="幼圆" pitchFamily="49" charset="-122"/>
                </a:rPr>
                <a:t>——</a:t>
              </a:r>
              <a:r>
                <a:rPr lang="zh-CN" altLang="en-US" dirty="0">
                  <a:latin typeface="幼圆" pitchFamily="49" charset="-122"/>
                  <a:ea typeface="幼圆" pitchFamily="49" charset="-122"/>
                </a:rPr>
                <a:t>形成体与一定数目配体形成的结构单元</a:t>
              </a:r>
              <a:endParaRPr lang="en-US" altLang="zh-CN" b="0" dirty="0">
                <a:latin typeface="Arial" panose="020B0604020202020204" pitchFamily="34" charset="0"/>
                <a:ea typeface="宋体" panose="02010600030101010101" pitchFamily="2" charset="-122"/>
              </a:endParaRPr>
            </a:p>
          </p:txBody>
        </p:sp>
      </p:grpSp>
      <p:grpSp>
        <p:nvGrpSpPr>
          <p:cNvPr id="3" name="Group 43"/>
          <p:cNvGrpSpPr/>
          <p:nvPr/>
        </p:nvGrpSpPr>
        <p:grpSpPr>
          <a:xfrm>
            <a:off x="179388" y="1346200"/>
            <a:ext cx="9086850" cy="536575"/>
            <a:chOff x="204" y="2034"/>
            <a:chExt cx="5724" cy="450"/>
          </a:xfrm>
        </p:grpSpPr>
        <p:sp>
          <p:nvSpPr>
            <p:cNvPr id="76807" name="Oval 44"/>
            <p:cNvSpPr/>
            <p:nvPr/>
          </p:nvSpPr>
          <p:spPr>
            <a:xfrm>
              <a:off x="204" y="2034"/>
              <a:ext cx="136" cy="136"/>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76808" name="Text Box 45"/>
            <p:cNvSpPr txBox="1"/>
            <p:nvPr/>
          </p:nvSpPr>
          <p:spPr>
            <a:xfrm>
              <a:off x="326" y="2045"/>
              <a:ext cx="5602" cy="439"/>
            </a:xfrm>
            <a:prstGeom prst="rect">
              <a:avLst/>
            </a:prstGeom>
            <a:noFill/>
            <a:ln w="9525">
              <a:noFill/>
            </a:ln>
          </p:spPr>
          <p:txBody>
            <a:bodyPr anchor="t" anchorCtr="0">
              <a:spAutoFit/>
            </a:bodyPr>
            <a:lstStyle/>
            <a:p>
              <a:pPr>
                <a:spcBef>
                  <a:spcPct val="50000"/>
                </a:spcBef>
                <a:buClrTx/>
                <a:buFontTx/>
              </a:pPr>
              <a:r>
                <a:rPr lang="zh-CN" altLang="en-US" dirty="0">
                  <a:latin typeface="幼圆" pitchFamily="49" charset="-122"/>
                  <a:ea typeface="幼圆" pitchFamily="49" charset="-122"/>
                </a:rPr>
                <a:t>配位体</a:t>
              </a:r>
              <a:r>
                <a:rPr lang="en-US" altLang="zh-CN" dirty="0">
                  <a:latin typeface="幼圆" pitchFamily="49" charset="-122"/>
                  <a:ea typeface="幼圆" pitchFamily="49" charset="-122"/>
                </a:rPr>
                <a:t>(</a:t>
              </a:r>
              <a:r>
                <a:rPr lang="zh-CN" altLang="en-US" dirty="0">
                  <a:latin typeface="幼圆" pitchFamily="49" charset="-122"/>
                  <a:ea typeface="幼圆" pitchFamily="49" charset="-122"/>
                </a:rPr>
                <a:t>简称配体</a:t>
              </a:r>
              <a:r>
                <a:rPr lang="en-US" altLang="zh-CN" dirty="0">
                  <a:latin typeface="幼圆" pitchFamily="49" charset="-122"/>
                  <a:ea typeface="幼圆" pitchFamily="49" charset="-122"/>
                </a:rPr>
                <a:t>)</a:t>
              </a:r>
              <a:r>
                <a:rPr lang="en-US" altLang="zh-CN" dirty="0">
                  <a:latin typeface="Arial" panose="020B0604020202020204" pitchFamily="34" charset="0"/>
                  <a:ea typeface="幼圆" pitchFamily="49" charset="-122"/>
                </a:rPr>
                <a:t>——</a:t>
              </a:r>
              <a:r>
                <a:rPr lang="zh-CN" altLang="en-US" dirty="0">
                  <a:latin typeface="幼圆" pitchFamily="49" charset="-122"/>
                  <a:ea typeface="幼圆" pitchFamily="49" charset="-122"/>
                </a:rPr>
                <a:t>与形成体结合的离子或中性分子</a:t>
              </a:r>
              <a:endParaRPr lang="zh-CN" altLang="en-US" b="0" dirty="0">
                <a:latin typeface="Arial" panose="020B0604020202020204" pitchFamily="34" charset="0"/>
                <a:ea typeface="宋体" panose="02010600030101010101" pitchFamily="2" charset="-122"/>
              </a:endParaRPr>
            </a:p>
          </p:txBody>
        </p:sp>
      </p:grpSp>
      <p:sp>
        <p:nvSpPr>
          <p:cNvPr id="62510" name="Text Box 46"/>
          <p:cNvSpPr txBox="1"/>
          <p:nvPr/>
        </p:nvSpPr>
        <p:spPr>
          <a:xfrm>
            <a:off x="582619" y="2076453"/>
            <a:ext cx="7920037" cy="954107"/>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如          </a:t>
            </a:r>
            <a:r>
              <a:rPr lang="en-US" altLang="zh-CN" dirty="0">
                <a:latin typeface="Times New Roman" panose="02020603050405020304" pitchFamily="18" charset="0"/>
                <a:ea typeface="幼圆" pitchFamily="49" charset="-122"/>
              </a:rPr>
              <a:t>[Cu(</a:t>
            </a:r>
            <a:r>
              <a:rPr lang="en-US" altLang="zh-CN" dirty="0">
                <a:solidFill>
                  <a:srgbClr val="3333FF"/>
                </a:solidFill>
                <a:latin typeface="Times New Roman" panose="02020603050405020304" pitchFamily="18" charset="0"/>
                <a:ea typeface="幼圆" pitchFamily="49" charset="-122"/>
              </a:rPr>
              <a:t>NH</a:t>
            </a:r>
            <a:r>
              <a:rPr lang="en-US" altLang="zh-CN" baseline="-25000" dirty="0">
                <a:solidFill>
                  <a:srgbClr val="3333FF"/>
                </a:solidFill>
                <a:latin typeface="Times New Roman" panose="02020603050405020304" pitchFamily="18" charset="0"/>
                <a:ea typeface="幼圆" pitchFamily="49" charset="-122"/>
              </a:rPr>
              <a:t>3</a:t>
            </a:r>
            <a:r>
              <a:rPr lang="en-US" altLang="zh-CN" dirty="0">
                <a:latin typeface="Times New Roman" panose="02020603050405020304" pitchFamily="18" charset="0"/>
                <a:ea typeface="幼圆" pitchFamily="49" charset="-122"/>
              </a:rPr>
              <a:t>)</a:t>
            </a:r>
            <a:r>
              <a:rPr lang="en-US" altLang="zh-CN" baseline="-25000" dirty="0">
                <a:latin typeface="Times New Roman" panose="02020603050405020304" pitchFamily="18" charset="0"/>
                <a:ea typeface="幼圆" pitchFamily="49" charset="-122"/>
              </a:rPr>
              <a:t>4</a:t>
            </a:r>
            <a:r>
              <a:rPr lang="en-US" altLang="zh-CN" dirty="0">
                <a:latin typeface="Times New Roman" panose="02020603050405020304" pitchFamily="18" charset="0"/>
                <a:ea typeface="幼圆" pitchFamily="49" charset="-122"/>
              </a:rPr>
              <a:t>]</a:t>
            </a:r>
            <a:r>
              <a:rPr lang="en-US" altLang="zh-CN" baseline="30000" dirty="0">
                <a:latin typeface="Times New Roman" panose="02020603050405020304" pitchFamily="18" charset="0"/>
                <a:ea typeface="幼圆" pitchFamily="49" charset="-122"/>
              </a:rPr>
              <a:t>2+</a:t>
            </a:r>
            <a:r>
              <a:rPr lang="en-US" altLang="zh-CN" dirty="0">
                <a:latin typeface="Times New Roman" panose="02020603050405020304" pitchFamily="18" charset="0"/>
                <a:ea typeface="幼圆" pitchFamily="49" charset="-122"/>
              </a:rPr>
              <a:t>         [Fe(</a:t>
            </a:r>
            <a:r>
              <a:rPr lang="en-US" altLang="zh-CN" dirty="0">
                <a:solidFill>
                  <a:srgbClr val="3333FF"/>
                </a:solidFill>
                <a:latin typeface="Times New Roman" panose="02020603050405020304" pitchFamily="18" charset="0"/>
                <a:ea typeface="幼圆" pitchFamily="49" charset="-122"/>
              </a:rPr>
              <a:t>CO</a:t>
            </a:r>
            <a:r>
              <a:rPr lang="en-US" altLang="zh-CN" dirty="0">
                <a:latin typeface="Times New Roman" panose="02020603050405020304" pitchFamily="18" charset="0"/>
                <a:ea typeface="幼圆" pitchFamily="49" charset="-122"/>
              </a:rPr>
              <a:t>)</a:t>
            </a:r>
            <a:r>
              <a:rPr lang="en-US" altLang="zh-CN" baseline="-25000" dirty="0">
                <a:latin typeface="Times New Roman" panose="02020603050405020304" pitchFamily="18" charset="0"/>
                <a:ea typeface="幼圆" pitchFamily="49" charset="-122"/>
              </a:rPr>
              <a:t>5</a:t>
            </a:r>
            <a:r>
              <a:rPr lang="en-US" altLang="zh-CN" dirty="0">
                <a:latin typeface="Times New Roman" panose="02020603050405020304" pitchFamily="18" charset="0"/>
                <a:ea typeface="幼圆" pitchFamily="49" charset="-122"/>
              </a:rPr>
              <a:t>] </a:t>
            </a:r>
            <a:endParaRPr lang="en-US" altLang="zh-CN" b="0" dirty="0">
              <a:latin typeface="Arial" panose="020B0604020202020204" pitchFamily="34" charset="0"/>
              <a:ea typeface="ˎ̥"/>
            </a:endParaRPr>
          </a:p>
          <a:p>
            <a:pPr>
              <a:lnSpc>
                <a:spcPct val="50000"/>
              </a:lnSpc>
              <a:spcBef>
                <a:spcPct val="50000"/>
              </a:spcBef>
              <a:buClrTx/>
              <a:buFontTx/>
            </a:pPr>
            <a:r>
              <a:rPr lang="zh-CN" altLang="en-US" dirty="0">
                <a:latin typeface="Times New Roman" panose="02020603050405020304" pitchFamily="18" charset="0"/>
                <a:ea typeface="幼圆" pitchFamily="49" charset="-122"/>
              </a:rPr>
              <a:t>配体</a:t>
            </a:r>
            <a:r>
              <a:rPr lang="zh-CN" altLang="en-US" dirty="0">
                <a:solidFill>
                  <a:srgbClr val="3333FF"/>
                </a:solidFill>
                <a:latin typeface="Times New Roman" panose="02020603050405020304" pitchFamily="18" charset="0"/>
                <a:ea typeface="幼圆" pitchFamily="49" charset="-122"/>
              </a:rPr>
              <a:t>            </a:t>
            </a:r>
            <a:r>
              <a:rPr lang="en-US" altLang="zh-CN" dirty="0">
                <a:solidFill>
                  <a:srgbClr val="3333FF"/>
                </a:solidFill>
                <a:latin typeface="Times New Roman" panose="02020603050405020304" pitchFamily="18" charset="0"/>
                <a:ea typeface="幼圆" pitchFamily="49" charset="-122"/>
              </a:rPr>
              <a:t>NH</a:t>
            </a:r>
            <a:r>
              <a:rPr lang="en-US" altLang="zh-CN" baseline="-25000" dirty="0">
                <a:solidFill>
                  <a:srgbClr val="3333FF"/>
                </a:solidFill>
                <a:latin typeface="Times New Roman" panose="02020603050405020304" pitchFamily="18" charset="0"/>
                <a:ea typeface="幼圆" pitchFamily="49" charset="-122"/>
              </a:rPr>
              <a:t>3                                 </a:t>
            </a:r>
            <a:r>
              <a:rPr lang="en-US" altLang="zh-CN" dirty="0">
                <a:solidFill>
                  <a:srgbClr val="3333FF"/>
                </a:solidFill>
                <a:latin typeface="Times New Roman" panose="02020603050405020304" pitchFamily="18" charset="0"/>
                <a:ea typeface="幼圆" pitchFamily="49" charset="-122"/>
              </a:rPr>
              <a:t>CO</a:t>
            </a:r>
            <a:endParaRPr lang="en-US" altLang="zh-CN" b="0" dirty="0">
              <a:latin typeface="Arial" panose="020B0604020202020204" pitchFamily="34" charset="0"/>
              <a:ea typeface="宋体" panose="02010600030101010101" pitchFamily="2" charset="-122"/>
            </a:endParaRPr>
          </a:p>
        </p:txBody>
      </p:sp>
      <p:sp>
        <p:nvSpPr>
          <p:cNvPr id="62511" name="Text Box 47"/>
          <p:cNvSpPr txBox="1"/>
          <p:nvPr/>
        </p:nvSpPr>
        <p:spPr>
          <a:xfrm>
            <a:off x="179388" y="3363916"/>
            <a:ext cx="8820150" cy="954107"/>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常见的配体     阴离子：</a:t>
            </a:r>
            <a:r>
              <a:rPr lang="en-US" altLang="zh-CN" dirty="0">
                <a:latin typeface="Times New Roman" panose="02020603050405020304" pitchFamily="18" charset="0"/>
                <a:ea typeface="幼圆" pitchFamily="49" charset="-122"/>
              </a:rPr>
              <a:t>X</a:t>
            </a:r>
            <a:r>
              <a:rPr lang="en-US" altLang="zh-CN" baseline="30000" dirty="0">
                <a:latin typeface="宋体" panose="02010600030101010101" pitchFamily="2" charset="-122"/>
                <a:ea typeface="ˎ̥"/>
              </a:rPr>
              <a:t>-</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OH</a:t>
            </a:r>
            <a:r>
              <a:rPr lang="en-US" altLang="zh-CN" baseline="30000" dirty="0">
                <a:latin typeface="宋体" panose="02010600030101010101" pitchFamily="2" charset="-122"/>
                <a:ea typeface="ˎ̥"/>
              </a:rPr>
              <a:t>-</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CN</a:t>
            </a:r>
            <a:r>
              <a:rPr lang="en-US" altLang="zh-CN" baseline="30000" dirty="0">
                <a:latin typeface="宋体" panose="02010600030101010101" pitchFamily="2" charset="-122"/>
                <a:ea typeface="ˎ̥"/>
              </a:rPr>
              <a:t>- </a:t>
            </a:r>
            <a:endParaRPr lang="en-US" altLang="zh-CN" b="0" dirty="0">
              <a:latin typeface="Arial" panose="020B0604020202020204" pitchFamily="34" charset="0"/>
              <a:ea typeface="ˎ̥"/>
            </a:endParaRPr>
          </a:p>
          <a:p>
            <a:pPr>
              <a:lnSpc>
                <a:spcPct val="50000"/>
              </a:lnSpc>
              <a:spcBef>
                <a:spcPct val="50000"/>
              </a:spcBef>
              <a:buClrTx/>
              <a:buFontTx/>
            </a:pPr>
            <a:r>
              <a:rPr lang="en-US" altLang="zh-CN" dirty="0">
                <a:latin typeface="幼圆" pitchFamily="49" charset="-122"/>
                <a:ea typeface="幼圆" pitchFamily="49" charset="-122"/>
              </a:rPr>
              <a:t>            </a:t>
            </a:r>
            <a:r>
              <a:rPr lang="zh-CN" altLang="en-US" dirty="0">
                <a:latin typeface="幼圆" pitchFamily="49" charset="-122"/>
                <a:ea typeface="幼圆" pitchFamily="49" charset="-122"/>
              </a:rPr>
              <a:t>中性分子：</a:t>
            </a:r>
            <a:r>
              <a:rPr lang="en-US" altLang="zh-CN" dirty="0">
                <a:latin typeface="Times New Roman" panose="02020603050405020304" pitchFamily="18" charset="0"/>
                <a:ea typeface="幼圆" pitchFamily="49" charset="-122"/>
              </a:rPr>
              <a:t>NH</a:t>
            </a:r>
            <a:r>
              <a:rPr lang="en-US" altLang="zh-CN" baseline="-25000" dirty="0">
                <a:latin typeface="Times New Roman" panose="02020603050405020304" pitchFamily="18" charset="0"/>
                <a:ea typeface="幼圆" pitchFamily="49" charset="-122"/>
              </a:rPr>
              <a:t>3</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H</a:t>
            </a:r>
            <a:r>
              <a:rPr lang="en-US" altLang="zh-CN" baseline="-25000" dirty="0">
                <a:latin typeface="Times New Roman" panose="02020603050405020304" pitchFamily="18" charset="0"/>
                <a:ea typeface="幼圆" pitchFamily="49" charset="-122"/>
              </a:rPr>
              <a:t>2</a:t>
            </a:r>
            <a:r>
              <a:rPr lang="en-US" altLang="zh-CN" dirty="0">
                <a:latin typeface="Times New Roman" panose="02020603050405020304" pitchFamily="18" charset="0"/>
                <a:ea typeface="幼圆" pitchFamily="49" charset="-122"/>
              </a:rPr>
              <a:t>O</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CO</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RNH</a:t>
            </a:r>
            <a:r>
              <a:rPr lang="en-US" altLang="zh-CN" baseline="-25000" dirty="0">
                <a:latin typeface="Times New Roman" panose="02020603050405020304" pitchFamily="18" charset="0"/>
                <a:ea typeface="幼圆" pitchFamily="49" charset="-122"/>
              </a:rPr>
              <a:t>2</a:t>
            </a:r>
            <a:r>
              <a:rPr lang="en-US" altLang="zh-CN" dirty="0">
                <a:latin typeface="Times New Roman" panose="02020603050405020304" pitchFamily="18" charset="0"/>
                <a:ea typeface="幼圆" pitchFamily="49" charset="-122"/>
              </a:rPr>
              <a:t>(</a:t>
            </a:r>
            <a:r>
              <a:rPr lang="zh-CN" altLang="en-US" dirty="0">
                <a:latin typeface="Times New Roman" panose="02020603050405020304" pitchFamily="18" charset="0"/>
                <a:ea typeface="幼圆" pitchFamily="49" charset="-122"/>
              </a:rPr>
              <a:t>胺）</a:t>
            </a:r>
            <a:endParaRPr lang="zh-CN" altLang="en-US" b="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cTn>
                              </p:par>
                            </p:childTnLst>
                          </p:cTn>
                        </p:par>
                        <p:par>
                          <p:cTn id="8" fill="hold">
                            <p:stCondLst>
                              <p:cond delay="500"/>
                            </p:stCondLst>
                            <p:childTnLst>
                              <p:par>
                                <p:cTn id="9" presetID="16" presetClass="entr" presetSubtype="42" fill="hold" grpId="0" nodeType="afterEffect">
                                  <p:stCondLst>
                                    <p:cond delay="0"/>
                                  </p:stCondLst>
                                  <p:childTnLst>
                                    <p:set>
                                      <p:cBhvr>
                                        <p:cTn id="10" dur="1" fill="hold">
                                          <p:stCondLst>
                                            <p:cond delay="0"/>
                                          </p:stCondLst>
                                        </p:cTn>
                                        <p:tgtEl>
                                          <p:spTgt spid="62510"/>
                                        </p:tgtEl>
                                        <p:attrNameLst>
                                          <p:attrName>style.visibility</p:attrName>
                                        </p:attrNameLst>
                                      </p:cBhvr>
                                      <p:to>
                                        <p:strVal val="visible"/>
                                      </p:to>
                                    </p:set>
                                    <p:animEffect transition="in" filter="barn(outHorizontal)">
                                      <p:cBhvr>
                                        <p:cTn id="11" dur="500"/>
                                        <p:tgtEl>
                                          <p:spTgt spid="62510"/>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62511"/>
                                        </p:tgtEl>
                                        <p:attrNameLst>
                                          <p:attrName>style.visibility</p:attrName>
                                        </p:attrNameLst>
                                      </p:cBhvr>
                                      <p:to>
                                        <p:strVal val="visible"/>
                                      </p:to>
                                    </p:set>
                                    <p:animEffect transition="in" filter="slide(fromBottom)">
                                      <p:cBhvr>
                                        <p:cTn id="16" dur="500"/>
                                        <p:tgtEl>
                                          <p:spTgt spid="62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10" grpId="0"/>
      <p:bldP spid="62511"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39"/>
          <p:cNvSpPr txBox="1"/>
          <p:nvPr/>
        </p:nvSpPr>
        <p:spPr>
          <a:xfrm>
            <a:off x="1250950" y="2770188"/>
            <a:ext cx="1081088"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grpSp>
        <p:nvGrpSpPr>
          <p:cNvPr id="4" name="Group 54"/>
          <p:cNvGrpSpPr/>
          <p:nvPr/>
        </p:nvGrpSpPr>
        <p:grpSpPr>
          <a:xfrm>
            <a:off x="381000" y="1009650"/>
            <a:ext cx="8548688" cy="1169454"/>
            <a:chOff x="230" y="1230"/>
            <a:chExt cx="5385" cy="983"/>
          </a:xfrm>
        </p:grpSpPr>
        <p:sp>
          <p:nvSpPr>
            <p:cNvPr id="77828" name="Oval 55"/>
            <p:cNvSpPr/>
            <p:nvPr/>
          </p:nvSpPr>
          <p:spPr>
            <a:xfrm>
              <a:off x="230" y="1393"/>
              <a:ext cx="136" cy="136"/>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77829" name="Text Box 56"/>
            <p:cNvSpPr txBox="1"/>
            <p:nvPr/>
          </p:nvSpPr>
          <p:spPr>
            <a:xfrm>
              <a:off x="347" y="1230"/>
              <a:ext cx="5268" cy="983"/>
            </a:xfrm>
            <a:prstGeom prst="rect">
              <a:avLst/>
            </a:prstGeom>
            <a:noFill/>
            <a:ln w="9525">
              <a:noFill/>
            </a:ln>
          </p:spPr>
          <p:txBody>
            <a:bodyPr wrap="square" anchor="t" anchorCtr="0">
              <a:spAutoFit/>
            </a:bodyPr>
            <a:lstStyle/>
            <a:p>
              <a:pPr>
                <a:spcBef>
                  <a:spcPct val="50000"/>
                </a:spcBef>
                <a:buClrTx/>
                <a:buFontTx/>
              </a:pPr>
              <a:r>
                <a:rPr lang="zh-CN" altLang="en-US" dirty="0">
                  <a:latin typeface="幼圆" pitchFamily="49" charset="-122"/>
                  <a:ea typeface="幼圆" pitchFamily="49" charset="-122"/>
                </a:rPr>
                <a:t>配位原子</a:t>
              </a:r>
              <a:r>
                <a:rPr lang="en-US" altLang="zh-CN" dirty="0">
                  <a:latin typeface="Arial" panose="020B0604020202020204" pitchFamily="34" charset="0"/>
                  <a:ea typeface="幼圆" pitchFamily="49" charset="-122"/>
                </a:rPr>
                <a:t>——</a:t>
              </a:r>
              <a:r>
                <a:rPr lang="zh-CN" altLang="en-US" dirty="0">
                  <a:latin typeface="幼圆" pitchFamily="49" charset="-122"/>
                  <a:ea typeface="幼圆" pitchFamily="49" charset="-122"/>
                </a:rPr>
                <a:t>配体中提供孤电子对与形成体形成</a:t>
              </a:r>
            </a:p>
            <a:p>
              <a:pPr>
                <a:spcBef>
                  <a:spcPct val="50000"/>
                </a:spcBef>
                <a:buClrTx/>
                <a:buFontTx/>
              </a:pPr>
              <a:r>
                <a:rPr lang="zh-CN" altLang="en-US" dirty="0">
                  <a:latin typeface="幼圆" pitchFamily="49" charset="-122"/>
                  <a:ea typeface="幼圆" pitchFamily="49" charset="-122"/>
                </a:rPr>
                <a:t> </a:t>
              </a:r>
              <a:r>
                <a:rPr lang="en-US" altLang="zh-CN" dirty="0">
                  <a:latin typeface="幼圆" pitchFamily="49" charset="-122"/>
                  <a:ea typeface="幼圆" pitchFamily="49" charset="-122"/>
                </a:rPr>
                <a:t>              </a:t>
              </a:r>
              <a:r>
                <a:rPr lang="zh-CN" altLang="en-US" dirty="0">
                  <a:latin typeface="幼圆" pitchFamily="49" charset="-122"/>
                  <a:ea typeface="幼圆" pitchFamily="49" charset="-122"/>
                </a:rPr>
                <a:t>配位键的原子</a:t>
              </a:r>
              <a:endParaRPr lang="zh-CN" altLang="en-US" b="0" dirty="0">
                <a:latin typeface="Arial" panose="020B0604020202020204" pitchFamily="34" charset="0"/>
                <a:ea typeface="宋体" panose="02010600030101010101" pitchFamily="2" charset="-122"/>
              </a:endParaRPr>
            </a:p>
          </p:txBody>
        </p:sp>
      </p:grpSp>
      <p:sp>
        <p:nvSpPr>
          <p:cNvPr id="62521" name="Text Box 57"/>
          <p:cNvSpPr txBox="1"/>
          <p:nvPr/>
        </p:nvSpPr>
        <p:spPr>
          <a:xfrm>
            <a:off x="467360" y="2310131"/>
            <a:ext cx="8839200" cy="523220"/>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常见的配位原子：</a:t>
            </a:r>
            <a:r>
              <a:rPr lang="en-US" altLang="zh-CN" dirty="0">
                <a:latin typeface="Times New Roman" panose="02020603050405020304" pitchFamily="18" charset="0"/>
                <a:ea typeface="幼圆" pitchFamily="49" charset="-122"/>
              </a:rPr>
              <a:t>N</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O</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S</a:t>
            </a:r>
            <a:r>
              <a:rPr lang="zh-CN" altLang="en-US" dirty="0">
                <a:latin typeface="Times New Roman" panose="02020603050405020304" pitchFamily="18" charset="0"/>
                <a:ea typeface="幼圆" pitchFamily="49" charset="-122"/>
              </a:rPr>
              <a:t>、</a:t>
            </a:r>
            <a:r>
              <a:rPr lang="en-US" altLang="zh-CN" dirty="0">
                <a:latin typeface="Times New Roman" panose="02020603050405020304" pitchFamily="18" charset="0"/>
                <a:ea typeface="幼圆" pitchFamily="49" charset="-122"/>
              </a:rPr>
              <a:t>C</a:t>
            </a:r>
            <a:r>
              <a:rPr lang="zh-CN" altLang="en-US" dirty="0">
                <a:latin typeface="Times New Roman" panose="02020603050405020304" pitchFamily="18" charset="0"/>
                <a:ea typeface="幼圆" pitchFamily="49" charset="-122"/>
              </a:rPr>
              <a:t>、卤素原子</a:t>
            </a:r>
            <a:endParaRPr lang="zh-CN" altLang="en-US" b="0" dirty="0">
              <a:latin typeface="Arial" panose="020B0604020202020204" pitchFamily="34" charset="0"/>
              <a:ea typeface="宋体" panose="02010600030101010101" pitchFamily="2" charset="-122"/>
            </a:endParaRPr>
          </a:p>
        </p:txBody>
      </p:sp>
      <p:sp>
        <p:nvSpPr>
          <p:cNvPr id="62522" name="Text Box 58"/>
          <p:cNvSpPr txBox="1"/>
          <p:nvPr/>
        </p:nvSpPr>
        <p:spPr>
          <a:xfrm>
            <a:off x="566744" y="3138492"/>
            <a:ext cx="7920037" cy="1384995"/>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幼圆" pitchFamily="49" charset="-122"/>
              </a:rPr>
              <a:t>如               </a:t>
            </a:r>
            <a:r>
              <a:rPr lang="en-US" altLang="zh-CN" dirty="0">
                <a:latin typeface="Times New Roman" panose="02020603050405020304" pitchFamily="18" charset="0"/>
                <a:ea typeface="幼圆" pitchFamily="49" charset="-122"/>
              </a:rPr>
              <a:t>[Cu(</a:t>
            </a:r>
            <a:r>
              <a:rPr lang="en-US" altLang="zh-CN" dirty="0">
                <a:solidFill>
                  <a:srgbClr val="3333FF"/>
                </a:solidFill>
                <a:latin typeface="Times New Roman" panose="02020603050405020304" pitchFamily="18" charset="0"/>
                <a:ea typeface="幼圆" pitchFamily="49" charset="-122"/>
              </a:rPr>
              <a:t>N</a:t>
            </a:r>
            <a:r>
              <a:rPr lang="en-US" altLang="zh-CN" dirty="0">
                <a:latin typeface="Times New Roman" panose="02020603050405020304" pitchFamily="18" charset="0"/>
                <a:ea typeface="幼圆" pitchFamily="49" charset="-122"/>
              </a:rPr>
              <a:t>H</a:t>
            </a:r>
            <a:r>
              <a:rPr lang="en-US" altLang="zh-CN" baseline="-25000" dirty="0">
                <a:latin typeface="Times New Roman" panose="02020603050405020304" pitchFamily="18" charset="0"/>
                <a:ea typeface="幼圆" pitchFamily="49" charset="-122"/>
              </a:rPr>
              <a:t>3</a:t>
            </a:r>
            <a:r>
              <a:rPr lang="en-US" altLang="zh-CN" dirty="0">
                <a:latin typeface="Times New Roman" panose="02020603050405020304" pitchFamily="18" charset="0"/>
                <a:ea typeface="幼圆" pitchFamily="49" charset="-122"/>
              </a:rPr>
              <a:t>)</a:t>
            </a:r>
            <a:r>
              <a:rPr lang="en-US" altLang="zh-CN" baseline="-25000" dirty="0">
                <a:latin typeface="Times New Roman" panose="02020603050405020304" pitchFamily="18" charset="0"/>
                <a:ea typeface="幼圆" pitchFamily="49" charset="-122"/>
              </a:rPr>
              <a:t>4</a:t>
            </a:r>
            <a:r>
              <a:rPr lang="en-US" altLang="zh-CN" dirty="0">
                <a:latin typeface="Times New Roman" panose="02020603050405020304" pitchFamily="18" charset="0"/>
                <a:ea typeface="幼圆" pitchFamily="49" charset="-122"/>
              </a:rPr>
              <a:t>]</a:t>
            </a:r>
            <a:r>
              <a:rPr lang="en-US" altLang="zh-CN" baseline="30000" dirty="0">
                <a:latin typeface="Times New Roman" panose="02020603050405020304" pitchFamily="18" charset="0"/>
                <a:ea typeface="幼圆" pitchFamily="49" charset="-122"/>
              </a:rPr>
              <a:t>2+</a:t>
            </a:r>
            <a:r>
              <a:rPr lang="en-US" altLang="zh-CN" dirty="0">
                <a:latin typeface="Times New Roman" panose="02020603050405020304" pitchFamily="18" charset="0"/>
                <a:ea typeface="幼圆" pitchFamily="49" charset="-122"/>
              </a:rPr>
              <a:t>         [Fe(</a:t>
            </a:r>
            <a:r>
              <a:rPr lang="en-US" altLang="zh-CN" dirty="0">
                <a:solidFill>
                  <a:srgbClr val="3333FF"/>
                </a:solidFill>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O)</a:t>
            </a:r>
            <a:r>
              <a:rPr lang="en-US" altLang="zh-CN" baseline="-25000" dirty="0">
                <a:latin typeface="Times New Roman" panose="02020603050405020304" pitchFamily="18" charset="0"/>
                <a:ea typeface="幼圆" pitchFamily="49" charset="-122"/>
              </a:rPr>
              <a:t>5</a:t>
            </a:r>
            <a:r>
              <a:rPr lang="en-US" altLang="zh-CN" dirty="0">
                <a:latin typeface="Times New Roman" panose="02020603050405020304" pitchFamily="18" charset="0"/>
                <a:ea typeface="幼圆" pitchFamily="49" charset="-122"/>
              </a:rPr>
              <a:t>] </a:t>
            </a:r>
            <a:endParaRPr lang="en-US" altLang="zh-CN" b="0" dirty="0">
              <a:latin typeface="Arial" panose="020B0604020202020204" pitchFamily="34" charset="0"/>
              <a:ea typeface="ˎ̥"/>
            </a:endParaRPr>
          </a:p>
          <a:p>
            <a:pPr>
              <a:lnSpc>
                <a:spcPct val="50000"/>
              </a:lnSpc>
              <a:spcBef>
                <a:spcPct val="50000"/>
              </a:spcBef>
              <a:buClrTx/>
              <a:buFontTx/>
            </a:pPr>
            <a:r>
              <a:rPr lang="zh-CN" altLang="en-US" dirty="0">
                <a:latin typeface="Times New Roman" panose="02020603050405020304" pitchFamily="18" charset="0"/>
                <a:ea typeface="幼圆" pitchFamily="49" charset="-122"/>
              </a:rPr>
              <a:t>配体</a:t>
            </a:r>
            <a:r>
              <a:rPr lang="zh-CN" altLang="en-US" dirty="0">
                <a:solidFill>
                  <a:srgbClr val="3333FF"/>
                </a:solidFill>
                <a:latin typeface="Times New Roman" panose="02020603050405020304" pitchFamily="18" charset="0"/>
                <a:ea typeface="幼圆" pitchFamily="49" charset="-122"/>
              </a:rPr>
              <a:t>                 </a:t>
            </a:r>
            <a:r>
              <a:rPr lang="en-US" altLang="zh-CN" dirty="0">
                <a:solidFill>
                  <a:srgbClr val="3333FF"/>
                </a:solidFill>
                <a:latin typeface="Times New Roman" panose="02020603050405020304" pitchFamily="18" charset="0"/>
                <a:ea typeface="幼圆" pitchFamily="49" charset="-122"/>
              </a:rPr>
              <a:t>N</a:t>
            </a:r>
            <a:r>
              <a:rPr lang="en-US" altLang="zh-CN" dirty="0">
                <a:latin typeface="Times New Roman" panose="02020603050405020304" pitchFamily="18" charset="0"/>
                <a:ea typeface="幼圆" pitchFamily="49" charset="-122"/>
              </a:rPr>
              <a:t>H</a:t>
            </a:r>
            <a:r>
              <a:rPr lang="en-US" altLang="zh-CN" baseline="-25000" dirty="0">
                <a:latin typeface="Times New Roman" panose="02020603050405020304" pitchFamily="18" charset="0"/>
                <a:ea typeface="幼圆" pitchFamily="49" charset="-122"/>
              </a:rPr>
              <a:t>3</a:t>
            </a:r>
            <a:r>
              <a:rPr lang="en-US" altLang="zh-CN" baseline="-25000" dirty="0">
                <a:solidFill>
                  <a:srgbClr val="3333FF"/>
                </a:solidFill>
                <a:latin typeface="Times New Roman" panose="02020603050405020304" pitchFamily="18" charset="0"/>
                <a:ea typeface="幼圆" pitchFamily="49" charset="-122"/>
              </a:rPr>
              <a:t>                                 </a:t>
            </a:r>
            <a:r>
              <a:rPr lang="en-US" altLang="zh-CN" dirty="0">
                <a:solidFill>
                  <a:srgbClr val="3333FF"/>
                </a:solidFill>
                <a:latin typeface="Times New Roman" panose="02020603050405020304" pitchFamily="18" charset="0"/>
                <a:ea typeface="幼圆" pitchFamily="49" charset="-122"/>
              </a:rPr>
              <a:t>C</a:t>
            </a:r>
            <a:r>
              <a:rPr lang="en-US" altLang="zh-CN" dirty="0">
                <a:latin typeface="Times New Roman" panose="02020603050405020304" pitchFamily="18" charset="0"/>
                <a:ea typeface="幼圆" pitchFamily="49" charset="-122"/>
              </a:rPr>
              <a:t>O </a:t>
            </a:r>
            <a:endParaRPr lang="en-US" altLang="zh-CN" b="0" dirty="0">
              <a:latin typeface="Arial" panose="020B0604020202020204" pitchFamily="34" charset="0"/>
              <a:ea typeface="ˎ̥"/>
            </a:endParaRPr>
          </a:p>
          <a:p>
            <a:pPr>
              <a:lnSpc>
                <a:spcPct val="50000"/>
              </a:lnSpc>
              <a:spcBef>
                <a:spcPct val="50000"/>
              </a:spcBef>
              <a:buClrTx/>
              <a:buFontTx/>
            </a:pPr>
            <a:r>
              <a:rPr lang="zh-CN" altLang="en-US" dirty="0">
                <a:latin typeface="Times New Roman" panose="02020603050405020304" pitchFamily="18" charset="0"/>
                <a:ea typeface="幼圆" pitchFamily="49" charset="-122"/>
              </a:rPr>
              <a:t>配位原子</a:t>
            </a:r>
            <a:r>
              <a:rPr lang="zh-CN" altLang="en-US" dirty="0">
                <a:solidFill>
                  <a:srgbClr val="3333FF"/>
                </a:solidFill>
                <a:latin typeface="Times New Roman" panose="02020603050405020304" pitchFamily="18" charset="0"/>
                <a:ea typeface="幼圆" pitchFamily="49" charset="-122"/>
              </a:rPr>
              <a:t>           </a:t>
            </a:r>
            <a:r>
              <a:rPr lang="en-US" altLang="zh-CN" dirty="0">
                <a:solidFill>
                  <a:srgbClr val="3333FF"/>
                </a:solidFill>
                <a:latin typeface="Times New Roman" panose="02020603050405020304" pitchFamily="18" charset="0"/>
                <a:ea typeface="幼圆" pitchFamily="49" charset="-122"/>
              </a:rPr>
              <a:t>N                          C</a:t>
            </a:r>
            <a:endParaRPr lang="en-US" altLang="zh-CN" b="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2521"/>
                                        </p:tgtEl>
                                        <p:attrNameLst>
                                          <p:attrName>style.visibility</p:attrName>
                                        </p:attrNameLst>
                                      </p:cBhvr>
                                      <p:to>
                                        <p:strVal val="visible"/>
                                      </p:to>
                                    </p:set>
                                    <p:animEffect transition="in" filter="blinds(horizontal)">
                                      <p:cBhvr>
                                        <p:cTn id="13" dur="500"/>
                                        <p:tgtEl>
                                          <p:spTgt spid="6252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2522"/>
                                        </p:tgtEl>
                                        <p:attrNameLst>
                                          <p:attrName>style.visibility</p:attrName>
                                        </p:attrNameLst>
                                      </p:cBhvr>
                                      <p:to>
                                        <p:strVal val="visible"/>
                                      </p:to>
                                    </p:set>
                                    <p:animEffect transition="in" filter="blinds(horizontal)">
                                      <p:cBhvr>
                                        <p:cTn id="16" dur="500"/>
                                        <p:tgtEl>
                                          <p:spTgt spid="62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21" grpId="0"/>
      <p:bldP spid="6252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ext Box 14"/>
          <p:cNvSpPr txBox="1"/>
          <p:nvPr/>
        </p:nvSpPr>
        <p:spPr>
          <a:xfrm>
            <a:off x="1279525" y="2560638"/>
            <a:ext cx="1081088"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78850" name="Text Box 15"/>
          <p:cNvSpPr txBox="1"/>
          <p:nvPr/>
        </p:nvSpPr>
        <p:spPr>
          <a:xfrm>
            <a:off x="323856" y="249240"/>
            <a:ext cx="8208963" cy="646331"/>
          </a:xfrm>
          <a:prstGeom prst="rect">
            <a:avLst/>
          </a:prstGeom>
          <a:noFill/>
          <a:ln w="9525">
            <a:noFill/>
          </a:ln>
        </p:spPr>
        <p:txBody>
          <a:bodyPr anchor="t" anchorCtr="0">
            <a:spAutoFit/>
          </a:bodyPr>
          <a:lstStyle/>
          <a:p>
            <a:pPr>
              <a:spcBef>
                <a:spcPct val="50000"/>
              </a:spcBef>
              <a:buClrTx/>
              <a:buFontTx/>
            </a:pPr>
            <a:r>
              <a:rPr lang="en-US" altLang="zh-CN" sz="3600" dirty="0">
                <a:solidFill>
                  <a:srgbClr val="FF0066"/>
                </a:solidFill>
                <a:latin typeface="华文新魏" pitchFamily="2" charset="-122"/>
                <a:ea typeface="华文新魏" pitchFamily="2" charset="-122"/>
              </a:rPr>
              <a:t>2. </a:t>
            </a:r>
            <a:r>
              <a:rPr lang="zh-CN" altLang="en-US" sz="3600" dirty="0">
                <a:solidFill>
                  <a:srgbClr val="FF0066"/>
                </a:solidFill>
                <a:latin typeface="华文新魏" pitchFamily="2" charset="-122"/>
                <a:ea typeface="华文新魏" pitchFamily="2" charset="-122"/>
              </a:rPr>
              <a:t>配位个体、配体及配位原子</a:t>
            </a:r>
          </a:p>
        </p:txBody>
      </p:sp>
      <p:grpSp>
        <p:nvGrpSpPr>
          <p:cNvPr id="78851" name="Group 16"/>
          <p:cNvGrpSpPr/>
          <p:nvPr/>
        </p:nvGrpSpPr>
        <p:grpSpPr>
          <a:xfrm>
            <a:off x="0" y="895356"/>
            <a:ext cx="8713788" cy="584201"/>
            <a:chOff x="204" y="1878"/>
            <a:chExt cx="5738" cy="491"/>
          </a:xfrm>
        </p:grpSpPr>
        <p:sp>
          <p:nvSpPr>
            <p:cNvPr id="78852" name="Oval 17"/>
            <p:cNvSpPr/>
            <p:nvPr/>
          </p:nvSpPr>
          <p:spPr>
            <a:xfrm>
              <a:off x="204" y="2034"/>
              <a:ext cx="136" cy="136"/>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78853" name="Text Box 18"/>
            <p:cNvSpPr txBox="1"/>
            <p:nvPr/>
          </p:nvSpPr>
          <p:spPr>
            <a:xfrm>
              <a:off x="340" y="1878"/>
              <a:ext cx="5602" cy="491"/>
            </a:xfrm>
            <a:prstGeom prst="rect">
              <a:avLst/>
            </a:prstGeom>
            <a:noFill/>
            <a:ln w="9525">
              <a:noFill/>
            </a:ln>
          </p:spPr>
          <p:txBody>
            <a:bodyPr anchor="t" anchorCtr="0">
              <a:spAutoFit/>
            </a:bodyPr>
            <a:lstStyle/>
            <a:p>
              <a:pPr>
                <a:spcBef>
                  <a:spcPct val="50000"/>
                </a:spcBef>
                <a:buClrTx/>
                <a:buFontTx/>
              </a:pPr>
              <a:r>
                <a:rPr lang="zh-CN" altLang="en-US" sz="3200" dirty="0">
                  <a:latin typeface="幼圆" pitchFamily="49" charset="-122"/>
                  <a:ea typeface="宋体" panose="02010600030101010101" pitchFamily="2" charset="-122"/>
                </a:rPr>
                <a:t>配体：根据</a:t>
              </a:r>
              <a:r>
                <a:rPr lang="zh-CN" altLang="en-US" sz="3200" dirty="0">
                  <a:solidFill>
                    <a:srgbClr val="FF3300"/>
                  </a:solidFill>
                  <a:latin typeface="幼圆" pitchFamily="49" charset="-122"/>
                  <a:ea typeface="宋体" panose="02010600030101010101" pitchFamily="2" charset="-122"/>
                </a:rPr>
                <a:t>一个</a:t>
              </a:r>
              <a:r>
                <a:rPr lang="zh-CN" altLang="en-US" sz="3200" dirty="0">
                  <a:latin typeface="幼圆" pitchFamily="49" charset="-122"/>
                  <a:ea typeface="宋体" panose="02010600030101010101" pitchFamily="2" charset="-122"/>
                </a:rPr>
                <a:t>配体中所含配位原子个数</a:t>
              </a:r>
              <a:endParaRPr lang="zh-CN" altLang="en-US" sz="3200" dirty="0">
                <a:latin typeface="Arial" panose="020B0604020202020204" pitchFamily="34" charset="0"/>
                <a:ea typeface="宋体" panose="02010600030101010101" pitchFamily="2" charset="-122"/>
              </a:endParaRPr>
            </a:p>
          </p:txBody>
        </p:sp>
      </p:grpSp>
      <p:sp>
        <p:nvSpPr>
          <p:cNvPr id="78854" name="Text Box 19"/>
          <p:cNvSpPr txBox="1"/>
          <p:nvPr/>
        </p:nvSpPr>
        <p:spPr>
          <a:xfrm>
            <a:off x="7543800" y="508000"/>
            <a:ext cx="433388"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graphicFrame>
        <p:nvGraphicFramePr>
          <p:cNvPr id="63533" name="Group 45"/>
          <p:cNvGraphicFramePr>
            <a:graphicFrameLocks noGrp="1"/>
          </p:cNvGraphicFramePr>
          <p:nvPr/>
        </p:nvGraphicFramePr>
        <p:xfrm>
          <a:off x="179394" y="2032003"/>
          <a:ext cx="8713787" cy="2265523"/>
        </p:xfrm>
        <a:graphic>
          <a:graphicData uri="http://schemas.openxmlformats.org/drawingml/2006/table">
            <a:tbl>
              <a:tblPr/>
              <a:tblGrid>
                <a:gridCol w="2827337">
                  <a:extLst>
                    <a:ext uri="{9D8B030D-6E8A-4147-A177-3AD203B41FA5}">
                      <a16:colId xmlns:a16="http://schemas.microsoft.com/office/drawing/2014/main" val="20000"/>
                    </a:ext>
                  </a:extLst>
                </a:gridCol>
                <a:gridCol w="1998663">
                  <a:extLst>
                    <a:ext uri="{9D8B030D-6E8A-4147-A177-3AD203B41FA5}">
                      <a16:colId xmlns:a16="http://schemas.microsoft.com/office/drawing/2014/main" val="20001"/>
                    </a:ext>
                  </a:extLst>
                </a:gridCol>
                <a:gridCol w="3887787">
                  <a:extLst>
                    <a:ext uri="{9D8B030D-6E8A-4147-A177-3AD203B41FA5}">
                      <a16:colId xmlns:a16="http://schemas.microsoft.com/office/drawing/2014/main" val="20002"/>
                    </a:ext>
                  </a:extLst>
                </a:gridCol>
              </a:tblGrid>
              <a:tr h="606029">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35100" marB="351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a:ln>
                            <a:noFill/>
                          </a:ln>
                          <a:solidFill>
                            <a:srgbClr val="FF3300"/>
                          </a:solidFill>
                          <a:effectLst/>
                          <a:latin typeface="幼圆" pitchFamily="49" charset="-122"/>
                          <a:ea typeface="幼圆" pitchFamily="49" charset="-122"/>
                        </a:rPr>
                        <a:t>单齿</a:t>
                      </a:r>
                      <a:r>
                        <a:rPr kumimoji="0" lang="zh-CN" altLang="en-US" sz="2400" b="1" i="0" u="none" strike="noStrike" cap="none" normalizeH="0" baseline="0">
                          <a:ln>
                            <a:noFill/>
                          </a:ln>
                          <a:solidFill>
                            <a:schemeClr val="tx1"/>
                          </a:solidFill>
                          <a:effectLst/>
                          <a:latin typeface="幼圆" pitchFamily="49" charset="-122"/>
                          <a:ea typeface="幼圆" pitchFamily="49" charset="-122"/>
                        </a:rPr>
                        <a:t>配体</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a:ln>
                            <a:noFill/>
                          </a:ln>
                          <a:solidFill>
                            <a:srgbClr val="FF3300"/>
                          </a:solidFill>
                          <a:effectLst/>
                          <a:latin typeface="幼圆" pitchFamily="49" charset="-122"/>
                          <a:ea typeface="幼圆" pitchFamily="49" charset="-122"/>
                        </a:rPr>
                        <a:t>多齿</a:t>
                      </a:r>
                      <a:r>
                        <a:rPr kumimoji="0" lang="zh-CN" altLang="en-US" sz="2400" b="1" i="0" u="none" strike="noStrike" cap="none" normalizeH="0" baseline="0">
                          <a:ln>
                            <a:noFill/>
                          </a:ln>
                          <a:solidFill>
                            <a:schemeClr val="tx1"/>
                          </a:solidFill>
                          <a:effectLst/>
                          <a:latin typeface="幼圆" pitchFamily="49" charset="-122"/>
                          <a:ea typeface="幼圆" pitchFamily="49" charset="-122"/>
                        </a:rPr>
                        <a:t>配体</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35100" marB="351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74872">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Arial" panose="020B0604020202020204" pitchFamily="34" charset="0"/>
                          <a:ea typeface="幼圆" pitchFamily="49" charset="-122"/>
                        </a:rPr>
                        <a:t>一个配体所含</a:t>
                      </a:r>
                      <a:endParaRPr kumimoji="0" lang="en-US" altLang="zh-CN" sz="2400" b="1" i="0" u="none" strike="noStrike" cap="none" normalizeH="0" baseline="0" dirty="0">
                        <a:ln>
                          <a:noFill/>
                        </a:ln>
                        <a:solidFill>
                          <a:schemeClr val="tx1"/>
                        </a:solidFill>
                        <a:effectLst/>
                        <a:latin typeface="Arial" panose="020B0604020202020204" pitchFamily="34" charset="0"/>
                        <a:ea typeface="幼圆" pitchFamily="49"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Arial" panose="020B0604020202020204" pitchFamily="34" charset="0"/>
                          <a:ea typeface="幼圆" pitchFamily="49" charset="-122"/>
                        </a:rPr>
                        <a:t>配位原子个数</a:t>
                      </a: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35100" marB="351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幼圆" pitchFamily="49" charset="-122"/>
                        </a:rPr>
                        <a:t>1</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幼圆" pitchFamily="49" charset="-122"/>
                        </a:rPr>
                        <a:t>2</a:t>
                      </a:r>
                      <a:r>
                        <a:rPr kumimoji="0" lang="zh-CN" altLang="en-US" sz="2400" b="1" i="0" u="none" strike="noStrike" cap="none" normalizeH="0" baseline="0">
                          <a:ln>
                            <a:noFill/>
                          </a:ln>
                          <a:solidFill>
                            <a:schemeClr val="tx1"/>
                          </a:solidFill>
                          <a:effectLst/>
                          <a:latin typeface="Times New Roman" panose="02020603050405020304" pitchFamily="18" charset="0"/>
                          <a:ea typeface="幼圆" pitchFamily="49" charset="-122"/>
                        </a:rPr>
                        <a:t>个或</a:t>
                      </a:r>
                      <a:r>
                        <a:rPr kumimoji="0" lang="en-US" altLang="zh-CN" sz="2400" b="1" i="0" u="none" strike="noStrike" cap="none" normalizeH="0" baseline="0">
                          <a:ln>
                            <a:noFill/>
                          </a:ln>
                          <a:solidFill>
                            <a:schemeClr val="tx1"/>
                          </a:solidFill>
                          <a:effectLst/>
                          <a:latin typeface="Times New Roman" panose="02020603050405020304" pitchFamily="18" charset="0"/>
                          <a:ea typeface="幼圆" pitchFamily="49" charset="-122"/>
                        </a:rPr>
                        <a:t>2</a:t>
                      </a:r>
                      <a:r>
                        <a:rPr kumimoji="0" lang="zh-CN" altLang="en-US" sz="2400" b="1" i="0" u="none" strike="noStrike" cap="none" normalizeH="0" baseline="0">
                          <a:ln>
                            <a:noFill/>
                          </a:ln>
                          <a:solidFill>
                            <a:schemeClr val="tx1"/>
                          </a:solidFill>
                          <a:effectLst/>
                          <a:latin typeface="Times New Roman" panose="02020603050405020304" pitchFamily="18" charset="0"/>
                          <a:ea typeface="幼圆" pitchFamily="49" charset="-122"/>
                        </a:rPr>
                        <a:t>个以上</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4622">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幼圆" pitchFamily="49" charset="-122"/>
                        </a:rPr>
                        <a:t>举例</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幼圆" pitchFamily="49" charset="-122"/>
                        </a:rPr>
                        <a:t>NH</a:t>
                      </a:r>
                      <a:r>
                        <a:rPr kumimoji="0" lang="en-US" altLang="zh-CN" sz="24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0" lang="zh-CN" altLang="en-US" sz="2400" b="1" i="0" u="none" strike="noStrike" cap="none" normalizeH="0" baseline="0">
                          <a:ln>
                            <a:noFill/>
                          </a:ln>
                          <a:solidFill>
                            <a:schemeClr val="tx1"/>
                          </a:solidFill>
                          <a:effectLst/>
                          <a:latin typeface="Times New Roman" panose="02020603050405020304" pitchFamily="18" charset="0"/>
                          <a:ea typeface="幼圆" pitchFamily="49" charset="-122"/>
                        </a:rPr>
                        <a:t>、 </a:t>
                      </a:r>
                      <a:r>
                        <a:rPr kumimoji="0" lang="en-US" altLang="zh-CN" sz="2400" b="1" i="0" u="none" strike="noStrike" cap="none" normalizeH="0" baseline="0">
                          <a:ln>
                            <a:noFill/>
                          </a:ln>
                          <a:solidFill>
                            <a:schemeClr val="tx1"/>
                          </a:solidFill>
                          <a:effectLst/>
                          <a:latin typeface="Times New Roman" panose="02020603050405020304" pitchFamily="18" charset="0"/>
                          <a:ea typeface="幼圆" pitchFamily="49" charset="-122"/>
                        </a:rPr>
                        <a:t>X</a:t>
                      </a:r>
                      <a:r>
                        <a:rPr kumimoji="0" lang="en-US" altLang="zh-CN" sz="2400" b="1" i="0" u="none" strike="noStrike" cap="none" normalizeH="0" baseline="30000">
                          <a:ln>
                            <a:noFill/>
                          </a:ln>
                          <a:solidFill>
                            <a:schemeClr val="tx1"/>
                          </a:solidFill>
                          <a:effectLst/>
                          <a:latin typeface="宋体" panose="02010600030101010101" pitchFamily="2" charset="-122"/>
                          <a:ea typeface="ˎ̥"/>
                          <a:cs typeface="ˎ̥"/>
                        </a:rPr>
                        <a:t>- </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幼圆" pitchFamily="49" charset="-122"/>
                        </a:rPr>
                        <a:t> OH</a:t>
                      </a:r>
                      <a:r>
                        <a:rPr kumimoji="0" lang="en-US" altLang="zh-CN" sz="2400" b="1" i="0" u="none" strike="noStrike" cap="none" normalizeH="0" baseline="30000">
                          <a:ln>
                            <a:noFill/>
                          </a:ln>
                          <a:solidFill>
                            <a:schemeClr val="tx1"/>
                          </a:solidFill>
                          <a:effectLst/>
                          <a:latin typeface="宋体" panose="02010600030101010101" pitchFamily="2" charset="-122"/>
                          <a:ea typeface="ˎ̥"/>
                          <a:cs typeface="ˎ̥"/>
                        </a:rPr>
                        <a:t>-</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50000"/>
                        </a:lnSpc>
                        <a:spcBef>
                          <a:spcPct val="30000"/>
                        </a:spcBef>
                        <a:spcAft>
                          <a:spcPct val="0"/>
                        </a:spcAft>
                        <a:buClr>
                          <a:schemeClr val="bg2"/>
                        </a:buClr>
                        <a:buSzPct val="75000"/>
                        <a:buFont typeface="Wingdings" panose="05000000000000000000" pitchFamily="2" charset="2"/>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ˎ̥"/>
                        <a:cs typeface="ˎ̥"/>
                      </a:endParaRPr>
                    </a:p>
                    <a:p>
                      <a:pPr marL="0" marR="0" lvl="0" indent="0" algn="ctr" defTabSz="914400" rtl="0" eaLnBrk="0" fontAlgn="base" latinLnBrk="0" hangingPunct="0">
                        <a:lnSpc>
                          <a:spcPct val="50000"/>
                        </a:lnSpc>
                        <a:spcBef>
                          <a:spcPct val="3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ˎ̥"/>
                          <a:cs typeface="ˎ̥"/>
                        </a:rPr>
                        <a:t>H</a:t>
                      </a:r>
                      <a:r>
                        <a:rPr kumimoji="0" lang="en-US" altLang="zh-CN" sz="2400" b="1" i="0" u="none" strike="noStrike" cap="none" normalizeH="0" baseline="-25000">
                          <a:ln>
                            <a:noFill/>
                          </a:ln>
                          <a:solidFill>
                            <a:schemeClr val="tx1"/>
                          </a:solidFill>
                          <a:effectLst/>
                          <a:latin typeface="Times New Roman" panose="02020603050405020304" pitchFamily="18" charset="0"/>
                          <a:ea typeface="ˎ̥"/>
                          <a:cs typeface="ˎ̥"/>
                        </a:rPr>
                        <a:t>2</a:t>
                      </a:r>
                      <a:r>
                        <a:rPr kumimoji="0" lang="en-US" altLang="zh-CN" sz="2400" b="1" i="0" u="none" strike="noStrike" cap="none" normalizeH="0" baseline="0">
                          <a:ln>
                            <a:noFill/>
                          </a:ln>
                          <a:solidFill>
                            <a:schemeClr val="tx1"/>
                          </a:solidFill>
                          <a:effectLst/>
                          <a:latin typeface="Times New Roman" panose="02020603050405020304" pitchFamily="18" charset="0"/>
                          <a:ea typeface="ˎ̥"/>
                          <a:cs typeface="ˎ̥"/>
                        </a:rPr>
                        <a:t>NCH</a:t>
                      </a:r>
                      <a:r>
                        <a:rPr kumimoji="0" lang="en-US" altLang="zh-CN" sz="2400" b="1" i="0" u="none" strike="noStrike" cap="none" normalizeH="0" baseline="-25000">
                          <a:ln>
                            <a:noFill/>
                          </a:ln>
                          <a:solidFill>
                            <a:schemeClr val="tx1"/>
                          </a:solidFill>
                          <a:effectLst/>
                          <a:latin typeface="Times New Roman" panose="02020603050405020304" pitchFamily="18" charset="0"/>
                          <a:ea typeface="ˎ̥"/>
                          <a:cs typeface="ˎ̥"/>
                        </a:rPr>
                        <a:t>2</a:t>
                      </a:r>
                      <a:r>
                        <a:rPr kumimoji="0" lang="en-US" altLang="zh-CN" sz="2400" b="1" i="0" u="none" strike="noStrike" cap="none" normalizeH="0" baseline="0">
                          <a:ln>
                            <a:noFill/>
                          </a:ln>
                          <a:solidFill>
                            <a:schemeClr val="tx1"/>
                          </a:solidFill>
                          <a:effectLst/>
                          <a:latin typeface="Times New Roman" panose="02020603050405020304" pitchFamily="18" charset="0"/>
                          <a:ea typeface="ˎ̥"/>
                          <a:cs typeface="ˎ̥"/>
                        </a:rPr>
                        <a:t>CH</a:t>
                      </a:r>
                      <a:r>
                        <a:rPr kumimoji="0" lang="en-US" altLang="zh-CN" sz="2400" b="1" i="0" u="none" strike="noStrike" cap="none" normalizeH="0" baseline="-25000">
                          <a:ln>
                            <a:noFill/>
                          </a:ln>
                          <a:solidFill>
                            <a:schemeClr val="tx1"/>
                          </a:solidFill>
                          <a:effectLst/>
                          <a:latin typeface="Times New Roman" panose="02020603050405020304" pitchFamily="18" charset="0"/>
                          <a:ea typeface="ˎ̥"/>
                          <a:cs typeface="ˎ̥"/>
                        </a:rPr>
                        <a:t>2</a:t>
                      </a:r>
                      <a:r>
                        <a:rPr kumimoji="0" lang="en-US" altLang="zh-CN" sz="2400" b="1" i="0" u="none" strike="noStrike" cap="none" normalizeH="0" baseline="0">
                          <a:ln>
                            <a:noFill/>
                          </a:ln>
                          <a:solidFill>
                            <a:schemeClr val="tx1"/>
                          </a:solidFill>
                          <a:effectLst/>
                          <a:latin typeface="Times New Roman" panose="02020603050405020304" pitchFamily="18" charset="0"/>
                          <a:ea typeface="ˎ̥"/>
                          <a:cs typeface="ˎ̥"/>
                        </a:rPr>
                        <a:t>NH</a:t>
                      </a:r>
                      <a:r>
                        <a:rPr kumimoji="0" lang="en-US" altLang="zh-CN" sz="2400" b="1" i="0" u="none" strike="noStrike" cap="none" normalizeH="0" baseline="-25000">
                          <a:ln>
                            <a:noFill/>
                          </a:ln>
                          <a:solidFill>
                            <a:schemeClr val="tx1"/>
                          </a:solidFill>
                          <a:effectLst/>
                          <a:latin typeface="Times New Roman" panose="02020603050405020304" pitchFamily="18" charset="0"/>
                          <a:ea typeface="ˎ̥"/>
                          <a:cs typeface="ˎ̥"/>
                        </a:rPr>
                        <a:t>2</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4400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8873" name="Text Box 43"/>
          <p:cNvSpPr txBox="1"/>
          <p:nvPr/>
        </p:nvSpPr>
        <p:spPr>
          <a:xfrm>
            <a:off x="1476375" y="1381127"/>
            <a:ext cx="6408738" cy="584775"/>
          </a:xfrm>
          <a:prstGeom prst="rect">
            <a:avLst/>
          </a:prstGeom>
          <a:noFill/>
          <a:ln w="9525">
            <a:noFill/>
          </a:ln>
        </p:spPr>
        <p:txBody>
          <a:bodyPr anchor="t" anchorCtr="0">
            <a:spAutoFit/>
          </a:bodyPr>
          <a:lstStyle/>
          <a:p>
            <a:pPr>
              <a:spcBef>
                <a:spcPct val="50000"/>
              </a:spcBef>
              <a:buClrTx/>
              <a:buFontTx/>
            </a:pPr>
            <a:r>
              <a:rPr lang="zh-CN" altLang="en-US" sz="3200" dirty="0">
                <a:latin typeface="Times New Roman" panose="02020603050405020304" pitchFamily="18" charset="0"/>
                <a:ea typeface="宋体" panose="02010600030101010101" pitchFamily="2" charset="-122"/>
              </a:rPr>
              <a:t>配体分为</a:t>
            </a:r>
            <a:r>
              <a:rPr lang="zh-CN" altLang="en-US" sz="3200" dirty="0">
                <a:solidFill>
                  <a:srgbClr val="FF3300"/>
                </a:solidFill>
                <a:latin typeface="Times New Roman" panose="02020603050405020304" pitchFamily="18" charset="0"/>
                <a:ea typeface="宋体" panose="02010600030101010101" pitchFamily="2" charset="-122"/>
              </a:rPr>
              <a:t>单齿</a:t>
            </a:r>
            <a:r>
              <a:rPr lang="zh-CN" altLang="en-US" sz="3200" dirty="0">
                <a:latin typeface="Times New Roman" panose="02020603050405020304" pitchFamily="18" charset="0"/>
                <a:ea typeface="宋体" panose="02010600030101010101" pitchFamily="2" charset="-122"/>
              </a:rPr>
              <a:t>配体和</a:t>
            </a:r>
            <a:r>
              <a:rPr lang="zh-CN" altLang="en-US" sz="3200" dirty="0">
                <a:solidFill>
                  <a:srgbClr val="FF3300"/>
                </a:solidFill>
                <a:latin typeface="Times New Roman" panose="02020603050405020304" pitchFamily="18" charset="0"/>
                <a:ea typeface="宋体" panose="02010600030101010101" pitchFamily="2" charset="-122"/>
              </a:rPr>
              <a:t>多齿</a:t>
            </a:r>
            <a:r>
              <a:rPr lang="zh-CN" altLang="en-US" sz="3200" dirty="0">
                <a:latin typeface="Times New Roman" panose="02020603050405020304" pitchFamily="18" charset="0"/>
                <a:ea typeface="宋体" panose="02010600030101010101" pitchFamily="2" charset="-122"/>
              </a:rPr>
              <a:t>配体</a:t>
            </a:r>
            <a:endParaRPr lang="zh-CN" altLang="en-US" sz="320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533"/>
                                        </p:tgtEl>
                                        <p:attrNameLst>
                                          <p:attrName>style.visibility</p:attrName>
                                        </p:attrNameLst>
                                      </p:cBhvr>
                                      <p:to>
                                        <p:strVal val="visible"/>
                                      </p:to>
                                    </p:set>
                                    <p:animEffect transition="in" filter="dissolve">
                                      <p:cBhvr>
                                        <p:cTn id="7" dur="500"/>
                                        <p:tgtEl>
                                          <p:spTgt spid="63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0"/>
          <p:cNvSpPr txBox="1"/>
          <p:nvPr/>
        </p:nvSpPr>
        <p:spPr>
          <a:xfrm>
            <a:off x="1403350" y="2730500"/>
            <a:ext cx="1081088" cy="523220"/>
          </a:xfrm>
          <a:prstGeom prst="rect">
            <a:avLst/>
          </a:prstGeom>
          <a:noFill/>
          <a:ln w="9525">
            <a:noFill/>
          </a:ln>
        </p:spPr>
        <p:txBody>
          <a:bodyPr anchor="t" anchorCtr="0">
            <a:spAutoFit/>
          </a:bodyPr>
          <a:lstStyle/>
          <a:p>
            <a:pPr>
              <a:buClrTx/>
              <a:buFontTx/>
            </a:pPr>
            <a:endParaRPr lang="zh-CN" altLang="en-US" dirty="0">
              <a:latin typeface="Times New Roman" panose="02020603050405020304" pitchFamily="18" charset="0"/>
              <a:ea typeface="宋体" panose="02010600030101010101" pitchFamily="2" charset="-122"/>
            </a:endParaRPr>
          </a:p>
        </p:txBody>
      </p:sp>
      <p:sp>
        <p:nvSpPr>
          <p:cNvPr id="79874" name="Text Box 11"/>
          <p:cNvSpPr txBox="1"/>
          <p:nvPr/>
        </p:nvSpPr>
        <p:spPr>
          <a:xfrm>
            <a:off x="2916244" y="255589"/>
            <a:ext cx="3240087" cy="523220"/>
          </a:xfrm>
          <a:prstGeom prst="rect">
            <a:avLst/>
          </a:prstGeom>
          <a:noFill/>
          <a:ln w="9525">
            <a:noFill/>
          </a:ln>
        </p:spPr>
        <p:txBody>
          <a:bodyPr anchor="t" anchorCtr="0">
            <a:spAutoFit/>
          </a:bodyPr>
          <a:lstStyle/>
          <a:p>
            <a:pPr algn="ctr">
              <a:spcBef>
                <a:spcPct val="50000"/>
              </a:spcBef>
              <a:buClrTx/>
              <a:buFontTx/>
            </a:pPr>
            <a:r>
              <a:rPr lang="zh-CN" altLang="en-US" dirty="0">
                <a:latin typeface="Times New Roman" panose="02020603050405020304" pitchFamily="18" charset="0"/>
                <a:ea typeface="宋体" panose="02010600030101010101" pitchFamily="2" charset="-122"/>
              </a:rPr>
              <a:t>常见单齿配体</a:t>
            </a:r>
          </a:p>
        </p:txBody>
      </p:sp>
      <p:graphicFrame>
        <p:nvGraphicFramePr>
          <p:cNvPr id="75780" name="表格 75779"/>
          <p:cNvGraphicFramePr>
            <a:graphicFrameLocks noGrp="1"/>
          </p:cNvGraphicFramePr>
          <p:nvPr/>
        </p:nvGraphicFramePr>
        <p:xfrm>
          <a:off x="250825" y="893766"/>
          <a:ext cx="8642350" cy="1085851"/>
        </p:xfrm>
        <a:graphic>
          <a:graphicData uri="http://schemas.openxmlformats.org/drawingml/2006/table">
            <a:tbl>
              <a:tblPr/>
              <a:tblGrid>
                <a:gridCol w="2376488">
                  <a:extLst>
                    <a:ext uri="{9D8B030D-6E8A-4147-A177-3AD203B41FA5}">
                      <a16:colId xmlns:a16="http://schemas.microsoft.com/office/drawing/2014/main" val="20000"/>
                    </a:ext>
                  </a:extLst>
                </a:gridCol>
                <a:gridCol w="1439862">
                  <a:extLst>
                    <a:ext uri="{9D8B030D-6E8A-4147-A177-3AD203B41FA5}">
                      <a16:colId xmlns:a16="http://schemas.microsoft.com/office/drawing/2014/main" val="20001"/>
                    </a:ext>
                  </a:extLst>
                </a:gridCol>
                <a:gridCol w="1441450">
                  <a:extLst>
                    <a:ext uri="{9D8B030D-6E8A-4147-A177-3AD203B41FA5}">
                      <a16:colId xmlns:a16="http://schemas.microsoft.com/office/drawing/2014/main" val="20002"/>
                    </a:ext>
                  </a:extLst>
                </a:gridCol>
                <a:gridCol w="1368425">
                  <a:extLst>
                    <a:ext uri="{9D8B030D-6E8A-4147-A177-3AD203B41FA5}">
                      <a16:colId xmlns:a16="http://schemas.microsoft.com/office/drawing/2014/main" val="20003"/>
                    </a:ext>
                  </a:extLst>
                </a:gridCol>
                <a:gridCol w="2016125">
                  <a:extLst>
                    <a:ext uri="{9D8B030D-6E8A-4147-A177-3AD203B41FA5}">
                      <a16:colId xmlns:a16="http://schemas.microsoft.com/office/drawing/2014/main" val="20004"/>
                    </a:ext>
                  </a:extLst>
                </a:gridCol>
              </a:tblGrid>
              <a:tr h="710804">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中性分子 </a:t>
                      </a: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配体</a:t>
                      </a:r>
                    </a:p>
                  </a:txBody>
                  <a:tcPr marL="0" marR="0" marT="35117" marB="351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H</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 </a:t>
                      </a: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水</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NH</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氨</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 </a:t>
                      </a: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羰基</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CH</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a:t>
                      </a: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NH</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甲胺</a:t>
                      </a:r>
                    </a:p>
                  </a:txBody>
                  <a:tcPr marL="0" marR="0" marT="35117" marB="351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5047">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配位原子 </a:t>
                      </a:r>
                    </a:p>
                  </a:txBody>
                  <a:tcPr marL="0" marR="0" marT="35117" marB="351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L="0" marR="0" marT="35117" marB="351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75800" name="表格 75799"/>
          <p:cNvGraphicFramePr>
            <a:graphicFrameLocks noGrp="1"/>
          </p:cNvGraphicFramePr>
          <p:nvPr/>
        </p:nvGraphicFramePr>
        <p:xfrm>
          <a:off x="250825" y="2243141"/>
          <a:ext cx="8642350" cy="1085851"/>
        </p:xfrm>
        <a:graphic>
          <a:graphicData uri="http://schemas.openxmlformats.org/drawingml/2006/table">
            <a:tbl>
              <a:tblPr/>
              <a:tblGrid>
                <a:gridCol w="1873250">
                  <a:extLst>
                    <a:ext uri="{9D8B030D-6E8A-4147-A177-3AD203B41FA5}">
                      <a16:colId xmlns:a16="http://schemas.microsoft.com/office/drawing/2014/main" val="20000"/>
                    </a:ext>
                  </a:extLst>
                </a:gridCol>
                <a:gridCol w="719138">
                  <a:extLst>
                    <a:ext uri="{9D8B030D-6E8A-4147-A177-3AD203B41FA5}">
                      <a16:colId xmlns:a16="http://schemas.microsoft.com/office/drawing/2014/main" val="20001"/>
                    </a:ext>
                  </a:extLst>
                </a:gridCol>
                <a:gridCol w="792162">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792162">
                  <a:extLst>
                    <a:ext uri="{9D8B030D-6E8A-4147-A177-3AD203B41FA5}">
                      <a16:colId xmlns:a16="http://schemas.microsoft.com/office/drawing/2014/main" val="20004"/>
                    </a:ext>
                  </a:extLst>
                </a:gridCol>
                <a:gridCol w="1223963">
                  <a:extLst>
                    <a:ext uri="{9D8B030D-6E8A-4147-A177-3AD203B41FA5}">
                      <a16:colId xmlns:a16="http://schemas.microsoft.com/office/drawing/2014/main" val="20005"/>
                    </a:ext>
                  </a:extLst>
                </a:gridCol>
                <a:gridCol w="1223962">
                  <a:extLst>
                    <a:ext uri="{9D8B030D-6E8A-4147-A177-3AD203B41FA5}">
                      <a16:colId xmlns:a16="http://schemas.microsoft.com/office/drawing/2014/main" val="20006"/>
                    </a:ext>
                  </a:extLst>
                </a:gridCol>
                <a:gridCol w="1225550">
                  <a:extLst>
                    <a:ext uri="{9D8B030D-6E8A-4147-A177-3AD203B41FA5}">
                      <a16:colId xmlns:a16="http://schemas.microsoft.com/office/drawing/2014/main" val="20007"/>
                    </a:ext>
                  </a:extLst>
                </a:gridCol>
              </a:tblGrid>
              <a:tr h="710804">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阴离子 </a:t>
                      </a: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配体</a:t>
                      </a:r>
                    </a:p>
                  </a:txBody>
                  <a:tcPr marL="0" marR="0" marT="35117" marB="351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氟</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氯</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Br</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溴</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碘</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OH</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羟基</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CN</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氰</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硝基</a:t>
                      </a:r>
                    </a:p>
                  </a:txBody>
                  <a:tcPr marL="0" marR="0" marT="35117" marB="351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5047">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配位原子 </a:t>
                      </a:r>
                    </a:p>
                  </a:txBody>
                  <a:tcPr marL="0" marR="0" marT="35117" marB="351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Br</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p>
                  </a:txBody>
                  <a:tcPr marL="0" marR="0" marT="35117" marB="35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marL="0" marR="0" marT="35117" marB="351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75829" name="表格 75828"/>
          <p:cNvGraphicFramePr>
            <a:graphicFrameLocks noGrp="1"/>
          </p:cNvGraphicFramePr>
          <p:nvPr/>
        </p:nvGraphicFramePr>
        <p:xfrm>
          <a:off x="250825" y="3592513"/>
          <a:ext cx="8642350" cy="1226726"/>
        </p:xfrm>
        <a:graphic>
          <a:graphicData uri="http://schemas.openxmlformats.org/drawingml/2006/table">
            <a:tbl>
              <a:tblPr/>
              <a:tblGrid>
                <a:gridCol w="1873250">
                  <a:extLst>
                    <a:ext uri="{9D8B030D-6E8A-4147-A177-3AD203B41FA5}">
                      <a16:colId xmlns:a16="http://schemas.microsoft.com/office/drawing/2014/main" val="20000"/>
                    </a:ext>
                  </a:extLst>
                </a:gridCol>
                <a:gridCol w="2016125">
                  <a:extLst>
                    <a:ext uri="{9D8B030D-6E8A-4147-A177-3AD203B41FA5}">
                      <a16:colId xmlns:a16="http://schemas.microsoft.com/office/drawing/2014/main" val="20001"/>
                    </a:ext>
                  </a:extLst>
                </a:gridCol>
                <a:gridCol w="2016125">
                  <a:extLst>
                    <a:ext uri="{9D8B030D-6E8A-4147-A177-3AD203B41FA5}">
                      <a16:colId xmlns:a16="http://schemas.microsoft.com/office/drawing/2014/main" val="20002"/>
                    </a:ext>
                  </a:extLst>
                </a:gridCol>
                <a:gridCol w="2736850">
                  <a:extLst>
                    <a:ext uri="{9D8B030D-6E8A-4147-A177-3AD203B41FA5}">
                      <a16:colId xmlns:a16="http://schemas.microsoft.com/office/drawing/2014/main" val="20003"/>
                    </a:ext>
                  </a:extLst>
                </a:gridCol>
              </a:tblGrid>
              <a:tr h="774288">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阴离子 </a:t>
                      </a: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配体</a:t>
                      </a: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ONO</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亚硝酸根</a:t>
                      </a: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SCN</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硫氰酸根</a:t>
                      </a: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NCS</a:t>
                      </a:r>
                      <a:r>
                        <a:rPr kumimoji="0" lang="en-US" altLang="zh-CN" sz="21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异硫氰酸根</a:t>
                      </a: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2438">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配位原子 </a:t>
                      </a: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a:t>
                      </a: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ˎ̥"/>
                        </a:rPr>
                        <a:t>S</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ˎ̥"/>
                        </a:rPr>
                        <a:t>N</a:t>
                      </a: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ext Box 18"/>
          <p:cNvSpPr txBox="1"/>
          <p:nvPr/>
        </p:nvSpPr>
        <p:spPr>
          <a:xfrm>
            <a:off x="1403350" y="2362201"/>
            <a:ext cx="1081088" cy="523220"/>
          </a:xfrm>
          <a:prstGeom prst="rect">
            <a:avLst/>
          </a:prstGeom>
          <a:noFill/>
          <a:ln w="9525">
            <a:noFill/>
          </a:ln>
        </p:spPr>
        <p:txBody>
          <a:bodyPr anchor="t" anchorCtr="0">
            <a:spAutoFit/>
          </a:bodyPr>
          <a:lstStyle/>
          <a:p>
            <a:pPr>
              <a:buClrTx/>
              <a:buFontTx/>
            </a:pPr>
            <a:endParaRPr lang="zh-CN" altLang="en-US" b="0" dirty="0">
              <a:latin typeface="Times New Roman" panose="02020603050405020304" pitchFamily="18" charset="0"/>
              <a:ea typeface="宋体" panose="02010600030101010101" pitchFamily="2" charset="-122"/>
            </a:endParaRPr>
          </a:p>
        </p:txBody>
      </p:sp>
      <p:sp>
        <p:nvSpPr>
          <p:cNvPr id="80898" name="Text Box 19"/>
          <p:cNvSpPr txBox="1"/>
          <p:nvPr/>
        </p:nvSpPr>
        <p:spPr>
          <a:xfrm>
            <a:off x="2843219" y="15875"/>
            <a:ext cx="3240087" cy="523220"/>
          </a:xfrm>
          <a:prstGeom prst="rect">
            <a:avLst/>
          </a:prstGeom>
          <a:noFill/>
          <a:ln w="9525">
            <a:noFill/>
          </a:ln>
        </p:spPr>
        <p:txBody>
          <a:bodyPr anchor="t" anchorCtr="0">
            <a:spAutoFit/>
          </a:bodyPr>
          <a:lstStyle/>
          <a:p>
            <a:pPr algn="ctr">
              <a:spcBef>
                <a:spcPct val="50000"/>
              </a:spcBef>
              <a:buClrTx/>
              <a:buFontTx/>
            </a:pPr>
            <a:r>
              <a:rPr lang="zh-CN" altLang="en-US" dirty="0">
                <a:latin typeface="Times New Roman" panose="02020603050405020304" pitchFamily="18" charset="0"/>
                <a:ea typeface="宋体" panose="02010600030101010101" pitchFamily="2" charset="-122"/>
              </a:rPr>
              <a:t>常见多齿配体</a:t>
            </a:r>
            <a:endParaRPr lang="zh-CN" altLang="en-US" b="0" dirty="0">
              <a:latin typeface="Times New Roman" panose="02020603050405020304" pitchFamily="18" charset="0"/>
              <a:ea typeface="宋体" panose="02010600030101010101" pitchFamily="2" charset="-122"/>
            </a:endParaRPr>
          </a:p>
        </p:txBody>
      </p:sp>
      <p:graphicFrame>
        <p:nvGraphicFramePr>
          <p:cNvPr id="65556" name="Group 20"/>
          <p:cNvGraphicFramePr>
            <a:graphicFrameLocks noGrp="1"/>
          </p:cNvGraphicFramePr>
          <p:nvPr/>
        </p:nvGraphicFramePr>
        <p:xfrm>
          <a:off x="250825" y="519115"/>
          <a:ext cx="8642350" cy="4226720"/>
        </p:xfrm>
        <a:graphic>
          <a:graphicData uri="http://schemas.openxmlformats.org/drawingml/2006/table">
            <a:tbl>
              <a:tblPr/>
              <a:tblGrid>
                <a:gridCol w="4321175">
                  <a:extLst>
                    <a:ext uri="{9D8B030D-6E8A-4147-A177-3AD203B41FA5}">
                      <a16:colId xmlns:a16="http://schemas.microsoft.com/office/drawing/2014/main" val="20000"/>
                    </a:ext>
                  </a:extLst>
                </a:gridCol>
                <a:gridCol w="2305050">
                  <a:extLst>
                    <a:ext uri="{9D8B030D-6E8A-4147-A177-3AD203B41FA5}">
                      <a16:colId xmlns:a16="http://schemas.microsoft.com/office/drawing/2014/main" val="20001"/>
                    </a:ext>
                  </a:extLst>
                </a:gridCol>
                <a:gridCol w="2016125">
                  <a:extLst>
                    <a:ext uri="{9D8B030D-6E8A-4147-A177-3AD203B41FA5}">
                      <a16:colId xmlns:a16="http://schemas.microsoft.com/office/drawing/2014/main" val="20002"/>
                    </a:ext>
                  </a:extLst>
                </a:gridCol>
              </a:tblGrid>
              <a:tr h="403622">
                <a:tc>
                  <a:txBody>
                    <a:bodyPr/>
                    <a:lstStyle/>
                    <a:p>
                      <a:pPr marL="0" marR="0" lvl="0" indent="0" algn="ctr"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分子式</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名称</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缩写符号</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650081">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草酸根</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(OX)</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11994">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乙二胺</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(en)</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33425">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邻菲罗啉</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(o-phen)</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02469">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联吡啶</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(bpy)</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025129">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乙二胺 </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四乙酸</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(H</a:t>
                      </a:r>
                      <a:r>
                        <a:rPr kumimoji="0" lang="en-US" altLang="zh-CN" sz="21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4</a:t>
                      </a: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edta)</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pic>
        <p:nvPicPr>
          <p:cNvPr id="80929" name="Picture 50"/>
          <p:cNvPicPr>
            <a:picLocks noChangeAspect="1"/>
          </p:cNvPicPr>
          <p:nvPr/>
        </p:nvPicPr>
        <p:blipFill>
          <a:blip r:embed="rId2"/>
          <a:stretch>
            <a:fillRect/>
          </a:stretch>
        </p:blipFill>
        <p:spPr>
          <a:xfrm>
            <a:off x="1619256" y="1006478"/>
            <a:ext cx="1008063" cy="468313"/>
          </a:xfrm>
          <a:prstGeom prst="rect">
            <a:avLst/>
          </a:prstGeom>
          <a:noFill/>
          <a:ln w="9525">
            <a:noFill/>
          </a:ln>
        </p:spPr>
      </p:pic>
      <p:pic>
        <p:nvPicPr>
          <p:cNvPr id="80930" name="Picture 51"/>
          <p:cNvPicPr>
            <a:picLocks noChangeAspect="1"/>
          </p:cNvPicPr>
          <p:nvPr/>
        </p:nvPicPr>
        <p:blipFill>
          <a:blip r:embed="rId3"/>
          <a:stretch>
            <a:fillRect/>
          </a:stretch>
        </p:blipFill>
        <p:spPr>
          <a:xfrm>
            <a:off x="1403356" y="1708153"/>
            <a:ext cx="1914525" cy="434975"/>
          </a:xfrm>
          <a:prstGeom prst="rect">
            <a:avLst/>
          </a:prstGeom>
          <a:noFill/>
          <a:ln w="9525">
            <a:noFill/>
          </a:ln>
        </p:spPr>
      </p:pic>
      <p:pic>
        <p:nvPicPr>
          <p:cNvPr id="80931" name="Picture 52"/>
          <p:cNvPicPr>
            <a:picLocks noChangeAspect="1"/>
          </p:cNvPicPr>
          <p:nvPr/>
        </p:nvPicPr>
        <p:blipFill>
          <a:blip r:embed="rId4"/>
          <a:stretch>
            <a:fillRect/>
          </a:stretch>
        </p:blipFill>
        <p:spPr>
          <a:xfrm>
            <a:off x="1476375" y="2409825"/>
            <a:ext cx="1512888" cy="488950"/>
          </a:xfrm>
          <a:prstGeom prst="rect">
            <a:avLst/>
          </a:prstGeom>
          <a:noFill/>
          <a:ln w="9525">
            <a:noFill/>
          </a:ln>
        </p:spPr>
      </p:pic>
      <p:pic>
        <p:nvPicPr>
          <p:cNvPr id="80932" name="Picture 53"/>
          <p:cNvPicPr>
            <a:picLocks noChangeAspect="1"/>
          </p:cNvPicPr>
          <p:nvPr/>
        </p:nvPicPr>
        <p:blipFill>
          <a:blip r:embed="rId5"/>
          <a:stretch>
            <a:fillRect/>
          </a:stretch>
        </p:blipFill>
        <p:spPr>
          <a:xfrm>
            <a:off x="1547819" y="3113090"/>
            <a:ext cx="1584325" cy="447675"/>
          </a:xfrm>
          <a:prstGeom prst="rect">
            <a:avLst/>
          </a:prstGeom>
          <a:noFill/>
          <a:ln w="9525">
            <a:noFill/>
          </a:ln>
        </p:spPr>
      </p:pic>
      <p:pic>
        <p:nvPicPr>
          <p:cNvPr id="80933" name="Picture 54"/>
          <p:cNvPicPr>
            <a:picLocks noChangeAspect="1"/>
          </p:cNvPicPr>
          <p:nvPr/>
        </p:nvPicPr>
        <p:blipFill>
          <a:blip r:embed="rId6"/>
          <a:stretch>
            <a:fillRect/>
          </a:stretch>
        </p:blipFill>
        <p:spPr>
          <a:xfrm>
            <a:off x="900113" y="3813175"/>
            <a:ext cx="3179762" cy="73025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ext Box 16"/>
          <p:cNvSpPr txBox="1"/>
          <p:nvPr/>
        </p:nvSpPr>
        <p:spPr>
          <a:xfrm>
            <a:off x="1403350" y="2355851"/>
            <a:ext cx="1081088" cy="523220"/>
          </a:xfrm>
          <a:prstGeom prst="rect">
            <a:avLst/>
          </a:prstGeom>
          <a:noFill/>
          <a:ln w="9525">
            <a:noFill/>
          </a:ln>
        </p:spPr>
        <p:txBody>
          <a:bodyPr anchor="t" anchorCtr="0">
            <a:spAutoFit/>
          </a:bodyPr>
          <a:lstStyle/>
          <a:p>
            <a:pPr>
              <a:buClrTx/>
              <a:buFontTx/>
            </a:pPr>
            <a:endParaRPr lang="zh-CN" altLang="en-US" b="0" dirty="0">
              <a:latin typeface="Times New Roman" panose="02020603050405020304" pitchFamily="18" charset="0"/>
              <a:ea typeface="宋体" panose="02010600030101010101" pitchFamily="2" charset="-122"/>
            </a:endParaRPr>
          </a:p>
        </p:txBody>
      </p:sp>
      <p:sp>
        <p:nvSpPr>
          <p:cNvPr id="81922" name="Text Box 17"/>
          <p:cNvSpPr txBox="1"/>
          <p:nvPr/>
        </p:nvSpPr>
        <p:spPr>
          <a:xfrm>
            <a:off x="7667625" y="303214"/>
            <a:ext cx="433388" cy="523220"/>
          </a:xfrm>
          <a:prstGeom prst="rect">
            <a:avLst/>
          </a:prstGeom>
          <a:noFill/>
          <a:ln w="9525">
            <a:noFill/>
          </a:ln>
        </p:spPr>
        <p:txBody>
          <a:bodyPr anchor="t" anchorCtr="0">
            <a:spAutoFit/>
          </a:bodyPr>
          <a:lstStyle/>
          <a:p>
            <a:pPr>
              <a:buClrTx/>
              <a:buFontTx/>
            </a:pPr>
            <a:endParaRPr lang="zh-CN" altLang="en-US" b="0" dirty="0">
              <a:latin typeface="Times New Roman" panose="02020603050405020304" pitchFamily="18" charset="0"/>
              <a:ea typeface="宋体" panose="02010600030101010101" pitchFamily="2" charset="-122"/>
            </a:endParaRPr>
          </a:p>
        </p:txBody>
      </p:sp>
      <p:sp>
        <p:nvSpPr>
          <p:cNvPr id="81923" name="Text Box 18"/>
          <p:cNvSpPr txBox="1"/>
          <p:nvPr/>
        </p:nvSpPr>
        <p:spPr>
          <a:xfrm>
            <a:off x="179388" y="246066"/>
            <a:ext cx="8532812" cy="584775"/>
          </a:xfrm>
          <a:prstGeom prst="rect">
            <a:avLst/>
          </a:prstGeom>
          <a:noFill/>
          <a:ln w="9525">
            <a:noFill/>
          </a:ln>
        </p:spPr>
        <p:txBody>
          <a:bodyPr anchor="t" anchorCtr="0">
            <a:spAutoFit/>
          </a:bodyPr>
          <a:lstStyle/>
          <a:p>
            <a:pPr>
              <a:spcBef>
                <a:spcPct val="50000"/>
              </a:spcBef>
              <a:buClrTx/>
              <a:buFontTx/>
            </a:pPr>
            <a:r>
              <a:rPr lang="en-US" altLang="zh-CN" sz="3200" dirty="0">
                <a:latin typeface="华文新魏" pitchFamily="2" charset="-122"/>
                <a:ea typeface="华文新魏" pitchFamily="2" charset="-122"/>
              </a:rPr>
              <a:t>3) </a:t>
            </a:r>
            <a:r>
              <a:rPr lang="zh-CN" altLang="en-US" sz="3200" dirty="0">
                <a:latin typeface="华文新魏" pitchFamily="2" charset="-122"/>
                <a:ea typeface="华文新魏" pitchFamily="2" charset="-122"/>
              </a:rPr>
              <a:t>配位数</a:t>
            </a:r>
            <a:r>
              <a:rPr lang="en-US" altLang="zh-CN" sz="3200"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与一个形成体成键的配位原子总数</a:t>
            </a:r>
            <a:endParaRPr lang="zh-CN" altLang="en-US" b="0" dirty="0">
              <a:latin typeface="Times New Roman" panose="02020603050405020304" pitchFamily="18" charset="0"/>
              <a:ea typeface="宋体" panose="02010600030101010101" pitchFamily="2" charset="-122"/>
            </a:endParaRPr>
          </a:p>
        </p:txBody>
      </p:sp>
      <p:graphicFrame>
        <p:nvGraphicFramePr>
          <p:cNvPr id="66579" name="Group 19"/>
          <p:cNvGraphicFramePr>
            <a:graphicFrameLocks noGrp="1"/>
          </p:cNvGraphicFramePr>
          <p:nvPr/>
        </p:nvGraphicFramePr>
        <p:xfrm>
          <a:off x="250825" y="931866"/>
          <a:ext cx="8642350" cy="2612231"/>
        </p:xfrm>
        <a:graphic>
          <a:graphicData uri="http://schemas.openxmlformats.org/drawingml/2006/table">
            <a:tbl>
              <a:tblPr/>
              <a:tblGrid>
                <a:gridCol w="2808288">
                  <a:extLst>
                    <a:ext uri="{9D8B030D-6E8A-4147-A177-3AD203B41FA5}">
                      <a16:colId xmlns:a16="http://schemas.microsoft.com/office/drawing/2014/main" val="20000"/>
                    </a:ext>
                  </a:extLst>
                </a:gridCol>
                <a:gridCol w="1512887">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1871662">
                  <a:extLst>
                    <a:ext uri="{9D8B030D-6E8A-4147-A177-3AD203B41FA5}">
                      <a16:colId xmlns:a16="http://schemas.microsoft.com/office/drawing/2014/main" val="20003"/>
                    </a:ext>
                  </a:extLst>
                </a:gridCol>
                <a:gridCol w="1441450">
                  <a:extLst>
                    <a:ext uri="{9D8B030D-6E8A-4147-A177-3AD203B41FA5}">
                      <a16:colId xmlns:a16="http://schemas.microsoft.com/office/drawing/2014/main" val="20004"/>
                    </a:ext>
                  </a:extLst>
                </a:gridCol>
              </a:tblGrid>
              <a:tr h="546497">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配位个体</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配位体</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配位原子</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配位数</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45306">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[Cu(NH</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3</a:t>
                      </a: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4</a:t>
                      </a: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NH</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单齿</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975122">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[CoCl</a:t>
                      </a:r>
                      <a:r>
                        <a:rPr kumimoji="0" lang="en-US" altLang="zh-CN" sz="2100" b="1" i="0" u="none" strike="noStrike" cap="none" normalizeH="0" baseline="-25000">
                          <a:ln>
                            <a:noFill/>
                          </a:ln>
                          <a:solidFill>
                            <a:srgbClr val="000000"/>
                          </a:solidFill>
                          <a:effectLst/>
                          <a:latin typeface="Times New Roman" panose="02020603050405020304" pitchFamily="18" charset="0"/>
                          <a:ea typeface="宋体" panose="02010600030101010101" pitchFamily="2" charset="-122"/>
                        </a:rPr>
                        <a:t>3</a:t>
                      </a: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(NH</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3</a:t>
                      </a: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3</a:t>
                      </a: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 </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Cl</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 </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NH</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3</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 </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单齿</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 </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45306">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[Cu(en)</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2</a:t>
                      </a: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0" lang="en-US" altLang="zh-CN" sz="21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en</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双齿</a:t>
                      </a: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66614" name="Text Box 54"/>
          <p:cNvSpPr txBox="1"/>
          <p:nvPr/>
        </p:nvSpPr>
        <p:spPr>
          <a:xfrm>
            <a:off x="827094" y="3868738"/>
            <a:ext cx="7273925" cy="997196"/>
          </a:xfrm>
          <a:prstGeom prst="rect">
            <a:avLst/>
          </a:prstGeom>
          <a:gradFill rotWithShape="1">
            <a:gsLst>
              <a:gs pos="0">
                <a:srgbClr val="761800"/>
              </a:gs>
              <a:gs pos="50000">
                <a:srgbClr val="FF3300"/>
              </a:gs>
              <a:gs pos="100000">
                <a:srgbClr val="761800"/>
              </a:gs>
            </a:gsLst>
            <a:lin ang="5400000" scaled="1"/>
            <a:tileRect/>
          </a:gradFill>
          <a:ln w="9525">
            <a:noFill/>
          </a:ln>
        </p:spPr>
        <p:txBody>
          <a:bodyPr anchor="t" anchorCtr="0">
            <a:spAutoFit/>
          </a:bodyPr>
          <a:lstStyle/>
          <a:p>
            <a:pPr algn="ctr">
              <a:spcBef>
                <a:spcPct val="50000"/>
              </a:spcBef>
              <a:buClrTx/>
              <a:buFontTx/>
            </a:pPr>
            <a:r>
              <a:rPr lang="zh-CN" altLang="en-US" dirty="0">
                <a:solidFill>
                  <a:schemeClr val="bg1"/>
                </a:solidFill>
                <a:latin typeface="Times New Roman" panose="02020603050405020304" pitchFamily="18" charset="0"/>
                <a:ea typeface="宋体" panose="02010600030101010101" pitchFamily="2" charset="-122"/>
              </a:rPr>
              <a:t>配体为单齿，配位数</a:t>
            </a:r>
            <a:r>
              <a:rPr lang="en-US" altLang="zh-CN" dirty="0">
                <a:solidFill>
                  <a:schemeClr val="bg1"/>
                </a:solidFill>
                <a:latin typeface="Times New Roman" panose="02020603050405020304" pitchFamily="18" charset="0"/>
                <a:ea typeface="宋体" panose="02010600030101010101" pitchFamily="2" charset="-122"/>
              </a:rPr>
              <a:t>=</a:t>
            </a:r>
            <a:r>
              <a:rPr lang="zh-CN" altLang="en-US" dirty="0">
                <a:solidFill>
                  <a:schemeClr val="bg1"/>
                </a:solidFill>
                <a:latin typeface="Times New Roman" panose="02020603050405020304" pitchFamily="18" charset="0"/>
                <a:ea typeface="宋体" panose="02010600030101010101" pitchFamily="2" charset="-122"/>
              </a:rPr>
              <a:t>配体的总数 </a:t>
            </a:r>
            <a:endParaRPr lang="zh-CN" altLang="en-US" b="0" dirty="0">
              <a:latin typeface="Times New Roman" panose="02020603050405020304" pitchFamily="18" charset="0"/>
              <a:ea typeface="ˎ̥"/>
            </a:endParaRPr>
          </a:p>
          <a:p>
            <a:pPr algn="ctr">
              <a:lnSpc>
                <a:spcPct val="60000"/>
              </a:lnSpc>
              <a:spcBef>
                <a:spcPct val="50000"/>
              </a:spcBef>
              <a:buClrTx/>
              <a:buFontTx/>
            </a:pPr>
            <a:r>
              <a:rPr lang="zh-CN" altLang="en-US" dirty="0">
                <a:solidFill>
                  <a:schemeClr val="bg1"/>
                </a:solidFill>
                <a:latin typeface="Times New Roman" panose="02020603050405020304" pitchFamily="18" charset="0"/>
                <a:ea typeface="宋体" panose="02010600030101010101" pitchFamily="2" charset="-122"/>
              </a:rPr>
              <a:t>配体为多齿，配位数≠配体的数目</a:t>
            </a:r>
            <a:endParaRPr lang="zh-CN" altLang="en-US" b="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6579"/>
                                        </p:tgtEl>
                                        <p:attrNameLst>
                                          <p:attrName>style.visibility</p:attrName>
                                        </p:attrNameLst>
                                      </p:cBhvr>
                                      <p:to>
                                        <p:strVal val="visible"/>
                                      </p:to>
                                    </p:set>
                                    <p:animEffect transition="in" filter="box(in)">
                                      <p:cBhvr>
                                        <p:cTn id="7" dur="500"/>
                                        <p:tgtEl>
                                          <p:spTgt spid="6657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6614"/>
                                        </p:tgtEl>
                                        <p:attrNameLst>
                                          <p:attrName>style.visibility</p:attrName>
                                        </p:attrNameLst>
                                      </p:cBhvr>
                                      <p:to>
                                        <p:strVal val="visible"/>
                                      </p:to>
                                    </p:set>
                                    <p:animEffect transition="in" filter="box(in)">
                                      <p:cBhvr>
                                        <p:cTn id="12" dur="500"/>
                                        <p:tgtEl>
                                          <p:spTgt spid="66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1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ext Box 12"/>
          <p:cNvSpPr txBox="1"/>
          <p:nvPr/>
        </p:nvSpPr>
        <p:spPr>
          <a:xfrm>
            <a:off x="179388" y="195266"/>
            <a:ext cx="8496300" cy="646331"/>
          </a:xfrm>
          <a:prstGeom prst="rect">
            <a:avLst/>
          </a:prstGeom>
          <a:noFill/>
          <a:ln w="9525">
            <a:noFill/>
          </a:ln>
        </p:spPr>
        <p:txBody>
          <a:bodyPr anchor="t" anchorCtr="0">
            <a:spAutoFit/>
          </a:bodyPr>
          <a:lstStyle/>
          <a:p>
            <a:pPr>
              <a:spcBef>
                <a:spcPct val="50000"/>
              </a:spcBef>
              <a:buClrTx/>
              <a:buFontTx/>
            </a:pPr>
            <a:r>
              <a:rPr lang="en-US" altLang="zh-CN" sz="3600" b="0" dirty="0">
                <a:latin typeface="华文新魏" pitchFamily="2" charset="-122"/>
                <a:ea typeface="华文新魏" pitchFamily="2" charset="-122"/>
              </a:rPr>
              <a:t>4) </a:t>
            </a:r>
            <a:r>
              <a:rPr lang="zh-CN" altLang="en-US" sz="3600" b="0" dirty="0">
                <a:latin typeface="华文新魏" pitchFamily="2" charset="-122"/>
                <a:ea typeface="华文新魏" pitchFamily="2" charset="-122"/>
              </a:rPr>
              <a:t>配离子的电荷</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形成体和配体电荷的代数和 </a:t>
            </a:r>
            <a:endParaRPr lang="en-US" altLang="zh-CN" dirty="0">
              <a:latin typeface="Times New Roman" panose="02020603050405020304" pitchFamily="18" charset="0"/>
              <a:ea typeface="宋体" panose="02010600030101010101" pitchFamily="2" charset="-122"/>
            </a:endParaRPr>
          </a:p>
        </p:txBody>
      </p:sp>
      <p:sp>
        <p:nvSpPr>
          <p:cNvPr id="82946" name="Text Box 48"/>
          <p:cNvSpPr txBox="1"/>
          <p:nvPr/>
        </p:nvSpPr>
        <p:spPr>
          <a:xfrm>
            <a:off x="1331919" y="2517775"/>
            <a:ext cx="1081087"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82947" name="Text Box 50"/>
          <p:cNvSpPr txBox="1"/>
          <p:nvPr/>
        </p:nvSpPr>
        <p:spPr>
          <a:xfrm>
            <a:off x="233369" y="842963"/>
            <a:ext cx="8586787" cy="997196"/>
          </a:xfrm>
          <a:prstGeom prst="rect">
            <a:avLst/>
          </a:prstGeom>
          <a:noFill/>
          <a:ln w="9525">
            <a:noFill/>
          </a:ln>
        </p:spPr>
        <p:txBody>
          <a:bodyPr anchor="t" anchorCtr="0">
            <a:spAutoFit/>
          </a:bodyPr>
          <a:lstStyle/>
          <a:p>
            <a:pPr>
              <a:spcBef>
                <a:spcPct val="50000"/>
              </a:spcBef>
              <a:buClrTx/>
              <a:buFontTx/>
            </a:pPr>
            <a:r>
              <a:rPr lang="zh-CN" altLang="en-US" dirty="0">
                <a:latin typeface="幼圆" pitchFamily="49" charset="-122"/>
                <a:ea typeface="幼圆" pitchFamily="49" charset="-122"/>
              </a:rPr>
              <a:t>配离子电荷 </a:t>
            </a:r>
            <a:r>
              <a:rPr lang="en-US" altLang="zh-CN" dirty="0">
                <a:latin typeface="幼圆" pitchFamily="49" charset="-122"/>
                <a:ea typeface="幼圆" pitchFamily="49" charset="-122"/>
              </a:rPr>
              <a:t>= </a:t>
            </a:r>
            <a:r>
              <a:rPr lang="zh-CN" altLang="en-US" dirty="0">
                <a:latin typeface="幼圆" pitchFamily="49" charset="-122"/>
                <a:ea typeface="幼圆" pitchFamily="49" charset="-122"/>
              </a:rPr>
              <a:t>形成体与配体电荷的代数和 </a:t>
            </a:r>
            <a:endParaRPr lang="zh-CN" altLang="en-US" dirty="0">
              <a:latin typeface="幼圆" pitchFamily="49" charset="-122"/>
              <a:ea typeface="ˎ̥"/>
            </a:endParaRPr>
          </a:p>
          <a:p>
            <a:pPr>
              <a:lnSpc>
                <a:spcPct val="60000"/>
              </a:lnSpc>
              <a:spcBef>
                <a:spcPct val="50000"/>
              </a:spcBef>
              <a:buClrTx/>
              <a:buFontTx/>
            </a:pPr>
            <a:r>
              <a:rPr lang="zh-CN" altLang="en-US" dirty="0">
                <a:latin typeface="幼圆" pitchFamily="49" charset="-122"/>
                <a:ea typeface="幼圆" pitchFamily="49" charset="-122"/>
              </a:rPr>
              <a:t>           </a:t>
            </a:r>
            <a:r>
              <a:rPr lang="en-US" altLang="zh-CN" dirty="0">
                <a:latin typeface="幼圆" pitchFamily="49" charset="-122"/>
                <a:ea typeface="幼圆" pitchFamily="49" charset="-122"/>
              </a:rPr>
              <a:t>= -</a:t>
            </a:r>
            <a:r>
              <a:rPr lang="en-US" altLang="zh-CN" baseline="30000" dirty="0">
                <a:latin typeface="幼圆" pitchFamily="49" charset="-122"/>
                <a:ea typeface="幼圆" pitchFamily="49" charset="-122"/>
              </a:rPr>
              <a:t> </a:t>
            </a:r>
            <a:r>
              <a:rPr lang="zh-CN" altLang="en-US" dirty="0">
                <a:latin typeface="幼圆" pitchFamily="49" charset="-122"/>
                <a:ea typeface="幼圆" pitchFamily="49" charset="-122"/>
              </a:rPr>
              <a:t>外界离子的电荷           </a:t>
            </a:r>
          </a:p>
        </p:txBody>
      </p:sp>
      <p:graphicFrame>
        <p:nvGraphicFramePr>
          <p:cNvPr id="68659" name="Group 51"/>
          <p:cNvGraphicFramePr>
            <a:graphicFrameLocks noGrp="1"/>
          </p:cNvGraphicFramePr>
          <p:nvPr/>
        </p:nvGraphicFramePr>
        <p:xfrm>
          <a:off x="107950" y="1816101"/>
          <a:ext cx="8713788" cy="3024190"/>
        </p:xfrm>
        <a:graphic>
          <a:graphicData uri="http://schemas.openxmlformats.org/drawingml/2006/table">
            <a:tbl>
              <a:tblPr/>
              <a:tblGrid>
                <a:gridCol w="2447925">
                  <a:extLst>
                    <a:ext uri="{9D8B030D-6E8A-4147-A177-3AD203B41FA5}">
                      <a16:colId xmlns:a16="http://schemas.microsoft.com/office/drawing/2014/main" val="20000"/>
                    </a:ext>
                  </a:extLst>
                </a:gridCol>
                <a:gridCol w="3097213">
                  <a:extLst>
                    <a:ext uri="{9D8B030D-6E8A-4147-A177-3AD203B41FA5}">
                      <a16:colId xmlns:a16="http://schemas.microsoft.com/office/drawing/2014/main" val="20001"/>
                    </a:ext>
                  </a:extLst>
                </a:gridCol>
                <a:gridCol w="3168650">
                  <a:extLst>
                    <a:ext uri="{9D8B030D-6E8A-4147-A177-3AD203B41FA5}">
                      <a16:colId xmlns:a16="http://schemas.microsoft.com/office/drawing/2014/main" val="20002"/>
                    </a:ext>
                  </a:extLst>
                </a:gridCol>
              </a:tblGrid>
              <a:tr h="50363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幼圆" pitchFamily="49" charset="-122"/>
                        </a:rPr>
                        <a:t>配合物</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[Cu(NH</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]SO</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K</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[Fe(CN)</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6</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63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幼圆" pitchFamily="49" charset="-122"/>
                        </a:rPr>
                        <a:t>形成体</a:t>
                      </a:r>
                      <a:r>
                        <a:rPr kumimoji="0" lang="zh-CN" altLang="en-US" sz="2100" b="1" i="0" u="none" strike="noStrike" cap="none" normalizeH="0" baseline="30000">
                          <a:ln>
                            <a:noFill/>
                          </a:ln>
                          <a:solidFill>
                            <a:schemeClr val="tx1"/>
                          </a:solidFill>
                          <a:effectLst/>
                          <a:latin typeface="Times New Roman" panose="02020603050405020304" pitchFamily="18" charset="0"/>
                          <a:ea typeface="幼圆" pitchFamily="49" charset="-122"/>
                        </a:rPr>
                        <a:t> </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Cu</a:t>
                      </a:r>
                      <a:r>
                        <a:rPr kumimoji="0" lang="en-US" altLang="zh-CN" sz="2100" b="1" i="0" u="none" strike="noStrike" cap="none" normalizeH="0" baseline="30000">
                          <a:ln>
                            <a:noFill/>
                          </a:ln>
                          <a:solidFill>
                            <a:schemeClr val="tx1"/>
                          </a:solidFill>
                          <a:effectLst/>
                          <a:latin typeface="Times New Roman" panose="02020603050405020304" pitchFamily="18" charset="0"/>
                          <a:ea typeface="幼圆" pitchFamily="49" charset="-122"/>
                        </a:rPr>
                        <a:t>2+</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Fe</a:t>
                      </a:r>
                      <a:r>
                        <a:rPr kumimoji="0" lang="en-US" altLang="zh-CN" sz="2100" b="1" i="0" u="none" strike="noStrike" cap="none" normalizeH="0" baseline="30000">
                          <a:ln>
                            <a:noFill/>
                          </a:ln>
                          <a:solidFill>
                            <a:schemeClr val="tx1"/>
                          </a:solidFill>
                          <a:effectLst/>
                          <a:latin typeface="Times New Roman" panose="02020603050405020304" pitchFamily="18" charset="0"/>
                          <a:ea typeface="幼圆" pitchFamily="49" charset="-122"/>
                        </a:rPr>
                        <a:t>2+</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601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幼圆" pitchFamily="49" charset="-122"/>
                        </a:rPr>
                        <a:t>配体</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NH</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CN</a:t>
                      </a:r>
                      <a:r>
                        <a:rPr kumimoji="0" lang="en-US" altLang="zh-CN" sz="2100" b="1" i="0" u="none" strike="noStrike" cap="none" normalizeH="0" baseline="30000">
                          <a:ln>
                            <a:noFill/>
                          </a:ln>
                          <a:solidFill>
                            <a:schemeClr val="tx1"/>
                          </a:solidFill>
                          <a:effectLst/>
                          <a:latin typeface="幼圆" pitchFamily="49" charset="-122"/>
                          <a:ea typeface="幼圆" pitchFamily="49" charset="-122"/>
                        </a:rPr>
                        <a:t>-</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63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幼圆" pitchFamily="49" charset="-122"/>
                        </a:rPr>
                        <a:t>配离子电荷</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ˎ̥"/>
                        </a:rPr>
                        <a:t>+2</a:t>
                      </a:r>
                      <a:r>
                        <a:rPr kumimoji="0" lang="en-US" altLang="zh-CN" sz="2100" b="1" i="0" u="none" strike="noStrike" cap="none" normalizeH="0" baseline="0">
                          <a:ln>
                            <a:noFill/>
                          </a:ln>
                          <a:solidFill>
                            <a:schemeClr val="tx1"/>
                          </a:solidFill>
                          <a:effectLst/>
                          <a:latin typeface="幼圆" pitchFamily="49" charset="-122"/>
                          <a:ea typeface="幼圆" pitchFamily="49"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ˎ̥"/>
                        </a:rPr>
                        <a:t>(+2)+(-1)</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×6=-4</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363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幼圆" pitchFamily="49" charset="-122"/>
                        </a:rPr>
                        <a:t>外界</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SO</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0" lang="en-US" altLang="zh-CN" sz="2100" b="1" i="0" u="none" strike="noStrike" cap="none" normalizeH="0" baseline="30000">
                          <a:ln>
                            <a:noFill/>
                          </a:ln>
                          <a:solidFill>
                            <a:schemeClr val="tx1"/>
                          </a:solidFill>
                          <a:effectLst/>
                          <a:latin typeface="Times New Roman" panose="02020603050405020304" pitchFamily="18" charset="0"/>
                          <a:ea typeface="幼圆" pitchFamily="49" charset="-122"/>
                        </a:rPr>
                        <a:t> 2-</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K</a:t>
                      </a:r>
                      <a:r>
                        <a:rPr kumimoji="0" lang="en-US" altLang="zh-CN" sz="2100" b="1" i="0" u="none" strike="noStrike" cap="none" normalizeH="0" baseline="30000">
                          <a:ln>
                            <a:noFill/>
                          </a:ln>
                          <a:solidFill>
                            <a:schemeClr val="tx1"/>
                          </a:solidFill>
                          <a:effectLst/>
                          <a:latin typeface="Times New Roman" panose="02020603050405020304" pitchFamily="18" charset="0"/>
                          <a:ea typeface="幼圆" pitchFamily="49" charset="-122"/>
                        </a:rPr>
                        <a:t>+</a:t>
                      </a: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63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Times New Roman" panose="02020603050405020304" pitchFamily="18" charset="0"/>
                          <a:ea typeface="幼圆" pitchFamily="49" charset="-122"/>
                        </a:rPr>
                        <a:t>配离子</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[Cu(NH</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t>
                      </a:r>
                      <a:r>
                        <a:rPr kumimoji="0" lang="en-US" altLang="zh-CN" sz="2100" b="1" i="0" u="none" strike="noStrike" cap="none" normalizeH="0" baseline="30000">
                          <a:ln>
                            <a:noFill/>
                          </a:ln>
                          <a:solidFill>
                            <a:schemeClr val="tx1"/>
                          </a:solidFill>
                          <a:effectLst/>
                          <a:latin typeface="Times New Roman" panose="02020603050405020304" pitchFamily="18" charset="0"/>
                          <a:ea typeface="幼圆" pitchFamily="49" charset="-122"/>
                        </a:rPr>
                        <a:t>2+</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[Fe(CN)</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6</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t>
                      </a:r>
                      <a:r>
                        <a:rPr kumimoji="0" lang="en-US" altLang="zh-CN" sz="2100" b="1" i="0" u="none" strike="noStrike" cap="none" normalizeH="0" baseline="30000">
                          <a:ln>
                            <a:noFill/>
                          </a:ln>
                          <a:solidFill>
                            <a:schemeClr val="tx1"/>
                          </a:solidFill>
                          <a:effectLst/>
                          <a:latin typeface="Times New Roman" panose="02020603050405020304" pitchFamily="18" charset="0"/>
                          <a:ea typeface="幼圆" pitchFamily="49" charset="-122"/>
                        </a:rPr>
                        <a:t>4-</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35100" marB="351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2978" name="Text Box 81"/>
          <p:cNvSpPr txBox="1"/>
          <p:nvPr/>
        </p:nvSpPr>
        <p:spPr>
          <a:xfrm>
            <a:off x="4243388" y="3794126"/>
            <a:ext cx="576262" cy="523220"/>
          </a:xfrm>
          <a:prstGeom prst="rect">
            <a:avLst/>
          </a:prstGeom>
          <a:noFill/>
          <a:ln w="9525">
            <a:noFill/>
          </a:ln>
        </p:spPr>
        <p:txBody>
          <a:bodyPr anchor="t" anchorCtr="0">
            <a:spAutoFit/>
          </a:bodyPr>
          <a:lstStyle/>
          <a:p>
            <a:pPr>
              <a:buClrTx/>
              <a:buFontTx/>
            </a:pPr>
            <a:endParaRPr lang="zh-CN" altLang="en-US" dirty="0">
              <a:latin typeface="Times New Roman" panose="02020603050405020304" pitchFamily="18" charset="0"/>
              <a:ea typeface="幼圆"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8659"/>
                                        </p:tgtEl>
                                        <p:attrNameLst>
                                          <p:attrName>style.visibility</p:attrName>
                                        </p:attrNameLst>
                                      </p:cBhvr>
                                      <p:to>
                                        <p:strVal val="visible"/>
                                      </p:to>
                                    </p:set>
                                    <p:animEffect transition="in" filter="dissolve">
                                      <p:cBhvr>
                                        <p:cTn id="7" dur="500"/>
                                        <p:tgtEl>
                                          <p:spTgt spid="68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13"/>
          <p:cNvSpPr/>
          <p:nvPr/>
        </p:nvSpPr>
        <p:spPr>
          <a:xfrm>
            <a:off x="250831" y="36408"/>
            <a:ext cx="6265863" cy="646331"/>
          </a:xfrm>
          <a:prstGeom prst="rect">
            <a:avLst/>
          </a:prstGeom>
          <a:noFill/>
          <a:ln w="9525">
            <a:noFill/>
          </a:ln>
        </p:spPr>
        <p:txBody>
          <a:bodyPr anchor="ctr" anchorCtr="0">
            <a:spAutoFit/>
          </a:bodyPr>
          <a:lstStyle/>
          <a:p>
            <a:pPr eaLnBrk="0" hangingPunct="0">
              <a:buClrTx/>
              <a:buFontTx/>
            </a:pPr>
            <a:r>
              <a:rPr lang="zh-CN" altLang="en-US" sz="3600" dirty="0">
                <a:solidFill>
                  <a:srgbClr val="FF0066"/>
                </a:solidFill>
                <a:latin typeface="华文新魏" pitchFamily="2" charset="-122"/>
                <a:ea typeface="华文新魏" pitchFamily="2" charset="-122"/>
              </a:rPr>
              <a:t>2. 配合物的命名及书写</a:t>
            </a:r>
            <a:r>
              <a:rPr lang="zh-CN" altLang="en-US" sz="3600" b="0" dirty="0">
                <a:latin typeface="华文新魏" pitchFamily="2" charset="-122"/>
                <a:ea typeface="华文新魏" pitchFamily="2" charset="-122"/>
              </a:rPr>
              <a:t> </a:t>
            </a:r>
          </a:p>
        </p:txBody>
      </p:sp>
      <p:sp>
        <p:nvSpPr>
          <p:cNvPr id="83970" name="Text Box 14"/>
          <p:cNvSpPr txBox="1"/>
          <p:nvPr/>
        </p:nvSpPr>
        <p:spPr>
          <a:xfrm>
            <a:off x="230511" y="692788"/>
            <a:ext cx="2900045" cy="584775"/>
          </a:xfrm>
          <a:prstGeom prst="rect">
            <a:avLst/>
          </a:prstGeom>
          <a:solidFill>
            <a:schemeClr val="accent1"/>
          </a:solidFill>
          <a:ln w="9525">
            <a:noFill/>
          </a:ln>
        </p:spPr>
        <p:txBody>
          <a:bodyPr wrap="square" anchor="t" anchorCtr="0">
            <a:spAutoFit/>
          </a:bodyPr>
          <a:lstStyle/>
          <a:p>
            <a:pPr>
              <a:spcBef>
                <a:spcPct val="50000"/>
              </a:spcBef>
              <a:buClrTx/>
              <a:buFontTx/>
            </a:pPr>
            <a:r>
              <a:rPr lang="en-US" altLang="zh-CN" dirty="0">
                <a:latin typeface="华文新魏" pitchFamily="2" charset="-122"/>
                <a:ea typeface="华文新魏" pitchFamily="2" charset="-122"/>
              </a:rPr>
              <a:t>1) </a:t>
            </a:r>
            <a:r>
              <a:rPr lang="zh-CN" altLang="en-US" dirty="0">
                <a:latin typeface="华文新魏" pitchFamily="2" charset="-122"/>
                <a:ea typeface="华文新魏" pitchFamily="2" charset="-122"/>
              </a:rPr>
              <a:t>配合物的命名</a:t>
            </a:r>
            <a:r>
              <a:rPr lang="zh-CN" altLang="en-US" sz="3200" b="0" dirty="0">
                <a:latin typeface="华文新魏" pitchFamily="2" charset="-122"/>
                <a:ea typeface="华文新魏" pitchFamily="2" charset="-122"/>
              </a:rPr>
              <a:t> </a:t>
            </a:r>
          </a:p>
        </p:txBody>
      </p:sp>
      <p:sp>
        <p:nvSpPr>
          <p:cNvPr id="83971" name="Text Box 15"/>
          <p:cNvSpPr txBox="1"/>
          <p:nvPr/>
        </p:nvSpPr>
        <p:spPr>
          <a:xfrm>
            <a:off x="1403350" y="2735263"/>
            <a:ext cx="1081088" cy="523220"/>
          </a:xfrm>
          <a:prstGeom prst="rect">
            <a:avLst/>
          </a:prstGeom>
          <a:noFill/>
          <a:ln w="9525">
            <a:noFill/>
          </a:ln>
        </p:spPr>
        <p:txBody>
          <a:bodyPr anchor="t" anchorCtr="0">
            <a:spAutoFit/>
          </a:bodyPr>
          <a:lstStyle/>
          <a:p>
            <a:pPr>
              <a:buClrTx/>
              <a:buFontTx/>
            </a:pPr>
            <a:endParaRPr lang="zh-CN" altLang="en-US" b="0" dirty="0">
              <a:latin typeface="Arial" panose="020B0604020202020204" pitchFamily="34" charset="0"/>
              <a:ea typeface="宋体" panose="02010600030101010101" pitchFamily="2" charset="-122"/>
            </a:endParaRPr>
          </a:p>
        </p:txBody>
      </p:sp>
      <p:sp>
        <p:nvSpPr>
          <p:cNvPr id="83972" name="Text Box 17"/>
          <p:cNvSpPr txBox="1"/>
          <p:nvPr/>
        </p:nvSpPr>
        <p:spPr>
          <a:xfrm>
            <a:off x="7380609" y="1957071"/>
            <a:ext cx="1034415" cy="2419124"/>
          </a:xfrm>
          <a:prstGeom prst="rect">
            <a:avLst/>
          </a:prstGeom>
          <a:gradFill rotWithShape="1">
            <a:gsLst>
              <a:gs pos="0">
                <a:srgbClr val="181876"/>
              </a:gs>
              <a:gs pos="50000">
                <a:srgbClr val="3333FF"/>
              </a:gs>
              <a:gs pos="100000">
                <a:srgbClr val="181876"/>
              </a:gs>
            </a:gsLst>
            <a:lin ang="5400000" scaled="1"/>
            <a:tileRect/>
          </a:gradFill>
          <a:ln w="9525">
            <a:noFill/>
          </a:ln>
          <a:effectLst>
            <a:outerShdw dist="107763" dir="18900000" algn="ctr" rotWithShape="0">
              <a:schemeClr val="bg2">
                <a:alpha val="50000"/>
              </a:schemeClr>
            </a:outerShdw>
          </a:effectLst>
        </p:spPr>
        <p:txBody>
          <a:bodyPr wrap="square" anchor="t" anchorCtr="0">
            <a:spAutoFit/>
          </a:bodyPr>
          <a:lstStyle/>
          <a:p>
            <a:pPr>
              <a:lnSpc>
                <a:spcPct val="90000"/>
              </a:lnSpc>
              <a:spcBef>
                <a:spcPct val="50000"/>
              </a:spcBef>
            </a:pPr>
            <a:r>
              <a:rPr lang="zh-CN" altLang="en-US" dirty="0">
                <a:solidFill>
                  <a:schemeClr val="bg1"/>
                </a:solidFill>
                <a:latin typeface="幼圆" pitchFamily="49" charset="-122"/>
                <a:ea typeface="幼圆" pitchFamily="49" charset="-122"/>
              </a:rPr>
              <a:t>遵循一般无机物命名原则</a:t>
            </a:r>
            <a:endParaRPr lang="zh-CN" altLang="en-US" b="0" dirty="0">
              <a:solidFill>
                <a:schemeClr val="bg1"/>
              </a:solidFill>
              <a:latin typeface="幼圆" pitchFamily="49" charset="-122"/>
              <a:ea typeface="幼圆" pitchFamily="49" charset="-122"/>
            </a:endParaRPr>
          </a:p>
        </p:txBody>
      </p:sp>
      <p:sp>
        <p:nvSpPr>
          <p:cNvPr id="83974" name="Oval 19"/>
          <p:cNvSpPr/>
          <p:nvPr/>
        </p:nvSpPr>
        <p:spPr>
          <a:xfrm>
            <a:off x="327660" y="1512571"/>
            <a:ext cx="215900" cy="162560"/>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3975" name="Text Box 20"/>
          <p:cNvSpPr txBox="1"/>
          <p:nvPr/>
        </p:nvSpPr>
        <p:spPr>
          <a:xfrm>
            <a:off x="543566" y="1330328"/>
            <a:ext cx="7921625" cy="461665"/>
          </a:xfrm>
          <a:prstGeom prst="rect">
            <a:avLst/>
          </a:prstGeom>
          <a:noFill/>
          <a:ln w="9525">
            <a:noFill/>
          </a:ln>
        </p:spPr>
        <p:txBody>
          <a:bodyPr anchor="t" anchorCtr="0">
            <a:spAutoFit/>
          </a:bodyPr>
          <a:lstStyle/>
          <a:p>
            <a:pPr>
              <a:spcBef>
                <a:spcPct val="50000"/>
              </a:spcBef>
              <a:buClrTx/>
              <a:buFontTx/>
            </a:pPr>
            <a:r>
              <a:rPr lang="zh-CN" altLang="en-US" sz="2400" dirty="0">
                <a:latin typeface="幼圆" pitchFamily="49" charset="-122"/>
                <a:ea typeface="幼圆" pitchFamily="49" charset="-122"/>
              </a:rPr>
              <a:t>配合物：阴离子在前，阳离子在后</a:t>
            </a:r>
            <a:endParaRPr lang="zh-CN" altLang="en-US" sz="2400" b="0" dirty="0">
              <a:latin typeface="幼圆" pitchFamily="49" charset="-122"/>
              <a:ea typeface="幼圆" pitchFamily="49" charset="-122"/>
            </a:endParaRPr>
          </a:p>
        </p:txBody>
      </p:sp>
      <p:grpSp>
        <p:nvGrpSpPr>
          <p:cNvPr id="3" name="Group 21"/>
          <p:cNvGrpSpPr/>
          <p:nvPr/>
        </p:nvGrpSpPr>
        <p:grpSpPr>
          <a:xfrm>
            <a:off x="323221" y="4218316"/>
            <a:ext cx="7634287" cy="461822"/>
            <a:chOff x="340" y="3462"/>
            <a:chExt cx="4809" cy="387"/>
          </a:xfrm>
        </p:grpSpPr>
        <p:sp>
          <p:nvSpPr>
            <p:cNvPr id="83977" name="Text Box 22"/>
            <p:cNvSpPr txBox="1"/>
            <p:nvPr/>
          </p:nvSpPr>
          <p:spPr>
            <a:xfrm>
              <a:off x="477" y="3462"/>
              <a:ext cx="4672" cy="387"/>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幼圆" pitchFamily="49" charset="-122"/>
                </a:rPr>
                <a:t>形成体</a:t>
              </a:r>
              <a:r>
                <a:rPr lang="zh-CN" altLang="en-US" sz="2400" dirty="0">
                  <a:latin typeface="Arial" panose="020B0604020202020204" pitchFamily="34" charset="0"/>
                  <a:ea typeface="幼圆" pitchFamily="49" charset="-122"/>
                </a:rPr>
                <a:t>氧化数用罗马数字表示</a:t>
              </a:r>
              <a:endParaRPr lang="zh-CN" altLang="en-US" sz="2400" b="0" dirty="0">
                <a:latin typeface="Arial" panose="020B0604020202020204" pitchFamily="34" charset="0"/>
                <a:ea typeface="幼圆" pitchFamily="49" charset="-122"/>
              </a:endParaRPr>
            </a:p>
          </p:txBody>
        </p:sp>
        <p:sp>
          <p:nvSpPr>
            <p:cNvPr id="83978" name="Oval 23"/>
            <p:cNvSpPr/>
            <p:nvPr/>
          </p:nvSpPr>
          <p:spPr>
            <a:xfrm>
              <a:off x="340" y="3591"/>
              <a:ext cx="136" cy="125"/>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
        <p:nvSpPr>
          <p:cNvPr id="83981" name="Oval 28"/>
          <p:cNvSpPr/>
          <p:nvPr/>
        </p:nvSpPr>
        <p:spPr>
          <a:xfrm>
            <a:off x="288290" y="2067560"/>
            <a:ext cx="215900" cy="161925"/>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3982" name="Text Box 29"/>
          <p:cNvSpPr txBox="1"/>
          <p:nvPr/>
        </p:nvSpPr>
        <p:spPr>
          <a:xfrm>
            <a:off x="504190" y="1870078"/>
            <a:ext cx="6703060" cy="1458861"/>
          </a:xfrm>
          <a:prstGeom prst="rect">
            <a:avLst/>
          </a:prstGeom>
          <a:noFill/>
          <a:ln w="9525">
            <a:noFill/>
          </a:ln>
        </p:spPr>
        <p:txBody>
          <a:bodyPr wrap="square" anchor="t" anchorCtr="0">
            <a:spAutoFit/>
          </a:bodyPr>
          <a:lstStyle/>
          <a:p>
            <a:pPr>
              <a:spcBef>
                <a:spcPct val="50000"/>
              </a:spcBef>
              <a:buClrTx/>
              <a:buFontTx/>
            </a:pPr>
            <a:r>
              <a:rPr lang="zh-CN" altLang="en-US" sz="2400" dirty="0">
                <a:latin typeface="幼圆" pitchFamily="49" charset="-122"/>
                <a:ea typeface="幼圆" pitchFamily="49" charset="-122"/>
              </a:rPr>
              <a:t>配位个体：</a:t>
            </a:r>
            <a:r>
              <a:rPr lang="zh-CN" altLang="en-US" sz="2400" dirty="0">
                <a:latin typeface="Times New Roman" panose="02020603050405020304" pitchFamily="18" charset="0"/>
                <a:ea typeface="幼圆" pitchFamily="49" charset="-122"/>
              </a:rPr>
              <a:t>配体→合→</a:t>
            </a:r>
            <a:r>
              <a:rPr lang="zh-CN" altLang="en-US" sz="2400" dirty="0">
                <a:latin typeface="幼圆" pitchFamily="49" charset="-122"/>
                <a:ea typeface="幼圆" pitchFamily="49" charset="-122"/>
              </a:rPr>
              <a:t>形成体</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形成体氧化数</a:t>
            </a:r>
            <a:r>
              <a:rPr lang="en-US" altLang="zh-CN" sz="2400" dirty="0">
                <a:latin typeface="Times New Roman" panose="02020603050405020304" pitchFamily="18" charset="0"/>
                <a:ea typeface="幼圆" pitchFamily="49" charset="-122"/>
              </a:rPr>
              <a:t> ) </a:t>
            </a:r>
            <a:endParaRPr lang="en-US" altLang="zh-CN" sz="2400" b="0" dirty="0">
              <a:latin typeface="Arial" panose="020B0604020202020204" pitchFamily="34" charset="0"/>
              <a:ea typeface="ˎ̥"/>
            </a:endParaRPr>
          </a:p>
          <a:p>
            <a:pPr>
              <a:lnSpc>
                <a:spcPct val="85000"/>
              </a:lnSpc>
              <a:spcBef>
                <a:spcPct val="50000"/>
              </a:spcBef>
              <a:buClrTx/>
              <a:buFontTx/>
            </a:pPr>
            <a:r>
              <a:rPr lang="en-US" altLang="zh-CN" sz="2400" dirty="0">
                <a:latin typeface="幼圆" pitchFamily="49" charset="-122"/>
                <a:ea typeface="幼圆" pitchFamily="49" charset="-122"/>
              </a:rPr>
              <a:t>     </a:t>
            </a:r>
            <a:r>
              <a:rPr lang="zh-CN" altLang="en-US" sz="2400" dirty="0">
                <a:latin typeface="幼圆" pitchFamily="49" charset="-122"/>
                <a:ea typeface="幼圆" pitchFamily="49" charset="-122"/>
              </a:rPr>
              <a:t>阴离子</a:t>
            </a:r>
            <a:r>
              <a:rPr lang="zh-CN" altLang="en-US" sz="2400" dirty="0">
                <a:latin typeface="Times New Roman" panose="02020603050405020304" pitchFamily="18" charset="0"/>
                <a:ea typeface="幼圆" pitchFamily="49" charset="-122"/>
              </a:rPr>
              <a:t>→中性分子 </a:t>
            </a:r>
            <a:endParaRPr lang="zh-CN" altLang="en-US" sz="2400" b="0" dirty="0">
              <a:latin typeface="Arial" panose="020B0604020202020204" pitchFamily="34" charset="0"/>
              <a:ea typeface="ˎ̥"/>
            </a:endParaRPr>
          </a:p>
          <a:p>
            <a:pPr>
              <a:lnSpc>
                <a:spcPct val="85000"/>
              </a:lnSpc>
              <a:spcBef>
                <a:spcPct val="50000"/>
              </a:spcBef>
              <a:buClrTx/>
              <a:buFontTx/>
            </a:pPr>
            <a:r>
              <a:rPr lang="zh-CN" altLang="en-US" sz="2400" dirty="0">
                <a:latin typeface="幼圆" pitchFamily="49" charset="-122"/>
                <a:ea typeface="幼圆" pitchFamily="49" charset="-122"/>
              </a:rPr>
              <a:t>   </a:t>
            </a:r>
            <a:r>
              <a:rPr lang="en-US" altLang="zh-CN" sz="2400" dirty="0">
                <a:latin typeface="幼圆" pitchFamily="49" charset="-122"/>
                <a:ea typeface="幼圆" pitchFamily="49" charset="-122"/>
              </a:rPr>
              <a:t>      </a:t>
            </a:r>
            <a:r>
              <a:rPr lang="zh-CN" altLang="en-US" sz="2400" dirty="0">
                <a:latin typeface="幼圆" pitchFamily="49" charset="-122"/>
                <a:ea typeface="幼圆" pitchFamily="49" charset="-122"/>
              </a:rPr>
              <a:t>无机配体</a:t>
            </a:r>
            <a:r>
              <a:rPr lang="zh-CN" altLang="en-US" sz="2400" dirty="0">
                <a:latin typeface="Times New Roman" panose="02020603050405020304" pitchFamily="18" charset="0"/>
                <a:ea typeface="幼圆" pitchFamily="49" charset="-122"/>
              </a:rPr>
              <a:t>→有机配体</a:t>
            </a:r>
          </a:p>
        </p:txBody>
      </p:sp>
      <p:grpSp>
        <p:nvGrpSpPr>
          <p:cNvPr id="83983" name="Group 38"/>
          <p:cNvGrpSpPr/>
          <p:nvPr/>
        </p:nvGrpSpPr>
        <p:grpSpPr>
          <a:xfrm>
            <a:off x="1476625" y="2264306"/>
            <a:ext cx="1869799" cy="1156371"/>
            <a:chOff x="1245" y="1913"/>
            <a:chExt cx="1178" cy="971"/>
          </a:xfrm>
        </p:grpSpPr>
        <p:sp>
          <p:nvSpPr>
            <p:cNvPr id="83984" name="AutoShape 30"/>
            <p:cNvSpPr/>
            <p:nvPr/>
          </p:nvSpPr>
          <p:spPr>
            <a:xfrm rot="5400000" flipV="1">
              <a:off x="1720" y="1483"/>
              <a:ext cx="137" cy="997"/>
            </a:xfrm>
            <a:prstGeom prst="leftBrace">
              <a:avLst>
                <a:gd name="adj1" fmla="val 60577"/>
                <a:gd name="adj2" fmla="val 52356"/>
              </a:avLst>
            </a:prstGeom>
            <a:noFill/>
            <a:ln w="190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3985" name="AutoShape 31"/>
            <p:cNvSpPr/>
            <p:nvPr/>
          </p:nvSpPr>
          <p:spPr>
            <a:xfrm rot="-5400000">
              <a:off x="1675" y="1900"/>
              <a:ext cx="137" cy="997"/>
            </a:xfrm>
            <a:prstGeom prst="leftBrace">
              <a:avLst>
                <a:gd name="adj1" fmla="val 60577"/>
                <a:gd name="adj2" fmla="val 50000"/>
              </a:avLst>
            </a:prstGeom>
            <a:noFill/>
            <a:ln w="190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3986" name="AutoShape 32"/>
            <p:cNvSpPr/>
            <p:nvPr/>
          </p:nvSpPr>
          <p:spPr>
            <a:xfrm rot="-5400000">
              <a:off x="1856" y="2317"/>
              <a:ext cx="137" cy="997"/>
            </a:xfrm>
            <a:prstGeom prst="leftBrace">
              <a:avLst>
                <a:gd name="adj1" fmla="val 60577"/>
                <a:gd name="adj2" fmla="val 50000"/>
              </a:avLst>
            </a:prstGeom>
            <a:noFill/>
            <a:ln w="190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
        <p:nvSpPr>
          <p:cNvPr id="67617" name="Text Box 33"/>
          <p:cNvSpPr txBox="1"/>
          <p:nvPr/>
        </p:nvSpPr>
        <p:spPr>
          <a:xfrm>
            <a:off x="498481" y="3364230"/>
            <a:ext cx="6844665" cy="523220"/>
          </a:xfrm>
          <a:prstGeom prst="rect">
            <a:avLst/>
          </a:prstGeom>
          <a:noFill/>
          <a:ln w="9525">
            <a:noFill/>
          </a:ln>
        </p:spPr>
        <p:txBody>
          <a:bodyPr wrap="square" anchor="t" anchorCtr="0">
            <a:spAutoFit/>
          </a:bodyPr>
          <a:lstStyle/>
          <a:p>
            <a:pPr>
              <a:spcBef>
                <a:spcPct val="50000"/>
              </a:spcBef>
              <a:buClrTx/>
              <a:buFontTx/>
            </a:pPr>
            <a:r>
              <a:rPr lang="zh-CN" altLang="en-US" sz="2400" dirty="0">
                <a:latin typeface="Times New Roman" panose="02020603050405020304" pitchFamily="18" charset="0"/>
                <a:ea typeface="幼圆" pitchFamily="49" charset="-122"/>
              </a:rPr>
              <a:t>同类配体以</a:t>
            </a:r>
            <a:r>
              <a:rPr lang="zh-CN" altLang="en-US" sz="2400" dirty="0">
                <a:solidFill>
                  <a:srgbClr val="FF0000"/>
                </a:solidFill>
                <a:latin typeface="Times New Roman" panose="02020603050405020304" pitchFamily="18" charset="0"/>
                <a:ea typeface="幼圆" pitchFamily="49" charset="-122"/>
              </a:rPr>
              <a:t>配位原子元素符号</a:t>
            </a:r>
            <a:r>
              <a:rPr lang="zh-CN" altLang="en-US" sz="2400" dirty="0">
                <a:latin typeface="Times New Roman" panose="02020603050405020304" pitchFamily="18" charset="0"/>
                <a:ea typeface="幼圆" pitchFamily="49" charset="-122"/>
              </a:rPr>
              <a:t>英文字母次序排列</a:t>
            </a:r>
            <a:r>
              <a:rPr lang="zh-CN" altLang="en-US" dirty="0">
                <a:latin typeface="Times New Roman" panose="02020603050405020304" pitchFamily="18" charset="0"/>
                <a:ea typeface="幼圆" pitchFamily="49" charset="-122"/>
              </a:rPr>
              <a:t> </a:t>
            </a:r>
            <a:endParaRPr lang="zh-CN" altLang="en-US" b="0" dirty="0">
              <a:latin typeface="Times New Roman" panose="02020603050405020304" pitchFamily="18" charset="0"/>
              <a:ea typeface="幼圆" pitchFamily="49" charset="-122"/>
            </a:endParaRPr>
          </a:p>
        </p:txBody>
      </p:sp>
      <p:sp>
        <p:nvSpPr>
          <p:cNvPr id="83988" name="Rectangle 16"/>
          <p:cNvSpPr/>
          <p:nvPr/>
        </p:nvSpPr>
        <p:spPr>
          <a:xfrm>
            <a:off x="251466" y="1333500"/>
            <a:ext cx="8486775" cy="3539490"/>
          </a:xfrm>
          <a:prstGeom prst="rect">
            <a:avLst/>
          </a:prstGeom>
          <a:noFill/>
          <a:ln w="38100"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nvGrpSpPr>
          <p:cNvPr id="7" name="Group 35"/>
          <p:cNvGrpSpPr/>
          <p:nvPr/>
        </p:nvGrpSpPr>
        <p:grpSpPr>
          <a:xfrm>
            <a:off x="308610" y="3745852"/>
            <a:ext cx="6760845" cy="523720"/>
            <a:chOff x="350" y="3527"/>
            <a:chExt cx="5271" cy="439"/>
          </a:xfrm>
        </p:grpSpPr>
        <p:sp>
          <p:nvSpPr>
            <p:cNvPr id="83990" name="Text Box 36"/>
            <p:cNvSpPr txBox="1"/>
            <p:nvPr/>
          </p:nvSpPr>
          <p:spPr>
            <a:xfrm>
              <a:off x="519" y="3527"/>
              <a:ext cx="5102" cy="439"/>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幼圆" pitchFamily="49" charset="-122"/>
                </a:rPr>
                <a:t>配体间用“</a:t>
              </a:r>
              <a:r>
                <a:rPr lang="en-US" altLang="zh-CN" sz="24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隔开，配体数用一、二等表示</a:t>
              </a:r>
              <a:r>
                <a:rPr lang="zh-CN" altLang="en-US" dirty="0">
                  <a:latin typeface="Arial" panose="020B0604020202020204" pitchFamily="34" charset="0"/>
                  <a:ea typeface="幼圆" pitchFamily="49" charset="-122"/>
                </a:rPr>
                <a:t> </a:t>
              </a:r>
              <a:endParaRPr lang="zh-CN" altLang="en-US" b="0" dirty="0">
                <a:latin typeface="Arial" panose="020B0604020202020204" pitchFamily="34" charset="0"/>
                <a:ea typeface="幼圆" pitchFamily="49" charset="-122"/>
              </a:endParaRPr>
            </a:p>
          </p:txBody>
        </p:sp>
        <p:sp>
          <p:nvSpPr>
            <p:cNvPr id="83991" name="Oval 37"/>
            <p:cNvSpPr/>
            <p:nvPr/>
          </p:nvSpPr>
          <p:spPr>
            <a:xfrm>
              <a:off x="350" y="3690"/>
              <a:ext cx="136" cy="125"/>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975"/>
                                        </p:tgtEl>
                                        <p:attrNameLst>
                                          <p:attrName>style.visibility</p:attrName>
                                        </p:attrNameLst>
                                      </p:cBhvr>
                                      <p:to>
                                        <p:strVal val="visible"/>
                                      </p:to>
                                    </p:set>
                                    <p:animEffect transition="in" filter="wipe(left)">
                                      <p:cBhvr>
                                        <p:cTn id="7" dur="500"/>
                                        <p:tgtEl>
                                          <p:spTgt spid="839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82"/>
                                        </p:tgtEl>
                                        <p:attrNameLst>
                                          <p:attrName>style.visibility</p:attrName>
                                        </p:attrNameLst>
                                      </p:cBhvr>
                                      <p:to>
                                        <p:strVal val="visible"/>
                                      </p:to>
                                    </p:set>
                                    <p:animEffect transition="in" filter="wipe(left)">
                                      <p:cBhvr>
                                        <p:cTn id="12" dur="500"/>
                                        <p:tgtEl>
                                          <p:spTgt spid="839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3983"/>
                                        </p:tgtEl>
                                        <p:attrNameLst>
                                          <p:attrName>style.visibility</p:attrName>
                                        </p:attrNameLst>
                                      </p:cBhvr>
                                      <p:to>
                                        <p:strVal val="visible"/>
                                      </p:to>
                                    </p:set>
                                    <p:animEffect transition="in" filter="wipe(left)">
                                      <p:cBhvr>
                                        <p:cTn id="17" dur="500"/>
                                        <p:tgtEl>
                                          <p:spTgt spid="839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617"/>
                                        </p:tgtEl>
                                        <p:attrNameLst>
                                          <p:attrName>style.visibility</p:attrName>
                                        </p:attrNameLst>
                                      </p:cBhvr>
                                      <p:to>
                                        <p:strVal val="visible"/>
                                      </p:to>
                                    </p:set>
                                    <p:animEffect transition="in" filter="wipe(left)">
                                      <p:cBhvr>
                                        <p:cTn id="22" dur="500"/>
                                        <p:tgtEl>
                                          <p:spTgt spid="676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5" grpId="0"/>
      <p:bldP spid="83975" grpId="1"/>
      <p:bldP spid="83982" grpId="0"/>
      <p:bldP spid="83982" grpId="1"/>
      <p:bldP spid="67617" grpId="0"/>
      <p:bldP spid="67617" grpId="1"/>
      <p:bldP spid="83988" grpId="1"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fld id="{E8F0D313-9D61-451C-8A35-96142397E068}" type="slidenum">
              <a:rPr lang="zh-CN" altLang="en-US" sz="1400" smtClean="0">
                <a:solidFill>
                  <a:srgbClr val="000000"/>
                </a:solidFill>
              </a:rPr>
              <a:pPr eaLnBrk="1" hangingPunct="1">
                <a:spcBef>
                  <a:spcPct val="0"/>
                </a:spcBef>
                <a:buFontTx/>
                <a:buNone/>
              </a:pPr>
              <a:t>102</a:t>
            </a:fld>
            <a:endParaRPr lang="zh-CN" altLang="en-US" sz="1400">
              <a:solidFill>
                <a:srgbClr val="000000"/>
              </a:solidFill>
            </a:endParaRPr>
          </a:p>
        </p:txBody>
      </p:sp>
      <p:sp>
        <p:nvSpPr>
          <p:cNvPr id="371716" name="Text Box 4"/>
          <p:cNvSpPr txBox="1">
            <a:spLocks noChangeArrowheads="1"/>
          </p:cNvSpPr>
          <p:nvPr/>
        </p:nvSpPr>
        <p:spPr bwMode="auto">
          <a:xfrm>
            <a:off x="179388" y="291704"/>
            <a:ext cx="1828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algn="ctr">
              <a:spcBef>
                <a:spcPct val="0"/>
              </a:spcBef>
              <a:buFontTx/>
              <a:buNone/>
            </a:pPr>
            <a:r>
              <a:rPr lang="zh-CN" altLang="en-US" sz="2800" dirty="0">
                <a:solidFill>
                  <a:srgbClr val="FF0000"/>
                </a:solidFill>
                <a:ea typeface="黑体" pitchFamily="49" charset="-122"/>
              </a:rPr>
              <a:t>例    题</a:t>
            </a:r>
          </a:p>
        </p:txBody>
      </p:sp>
      <p:sp>
        <p:nvSpPr>
          <p:cNvPr id="371720" name="Rectangle 8"/>
          <p:cNvSpPr>
            <a:spLocks noChangeArrowheads="1"/>
          </p:cNvSpPr>
          <p:nvPr/>
        </p:nvSpPr>
        <p:spPr bwMode="auto">
          <a:xfrm>
            <a:off x="468317" y="627459"/>
            <a:ext cx="2781531"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es-ES_tradnl" altLang="zh-CN" sz="2800">
                <a:solidFill>
                  <a:srgbClr val="FFFFFF"/>
                </a:solidFill>
              </a:rPr>
              <a:t>a. [Ag(NH</a:t>
            </a:r>
            <a:r>
              <a:rPr lang="es-ES_tradnl" altLang="zh-CN" sz="2800" baseline="-25000">
                <a:solidFill>
                  <a:srgbClr val="FFFFFF"/>
                </a:solidFill>
              </a:rPr>
              <a:t>3</a:t>
            </a:r>
            <a:r>
              <a:rPr lang="es-ES_tradnl" altLang="zh-CN" sz="2800">
                <a:solidFill>
                  <a:srgbClr val="FFFFFF"/>
                </a:solidFill>
              </a:rPr>
              <a:t>)</a:t>
            </a:r>
            <a:r>
              <a:rPr lang="es-ES_tradnl" altLang="zh-CN" sz="2800" baseline="-25000">
                <a:solidFill>
                  <a:srgbClr val="FFFFFF"/>
                </a:solidFill>
              </a:rPr>
              <a:t>2</a:t>
            </a:r>
            <a:r>
              <a:rPr lang="es-ES_tradnl" altLang="zh-CN" sz="2800">
                <a:solidFill>
                  <a:srgbClr val="FFFFFF"/>
                </a:solidFill>
              </a:rPr>
              <a:t>]Cl</a:t>
            </a:r>
            <a:r>
              <a:rPr lang="es-ES_tradnl" altLang="zh-CN" sz="2800" b="0">
                <a:solidFill>
                  <a:srgbClr val="000000"/>
                </a:solidFill>
              </a:rPr>
              <a:t>  </a:t>
            </a:r>
          </a:p>
        </p:txBody>
      </p:sp>
      <p:sp>
        <p:nvSpPr>
          <p:cNvPr id="371721" name="Rectangle 9"/>
          <p:cNvSpPr>
            <a:spLocks noChangeArrowheads="1"/>
          </p:cNvSpPr>
          <p:nvPr/>
        </p:nvSpPr>
        <p:spPr bwMode="auto">
          <a:xfrm>
            <a:off x="414343" y="1168004"/>
            <a:ext cx="28841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dirty="0">
                <a:solidFill>
                  <a:srgbClr val="FFFFFF"/>
                </a:solidFill>
              </a:rPr>
              <a:t>b. [Cu(NH</a:t>
            </a:r>
            <a:r>
              <a:rPr lang="en-US" altLang="zh-CN" sz="2800" baseline="-25000" dirty="0">
                <a:solidFill>
                  <a:srgbClr val="FFFFFF"/>
                </a:solidFill>
              </a:rPr>
              <a:t>3</a:t>
            </a:r>
            <a:r>
              <a:rPr lang="en-US" altLang="zh-CN" sz="2800" dirty="0">
                <a:solidFill>
                  <a:srgbClr val="FFFFFF"/>
                </a:solidFill>
              </a:rPr>
              <a:t>)</a:t>
            </a:r>
            <a:r>
              <a:rPr lang="en-US" altLang="zh-CN" sz="2800" baseline="-25000" dirty="0">
                <a:solidFill>
                  <a:srgbClr val="FFFFFF"/>
                </a:solidFill>
              </a:rPr>
              <a:t>4</a:t>
            </a:r>
            <a:r>
              <a:rPr lang="en-US" altLang="zh-CN" sz="2800" dirty="0">
                <a:solidFill>
                  <a:srgbClr val="FFFFFF"/>
                </a:solidFill>
              </a:rPr>
              <a:t>]SO</a:t>
            </a:r>
            <a:r>
              <a:rPr lang="en-US" altLang="zh-CN" sz="2800" baseline="-25000" dirty="0">
                <a:solidFill>
                  <a:srgbClr val="FFFFFF"/>
                </a:solidFill>
              </a:rPr>
              <a:t>4</a:t>
            </a:r>
            <a:endParaRPr lang="zh-CN" altLang="en-US" sz="2800" baseline="-25000" dirty="0">
              <a:solidFill>
                <a:srgbClr val="FFFFFF"/>
              </a:solidFill>
            </a:endParaRPr>
          </a:p>
        </p:txBody>
      </p:sp>
      <p:sp>
        <p:nvSpPr>
          <p:cNvPr id="371722" name="Rectangle 10"/>
          <p:cNvSpPr>
            <a:spLocks noChangeArrowheads="1"/>
          </p:cNvSpPr>
          <p:nvPr/>
        </p:nvSpPr>
        <p:spPr bwMode="auto">
          <a:xfrm>
            <a:off x="393701" y="1600200"/>
            <a:ext cx="27606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c. H[PtCl</a:t>
            </a:r>
            <a:r>
              <a:rPr lang="en-US" altLang="zh-CN" sz="2800" baseline="-25000">
                <a:solidFill>
                  <a:srgbClr val="FFFFFF"/>
                </a:solidFill>
              </a:rPr>
              <a:t>3</a:t>
            </a:r>
            <a:r>
              <a:rPr lang="en-US" altLang="zh-CN" sz="2800">
                <a:solidFill>
                  <a:srgbClr val="FFFFFF"/>
                </a:solidFill>
              </a:rPr>
              <a:t>(NH</a:t>
            </a:r>
            <a:r>
              <a:rPr lang="en-US" altLang="zh-CN" sz="2800" baseline="-25000">
                <a:solidFill>
                  <a:srgbClr val="FFFFFF"/>
                </a:solidFill>
              </a:rPr>
              <a:t>3</a:t>
            </a:r>
            <a:r>
              <a:rPr lang="en-US" altLang="zh-CN" sz="2800">
                <a:solidFill>
                  <a:srgbClr val="FFFFFF"/>
                </a:solidFill>
              </a:rPr>
              <a:t>)]</a:t>
            </a:r>
            <a:endParaRPr lang="zh-CN" altLang="en-US" sz="2800">
              <a:solidFill>
                <a:srgbClr val="FFFFFF"/>
              </a:solidFill>
            </a:endParaRPr>
          </a:p>
        </p:txBody>
      </p:sp>
      <p:sp>
        <p:nvSpPr>
          <p:cNvPr id="371723" name="Rectangle 11"/>
          <p:cNvSpPr>
            <a:spLocks noChangeArrowheads="1"/>
          </p:cNvSpPr>
          <p:nvPr/>
        </p:nvSpPr>
        <p:spPr bwMode="auto">
          <a:xfrm>
            <a:off x="395288" y="2085976"/>
            <a:ext cx="3700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d. K</a:t>
            </a:r>
            <a:r>
              <a:rPr lang="en-US" altLang="zh-CN" sz="2800" baseline="-25000">
                <a:solidFill>
                  <a:srgbClr val="FFFFFF"/>
                </a:solidFill>
              </a:rPr>
              <a:t>2</a:t>
            </a:r>
            <a:r>
              <a:rPr lang="en-US" altLang="zh-CN" sz="2800">
                <a:solidFill>
                  <a:srgbClr val="FFFFFF"/>
                </a:solidFill>
              </a:rPr>
              <a:t>[Co(NH</a:t>
            </a:r>
            <a:r>
              <a:rPr lang="en-US" altLang="zh-CN" sz="2800" baseline="-25000">
                <a:solidFill>
                  <a:srgbClr val="FFFFFF"/>
                </a:solidFill>
              </a:rPr>
              <a:t>3</a:t>
            </a:r>
            <a:r>
              <a:rPr lang="en-US" altLang="zh-CN" sz="2800">
                <a:solidFill>
                  <a:srgbClr val="FFFFFF"/>
                </a:solidFill>
              </a:rPr>
              <a:t>)H</a:t>
            </a:r>
            <a:r>
              <a:rPr lang="en-US" altLang="zh-CN" sz="2800" baseline="-25000">
                <a:solidFill>
                  <a:srgbClr val="FFFFFF"/>
                </a:solidFill>
              </a:rPr>
              <a:t>2</a:t>
            </a:r>
            <a:r>
              <a:rPr lang="en-US" altLang="zh-CN" sz="2800">
                <a:solidFill>
                  <a:srgbClr val="FFFFFF"/>
                </a:solidFill>
              </a:rPr>
              <a:t>OCl</a:t>
            </a:r>
            <a:r>
              <a:rPr lang="en-US" altLang="zh-CN" sz="2800" baseline="-25000">
                <a:solidFill>
                  <a:srgbClr val="FFFFFF"/>
                </a:solidFill>
              </a:rPr>
              <a:t>4</a:t>
            </a:r>
            <a:r>
              <a:rPr lang="en-US" altLang="zh-CN" sz="2800">
                <a:solidFill>
                  <a:srgbClr val="FFFFFF"/>
                </a:solidFill>
              </a:rPr>
              <a:t>]</a:t>
            </a:r>
            <a:endParaRPr lang="zh-CN" altLang="en-US" sz="2800">
              <a:solidFill>
                <a:srgbClr val="FFFFFF"/>
              </a:solidFill>
            </a:endParaRPr>
          </a:p>
        </p:txBody>
      </p:sp>
      <p:sp>
        <p:nvSpPr>
          <p:cNvPr id="371724" name="Rectangle 12"/>
          <p:cNvSpPr>
            <a:spLocks noChangeArrowheads="1"/>
          </p:cNvSpPr>
          <p:nvPr/>
        </p:nvSpPr>
        <p:spPr bwMode="auto">
          <a:xfrm>
            <a:off x="393701" y="2571751"/>
            <a:ext cx="39212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e. [Pt(NH</a:t>
            </a:r>
            <a:r>
              <a:rPr lang="en-US" altLang="zh-CN" sz="2800" baseline="-25000">
                <a:solidFill>
                  <a:srgbClr val="FFFFFF"/>
                </a:solidFill>
              </a:rPr>
              <a:t>2</a:t>
            </a:r>
            <a:r>
              <a:rPr lang="en-US" altLang="zh-CN" sz="2800">
                <a:solidFill>
                  <a:srgbClr val="FFFFFF"/>
                </a:solidFill>
              </a:rPr>
              <a:t>)(NO</a:t>
            </a:r>
            <a:r>
              <a:rPr lang="en-US" altLang="zh-CN" sz="2800" baseline="-25000">
                <a:solidFill>
                  <a:srgbClr val="FFFFFF"/>
                </a:solidFill>
              </a:rPr>
              <a:t>2</a:t>
            </a:r>
            <a:r>
              <a:rPr lang="en-US" altLang="zh-CN" sz="2800">
                <a:solidFill>
                  <a:srgbClr val="FFFFFF"/>
                </a:solidFill>
              </a:rPr>
              <a:t>)(NH</a:t>
            </a:r>
            <a:r>
              <a:rPr lang="en-US" altLang="zh-CN" sz="2800" baseline="-25000">
                <a:solidFill>
                  <a:srgbClr val="FFFFFF"/>
                </a:solidFill>
              </a:rPr>
              <a:t>3</a:t>
            </a:r>
            <a:r>
              <a:rPr lang="en-US" altLang="zh-CN" sz="2800">
                <a:solidFill>
                  <a:srgbClr val="FFFFFF"/>
                </a:solidFill>
              </a:rPr>
              <a:t>)</a:t>
            </a:r>
            <a:r>
              <a:rPr lang="en-US" altLang="zh-CN" sz="2800" baseline="-25000">
                <a:solidFill>
                  <a:srgbClr val="FFFFFF"/>
                </a:solidFill>
              </a:rPr>
              <a:t>4</a:t>
            </a:r>
            <a:r>
              <a:rPr lang="en-US" altLang="zh-CN" sz="2800">
                <a:solidFill>
                  <a:srgbClr val="FFFFFF"/>
                </a:solidFill>
              </a:rPr>
              <a:t>]</a:t>
            </a:r>
            <a:endParaRPr lang="zh-CN" altLang="en-US" sz="2800">
              <a:solidFill>
                <a:srgbClr val="FFFFFF"/>
              </a:solidFill>
            </a:endParaRPr>
          </a:p>
        </p:txBody>
      </p:sp>
      <p:sp>
        <p:nvSpPr>
          <p:cNvPr id="371725" name="Rectangle 13"/>
          <p:cNvSpPr>
            <a:spLocks noChangeArrowheads="1"/>
          </p:cNvSpPr>
          <p:nvPr/>
        </p:nvSpPr>
        <p:spPr bwMode="auto">
          <a:xfrm>
            <a:off x="428626" y="3112294"/>
            <a:ext cx="18533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f.  H</a:t>
            </a:r>
            <a:r>
              <a:rPr lang="en-US" altLang="zh-CN" sz="2800" baseline="-25000">
                <a:solidFill>
                  <a:srgbClr val="FFFFFF"/>
                </a:solidFill>
              </a:rPr>
              <a:t>2</a:t>
            </a:r>
            <a:r>
              <a:rPr lang="en-US" altLang="zh-CN" sz="2800">
                <a:solidFill>
                  <a:srgbClr val="FFFFFF"/>
                </a:solidFill>
              </a:rPr>
              <a:t>[SiF</a:t>
            </a:r>
            <a:r>
              <a:rPr lang="en-US" altLang="zh-CN" sz="2800" baseline="-25000">
                <a:solidFill>
                  <a:srgbClr val="FFFFFF"/>
                </a:solidFill>
              </a:rPr>
              <a:t>6</a:t>
            </a:r>
            <a:r>
              <a:rPr lang="en-US" altLang="zh-CN" sz="2800">
                <a:solidFill>
                  <a:srgbClr val="FFFFFF"/>
                </a:solidFill>
              </a:rPr>
              <a:t>]</a:t>
            </a:r>
            <a:endParaRPr lang="zh-CN" altLang="en-US" sz="2800">
              <a:solidFill>
                <a:srgbClr val="FFFFFF"/>
              </a:solidFill>
            </a:endParaRPr>
          </a:p>
        </p:txBody>
      </p:sp>
      <p:sp>
        <p:nvSpPr>
          <p:cNvPr id="371726" name="Rectangle 14"/>
          <p:cNvSpPr>
            <a:spLocks noChangeArrowheads="1"/>
          </p:cNvSpPr>
          <p:nvPr/>
        </p:nvSpPr>
        <p:spPr bwMode="auto">
          <a:xfrm>
            <a:off x="395288" y="3586163"/>
            <a:ext cx="26228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g. [Pt(NH</a:t>
            </a:r>
            <a:r>
              <a:rPr lang="en-US" altLang="zh-CN" sz="2800" baseline="-25000">
                <a:solidFill>
                  <a:srgbClr val="FFFFFF"/>
                </a:solidFill>
              </a:rPr>
              <a:t>3</a:t>
            </a:r>
            <a:r>
              <a:rPr lang="en-US" altLang="zh-CN" sz="2800">
                <a:solidFill>
                  <a:srgbClr val="FFFFFF"/>
                </a:solidFill>
              </a:rPr>
              <a:t>)</a:t>
            </a:r>
            <a:r>
              <a:rPr lang="en-US" altLang="zh-CN" sz="2800" baseline="-25000">
                <a:solidFill>
                  <a:srgbClr val="FFFFFF"/>
                </a:solidFill>
              </a:rPr>
              <a:t>6</a:t>
            </a:r>
            <a:r>
              <a:rPr lang="en-US" altLang="zh-CN" sz="2800">
                <a:solidFill>
                  <a:srgbClr val="FFFFFF"/>
                </a:solidFill>
              </a:rPr>
              <a:t>]Cl</a:t>
            </a:r>
            <a:r>
              <a:rPr lang="en-US" altLang="zh-CN" sz="2800" baseline="-25000">
                <a:solidFill>
                  <a:srgbClr val="FFFFFF"/>
                </a:solidFill>
              </a:rPr>
              <a:t>4</a:t>
            </a:r>
            <a:endParaRPr lang="zh-CN" altLang="en-US" sz="2800" baseline="-25000">
              <a:solidFill>
                <a:srgbClr val="FFFFFF"/>
              </a:solidFill>
            </a:endParaRPr>
          </a:p>
        </p:txBody>
      </p:sp>
      <p:sp>
        <p:nvSpPr>
          <p:cNvPr id="371727" name="Rectangle 15"/>
          <p:cNvSpPr>
            <a:spLocks noChangeArrowheads="1"/>
          </p:cNvSpPr>
          <p:nvPr/>
        </p:nvSpPr>
        <p:spPr bwMode="auto">
          <a:xfrm>
            <a:off x="363539" y="4126707"/>
            <a:ext cx="26436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h. [Pt(NH</a:t>
            </a:r>
            <a:r>
              <a:rPr lang="en-US" altLang="zh-CN" sz="2800" baseline="-25000">
                <a:solidFill>
                  <a:srgbClr val="FFFFFF"/>
                </a:solidFill>
              </a:rPr>
              <a:t>3</a:t>
            </a:r>
            <a:r>
              <a:rPr lang="en-US" altLang="zh-CN" sz="2800">
                <a:solidFill>
                  <a:srgbClr val="FFFFFF"/>
                </a:solidFill>
              </a:rPr>
              <a:t>)</a:t>
            </a:r>
            <a:r>
              <a:rPr lang="en-US" altLang="zh-CN" sz="2800" baseline="-25000">
                <a:solidFill>
                  <a:srgbClr val="FFFFFF"/>
                </a:solidFill>
              </a:rPr>
              <a:t>2</a:t>
            </a:r>
            <a:r>
              <a:rPr lang="en-US" altLang="zh-CN" sz="2800">
                <a:solidFill>
                  <a:srgbClr val="FFFFFF"/>
                </a:solidFill>
              </a:rPr>
              <a:t>Cl</a:t>
            </a:r>
            <a:r>
              <a:rPr lang="en-US" altLang="zh-CN" sz="2800" baseline="-25000">
                <a:solidFill>
                  <a:srgbClr val="FFFFFF"/>
                </a:solidFill>
              </a:rPr>
              <a:t>2</a:t>
            </a:r>
            <a:r>
              <a:rPr lang="en-US" altLang="zh-CN" sz="2800">
                <a:solidFill>
                  <a:srgbClr val="FFFFFF"/>
                </a:solidFill>
              </a:rPr>
              <a:t>]</a:t>
            </a:r>
            <a:endParaRPr lang="zh-CN" altLang="en-US" sz="2800">
              <a:solidFill>
                <a:srgbClr val="FFFFFF"/>
              </a:solidFill>
            </a:endParaRPr>
          </a:p>
        </p:txBody>
      </p:sp>
      <p:sp>
        <p:nvSpPr>
          <p:cNvPr id="371728" name="Rectangle 16"/>
          <p:cNvSpPr>
            <a:spLocks noChangeArrowheads="1"/>
          </p:cNvSpPr>
          <p:nvPr/>
        </p:nvSpPr>
        <p:spPr bwMode="auto">
          <a:xfrm>
            <a:off x="395288" y="4516041"/>
            <a:ext cx="366158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en-US" altLang="zh-CN" sz="2800">
                <a:solidFill>
                  <a:srgbClr val="FFFFFF"/>
                </a:solidFill>
              </a:rPr>
              <a:t>i. Na[Cr(NCS)</a:t>
            </a:r>
            <a:r>
              <a:rPr lang="en-US" altLang="zh-CN" sz="2800" baseline="-25000">
                <a:solidFill>
                  <a:srgbClr val="FFFFFF"/>
                </a:solidFill>
              </a:rPr>
              <a:t>4</a:t>
            </a:r>
            <a:r>
              <a:rPr lang="en-US" altLang="zh-CN" sz="2800">
                <a:solidFill>
                  <a:srgbClr val="FFFFFF"/>
                </a:solidFill>
              </a:rPr>
              <a:t>(NH</a:t>
            </a:r>
            <a:r>
              <a:rPr lang="en-US" altLang="zh-CN" sz="2800" baseline="-25000">
                <a:solidFill>
                  <a:srgbClr val="FFFFFF"/>
                </a:solidFill>
              </a:rPr>
              <a:t>3</a:t>
            </a:r>
            <a:r>
              <a:rPr lang="en-US" altLang="zh-CN" sz="2800">
                <a:solidFill>
                  <a:srgbClr val="FFFFFF"/>
                </a:solidFill>
              </a:rPr>
              <a:t>)</a:t>
            </a:r>
            <a:r>
              <a:rPr lang="en-US" altLang="zh-CN" sz="2800" baseline="-25000">
                <a:solidFill>
                  <a:srgbClr val="FFFFFF"/>
                </a:solidFill>
              </a:rPr>
              <a:t>2</a:t>
            </a:r>
            <a:r>
              <a:rPr lang="en-US" altLang="zh-CN" sz="2800">
                <a:solidFill>
                  <a:srgbClr val="FFFFFF"/>
                </a:solidFill>
              </a:rPr>
              <a:t>]</a:t>
            </a:r>
          </a:p>
        </p:txBody>
      </p:sp>
      <p:sp>
        <p:nvSpPr>
          <p:cNvPr id="371729" name="Rectangle 17"/>
          <p:cNvSpPr>
            <a:spLocks noChangeArrowheads="1"/>
          </p:cNvSpPr>
          <p:nvPr/>
        </p:nvSpPr>
        <p:spPr bwMode="auto">
          <a:xfrm>
            <a:off x="4902201" y="627459"/>
            <a:ext cx="2728632"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s-ES_tradnl" sz="2800">
                <a:solidFill>
                  <a:srgbClr val="FFFFFF"/>
                </a:solidFill>
              </a:rPr>
              <a:t>氯化二氨合银</a:t>
            </a:r>
            <a:r>
              <a:rPr lang="es-ES_tradnl" altLang="zh-CN" sz="2800">
                <a:solidFill>
                  <a:srgbClr val="FFFFFF"/>
                </a:solidFill>
              </a:rPr>
              <a:t>(I)</a:t>
            </a:r>
            <a:endParaRPr lang="zh-CN" altLang="en-US" sz="2800">
              <a:solidFill>
                <a:srgbClr val="FFFFFF"/>
              </a:solidFill>
            </a:endParaRPr>
          </a:p>
        </p:txBody>
      </p:sp>
      <p:sp>
        <p:nvSpPr>
          <p:cNvPr id="371730" name="Rectangle 18"/>
          <p:cNvSpPr>
            <a:spLocks noChangeArrowheads="1"/>
          </p:cNvSpPr>
          <p:nvPr/>
        </p:nvSpPr>
        <p:spPr bwMode="auto">
          <a:xfrm>
            <a:off x="4835529" y="1059657"/>
            <a:ext cx="2868093"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s-ES_tradnl" sz="2800">
                <a:solidFill>
                  <a:srgbClr val="FFFFFF"/>
                </a:solidFill>
              </a:rPr>
              <a:t>硫酸四氮合铜</a:t>
            </a:r>
            <a:r>
              <a:rPr lang="en-US" altLang="zh-CN" sz="2800">
                <a:solidFill>
                  <a:srgbClr val="FFFFFF"/>
                </a:solidFill>
              </a:rPr>
              <a:t>(II)</a:t>
            </a:r>
            <a:endParaRPr lang="zh-CN" altLang="en-US" sz="2800">
              <a:solidFill>
                <a:srgbClr val="FFFFFF"/>
              </a:solidFill>
            </a:endParaRPr>
          </a:p>
        </p:txBody>
      </p:sp>
      <p:sp>
        <p:nvSpPr>
          <p:cNvPr id="371731" name="Rectangle 19"/>
          <p:cNvSpPr>
            <a:spLocks noChangeArrowheads="1"/>
          </p:cNvSpPr>
          <p:nvPr/>
        </p:nvSpPr>
        <p:spPr bwMode="auto">
          <a:xfrm>
            <a:off x="4891093" y="1600200"/>
            <a:ext cx="29883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s-ES_tradnl" sz="2800">
                <a:solidFill>
                  <a:srgbClr val="FFFFFF"/>
                </a:solidFill>
              </a:rPr>
              <a:t>三氯</a:t>
            </a:r>
            <a:r>
              <a:rPr lang="en-US" altLang="zh-CN" sz="2800">
                <a:solidFill>
                  <a:srgbClr val="FFFFFF"/>
                </a:solidFill>
              </a:rPr>
              <a:t>·</a:t>
            </a:r>
            <a:r>
              <a:rPr lang="zh-CN" altLang="es-ES_tradnl" sz="2800">
                <a:solidFill>
                  <a:srgbClr val="FFFFFF"/>
                </a:solidFill>
              </a:rPr>
              <a:t>氨合铂</a:t>
            </a:r>
            <a:r>
              <a:rPr lang="en-US" altLang="zh-CN" sz="2800">
                <a:solidFill>
                  <a:srgbClr val="FFFFFF"/>
                </a:solidFill>
              </a:rPr>
              <a:t>(II)</a:t>
            </a:r>
            <a:r>
              <a:rPr lang="zh-CN" altLang="en-US" sz="2800">
                <a:solidFill>
                  <a:srgbClr val="FFFFFF"/>
                </a:solidFill>
              </a:rPr>
              <a:t>酸</a:t>
            </a:r>
          </a:p>
        </p:txBody>
      </p:sp>
      <p:sp>
        <p:nvSpPr>
          <p:cNvPr id="371732" name="Rectangle 20"/>
          <p:cNvSpPr>
            <a:spLocks noChangeArrowheads="1"/>
          </p:cNvSpPr>
          <p:nvPr/>
        </p:nvSpPr>
        <p:spPr bwMode="auto">
          <a:xfrm>
            <a:off x="4284663" y="2139554"/>
            <a:ext cx="47307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800">
                <a:solidFill>
                  <a:srgbClr val="FFFFFF"/>
                </a:solidFill>
              </a:rPr>
              <a:t>四氯</a:t>
            </a:r>
            <a:r>
              <a:rPr lang="en-US" altLang="zh-CN" sz="2800">
                <a:solidFill>
                  <a:srgbClr val="FFFFFF"/>
                </a:solidFill>
              </a:rPr>
              <a:t>· </a:t>
            </a:r>
            <a:r>
              <a:rPr lang="zh-CN" altLang="en-US" sz="2800">
                <a:solidFill>
                  <a:srgbClr val="FFFFFF"/>
                </a:solidFill>
              </a:rPr>
              <a:t>一氨</a:t>
            </a:r>
            <a:r>
              <a:rPr lang="en-US" altLang="zh-CN" sz="2800">
                <a:solidFill>
                  <a:srgbClr val="FFFFFF"/>
                </a:solidFill>
              </a:rPr>
              <a:t>· </a:t>
            </a:r>
            <a:r>
              <a:rPr lang="zh-CN" altLang="en-US" sz="2800">
                <a:solidFill>
                  <a:srgbClr val="FFFFFF"/>
                </a:solidFill>
              </a:rPr>
              <a:t>一水合钴</a:t>
            </a:r>
            <a:r>
              <a:rPr lang="en-US" altLang="zh-CN" sz="2800">
                <a:solidFill>
                  <a:srgbClr val="FFFFFF"/>
                </a:solidFill>
              </a:rPr>
              <a:t>(II)</a:t>
            </a:r>
            <a:r>
              <a:rPr lang="zh-CN" altLang="en-US" sz="2800">
                <a:solidFill>
                  <a:srgbClr val="FFFFFF"/>
                </a:solidFill>
              </a:rPr>
              <a:t>酸钾</a:t>
            </a:r>
          </a:p>
        </p:txBody>
      </p:sp>
      <p:sp>
        <p:nvSpPr>
          <p:cNvPr id="371733" name="Rectangle 21"/>
          <p:cNvSpPr>
            <a:spLocks noChangeArrowheads="1"/>
          </p:cNvSpPr>
          <p:nvPr/>
        </p:nvSpPr>
        <p:spPr bwMode="auto">
          <a:xfrm>
            <a:off x="4672014" y="2625329"/>
            <a:ext cx="41905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s-ES_tradnl" sz="2800">
                <a:solidFill>
                  <a:srgbClr val="FFFFFF"/>
                </a:solidFill>
              </a:rPr>
              <a:t>一氨基</a:t>
            </a:r>
            <a:r>
              <a:rPr lang="en-US" altLang="zh-CN" sz="2800">
                <a:solidFill>
                  <a:srgbClr val="FFFFFF"/>
                </a:solidFill>
              </a:rPr>
              <a:t>·</a:t>
            </a:r>
            <a:r>
              <a:rPr lang="zh-CN" altLang="es-ES_tradnl" sz="2800">
                <a:solidFill>
                  <a:srgbClr val="FFFFFF"/>
                </a:solidFill>
              </a:rPr>
              <a:t>硝基</a:t>
            </a:r>
            <a:r>
              <a:rPr lang="en-US" altLang="zh-CN" sz="2800">
                <a:solidFill>
                  <a:srgbClr val="FFFFFF"/>
                </a:solidFill>
              </a:rPr>
              <a:t>·</a:t>
            </a:r>
            <a:r>
              <a:rPr lang="zh-CN" altLang="en-US" sz="2800">
                <a:solidFill>
                  <a:srgbClr val="FFFFFF"/>
                </a:solidFill>
              </a:rPr>
              <a:t>四</a:t>
            </a:r>
            <a:r>
              <a:rPr lang="zh-CN" altLang="es-ES_tradnl" sz="2800">
                <a:solidFill>
                  <a:srgbClr val="FFFFFF"/>
                </a:solidFill>
              </a:rPr>
              <a:t>氨合铂</a:t>
            </a:r>
            <a:r>
              <a:rPr lang="en-US" altLang="zh-CN" sz="2800">
                <a:solidFill>
                  <a:srgbClr val="FFFFFF"/>
                </a:solidFill>
              </a:rPr>
              <a:t>(II)</a:t>
            </a:r>
            <a:endParaRPr lang="zh-CN" altLang="en-US" sz="2800">
              <a:solidFill>
                <a:srgbClr val="FFFFFF"/>
              </a:solidFill>
            </a:endParaRPr>
          </a:p>
        </p:txBody>
      </p:sp>
      <p:sp>
        <p:nvSpPr>
          <p:cNvPr id="371734" name="Rectangle 22"/>
          <p:cNvSpPr>
            <a:spLocks noChangeArrowheads="1"/>
          </p:cNvSpPr>
          <p:nvPr/>
        </p:nvSpPr>
        <p:spPr bwMode="auto">
          <a:xfrm>
            <a:off x="5072063" y="3057526"/>
            <a:ext cx="2627642"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s-ES_tradnl" sz="2800">
                <a:solidFill>
                  <a:srgbClr val="FFFFFF"/>
                </a:solidFill>
              </a:rPr>
              <a:t>六氟合硅</a:t>
            </a:r>
            <a:r>
              <a:rPr lang="en-US" altLang="zh-CN" sz="2800">
                <a:solidFill>
                  <a:srgbClr val="FFFFFF"/>
                </a:solidFill>
              </a:rPr>
              <a:t>(IV)</a:t>
            </a:r>
            <a:r>
              <a:rPr lang="zh-CN" altLang="en-US" sz="2800">
                <a:solidFill>
                  <a:srgbClr val="FFFFFF"/>
                </a:solidFill>
              </a:rPr>
              <a:t>酸</a:t>
            </a:r>
          </a:p>
        </p:txBody>
      </p:sp>
      <p:sp>
        <p:nvSpPr>
          <p:cNvPr id="371735" name="Rectangle 23"/>
          <p:cNvSpPr>
            <a:spLocks noChangeArrowheads="1"/>
          </p:cNvSpPr>
          <p:nvPr/>
        </p:nvSpPr>
        <p:spPr bwMode="auto">
          <a:xfrm>
            <a:off x="4794251" y="3651648"/>
            <a:ext cx="33489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800">
                <a:solidFill>
                  <a:srgbClr val="FFFFFF"/>
                </a:solidFill>
              </a:rPr>
              <a:t>四氯化六氨合铂</a:t>
            </a:r>
            <a:r>
              <a:rPr lang="en-US" altLang="zh-CN" sz="2800">
                <a:solidFill>
                  <a:srgbClr val="FFFFFF"/>
                </a:solidFill>
              </a:rPr>
              <a:t>(IV)</a:t>
            </a:r>
            <a:endParaRPr lang="zh-CN" altLang="en-US" sz="2800">
              <a:solidFill>
                <a:srgbClr val="FFFFFF"/>
              </a:solidFill>
            </a:endParaRPr>
          </a:p>
        </p:txBody>
      </p:sp>
      <p:sp>
        <p:nvSpPr>
          <p:cNvPr id="371736" name="Rectangle 24"/>
          <p:cNvSpPr>
            <a:spLocks noChangeArrowheads="1"/>
          </p:cNvSpPr>
          <p:nvPr/>
        </p:nvSpPr>
        <p:spPr bwMode="auto">
          <a:xfrm>
            <a:off x="4819655" y="4083844"/>
            <a:ext cx="2988319"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n-US" sz="2800">
                <a:solidFill>
                  <a:srgbClr val="FFFFFF"/>
                </a:solidFill>
              </a:rPr>
              <a:t>二氯</a:t>
            </a:r>
            <a:r>
              <a:rPr lang="en-US" altLang="zh-CN" sz="2800">
                <a:solidFill>
                  <a:srgbClr val="FFFFFF"/>
                </a:solidFill>
              </a:rPr>
              <a:t>·</a:t>
            </a:r>
            <a:r>
              <a:rPr lang="zh-CN" altLang="en-US" sz="2800">
                <a:solidFill>
                  <a:srgbClr val="FFFFFF"/>
                </a:solidFill>
              </a:rPr>
              <a:t>二氨合铂</a:t>
            </a:r>
            <a:r>
              <a:rPr lang="en-US" altLang="zh-CN" sz="2800">
                <a:solidFill>
                  <a:srgbClr val="FFFFFF"/>
                </a:solidFill>
              </a:rPr>
              <a:t>(II)</a:t>
            </a:r>
            <a:endParaRPr lang="zh-CN" altLang="en-US" sz="2800">
              <a:solidFill>
                <a:srgbClr val="FFFFFF"/>
              </a:solidFill>
            </a:endParaRPr>
          </a:p>
        </p:txBody>
      </p:sp>
      <p:sp>
        <p:nvSpPr>
          <p:cNvPr id="371737" name="Rectangle 25"/>
          <p:cNvSpPr>
            <a:spLocks noChangeArrowheads="1"/>
          </p:cNvSpPr>
          <p:nvPr/>
        </p:nvSpPr>
        <p:spPr bwMode="auto">
          <a:xfrm>
            <a:off x="3916368" y="4624388"/>
            <a:ext cx="52918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800">
                <a:solidFill>
                  <a:srgbClr val="FFFFFF"/>
                </a:solidFill>
              </a:rPr>
              <a:t>四异硫氰酸根</a:t>
            </a:r>
            <a:r>
              <a:rPr lang="en-US" altLang="zh-CN" sz="2800">
                <a:solidFill>
                  <a:srgbClr val="FFFFFF"/>
                </a:solidFill>
              </a:rPr>
              <a:t>·</a:t>
            </a:r>
            <a:r>
              <a:rPr lang="zh-CN" altLang="en-US" sz="2800">
                <a:solidFill>
                  <a:srgbClr val="FFFFFF"/>
                </a:solidFill>
              </a:rPr>
              <a:t>二氨合铬</a:t>
            </a:r>
            <a:r>
              <a:rPr lang="en-US" altLang="zh-CN" sz="2800">
                <a:solidFill>
                  <a:srgbClr val="FFFFFF"/>
                </a:solidFill>
              </a:rPr>
              <a:t>(III)</a:t>
            </a:r>
            <a:r>
              <a:rPr lang="zh-CN" altLang="en-US" sz="2800">
                <a:solidFill>
                  <a:srgbClr val="FFFFFF"/>
                </a:solidFill>
              </a:rPr>
              <a:t>酸钠</a:t>
            </a:r>
          </a:p>
        </p:txBody>
      </p:sp>
      <p:sp>
        <p:nvSpPr>
          <p:cNvPr id="371738" name="Rectangle 26"/>
          <p:cNvSpPr>
            <a:spLocks noChangeArrowheads="1"/>
          </p:cNvSpPr>
          <p:nvPr/>
        </p:nvSpPr>
        <p:spPr bwMode="auto">
          <a:xfrm>
            <a:off x="2339976" y="195263"/>
            <a:ext cx="4512774"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a:lnSpc>
                <a:spcPct val="130000"/>
              </a:lnSpc>
              <a:spcBef>
                <a:spcPct val="0"/>
              </a:spcBef>
              <a:buFontTx/>
              <a:buNone/>
            </a:pPr>
            <a:r>
              <a:rPr lang="zh-CN" altLang="en-US" sz="2800">
                <a:solidFill>
                  <a:srgbClr val="FFFFFF"/>
                </a:solidFill>
              </a:rPr>
              <a:t>命名下列配合物和配离子：</a:t>
            </a:r>
          </a:p>
        </p:txBody>
      </p:sp>
    </p:spTree>
    <p:extLst>
      <p:ext uri="{BB962C8B-B14F-4D97-AF65-F5344CB8AC3E}">
        <p14:creationId xmlns:p14="http://schemas.microsoft.com/office/powerpoint/2010/main" val="2030300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1716"/>
                                        </p:tgtEl>
                                        <p:attrNameLst>
                                          <p:attrName>style.visibility</p:attrName>
                                        </p:attrNameLst>
                                      </p:cBhvr>
                                      <p:to>
                                        <p:strVal val="visible"/>
                                      </p:to>
                                    </p:set>
                                    <p:anim calcmode="lin" valueType="num">
                                      <p:cBhvr additive="base">
                                        <p:cTn id="7" dur="500" fill="hold"/>
                                        <p:tgtEl>
                                          <p:spTgt spid="371716"/>
                                        </p:tgtEl>
                                        <p:attrNameLst>
                                          <p:attrName>ppt_x</p:attrName>
                                        </p:attrNameLst>
                                      </p:cBhvr>
                                      <p:tavLst>
                                        <p:tav tm="0">
                                          <p:val>
                                            <p:strVal val="#ppt_x"/>
                                          </p:val>
                                        </p:tav>
                                        <p:tav tm="100000">
                                          <p:val>
                                            <p:strVal val="#ppt_x"/>
                                          </p:val>
                                        </p:tav>
                                      </p:tavLst>
                                    </p:anim>
                                    <p:anim calcmode="lin" valueType="num">
                                      <p:cBhvr additive="base">
                                        <p:cTn id="8" dur="500" fill="hold"/>
                                        <p:tgtEl>
                                          <p:spTgt spid="3717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1738"/>
                                        </p:tgtEl>
                                        <p:attrNameLst>
                                          <p:attrName>style.visibility</p:attrName>
                                        </p:attrNameLst>
                                      </p:cBhvr>
                                      <p:to>
                                        <p:strVal val="visible"/>
                                      </p:to>
                                    </p:set>
                                    <p:anim calcmode="lin" valueType="num">
                                      <p:cBhvr additive="base">
                                        <p:cTn id="13" dur="500" fill="hold"/>
                                        <p:tgtEl>
                                          <p:spTgt spid="371738"/>
                                        </p:tgtEl>
                                        <p:attrNameLst>
                                          <p:attrName>ppt_x</p:attrName>
                                        </p:attrNameLst>
                                      </p:cBhvr>
                                      <p:tavLst>
                                        <p:tav tm="0">
                                          <p:val>
                                            <p:strVal val="1+#ppt_w/2"/>
                                          </p:val>
                                        </p:tav>
                                        <p:tav tm="100000">
                                          <p:val>
                                            <p:strVal val="#ppt_x"/>
                                          </p:val>
                                        </p:tav>
                                      </p:tavLst>
                                    </p:anim>
                                    <p:anim calcmode="lin" valueType="num">
                                      <p:cBhvr additive="base">
                                        <p:cTn id="14" dur="500" fill="hold"/>
                                        <p:tgtEl>
                                          <p:spTgt spid="37173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71720"/>
                                        </p:tgtEl>
                                        <p:attrNameLst>
                                          <p:attrName>style.visibility</p:attrName>
                                        </p:attrNameLst>
                                      </p:cBhvr>
                                      <p:to>
                                        <p:strVal val="visible"/>
                                      </p:to>
                                    </p:set>
                                    <p:animEffect transition="in" filter="blinds(horizontal)">
                                      <p:cBhvr>
                                        <p:cTn id="19" dur="500"/>
                                        <p:tgtEl>
                                          <p:spTgt spid="37172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71729"/>
                                        </p:tgtEl>
                                        <p:attrNameLst>
                                          <p:attrName>style.visibility</p:attrName>
                                        </p:attrNameLst>
                                      </p:cBhvr>
                                      <p:to>
                                        <p:strVal val="visible"/>
                                      </p:to>
                                    </p:set>
                                    <p:animEffect transition="in" filter="blinds(horizontal)">
                                      <p:cBhvr>
                                        <p:cTn id="24" dur="500"/>
                                        <p:tgtEl>
                                          <p:spTgt spid="37172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71721"/>
                                        </p:tgtEl>
                                        <p:attrNameLst>
                                          <p:attrName>style.visibility</p:attrName>
                                        </p:attrNameLst>
                                      </p:cBhvr>
                                      <p:to>
                                        <p:strVal val="visible"/>
                                      </p:to>
                                    </p:set>
                                    <p:animEffect transition="in" filter="blinds(horizontal)">
                                      <p:cBhvr>
                                        <p:cTn id="29" dur="500"/>
                                        <p:tgtEl>
                                          <p:spTgt spid="37172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71730"/>
                                        </p:tgtEl>
                                        <p:attrNameLst>
                                          <p:attrName>style.visibility</p:attrName>
                                        </p:attrNameLst>
                                      </p:cBhvr>
                                      <p:to>
                                        <p:strVal val="visible"/>
                                      </p:to>
                                    </p:set>
                                    <p:animEffect transition="in" filter="blinds(horizontal)">
                                      <p:cBhvr>
                                        <p:cTn id="34" dur="500"/>
                                        <p:tgtEl>
                                          <p:spTgt spid="3717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71722"/>
                                        </p:tgtEl>
                                        <p:attrNameLst>
                                          <p:attrName>style.visibility</p:attrName>
                                        </p:attrNameLst>
                                      </p:cBhvr>
                                      <p:to>
                                        <p:strVal val="visible"/>
                                      </p:to>
                                    </p:set>
                                    <p:animEffect transition="in" filter="blinds(horizontal)">
                                      <p:cBhvr>
                                        <p:cTn id="39" dur="500"/>
                                        <p:tgtEl>
                                          <p:spTgt spid="37172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71731"/>
                                        </p:tgtEl>
                                        <p:attrNameLst>
                                          <p:attrName>style.visibility</p:attrName>
                                        </p:attrNameLst>
                                      </p:cBhvr>
                                      <p:to>
                                        <p:strVal val="visible"/>
                                      </p:to>
                                    </p:set>
                                    <p:animEffect transition="in" filter="blinds(horizontal)">
                                      <p:cBhvr>
                                        <p:cTn id="44" dur="500"/>
                                        <p:tgtEl>
                                          <p:spTgt spid="37173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71723"/>
                                        </p:tgtEl>
                                        <p:attrNameLst>
                                          <p:attrName>style.visibility</p:attrName>
                                        </p:attrNameLst>
                                      </p:cBhvr>
                                      <p:to>
                                        <p:strVal val="visible"/>
                                      </p:to>
                                    </p:set>
                                    <p:animEffect transition="in" filter="blinds(horizontal)">
                                      <p:cBhvr>
                                        <p:cTn id="49" dur="500"/>
                                        <p:tgtEl>
                                          <p:spTgt spid="37172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71732"/>
                                        </p:tgtEl>
                                        <p:attrNameLst>
                                          <p:attrName>style.visibility</p:attrName>
                                        </p:attrNameLst>
                                      </p:cBhvr>
                                      <p:to>
                                        <p:strVal val="visible"/>
                                      </p:to>
                                    </p:set>
                                    <p:animEffect transition="in" filter="blinds(horizontal)">
                                      <p:cBhvr>
                                        <p:cTn id="54" dur="500"/>
                                        <p:tgtEl>
                                          <p:spTgt spid="37173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71724"/>
                                        </p:tgtEl>
                                        <p:attrNameLst>
                                          <p:attrName>style.visibility</p:attrName>
                                        </p:attrNameLst>
                                      </p:cBhvr>
                                      <p:to>
                                        <p:strVal val="visible"/>
                                      </p:to>
                                    </p:set>
                                    <p:animEffect transition="in" filter="blinds(horizontal)">
                                      <p:cBhvr>
                                        <p:cTn id="59" dur="500"/>
                                        <p:tgtEl>
                                          <p:spTgt spid="37172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71733"/>
                                        </p:tgtEl>
                                        <p:attrNameLst>
                                          <p:attrName>style.visibility</p:attrName>
                                        </p:attrNameLst>
                                      </p:cBhvr>
                                      <p:to>
                                        <p:strVal val="visible"/>
                                      </p:to>
                                    </p:set>
                                    <p:animEffect transition="in" filter="blinds(horizontal)">
                                      <p:cBhvr>
                                        <p:cTn id="64" dur="500"/>
                                        <p:tgtEl>
                                          <p:spTgt spid="37173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71725"/>
                                        </p:tgtEl>
                                        <p:attrNameLst>
                                          <p:attrName>style.visibility</p:attrName>
                                        </p:attrNameLst>
                                      </p:cBhvr>
                                      <p:to>
                                        <p:strVal val="visible"/>
                                      </p:to>
                                    </p:set>
                                    <p:animEffect transition="in" filter="blinds(horizontal)">
                                      <p:cBhvr>
                                        <p:cTn id="69" dur="500"/>
                                        <p:tgtEl>
                                          <p:spTgt spid="37172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71734"/>
                                        </p:tgtEl>
                                        <p:attrNameLst>
                                          <p:attrName>style.visibility</p:attrName>
                                        </p:attrNameLst>
                                      </p:cBhvr>
                                      <p:to>
                                        <p:strVal val="visible"/>
                                      </p:to>
                                    </p:set>
                                    <p:animEffect transition="in" filter="blinds(horizontal)">
                                      <p:cBhvr>
                                        <p:cTn id="74" dur="500"/>
                                        <p:tgtEl>
                                          <p:spTgt spid="37173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371726"/>
                                        </p:tgtEl>
                                        <p:attrNameLst>
                                          <p:attrName>style.visibility</p:attrName>
                                        </p:attrNameLst>
                                      </p:cBhvr>
                                      <p:to>
                                        <p:strVal val="visible"/>
                                      </p:to>
                                    </p:set>
                                    <p:animEffect transition="in" filter="blinds(horizontal)">
                                      <p:cBhvr>
                                        <p:cTn id="79" dur="500"/>
                                        <p:tgtEl>
                                          <p:spTgt spid="37172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371735"/>
                                        </p:tgtEl>
                                        <p:attrNameLst>
                                          <p:attrName>style.visibility</p:attrName>
                                        </p:attrNameLst>
                                      </p:cBhvr>
                                      <p:to>
                                        <p:strVal val="visible"/>
                                      </p:to>
                                    </p:set>
                                    <p:animEffect transition="in" filter="blinds(horizontal)">
                                      <p:cBhvr>
                                        <p:cTn id="84" dur="500"/>
                                        <p:tgtEl>
                                          <p:spTgt spid="371735"/>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71727"/>
                                        </p:tgtEl>
                                        <p:attrNameLst>
                                          <p:attrName>style.visibility</p:attrName>
                                        </p:attrNameLst>
                                      </p:cBhvr>
                                      <p:to>
                                        <p:strVal val="visible"/>
                                      </p:to>
                                    </p:set>
                                    <p:animEffect transition="in" filter="blinds(horizontal)">
                                      <p:cBhvr>
                                        <p:cTn id="89" dur="500"/>
                                        <p:tgtEl>
                                          <p:spTgt spid="371727"/>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371736"/>
                                        </p:tgtEl>
                                        <p:attrNameLst>
                                          <p:attrName>style.visibility</p:attrName>
                                        </p:attrNameLst>
                                      </p:cBhvr>
                                      <p:to>
                                        <p:strVal val="visible"/>
                                      </p:to>
                                    </p:set>
                                    <p:animEffect transition="in" filter="blinds(horizontal)">
                                      <p:cBhvr>
                                        <p:cTn id="94" dur="500"/>
                                        <p:tgtEl>
                                          <p:spTgt spid="371736"/>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371728"/>
                                        </p:tgtEl>
                                        <p:attrNameLst>
                                          <p:attrName>style.visibility</p:attrName>
                                        </p:attrNameLst>
                                      </p:cBhvr>
                                      <p:to>
                                        <p:strVal val="visible"/>
                                      </p:to>
                                    </p:set>
                                    <p:animEffect transition="in" filter="blinds(horizontal)">
                                      <p:cBhvr>
                                        <p:cTn id="99" dur="500"/>
                                        <p:tgtEl>
                                          <p:spTgt spid="371728"/>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371737"/>
                                        </p:tgtEl>
                                        <p:attrNameLst>
                                          <p:attrName>style.visibility</p:attrName>
                                        </p:attrNameLst>
                                      </p:cBhvr>
                                      <p:to>
                                        <p:strVal val="visible"/>
                                      </p:to>
                                    </p:set>
                                    <p:animEffect transition="in" filter="blinds(horizontal)">
                                      <p:cBhvr>
                                        <p:cTn id="104" dur="500"/>
                                        <p:tgtEl>
                                          <p:spTgt spid="371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6" grpId="0"/>
      <p:bldP spid="371720" grpId="0"/>
      <p:bldP spid="371721" grpId="0"/>
      <p:bldP spid="371722" grpId="0"/>
      <p:bldP spid="371723" grpId="0"/>
      <p:bldP spid="371724" grpId="0"/>
      <p:bldP spid="371725" grpId="0"/>
      <p:bldP spid="371726" grpId="0"/>
      <p:bldP spid="371727" grpId="0"/>
      <p:bldP spid="371728" grpId="0"/>
      <p:bldP spid="371729" grpId="0"/>
      <p:bldP spid="371730" grpId="0"/>
      <p:bldP spid="371731" grpId="0"/>
      <p:bldP spid="371732" grpId="0"/>
      <p:bldP spid="371733" grpId="0"/>
      <p:bldP spid="371734" grpId="0"/>
      <p:bldP spid="371735" grpId="0"/>
      <p:bldP spid="371736" grpId="0"/>
      <p:bldP spid="371737" grpId="0"/>
      <p:bldP spid="37173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ext Box 8"/>
          <p:cNvSpPr txBox="1"/>
          <p:nvPr/>
        </p:nvSpPr>
        <p:spPr>
          <a:xfrm>
            <a:off x="1403350" y="2355850"/>
            <a:ext cx="1081088"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84994" name="Text Box 9"/>
          <p:cNvSpPr txBox="1"/>
          <p:nvPr/>
        </p:nvSpPr>
        <p:spPr>
          <a:xfrm>
            <a:off x="468631" y="195583"/>
            <a:ext cx="4045585" cy="646331"/>
          </a:xfrm>
          <a:prstGeom prst="rect">
            <a:avLst/>
          </a:prstGeom>
          <a:solidFill>
            <a:schemeClr val="accent1"/>
          </a:solidFill>
          <a:ln w="9525">
            <a:noFill/>
          </a:ln>
        </p:spPr>
        <p:txBody>
          <a:bodyPr wrap="square" anchor="t" anchorCtr="0">
            <a:spAutoFit/>
          </a:bodyPr>
          <a:lstStyle/>
          <a:p>
            <a:pPr>
              <a:spcBef>
                <a:spcPct val="50000"/>
              </a:spcBef>
              <a:buClrTx/>
              <a:buFontTx/>
            </a:pPr>
            <a:r>
              <a:rPr lang="en-US" altLang="zh-CN" sz="3600" b="0" dirty="0">
                <a:latin typeface="华文新魏" pitchFamily="2" charset="-122"/>
                <a:ea typeface="华文新魏" pitchFamily="2" charset="-122"/>
              </a:rPr>
              <a:t>2</a:t>
            </a:r>
            <a:r>
              <a:rPr lang="zh-CN" altLang="en-US" sz="3600" b="0" dirty="0">
                <a:latin typeface="华文新魏" pitchFamily="2" charset="-122"/>
                <a:ea typeface="华文新魏" pitchFamily="2" charset="-122"/>
              </a:rPr>
              <a:t>） 配合物的书写</a:t>
            </a:r>
          </a:p>
        </p:txBody>
      </p:sp>
      <p:sp>
        <p:nvSpPr>
          <p:cNvPr id="84995" name="Rectangle 10"/>
          <p:cNvSpPr/>
          <p:nvPr/>
        </p:nvSpPr>
        <p:spPr>
          <a:xfrm>
            <a:off x="212725" y="1098552"/>
            <a:ext cx="8751888" cy="3849688"/>
          </a:xfrm>
          <a:prstGeom prst="rect">
            <a:avLst/>
          </a:prstGeom>
          <a:noFill/>
          <a:ln w="38100" cap="flat" cmpd="sng">
            <a:solidFill>
              <a:schemeClr val="tx1"/>
            </a:solidFill>
            <a:prstDash val="solid"/>
            <a:miter/>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4996" name="Text Box 11"/>
          <p:cNvSpPr txBox="1"/>
          <p:nvPr/>
        </p:nvSpPr>
        <p:spPr>
          <a:xfrm>
            <a:off x="7462844" y="727077"/>
            <a:ext cx="1152525" cy="590931"/>
          </a:xfrm>
          <a:prstGeom prst="rect">
            <a:avLst/>
          </a:prstGeom>
          <a:gradFill rotWithShape="1">
            <a:gsLst>
              <a:gs pos="0">
                <a:srgbClr val="181876"/>
              </a:gs>
              <a:gs pos="50000">
                <a:srgbClr val="3333FF"/>
              </a:gs>
              <a:gs pos="100000">
                <a:srgbClr val="181876"/>
              </a:gs>
            </a:gsLst>
            <a:lin ang="5400000" scaled="1"/>
            <a:tileRect/>
          </a:gradFill>
          <a:ln w="9525">
            <a:noFill/>
          </a:ln>
          <a:effectLst>
            <a:outerShdw dist="107763" dir="18900000" algn="ctr" rotWithShape="0">
              <a:schemeClr val="bg2">
                <a:alpha val="50000"/>
              </a:schemeClr>
            </a:outerShdw>
          </a:effectLst>
        </p:spPr>
        <p:txBody>
          <a:bodyPr anchor="t" anchorCtr="0">
            <a:spAutoFit/>
          </a:bodyPr>
          <a:lstStyle/>
          <a:p>
            <a:pPr>
              <a:lnSpc>
                <a:spcPct val="90000"/>
              </a:lnSpc>
              <a:spcBef>
                <a:spcPct val="50000"/>
              </a:spcBef>
            </a:pPr>
            <a:r>
              <a:rPr lang="zh-CN" altLang="en-US" sz="3600" dirty="0">
                <a:solidFill>
                  <a:schemeClr val="bg1"/>
                </a:solidFill>
                <a:latin typeface="幼圆" pitchFamily="49" charset="-122"/>
                <a:ea typeface="幼圆" pitchFamily="49" charset="-122"/>
              </a:rPr>
              <a:t>原则</a:t>
            </a:r>
            <a:endParaRPr lang="zh-CN" altLang="en-US" sz="1800" b="0" dirty="0">
              <a:latin typeface="Arial" panose="020B0604020202020204" pitchFamily="34" charset="0"/>
              <a:ea typeface="宋体" panose="02010600030101010101" pitchFamily="2" charset="-122"/>
            </a:endParaRPr>
          </a:p>
        </p:txBody>
      </p:sp>
      <p:grpSp>
        <p:nvGrpSpPr>
          <p:cNvPr id="84997" name="Group 12"/>
          <p:cNvGrpSpPr/>
          <p:nvPr/>
        </p:nvGrpSpPr>
        <p:grpSpPr>
          <a:xfrm>
            <a:off x="539756" y="1084265"/>
            <a:ext cx="8208963" cy="1076721"/>
            <a:chOff x="340" y="1093"/>
            <a:chExt cx="5171" cy="904"/>
          </a:xfrm>
        </p:grpSpPr>
        <p:sp>
          <p:nvSpPr>
            <p:cNvPr id="84998" name="Oval 13"/>
            <p:cNvSpPr/>
            <p:nvPr/>
          </p:nvSpPr>
          <p:spPr>
            <a:xfrm>
              <a:off x="340" y="1265"/>
              <a:ext cx="136" cy="136"/>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4999" name="Text Box 14"/>
            <p:cNvSpPr txBox="1"/>
            <p:nvPr/>
          </p:nvSpPr>
          <p:spPr>
            <a:xfrm>
              <a:off x="521" y="1093"/>
              <a:ext cx="4990" cy="904"/>
            </a:xfrm>
            <a:prstGeom prst="rect">
              <a:avLst/>
            </a:prstGeom>
            <a:noFill/>
            <a:ln w="9525">
              <a:noFill/>
            </a:ln>
          </p:spPr>
          <p:txBody>
            <a:bodyPr anchor="t" anchorCtr="0">
              <a:spAutoFit/>
            </a:bodyPr>
            <a:lstStyle/>
            <a:p>
              <a:pPr>
                <a:spcBef>
                  <a:spcPct val="50000"/>
                </a:spcBef>
                <a:buClrTx/>
                <a:buFontTx/>
              </a:pPr>
              <a:r>
                <a:rPr lang="zh-CN" altLang="en-US" sz="3200" dirty="0">
                  <a:latin typeface="幼圆" pitchFamily="49" charset="-122"/>
                  <a:ea typeface="幼圆" pitchFamily="49" charset="-122"/>
                </a:rPr>
                <a:t>含有配离子的配合物：阳离子在前， </a:t>
              </a:r>
              <a:endParaRPr lang="zh-CN" altLang="en-US" sz="3200" b="0" dirty="0">
                <a:latin typeface="Arial" panose="020B0604020202020204" pitchFamily="34" charset="0"/>
                <a:ea typeface="ˎ̥"/>
              </a:endParaRPr>
            </a:p>
            <a:p>
              <a:pPr>
                <a:lnSpc>
                  <a:spcPct val="50000"/>
                </a:lnSpc>
                <a:spcBef>
                  <a:spcPct val="50000"/>
                </a:spcBef>
                <a:buClrTx/>
                <a:buFontTx/>
              </a:pPr>
              <a:r>
                <a:rPr lang="zh-CN" altLang="en-US" sz="3200" dirty="0">
                  <a:latin typeface="幼圆" pitchFamily="49" charset="-122"/>
                  <a:ea typeface="幼圆" pitchFamily="49" charset="-122"/>
                </a:rPr>
                <a:t>                    阴离子在后</a:t>
              </a:r>
              <a:endParaRPr lang="zh-CN" altLang="en-US" sz="3200" b="0" dirty="0">
                <a:latin typeface="Arial" panose="020B0604020202020204" pitchFamily="34" charset="0"/>
                <a:ea typeface="宋体" panose="02010600030101010101" pitchFamily="2" charset="-122"/>
              </a:endParaRPr>
            </a:p>
          </p:txBody>
        </p:sp>
      </p:grpSp>
      <p:grpSp>
        <p:nvGrpSpPr>
          <p:cNvPr id="3" name="Group 15"/>
          <p:cNvGrpSpPr/>
          <p:nvPr/>
        </p:nvGrpSpPr>
        <p:grpSpPr>
          <a:xfrm>
            <a:off x="51759" y="2546350"/>
            <a:ext cx="8848725" cy="2431736"/>
            <a:chOff x="95" y="1758"/>
            <a:chExt cx="5688" cy="1911"/>
          </a:xfrm>
        </p:grpSpPr>
        <p:sp>
          <p:nvSpPr>
            <p:cNvPr id="85001" name="Oval 16"/>
            <p:cNvSpPr/>
            <p:nvPr/>
          </p:nvSpPr>
          <p:spPr>
            <a:xfrm>
              <a:off x="340" y="1854"/>
              <a:ext cx="136" cy="136"/>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5002" name="Text Box 17"/>
            <p:cNvSpPr txBox="1"/>
            <p:nvPr/>
          </p:nvSpPr>
          <p:spPr>
            <a:xfrm>
              <a:off x="496" y="1758"/>
              <a:ext cx="5239" cy="1388"/>
            </a:xfrm>
            <a:prstGeom prst="rect">
              <a:avLst/>
            </a:prstGeom>
            <a:noFill/>
            <a:ln w="9525">
              <a:noFill/>
            </a:ln>
          </p:spPr>
          <p:txBody>
            <a:bodyPr anchor="t" anchorCtr="0">
              <a:spAutoFit/>
            </a:bodyPr>
            <a:lstStyle/>
            <a:p>
              <a:pPr>
                <a:spcBef>
                  <a:spcPct val="50000"/>
                </a:spcBef>
                <a:buClrTx/>
                <a:buFontTx/>
              </a:pPr>
              <a:r>
                <a:rPr lang="zh-CN" altLang="en-US" sz="3200" dirty="0">
                  <a:latin typeface="幼圆" pitchFamily="49" charset="-122"/>
                  <a:ea typeface="幼圆" pitchFamily="49" charset="-122"/>
                </a:rPr>
                <a:t>配位个体：形成体</a:t>
              </a:r>
              <a:r>
                <a:rPr lang="zh-CN" altLang="en-US" sz="3200" dirty="0">
                  <a:latin typeface="Times New Roman" panose="02020603050405020304" pitchFamily="18" charset="0"/>
                  <a:ea typeface="幼圆" pitchFamily="49" charset="-122"/>
                </a:rPr>
                <a:t>→配体 </a:t>
              </a:r>
              <a:endParaRPr lang="zh-CN" altLang="en-US" sz="3200" b="0" dirty="0">
                <a:latin typeface="Arial" panose="020B0604020202020204" pitchFamily="34" charset="0"/>
                <a:ea typeface="ˎ̥"/>
              </a:endParaRPr>
            </a:p>
            <a:p>
              <a:pPr>
                <a:lnSpc>
                  <a:spcPct val="120000"/>
                </a:lnSpc>
                <a:buClrTx/>
                <a:buFontTx/>
              </a:pPr>
              <a:r>
                <a:rPr lang="zh-CN" altLang="en-US" sz="3200" dirty="0">
                  <a:latin typeface="幼圆" pitchFamily="49" charset="-122"/>
                  <a:ea typeface="幼圆" pitchFamily="49" charset="-122"/>
                </a:rPr>
                <a:t>              阴离子</a:t>
              </a:r>
              <a:r>
                <a:rPr lang="zh-CN" altLang="en-US" sz="3200" dirty="0">
                  <a:latin typeface="Times New Roman" panose="02020603050405020304" pitchFamily="18" charset="0"/>
                  <a:ea typeface="幼圆" pitchFamily="49" charset="-122"/>
                </a:rPr>
                <a:t>→中性分子 </a:t>
              </a:r>
              <a:endParaRPr lang="zh-CN" altLang="en-US" sz="3200" b="0" dirty="0">
                <a:latin typeface="Arial" panose="020B0604020202020204" pitchFamily="34" charset="0"/>
                <a:ea typeface="ˎ̥"/>
              </a:endParaRPr>
            </a:p>
            <a:p>
              <a:pPr>
                <a:lnSpc>
                  <a:spcPct val="120000"/>
                </a:lnSpc>
                <a:buClrTx/>
                <a:buFontTx/>
              </a:pPr>
              <a:r>
                <a:rPr lang="zh-CN" altLang="en-US" sz="3200" dirty="0">
                  <a:latin typeface="幼圆" pitchFamily="49" charset="-122"/>
                  <a:ea typeface="幼圆" pitchFamily="49" charset="-122"/>
                </a:rPr>
                <a:t>            无机配体</a:t>
              </a:r>
              <a:r>
                <a:rPr lang="zh-CN" altLang="en-US" sz="3200" dirty="0">
                  <a:latin typeface="Times New Roman" panose="02020603050405020304" pitchFamily="18" charset="0"/>
                  <a:ea typeface="幼圆" pitchFamily="49" charset="-122"/>
                </a:rPr>
                <a:t>→有机配体</a:t>
              </a:r>
              <a:endParaRPr lang="zh-CN" altLang="en-US" sz="3200" b="0" dirty="0">
                <a:latin typeface="Arial" panose="020B0604020202020204" pitchFamily="34" charset="0"/>
                <a:ea typeface="宋体" panose="02010600030101010101" pitchFamily="2" charset="-122"/>
              </a:endParaRPr>
            </a:p>
          </p:txBody>
        </p:sp>
        <p:sp>
          <p:nvSpPr>
            <p:cNvPr id="85003" name="AutoShape 18"/>
            <p:cNvSpPr/>
            <p:nvPr/>
          </p:nvSpPr>
          <p:spPr>
            <a:xfrm rot="5400000" flipV="1">
              <a:off x="3071" y="1688"/>
              <a:ext cx="137" cy="997"/>
            </a:xfrm>
            <a:prstGeom prst="leftBrace">
              <a:avLst>
                <a:gd name="adj1" fmla="val 60577"/>
                <a:gd name="adj2" fmla="val 52356"/>
              </a:avLst>
            </a:prstGeom>
            <a:noFill/>
            <a:ln w="190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5004" name="AutoShape 19"/>
            <p:cNvSpPr/>
            <p:nvPr/>
          </p:nvSpPr>
          <p:spPr>
            <a:xfrm rot="-5400000">
              <a:off x="3150" y="2221"/>
              <a:ext cx="137" cy="997"/>
            </a:xfrm>
            <a:prstGeom prst="leftBrace">
              <a:avLst>
                <a:gd name="adj1" fmla="val 60577"/>
                <a:gd name="adj2" fmla="val 50000"/>
              </a:avLst>
            </a:prstGeom>
            <a:noFill/>
            <a:ln w="190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5005" name="AutoShape 20"/>
            <p:cNvSpPr/>
            <p:nvPr/>
          </p:nvSpPr>
          <p:spPr>
            <a:xfrm rot="-5400000">
              <a:off x="3150" y="2721"/>
              <a:ext cx="137" cy="997"/>
            </a:xfrm>
            <a:prstGeom prst="leftBrace">
              <a:avLst>
                <a:gd name="adj1" fmla="val 60577"/>
                <a:gd name="adj2" fmla="val 50000"/>
              </a:avLst>
            </a:prstGeom>
            <a:noFill/>
            <a:ln w="19050" cap="flat" cmpd="sng">
              <a:solidFill>
                <a:schemeClr val="tx1"/>
              </a:solidFill>
              <a:prstDash val="solid"/>
              <a:round/>
              <a:headEnd type="none" w="med" len="med"/>
              <a:tailEnd type="none" w="med" len="med"/>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sp>
          <p:nvSpPr>
            <p:cNvPr id="85006" name="Text Box 21"/>
            <p:cNvSpPr txBox="1"/>
            <p:nvPr/>
          </p:nvSpPr>
          <p:spPr>
            <a:xfrm>
              <a:off x="95" y="3209"/>
              <a:ext cx="5688" cy="460"/>
            </a:xfrm>
            <a:prstGeom prst="rect">
              <a:avLst/>
            </a:prstGeom>
            <a:noFill/>
            <a:ln w="9525">
              <a:noFill/>
            </a:ln>
          </p:spPr>
          <p:txBody>
            <a:bodyPr anchor="t" anchorCtr="0">
              <a:spAutoFit/>
            </a:bodyPr>
            <a:lstStyle/>
            <a:p>
              <a:pPr>
                <a:spcBef>
                  <a:spcPct val="50000"/>
                </a:spcBef>
                <a:buClrTx/>
                <a:buFontTx/>
              </a:pPr>
              <a:r>
                <a:rPr lang="zh-CN" altLang="en-US" sz="3200" dirty="0">
                  <a:latin typeface="Times New Roman" panose="02020603050405020304" pitchFamily="18" charset="0"/>
                  <a:ea typeface="幼圆" pitchFamily="49" charset="-122"/>
                </a:rPr>
                <a:t>同类配体以</a:t>
              </a:r>
              <a:r>
                <a:rPr lang="zh-CN" altLang="en-US" sz="3200" dirty="0">
                  <a:gradFill>
                    <a:gsLst>
                      <a:gs pos="0">
                        <a:srgbClr val="E30000"/>
                      </a:gs>
                      <a:gs pos="100000">
                        <a:srgbClr val="760303"/>
                      </a:gs>
                    </a:gsLst>
                    <a:lin scaled="0"/>
                  </a:gradFill>
                  <a:latin typeface="Times New Roman" panose="02020603050405020304" pitchFamily="18" charset="0"/>
                  <a:ea typeface="幼圆" pitchFamily="49" charset="-122"/>
                </a:rPr>
                <a:t>配位原子</a:t>
              </a:r>
              <a:r>
                <a:rPr lang="zh-CN" altLang="en-US" sz="3200" dirty="0">
                  <a:latin typeface="Times New Roman" panose="02020603050405020304" pitchFamily="18" charset="0"/>
                  <a:ea typeface="幼圆" pitchFamily="49" charset="-122"/>
                </a:rPr>
                <a:t>元素符号</a:t>
              </a:r>
              <a:r>
                <a:rPr lang="zh-CN" altLang="en-US" sz="3200" dirty="0">
                  <a:gradFill>
                    <a:gsLst>
                      <a:gs pos="0">
                        <a:srgbClr val="E30000"/>
                      </a:gs>
                      <a:gs pos="100000">
                        <a:srgbClr val="760303"/>
                      </a:gs>
                    </a:gsLst>
                    <a:lin scaled="0"/>
                  </a:gradFill>
                  <a:latin typeface="Times New Roman" panose="02020603050405020304" pitchFamily="18" charset="0"/>
                  <a:ea typeface="幼圆" pitchFamily="49" charset="-122"/>
                </a:rPr>
                <a:t>英文字母顺序</a:t>
              </a:r>
              <a:r>
                <a:rPr lang="zh-CN" altLang="en-US" sz="3200" dirty="0">
                  <a:latin typeface="Times New Roman" panose="02020603050405020304" pitchFamily="18" charset="0"/>
                  <a:ea typeface="幼圆" pitchFamily="49" charset="-122"/>
                </a:rPr>
                <a:t>排列</a:t>
              </a:r>
              <a:endParaRPr lang="zh-CN" altLang="en-US" sz="1800" b="0" dirty="0">
                <a:latin typeface="Arial" panose="020B0604020202020204" pitchFamily="34" charset="0"/>
                <a:ea typeface="幼圆" pitchFamily="49" charset="-122"/>
              </a:endParaRPr>
            </a:p>
          </p:txBody>
        </p:sp>
      </p:grpSp>
      <p:grpSp>
        <p:nvGrpSpPr>
          <p:cNvPr id="4" name="Group 22"/>
          <p:cNvGrpSpPr/>
          <p:nvPr/>
        </p:nvGrpSpPr>
        <p:grpSpPr>
          <a:xfrm>
            <a:off x="539750" y="2036769"/>
            <a:ext cx="7651750" cy="584201"/>
            <a:chOff x="340" y="3516"/>
            <a:chExt cx="4820" cy="491"/>
          </a:xfrm>
        </p:grpSpPr>
        <p:sp>
          <p:nvSpPr>
            <p:cNvPr id="85008" name="Text Box 23"/>
            <p:cNvSpPr txBox="1"/>
            <p:nvPr/>
          </p:nvSpPr>
          <p:spPr>
            <a:xfrm>
              <a:off x="488" y="3516"/>
              <a:ext cx="4672" cy="491"/>
            </a:xfrm>
            <a:prstGeom prst="rect">
              <a:avLst/>
            </a:prstGeom>
            <a:noFill/>
            <a:ln w="9525">
              <a:noFill/>
            </a:ln>
          </p:spPr>
          <p:txBody>
            <a:bodyPr anchor="t" anchorCtr="0">
              <a:spAutoFit/>
            </a:bodyPr>
            <a:lstStyle/>
            <a:p>
              <a:pPr>
                <a:spcBef>
                  <a:spcPct val="50000"/>
                </a:spcBef>
                <a:buClrTx/>
                <a:buFontTx/>
              </a:pPr>
              <a:r>
                <a:rPr lang="zh-CN" altLang="en-US" sz="3200" dirty="0">
                  <a:latin typeface="幼圆" pitchFamily="49" charset="-122"/>
                  <a:ea typeface="幼圆" pitchFamily="49" charset="-122"/>
                </a:rPr>
                <a:t>整个配位个体用方括号</a:t>
              </a:r>
              <a:r>
                <a:rPr lang="en-US" altLang="zh-CN" sz="3200" dirty="0">
                  <a:latin typeface="幼圆" pitchFamily="49" charset="-122"/>
                  <a:ea typeface="幼圆" pitchFamily="49" charset="-122"/>
                </a:rPr>
                <a:t>[ ]</a:t>
              </a:r>
              <a:r>
                <a:rPr lang="zh-CN" altLang="en-US" sz="3200" dirty="0">
                  <a:latin typeface="幼圆" pitchFamily="49" charset="-122"/>
                  <a:ea typeface="幼圆" pitchFamily="49" charset="-122"/>
                </a:rPr>
                <a:t>括起来</a:t>
              </a:r>
              <a:endParaRPr lang="zh-CN" altLang="en-US" sz="1600" b="0" dirty="0">
                <a:latin typeface="Arial" panose="020B0604020202020204" pitchFamily="34" charset="0"/>
                <a:ea typeface="宋体" panose="02010600030101010101" pitchFamily="2" charset="-122"/>
              </a:endParaRPr>
            </a:p>
          </p:txBody>
        </p:sp>
        <p:sp>
          <p:nvSpPr>
            <p:cNvPr id="85009" name="Oval 24"/>
            <p:cNvSpPr/>
            <p:nvPr/>
          </p:nvSpPr>
          <p:spPr>
            <a:xfrm>
              <a:off x="340" y="3681"/>
              <a:ext cx="136" cy="125"/>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i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fld id="{E8F0D313-9D61-451C-8A35-96142397E068}" type="slidenum">
              <a:rPr lang="zh-CN" altLang="en-US" sz="1400" smtClean="0">
                <a:solidFill>
                  <a:srgbClr val="000000"/>
                </a:solidFill>
              </a:rPr>
              <a:pPr eaLnBrk="1" hangingPunct="1">
                <a:spcBef>
                  <a:spcPct val="0"/>
                </a:spcBef>
                <a:buFontTx/>
                <a:buNone/>
              </a:pPr>
              <a:t>104</a:t>
            </a:fld>
            <a:endParaRPr lang="zh-CN" altLang="en-US" sz="1400">
              <a:solidFill>
                <a:srgbClr val="000000"/>
              </a:solidFill>
            </a:endParaRPr>
          </a:p>
        </p:txBody>
      </p:sp>
      <p:sp>
        <p:nvSpPr>
          <p:cNvPr id="371716" name="Text Box 4"/>
          <p:cNvSpPr txBox="1">
            <a:spLocks noChangeArrowheads="1"/>
          </p:cNvSpPr>
          <p:nvPr/>
        </p:nvSpPr>
        <p:spPr bwMode="auto">
          <a:xfrm>
            <a:off x="179388" y="291704"/>
            <a:ext cx="1828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algn="ctr">
              <a:spcBef>
                <a:spcPct val="0"/>
              </a:spcBef>
              <a:buFontTx/>
              <a:buNone/>
            </a:pPr>
            <a:r>
              <a:rPr lang="zh-CN" altLang="en-US" sz="2800" dirty="0">
                <a:solidFill>
                  <a:srgbClr val="FF0000"/>
                </a:solidFill>
                <a:ea typeface="黑体" pitchFamily="49" charset="-122"/>
              </a:rPr>
              <a:t>例    题</a:t>
            </a:r>
          </a:p>
        </p:txBody>
      </p:sp>
      <p:sp>
        <p:nvSpPr>
          <p:cNvPr id="371720" name="Rectangle 8"/>
          <p:cNvSpPr>
            <a:spLocks noChangeArrowheads="1"/>
          </p:cNvSpPr>
          <p:nvPr/>
        </p:nvSpPr>
        <p:spPr bwMode="auto">
          <a:xfrm>
            <a:off x="468317" y="627459"/>
            <a:ext cx="2781531"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es-ES_tradnl" altLang="zh-CN" sz="2800">
                <a:solidFill>
                  <a:srgbClr val="FFFFFF"/>
                </a:solidFill>
              </a:rPr>
              <a:t>a. [Ag(NH</a:t>
            </a:r>
            <a:r>
              <a:rPr lang="es-ES_tradnl" altLang="zh-CN" sz="2800" baseline="-25000">
                <a:solidFill>
                  <a:srgbClr val="FFFFFF"/>
                </a:solidFill>
              </a:rPr>
              <a:t>3</a:t>
            </a:r>
            <a:r>
              <a:rPr lang="es-ES_tradnl" altLang="zh-CN" sz="2800">
                <a:solidFill>
                  <a:srgbClr val="FFFFFF"/>
                </a:solidFill>
              </a:rPr>
              <a:t>)</a:t>
            </a:r>
            <a:r>
              <a:rPr lang="es-ES_tradnl" altLang="zh-CN" sz="2800" baseline="-25000">
                <a:solidFill>
                  <a:srgbClr val="FFFFFF"/>
                </a:solidFill>
              </a:rPr>
              <a:t>2</a:t>
            </a:r>
            <a:r>
              <a:rPr lang="es-ES_tradnl" altLang="zh-CN" sz="2800">
                <a:solidFill>
                  <a:srgbClr val="FFFFFF"/>
                </a:solidFill>
              </a:rPr>
              <a:t>]Cl</a:t>
            </a:r>
            <a:r>
              <a:rPr lang="es-ES_tradnl" altLang="zh-CN" sz="2800" b="0">
                <a:solidFill>
                  <a:srgbClr val="000000"/>
                </a:solidFill>
              </a:rPr>
              <a:t>  </a:t>
            </a:r>
          </a:p>
        </p:txBody>
      </p:sp>
      <p:sp>
        <p:nvSpPr>
          <p:cNvPr id="371721" name="Rectangle 9"/>
          <p:cNvSpPr>
            <a:spLocks noChangeArrowheads="1"/>
          </p:cNvSpPr>
          <p:nvPr/>
        </p:nvSpPr>
        <p:spPr bwMode="auto">
          <a:xfrm>
            <a:off x="414343" y="1168004"/>
            <a:ext cx="28841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dirty="0">
                <a:solidFill>
                  <a:srgbClr val="FFFFFF"/>
                </a:solidFill>
              </a:rPr>
              <a:t>b. [Cu(NH</a:t>
            </a:r>
            <a:r>
              <a:rPr lang="en-US" altLang="zh-CN" sz="2800" baseline="-25000" dirty="0">
                <a:solidFill>
                  <a:srgbClr val="FFFFFF"/>
                </a:solidFill>
              </a:rPr>
              <a:t>3</a:t>
            </a:r>
            <a:r>
              <a:rPr lang="en-US" altLang="zh-CN" sz="2800" dirty="0">
                <a:solidFill>
                  <a:srgbClr val="FFFFFF"/>
                </a:solidFill>
              </a:rPr>
              <a:t>)</a:t>
            </a:r>
            <a:r>
              <a:rPr lang="en-US" altLang="zh-CN" sz="2800" baseline="-25000" dirty="0">
                <a:solidFill>
                  <a:srgbClr val="FFFFFF"/>
                </a:solidFill>
              </a:rPr>
              <a:t>4</a:t>
            </a:r>
            <a:r>
              <a:rPr lang="en-US" altLang="zh-CN" sz="2800" dirty="0">
                <a:solidFill>
                  <a:srgbClr val="FFFFFF"/>
                </a:solidFill>
              </a:rPr>
              <a:t>]SO</a:t>
            </a:r>
            <a:r>
              <a:rPr lang="en-US" altLang="zh-CN" sz="2800" baseline="-25000" dirty="0">
                <a:solidFill>
                  <a:srgbClr val="FFFFFF"/>
                </a:solidFill>
              </a:rPr>
              <a:t>4</a:t>
            </a:r>
            <a:endParaRPr lang="zh-CN" altLang="en-US" sz="2800" baseline="-25000" dirty="0">
              <a:solidFill>
                <a:srgbClr val="FFFFFF"/>
              </a:solidFill>
            </a:endParaRPr>
          </a:p>
        </p:txBody>
      </p:sp>
      <p:sp>
        <p:nvSpPr>
          <p:cNvPr id="371722" name="Rectangle 10"/>
          <p:cNvSpPr>
            <a:spLocks noChangeArrowheads="1"/>
          </p:cNvSpPr>
          <p:nvPr/>
        </p:nvSpPr>
        <p:spPr bwMode="auto">
          <a:xfrm>
            <a:off x="393701" y="1600200"/>
            <a:ext cx="27606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c. H[PtCl</a:t>
            </a:r>
            <a:r>
              <a:rPr lang="en-US" altLang="zh-CN" sz="2800" baseline="-25000">
                <a:solidFill>
                  <a:srgbClr val="FFFFFF"/>
                </a:solidFill>
              </a:rPr>
              <a:t>3</a:t>
            </a:r>
            <a:r>
              <a:rPr lang="en-US" altLang="zh-CN" sz="2800">
                <a:solidFill>
                  <a:srgbClr val="FFFFFF"/>
                </a:solidFill>
              </a:rPr>
              <a:t>(NH</a:t>
            </a:r>
            <a:r>
              <a:rPr lang="en-US" altLang="zh-CN" sz="2800" baseline="-25000">
                <a:solidFill>
                  <a:srgbClr val="FFFFFF"/>
                </a:solidFill>
              </a:rPr>
              <a:t>3</a:t>
            </a:r>
            <a:r>
              <a:rPr lang="en-US" altLang="zh-CN" sz="2800">
                <a:solidFill>
                  <a:srgbClr val="FFFFFF"/>
                </a:solidFill>
              </a:rPr>
              <a:t>)]</a:t>
            </a:r>
            <a:endParaRPr lang="zh-CN" altLang="en-US" sz="2800">
              <a:solidFill>
                <a:srgbClr val="FFFFFF"/>
              </a:solidFill>
            </a:endParaRPr>
          </a:p>
        </p:txBody>
      </p:sp>
      <p:sp>
        <p:nvSpPr>
          <p:cNvPr id="371723" name="Rectangle 11"/>
          <p:cNvSpPr>
            <a:spLocks noChangeArrowheads="1"/>
          </p:cNvSpPr>
          <p:nvPr/>
        </p:nvSpPr>
        <p:spPr bwMode="auto">
          <a:xfrm>
            <a:off x="395288" y="2085976"/>
            <a:ext cx="3700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d. K</a:t>
            </a:r>
            <a:r>
              <a:rPr lang="en-US" altLang="zh-CN" sz="2800" baseline="-25000">
                <a:solidFill>
                  <a:srgbClr val="FFFFFF"/>
                </a:solidFill>
              </a:rPr>
              <a:t>2</a:t>
            </a:r>
            <a:r>
              <a:rPr lang="en-US" altLang="zh-CN" sz="2800">
                <a:solidFill>
                  <a:srgbClr val="FFFFFF"/>
                </a:solidFill>
              </a:rPr>
              <a:t>[Co(NH</a:t>
            </a:r>
            <a:r>
              <a:rPr lang="en-US" altLang="zh-CN" sz="2800" baseline="-25000">
                <a:solidFill>
                  <a:srgbClr val="FFFFFF"/>
                </a:solidFill>
              </a:rPr>
              <a:t>3</a:t>
            </a:r>
            <a:r>
              <a:rPr lang="en-US" altLang="zh-CN" sz="2800">
                <a:solidFill>
                  <a:srgbClr val="FFFFFF"/>
                </a:solidFill>
              </a:rPr>
              <a:t>)H</a:t>
            </a:r>
            <a:r>
              <a:rPr lang="en-US" altLang="zh-CN" sz="2800" baseline="-25000">
                <a:solidFill>
                  <a:srgbClr val="FFFFFF"/>
                </a:solidFill>
              </a:rPr>
              <a:t>2</a:t>
            </a:r>
            <a:r>
              <a:rPr lang="en-US" altLang="zh-CN" sz="2800">
                <a:solidFill>
                  <a:srgbClr val="FFFFFF"/>
                </a:solidFill>
              </a:rPr>
              <a:t>OCl</a:t>
            </a:r>
            <a:r>
              <a:rPr lang="en-US" altLang="zh-CN" sz="2800" baseline="-25000">
                <a:solidFill>
                  <a:srgbClr val="FFFFFF"/>
                </a:solidFill>
              </a:rPr>
              <a:t>4</a:t>
            </a:r>
            <a:r>
              <a:rPr lang="en-US" altLang="zh-CN" sz="2800">
                <a:solidFill>
                  <a:srgbClr val="FFFFFF"/>
                </a:solidFill>
              </a:rPr>
              <a:t>]</a:t>
            </a:r>
            <a:endParaRPr lang="zh-CN" altLang="en-US" sz="2800">
              <a:solidFill>
                <a:srgbClr val="FFFFFF"/>
              </a:solidFill>
            </a:endParaRPr>
          </a:p>
        </p:txBody>
      </p:sp>
      <p:sp>
        <p:nvSpPr>
          <p:cNvPr id="371724" name="Rectangle 12"/>
          <p:cNvSpPr>
            <a:spLocks noChangeArrowheads="1"/>
          </p:cNvSpPr>
          <p:nvPr/>
        </p:nvSpPr>
        <p:spPr bwMode="auto">
          <a:xfrm>
            <a:off x="393701" y="2571751"/>
            <a:ext cx="39212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e. [Pt(NH</a:t>
            </a:r>
            <a:r>
              <a:rPr lang="en-US" altLang="zh-CN" sz="2800" baseline="-25000">
                <a:solidFill>
                  <a:srgbClr val="FFFFFF"/>
                </a:solidFill>
              </a:rPr>
              <a:t>2</a:t>
            </a:r>
            <a:r>
              <a:rPr lang="en-US" altLang="zh-CN" sz="2800">
                <a:solidFill>
                  <a:srgbClr val="FFFFFF"/>
                </a:solidFill>
              </a:rPr>
              <a:t>)(NO</a:t>
            </a:r>
            <a:r>
              <a:rPr lang="en-US" altLang="zh-CN" sz="2800" baseline="-25000">
                <a:solidFill>
                  <a:srgbClr val="FFFFFF"/>
                </a:solidFill>
              </a:rPr>
              <a:t>2</a:t>
            </a:r>
            <a:r>
              <a:rPr lang="en-US" altLang="zh-CN" sz="2800">
                <a:solidFill>
                  <a:srgbClr val="FFFFFF"/>
                </a:solidFill>
              </a:rPr>
              <a:t>)(NH</a:t>
            </a:r>
            <a:r>
              <a:rPr lang="en-US" altLang="zh-CN" sz="2800" baseline="-25000">
                <a:solidFill>
                  <a:srgbClr val="FFFFFF"/>
                </a:solidFill>
              </a:rPr>
              <a:t>3</a:t>
            </a:r>
            <a:r>
              <a:rPr lang="en-US" altLang="zh-CN" sz="2800">
                <a:solidFill>
                  <a:srgbClr val="FFFFFF"/>
                </a:solidFill>
              </a:rPr>
              <a:t>)</a:t>
            </a:r>
            <a:r>
              <a:rPr lang="en-US" altLang="zh-CN" sz="2800" baseline="-25000">
                <a:solidFill>
                  <a:srgbClr val="FFFFFF"/>
                </a:solidFill>
              </a:rPr>
              <a:t>4</a:t>
            </a:r>
            <a:r>
              <a:rPr lang="en-US" altLang="zh-CN" sz="2800">
                <a:solidFill>
                  <a:srgbClr val="FFFFFF"/>
                </a:solidFill>
              </a:rPr>
              <a:t>]</a:t>
            </a:r>
            <a:endParaRPr lang="zh-CN" altLang="en-US" sz="2800">
              <a:solidFill>
                <a:srgbClr val="FFFFFF"/>
              </a:solidFill>
            </a:endParaRPr>
          </a:p>
        </p:txBody>
      </p:sp>
      <p:sp>
        <p:nvSpPr>
          <p:cNvPr id="371725" name="Rectangle 13"/>
          <p:cNvSpPr>
            <a:spLocks noChangeArrowheads="1"/>
          </p:cNvSpPr>
          <p:nvPr/>
        </p:nvSpPr>
        <p:spPr bwMode="auto">
          <a:xfrm>
            <a:off x="428626" y="3112294"/>
            <a:ext cx="18533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f.  H</a:t>
            </a:r>
            <a:r>
              <a:rPr lang="en-US" altLang="zh-CN" sz="2800" baseline="-25000">
                <a:solidFill>
                  <a:srgbClr val="FFFFFF"/>
                </a:solidFill>
              </a:rPr>
              <a:t>2</a:t>
            </a:r>
            <a:r>
              <a:rPr lang="en-US" altLang="zh-CN" sz="2800">
                <a:solidFill>
                  <a:srgbClr val="FFFFFF"/>
                </a:solidFill>
              </a:rPr>
              <a:t>[SiF</a:t>
            </a:r>
            <a:r>
              <a:rPr lang="en-US" altLang="zh-CN" sz="2800" baseline="-25000">
                <a:solidFill>
                  <a:srgbClr val="FFFFFF"/>
                </a:solidFill>
              </a:rPr>
              <a:t>6</a:t>
            </a:r>
            <a:r>
              <a:rPr lang="en-US" altLang="zh-CN" sz="2800">
                <a:solidFill>
                  <a:srgbClr val="FFFFFF"/>
                </a:solidFill>
              </a:rPr>
              <a:t>]</a:t>
            </a:r>
            <a:endParaRPr lang="zh-CN" altLang="en-US" sz="2800">
              <a:solidFill>
                <a:srgbClr val="FFFFFF"/>
              </a:solidFill>
            </a:endParaRPr>
          </a:p>
        </p:txBody>
      </p:sp>
      <p:sp>
        <p:nvSpPr>
          <p:cNvPr id="371726" name="Rectangle 14"/>
          <p:cNvSpPr>
            <a:spLocks noChangeArrowheads="1"/>
          </p:cNvSpPr>
          <p:nvPr/>
        </p:nvSpPr>
        <p:spPr bwMode="auto">
          <a:xfrm>
            <a:off x="395288" y="3586163"/>
            <a:ext cx="26228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g. [Pt(NH</a:t>
            </a:r>
            <a:r>
              <a:rPr lang="en-US" altLang="zh-CN" sz="2800" baseline="-25000">
                <a:solidFill>
                  <a:srgbClr val="FFFFFF"/>
                </a:solidFill>
              </a:rPr>
              <a:t>3</a:t>
            </a:r>
            <a:r>
              <a:rPr lang="en-US" altLang="zh-CN" sz="2800">
                <a:solidFill>
                  <a:srgbClr val="FFFFFF"/>
                </a:solidFill>
              </a:rPr>
              <a:t>)</a:t>
            </a:r>
            <a:r>
              <a:rPr lang="en-US" altLang="zh-CN" sz="2800" baseline="-25000">
                <a:solidFill>
                  <a:srgbClr val="FFFFFF"/>
                </a:solidFill>
              </a:rPr>
              <a:t>6</a:t>
            </a:r>
            <a:r>
              <a:rPr lang="en-US" altLang="zh-CN" sz="2800">
                <a:solidFill>
                  <a:srgbClr val="FFFFFF"/>
                </a:solidFill>
              </a:rPr>
              <a:t>]Cl</a:t>
            </a:r>
            <a:r>
              <a:rPr lang="en-US" altLang="zh-CN" sz="2800" baseline="-25000">
                <a:solidFill>
                  <a:srgbClr val="FFFFFF"/>
                </a:solidFill>
              </a:rPr>
              <a:t>4</a:t>
            </a:r>
            <a:endParaRPr lang="zh-CN" altLang="en-US" sz="2800" baseline="-25000">
              <a:solidFill>
                <a:srgbClr val="FFFFFF"/>
              </a:solidFill>
            </a:endParaRPr>
          </a:p>
        </p:txBody>
      </p:sp>
      <p:sp>
        <p:nvSpPr>
          <p:cNvPr id="371727" name="Rectangle 15"/>
          <p:cNvSpPr>
            <a:spLocks noChangeArrowheads="1"/>
          </p:cNvSpPr>
          <p:nvPr/>
        </p:nvSpPr>
        <p:spPr bwMode="auto">
          <a:xfrm>
            <a:off x="363539" y="4126707"/>
            <a:ext cx="26436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800">
                <a:solidFill>
                  <a:srgbClr val="FFFFFF"/>
                </a:solidFill>
              </a:rPr>
              <a:t>h. [Pt(NH</a:t>
            </a:r>
            <a:r>
              <a:rPr lang="en-US" altLang="zh-CN" sz="2800" baseline="-25000">
                <a:solidFill>
                  <a:srgbClr val="FFFFFF"/>
                </a:solidFill>
              </a:rPr>
              <a:t>3</a:t>
            </a:r>
            <a:r>
              <a:rPr lang="en-US" altLang="zh-CN" sz="2800">
                <a:solidFill>
                  <a:srgbClr val="FFFFFF"/>
                </a:solidFill>
              </a:rPr>
              <a:t>)</a:t>
            </a:r>
            <a:r>
              <a:rPr lang="en-US" altLang="zh-CN" sz="2800" baseline="-25000">
                <a:solidFill>
                  <a:srgbClr val="FFFFFF"/>
                </a:solidFill>
              </a:rPr>
              <a:t>2</a:t>
            </a:r>
            <a:r>
              <a:rPr lang="en-US" altLang="zh-CN" sz="2800">
                <a:solidFill>
                  <a:srgbClr val="FFFFFF"/>
                </a:solidFill>
              </a:rPr>
              <a:t>Cl</a:t>
            </a:r>
            <a:r>
              <a:rPr lang="en-US" altLang="zh-CN" sz="2800" baseline="-25000">
                <a:solidFill>
                  <a:srgbClr val="FFFFFF"/>
                </a:solidFill>
              </a:rPr>
              <a:t>2</a:t>
            </a:r>
            <a:r>
              <a:rPr lang="en-US" altLang="zh-CN" sz="2800">
                <a:solidFill>
                  <a:srgbClr val="FFFFFF"/>
                </a:solidFill>
              </a:rPr>
              <a:t>]</a:t>
            </a:r>
            <a:endParaRPr lang="zh-CN" altLang="en-US" sz="2800">
              <a:solidFill>
                <a:srgbClr val="FFFFFF"/>
              </a:solidFill>
            </a:endParaRPr>
          </a:p>
        </p:txBody>
      </p:sp>
      <p:sp>
        <p:nvSpPr>
          <p:cNvPr id="371728" name="Rectangle 16"/>
          <p:cNvSpPr>
            <a:spLocks noChangeArrowheads="1"/>
          </p:cNvSpPr>
          <p:nvPr/>
        </p:nvSpPr>
        <p:spPr bwMode="auto">
          <a:xfrm>
            <a:off x="395288" y="4516041"/>
            <a:ext cx="366158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en-US" altLang="zh-CN" sz="2800">
                <a:solidFill>
                  <a:srgbClr val="FFFFFF"/>
                </a:solidFill>
              </a:rPr>
              <a:t>i. Na[Cr(NCS)</a:t>
            </a:r>
            <a:r>
              <a:rPr lang="en-US" altLang="zh-CN" sz="2800" baseline="-25000">
                <a:solidFill>
                  <a:srgbClr val="FFFFFF"/>
                </a:solidFill>
              </a:rPr>
              <a:t>4</a:t>
            </a:r>
            <a:r>
              <a:rPr lang="en-US" altLang="zh-CN" sz="2800">
                <a:solidFill>
                  <a:srgbClr val="FFFFFF"/>
                </a:solidFill>
              </a:rPr>
              <a:t>(NH</a:t>
            </a:r>
            <a:r>
              <a:rPr lang="en-US" altLang="zh-CN" sz="2800" baseline="-25000">
                <a:solidFill>
                  <a:srgbClr val="FFFFFF"/>
                </a:solidFill>
              </a:rPr>
              <a:t>3</a:t>
            </a:r>
            <a:r>
              <a:rPr lang="en-US" altLang="zh-CN" sz="2800">
                <a:solidFill>
                  <a:srgbClr val="FFFFFF"/>
                </a:solidFill>
              </a:rPr>
              <a:t>)</a:t>
            </a:r>
            <a:r>
              <a:rPr lang="en-US" altLang="zh-CN" sz="2800" baseline="-25000">
                <a:solidFill>
                  <a:srgbClr val="FFFFFF"/>
                </a:solidFill>
              </a:rPr>
              <a:t>2</a:t>
            </a:r>
            <a:r>
              <a:rPr lang="en-US" altLang="zh-CN" sz="2800">
                <a:solidFill>
                  <a:srgbClr val="FFFFFF"/>
                </a:solidFill>
              </a:rPr>
              <a:t>]</a:t>
            </a:r>
          </a:p>
        </p:txBody>
      </p:sp>
      <p:sp>
        <p:nvSpPr>
          <p:cNvPr id="371729" name="Rectangle 17"/>
          <p:cNvSpPr>
            <a:spLocks noChangeArrowheads="1"/>
          </p:cNvSpPr>
          <p:nvPr/>
        </p:nvSpPr>
        <p:spPr bwMode="auto">
          <a:xfrm>
            <a:off x="4902201" y="627459"/>
            <a:ext cx="2728632"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s-ES_tradnl" sz="2800" dirty="0">
                <a:solidFill>
                  <a:srgbClr val="FFFFFF"/>
                </a:solidFill>
              </a:rPr>
              <a:t>氯化二氨合银</a:t>
            </a:r>
            <a:r>
              <a:rPr lang="es-ES_tradnl" altLang="zh-CN" sz="2800" dirty="0">
                <a:solidFill>
                  <a:srgbClr val="FFFFFF"/>
                </a:solidFill>
              </a:rPr>
              <a:t>(I)</a:t>
            </a:r>
            <a:endParaRPr lang="zh-CN" altLang="en-US" sz="2800" dirty="0">
              <a:solidFill>
                <a:srgbClr val="FFFFFF"/>
              </a:solidFill>
            </a:endParaRPr>
          </a:p>
        </p:txBody>
      </p:sp>
      <p:sp>
        <p:nvSpPr>
          <p:cNvPr id="371730" name="Rectangle 18"/>
          <p:cNvSpPr>
            <a:spLocks noChangeArrowheads="1"/>
          </p:cNvSpPr>
          <p:nvPr/>
        </p:nvSpPr>
        <p:spPr bwMode="auto">
          <a:xfrm>
            <a:off x="4835529" y="1059657"/>
            <a:ext cx="2868093"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s-ES_tradnl" sz="2800" dirty="0">
                <a:solidFill>
                  <a:srgbClr val="FFFFFF"/>
                </a:solidFill>
              </a:rPr>
              <a:t>硫酸四氮合铜</a:t>
            </a:r>
            <a:r>
              <a:rPr lang="en-US" altLang="zh-CN" sz="2800" dirty="0">
                <a:solidFill>
                  <a:srgbClr val="FFFFFF"/>
                </a:solidFill>
              </a:rPr>
              <a:t>(II)</a:t>
            </a:r>
            <a:endParaRPr lang="zh-CN" altLang="en-US" sz="2800" dirty="0">
              <a:solidFill>
                <a:srgbClr val="FFFFFF"/>
              </a:solidFill>
            </a:endParaRPr>
          </a:p>
        </p:txBody>
      </p:sp>
      <p:sp>
        <p:nvSpPr>
          <p:cNvPr id="371731" name="Rectangle 19"/>
          <p:cNvSpPr>
            <a:spLocks noChangeArrowheads="1"/>
          </p:cNvSpPr>
          <p:nvPr/>
        </p:nvSpPr>
        <p:spPr bwMode="auto">
          <a:xfrm>
            <a:off x="4891093" y="1600200"/>
            <a:ext cx="29883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s-ES_tradnl" sz="2800" dirty="0">
                <a:solidFill>
                  <a:srgbClr val="FFFFFF"/>
                </a:solidFill>
              </a:rPr>
              <a:t>三氯</a:t>
            </a:r>
            <a:r>
              <a:rPr lang="en-US" altLang="zh-CN" sz="2800" dirty="0">
                <a:solidFill>
                  <a:srgbClr val="FFFFFF"/>
                </a:solidFill>
              </a:rPr>
              <a:t>·</a:t>
            </a:r>
            <a:r>
              <a:rPr lang="zh-CN" altLang="es-ES_tradnl" sz="2800" dirty="0">
                <a:solidFill>
                  <a:srgbClr val="FFFFFF"/>
                </a:solidFill>
              </a:rPr>
              <a:t>氨合铂</a:t>
            </a:r>
            <a:r>
              <a:rPr lang="en-US" altLang="zh-CN" sz="2800" dirty="0">
                <a:solidFill>
                  <a:srgbClr val="FFFFFF"/>
                </a:solidFill>
              </a:rPr>
              <a:t>(II)</a:t>
            </a:r>
            <a:r>
              <a:rPr lang="zh-CN" altLang="en-US" sz="2800" dirty="0">
                <a:solidFill>
                  <a:srgbClr val="FFFFFF"/>
                </a:solidFill>
              </a:rPr>
              <a:t>酸</a:t>
            </a:r>
          </a:p>
        </p:txBody>
      </p:sp>
      <p:sp>
        <p:nvSpPr>
          <p:cNvPr id="371732" name="Rectangle 20"/>
          <p:cNvSpPr>
            <a:spLocks noChangeArrowheads="1"/>
          </p:cNvSpPr>
          <p:nvPr/>
        </p:nvSpPr>
        <p:spPr bwMode="auto">
          <a:xfrm>
            <a:off x="4284663" y="2139554"/>
            <a:ext cx="47307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800" dirty="0">
                <a:solidFill>
                  <a:srgbClr val="FFFFFF"/>
                </a:solidFill>
              </a:rPr>
              <a:t>四氯</a:t>
            </a:r>
            <a:r>
              <a:rPr lang="en-US" altLang="zh-CN" sz="2800" dirty="0">
                <a:solidFill>
                  <a:srgbClr val="FFFFFF"/>
                </a:solidFill>
              </a:rPr>
              <a:t>· </a:t>
            </a:r>
            <a:r>
              <a:rPr lang="zh-CN" altLang="en-US" sz="2800" dirty="0">
                <a:solidFill>
                  <a:srgbClr val="FFFFFF"/>
                </a:solidFill>
              </a:rPr>
              <a:t>一氨</a:t>
            </a:r>
            <a:r>
              <a:rPr lang="en-US" altLang="zh-CN" sz="2800" dirty="0">
                <a:solidFill>
                  <a:srgbClr val="FFFFFF"/>
                </a:solidFill>
              </a:rPr>
              <a:t>· </a:t>
            </a:r>
            <a:r>
              <a:rPr lang="zh-CN" altLang="en-US" sz="2800" dirty="0">
                <a:solidFill>
                  <a:srgbClr val="FFFFFF"/>
                </a:solidFill>
              </a:rPr>
              <a:t>一水合钴</a:t>
            </a:r>
            <a:r>
              <a:rPr lang="en-US" altLang="zh-CN" sz="2800" dirty="0">
                <a:solidFill>
                  <a:srgbClr val="FFFFFF"/>
                </a:solidFill>
              </a:rPr>
              <a:t>(II)</a:t>
            </a:r>
            <a:r>
              <a:rPr lang="zh-CN" altLang="en-US" sz="2800" dirty="0">
                <a:solidFill>
                  <a:srgbClr val="FFFFFF"/>
                </a:solidFill>
              </a:rPr>
              <a:t>酸钾</a:t>
            </a:r>
          </a:p>
        </p:txBody>
      </p:sp>
      <p:sp>
        <p:nvSpPr>
          <p:cNvPr id="371733" name="Rectangle 21"/>
          <p:cNvSpPr>
            <a:spLocks noChangeArrowheads="1"/>
          </p:cNvSpPr>
          <p:nvPr/>
        </p:nvSpPr>
        <p:spPr bwMode="auto">
          <a:xfrm>
            <a:off x="4672014" y="2625329"/>
            <a:ext cx="41905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s-ES_tradnl" sz="2800" dirty="0">
                <a:solidFill>
                  <a:srgbClr val="FFFFFF"/>
                </a:solidFill>
              </a:rPr>
              <a:t>一氨基</a:t>
            </a:r>
            <a:r>
              <a:rPr lang="en-US" altLang="zh-CN" sz="2800" dirty="0">
                <a:solidFill>
                  <a:srgbClr val="FFFFFF"/>
                </a:solidFill>
              </a:rPr>
              <a:t>·</a:t>
            </a:r>
            <a:r>
              <a:rPr lang="zh-CN" altLang="es-ES_tradnl" sz="2800" dirty="0">
                <a:solidFill>
                  <a:srgbClr val="FFFFFF"/>
                </a:solidFill>
              </a:rPr>
              <a:t>硝基</a:t>
            </a:r>
            <a:r>
              <a:rPr lang="en-US" altLang="zh-CN" sz="2800" dirty="0">
                <a:solidFill>
                  <a:srgbClr val="FFFFFF"/>
                </a:solidFill>
              </a:rPr>
              <a:t>·</a:t>
            </a:r>
            <a:r>
              <a:rPr lang="zh-CN" altLang="en-US" sz="2800" dirty="0">
                <a:solidFill>
                  <a:srgbClr val="FFFFFF"/>
                </a:solidFill>
              </a:rPr>
              <a:t>四</a:t>
            </a:r>
            <a:r>
              <a:rPr lang="zh-CN" altLang="es-ES_tradnl" sz="2800" dirty="0">
                <a:solidFill>
                  <a:srgbClr val="FFFFFF"/>
                </a:solidFill>
              </a:rPr>
              <a:t>氨合铂</a:t>
            </a:r>
            <a:r>
              <a:rPr lang="en-US" altLang="zh-CN" sz="2800" dirty="0">
                <a:solidFill>
                  <a:srgbClr val="FFFFFF"/>
                </a:solidFill>
              </a:rPr>
              <a:t>(II)</a:t>
            </a:r>
            <a:endParaRPr lang="zh-CN" altLang="en-US" sz="2800" dirty="0">
              <a:solidFill>
                <a:srgbClr val="FFFFFF"/>
              </a:solidFill>
            </a:endParaRPr>
          </a:p>
        </p:txBody>
      </p:sp>
      <p:sp>
        <p:nvSpPr>
          <p:cNvPr id="371734" name="Rectangle 22"/>
          <p:cNvSpPr>
            <a:spLocks noChangeArrowheads="1"/>
          </p:cNvSpPr>
          <p:nvPr/>
        </p:nvSpPr>
        <p:spPr bwMode="auto">
          <a:xfrm>
            <a:off x="5072063" y="3057526"/>
            <a:ext cx="2627642"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s-ES_tradnl" sz="2800" dirty="0">
                <a:solidFill>
                  <a:srgbClr val="FFFFFF"/>
                </a:solidFill>
              </a:rPr>
              <a:t>六氟合硅</a:t>
            </a:r>
            <a:r>
              <a:rPr lang="en-US" altLang="zh-CN" sz="2800" dirty="0">
                <a:solidFill>
                  <a:srgbClr val="FFFFFF"/>
                </a:solidFill>
              </a:rPr>
              <a:t>(IV)</a:t>
            </a:r>
            <a:r>
              <a:rPr lang="zh-CN" altLang="en-US" sz="2800" dirty="0">
                <a:solidFill>
                  <a:srgbClr val="FFFFFF"/>
                </a:solidFill>
              </a:rPr>
              <a:t>酸</a:t>
            </a:r>
          </a:p>
        </p:txBody>
      </p:sp>
      <p:sp>
        <p:nvSpPr>
          <p:cNvPr id="371735" name="Rectangle 23"/>
          <p:cNvSpPr>
            <a:spLocks noChangeArrowheads="1"/>
          </p:cNvSpPr>
          <p:nvPr/>
        </p:nvSpPr>
        <p:spPr bwMode="auto">
          <a:xfrm>
            <a:off x="4794251" y="3651648"/>
            <a:ext cx="33489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800" dirty="0">
                <a:solidFill>
                  <a:srgbClr val="FFFFFF"/>
                </a:solidFill>
              </a:rPr>
              <a:t>四氯化六氨合铂</a:t>
            </a:r>
            <a:r>
              <a:rPr lang="en-US" altLang="zh-CN" sz="2800" dirty="0">
                <a:solidFill>
                  <a:srgbClr val="FFFFFF"/>
                </a:solidFill>
              </a:rPr>
              <a:t>(IV)</a:t>
            </a:r>
            <a:endParaRPr lang="zh-CN" altLang="en-US" sz="2800" dirty="0">
              <a:solidFill>
                <a:srgbClr val="FFFFFF"/>
              </a:solidFill>
            </a:endParaRPr>
          </a:p>
        </p:txBody>
      </p:sp>
      <p:sp>
        <p:nvSpPr>
          <p:cNvPr id="371736" name="Rectangle 24"/>
          <p:cNvSpPr>
            <a:spLocks noChangeArrowheads="1"/>
          </p:cNvSpPr>
          <p:nvPr/>
        </p:nvSpPr>
        <p:spPr bwMode="auto">
          <a:xfrm>
            <a:off x="4819655" y="4083844"/>
            <a:ext cx="2988319"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lnSpc>
                <a:spcPct val="130000"/>
              </a:lnSpc>
              <a:spcBef>
                <a:spcPct val="0"/>
              </a:spcBef>
              <a:buFontTx/>
              <a:buNone/>
            </a:pPr>
            <a:r>
              <a:rPr lang="zh-CN" altLang="en-US" sz="2800" dirty="0">
                <a:solidFill>
                  <a:srgbClr val="FFFFFF"/>
                </a:solidFill>
              </a:rPr>
              <a:t>二氯</a:t>
            </a:r>
            <a:r>
              <a:rPr lang="en-US" altLang="zh-CN" sz="2800" dirty="0">
                <a:solidFill>
                  <a:srgbClr val="FFFFFF"/>
                </a:solidFill>
              </a:rPr>
              <a:t>·</a:t>
            </a:r>
            <a:r>
              <a:rPr lang="zh-CN" altLang="en-US" sz="2800" dirty="0">
                <a:solidFill>
                  <a:srgbClr val="FFFFFF"/>
                </a:solidFill>
              </a:rPr>
              <a:t>二氨合铂</a:t>
            </a:r>
            <a:r>
              <a:rPr lang="en-US" altLang="zh-CN" sz="2800" dirty="0">
                <a:solidFill>
                  <a:srgbClr val="FFFFFF"/>
                </a:solidFill>
              </a:rPr>
              <a:t>(II)</a:t>
            </a:r>
            <a:endParaRPr lang="zh-CN" altLang="en-US" sz="2800" dirty="0">
              <a:solidFill>
                <a:srgbClr val="FFFFFF"/>
              </a:solidFill>
            </a:endParaRPr>
          </a:p>
        </p:txBody>
      </p:sp>
      <p:sp>
        <p:nvSpPr>
          <p:cNvPr id="371737" name="Rectangle 25"/>
          <p:cNvSpPr>
            <a:spLocks noChangeArrowheads="1"/>
          </p:cNvSpPr>
          <p:nvPr/>
        </p:nvSpPr>
        <p:spPr bwMode="auto">
          <a:xfrm>
            <a:off x="3916368" y="4624388"/>
            <a:ext cx="52918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800" dirty="0">
                <a:solidFill>
                  <a:srgbClr val="FFFFFF"/>
                </a:solidFill>
              </a:rPr>
              <a:t>四异硫氰酸根</a:t>
            </a:r>
            <a:r>
              <a:rPr lang="en-US" altLang="zh-CN" sz="2800" dirty="0">
                <a:solidFill>
                  <a:srgbClr val="FFFFFF"/>
                </a:solidFill>
              </a:rPr>
              <a:t>·</a:t>
            </a:r>
            <a:r>
              <a:rPr lang="zh-CN" altLang="en-US" sz="2800" dirty="0">
                <a:solidFill>
                  <a:srgbClr val="FFFFFF"/>
                </a:solidFill>
              </a:rPr>
              <a:t>二氨合铬</a:t>
            </a:r>
            <a:r>
              <a:rPr lang="en-US" altLang="zh-CN" sz="2800" dirty="0">
                <a:solidFill>
                  <a:srgbClr val="FFFFFF"/>
                </a:solidFill>
              </a:rPr>
              <a:t>(III)</a:t>
            </a:r>
            <a:r>
              <a:rPr lang="zh-CN" altLang="en-US" sz="2800" dirty="0">
                <a:solidFill>
                  <a:srgbClr val="FFFFFF"/>
                </a:solidFill>
              </a:rPr>
              <a:t>酸钠</a:t>
            </a:r>
          </a:p>
        </p:txBody>
      </p:sp>
      <p:sp>
        <p:nvSpPr>
          <p:cNvPr id="371738" name="Rectangle 26"/>
          <p:cNvSpPr>
            <a:spLocks noChangeArrowheads="1"/>
          </p:cNvSpPr>
          <p:nvPr/>
        </p:nvSpPr>
        <p:spPr bwMode="auto">
          <a:xfrm>
            <a:off x="2339976" y="195263"/>
            <a:ext cx="4152099" cy="5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ea typeface="宋体" pitchFamily="2" charset="-122"/>
              </a:defRPr>
            </a:lvl1pPr>
            <a:lvl2pPr marL="742950" indent="-285750" eaLnBrk="0" hangingPunct="0">
              <a:spcBef>
                <a:spcPct val="20000"/>
              </a:spcBef>
              <a:buChar char="–"/>
              <a:defRPr sz="2800">
                <a:solidFill>
                  <a:schemeClr val="tx1"/>
                </a:solidFill>
                <a:latin typeface="Times New Roman" pitchFamily="18" charset="0"/>
                <a:ea typeface="宋体" pitchFamily="2" charset="-122"/>
              </a:defRPr>
            </a:lvl2pPr>
            <a:lvl3pPr marL="1143000" indent="-228600" eaLnBrk="0" hangingPunct="0">
              <a:spcBef>
                <a:spcPct val="20000"/>
              </a:spcBef>
              <a:buChar char="•"/>
              <a:defRPr sz="2400">
                <a:solidFill>
                  <a:schemeClr val="tx1"/>
                </a:solidFill>
                <a:latin typeface="Times New Roman" pitchFamily="18" charset="0"/>
                <a:ea typeface="宋体" pitchFamily="2" charset="-122"/>
              </a:defRPr>
            </a:lvl3pPr>
            <a:lvl4pPr marL="1600200" indent="-228600" eaLnBrk="0" hangingPunct="0">
              <a:spcBef>
                <a:spcPct val="20000"/>
              </a:spcBef>
              <a:buChar char="–"/>
              <a:defRPr sz="2000">
                <a:solidFill>
                  <a:schemeClr val="tx1"/>
                </a:solidFill>
                <a:latin typeface="Times New Roman" pitchFamily="18" charset="0"/>
                <a:ea typeface="宋体" pitchFamily="2" charset="-122"/>
              </a:defRPr>
            </a:lvl4pPr>
            <a:lvl5pPr marL="2057400" indent="-228600" eaLnBrk="0" hangingPunct="0">
              <a:spcBef>
                <a:spcPct val="20000"/>
              </a:spcBef>
              <a:buChar char="»"/>
              <a:defRPr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itchFamily="18" charset="0"/>
                <a:ea typeface="宋体" pitchFamily="2" charset="-122"/>
              </a:defRPr>
            </a:lvl9pPr>
          </a:lstStyle>
          <a:p>
            <a:pPr>
              <a:lnSpc>
                <a:spcPct val="130000"/>
              </a:lnSpc>
              <a:spcBef>
                <a:spcPct val="0"/>
              </a:spcBef>
              <a:buFontTx/>
              <a:buNone/>
            </a:pPr>
            <a:r>
              <a:rPr lang="zh-CN" altLang="en-US" sz="2800" dirty="0">
                <a:solidFill>
                  <a:srgbClr val="FFFFFF"/>
                </a:solidFill>
              </a:rPr>
              <a:t>写出下列配合物的化学式</a:t>
            </a:r>
          </a:p>
        </p:txBody>
      </p:sp>
    </p:spTree>
    <p:extLst>
      <p:ext uri="{BB962C8B-B14F-4D97-AF65-F5344CB8AC3E}">
        <p14:creationId xmlns:p14="http://schemas.microsoft.com/office/powerpoint/2010/main" val="3928939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1716"/>
                                        </p:tgtEl>
                                        <p:attrNameLst>
                                          <p:attrName>style.visibility</p:attrName>
                                        </p:attrNameLst>
                                      </p:cBhvr>
                                      <p:to>
                                        <p:strVal val="visible"/>
                                      </p:to>
                                    </p:set>
                                    <p:anim calcmode="lin" valueType="num">
                                      <p:cBhvr additive="base">
                                        <p:cTn id="7" dur="500" fill="hold"/>
                                        <p:tgtEl>
                                          <p:spTgt spid="371716"/>
                                        </p:tgtEl>
                                        <p:attrNameLst>
                                          <p:attrName>ppt_x</p:attrName>
                                        </p:attrNameLst>
                                      </p:cBhvr>
                                      <p:tavLst>
                                        <p:tav tm="0">
                                          <p:val>
                                            <p:strVal val="#ppt_x"/>
                                          </p:val>
                                        </p:tav>
                                        <p:tav tm="100000">
                                          <p:val>
                                            <p:strVal val="#ppt_x"/>
                                          </p:val>
                                        </p:tav>
                                      </p:tavLst>
                                    </p:anim>
                                    <p:anim calcmode="lin" valueType="num">
                                      <p:cBhvr additive="base">
                                        <p:cTn id="8" dur="500" fill="hold"/>
                                        <p:tgtEl>
                                          <p:spTgt spid="3717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1738"/>
                                        </p:tgtEl>
                                        <p:attrNameLst>
                                          <p:attrName>style.visibility</p:attrName>
                                        </p:attrNameLst>
                                      </p:cBhvr>
                                      <p:to>
                                        <p:strVal val="visible"/>
                                      </p:to>
                                    </p:set>
                                    <p:anim calcmode="lin" valueType="num">
                                      <p:cBhvr additive="base">
                                        <p:cTn id="13" dur="500" fill="hold"/>
                                        <p:tgtEl>
                                          <p:spTgt spid="371738"/>
                                        </p:tgtEl>
                                        <p:attrNameLst>
                                          <p:attrName>ppt_x</p:attrName>
                                        </p:attrNameLst>
                                      </p:cBhvr>
                                      <p:tavLst>
                                        <p:tav tm="0">
                                          <p:val>
                                            <p:strVal val="1+#ppt_w/2"/>
                                          </p:val>
                                        </p:tav>
                                        <p:tav tm="100000">
                                          <p:val>
                                            <p:strVal val="#ppt_x"/>
                                          </p:val>
                                        </p:tav>
                                      </p:tavLst>
                                    </p:anim>
                                    <p:anim calcmode="lin" valueType="num">
                                      <p:cBhvr additive="base">
                                        <p:cTn id="14" dur="500" fill="hold"/>
                                        <p:tgtEl>
                                          <p:spTgt spid="37173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71729"/>
                                        </p:tgtEl>
                                        <p:attrNameLst>
                                          <p:attrName>style.visibility</p:attrName>
                                        </p:attrNameLst>
                                      </p:cBhvr>
                                      <p:to>
                                        <p:strVal val="visible"/>
                                      </p:to>
                                    </p:set>
                                    <p:animEffect transition="in" filter="blinds(horizontal)">
                                      <p:cBhvr>
                                        <p:cTn id="19" dur="500"/>
                                        <p:tgtEl>
                                          <p:spTgt spid="371729"/>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71720"/>
                                        </p:tgtEl>
                                        <p:attrNameLst>
                                          <p:attrName>style.visibility</p:attrName>
                                        </p:attrNameLst>
                                      </p:cBhvr>
                                      <p:to>
                                        <p:strVal val="visible"/>
                                      </p:to>
                                    </p:set>
                                    <p:animEffect transition="in" filter="blinds(horizontal)">
                                      <p:cBhvr>
                                        <p:cTn id="24" dur="500"/>
                                        <p:tgtEl>
                                          <p:spTgt spid="37172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71730"/>
                                        </p:tgtEl>
                                        <p:attrNameLst>
                                          <p:attrName>style.visibility</p:attrName>
                                        </p:attrNameLst>
                                      </p:cBhvr>
                                      <p:to>
                                        <p:strVal val="visible"/>
                                      </p:to>
                                    </p:set>
                                    <p:animEffect transition="in" filter="blinds(horizontal)">
                                      <p:cBhvr>
                                        <p:cTn id="29" dur="500"/>
                                        <p:tgtEl>
                                          <p:spTgt spid="371730"/>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71721"/>
                                        </p:tgtEl>
                                        <p:attrNameLst>
                                          <p:attrName>style.visibility</p:attrName>
                                        </p:attrNameLst>
                                      </p:cBhvr>
                                      <p:to>
                                        <p:strVal val="visible"/>
                                      </p:to>
                                    </p:set>
                                    <p:animEffect transition="in" filter="blinds(horizontal)">
                                      <p:cBhvr>
                                        <p:cTn id="34" dur="500"/>
                                        <p:tgtEl>
                                          <p:spTgt spid="37172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71731"/>
                                        </p:tgtEl>
                                        <p:attrNameLst>
                                          <p:attrName>style.visibility</p:attrName>
                                        </p:attrNameLst>
                                      </p:cBhvr>
                                      <p:to>
                                        <p:strVal val="visible"/>
                                      </p:to>
                                    </p:set>
                                    <p:animEffect transition="in" filter="blinds(horizontal)">
                                      <p:cBhvr>
                                        <p:cTn id="39" dur="500"/>
                                        <p:tgtEl>
                                          <p:spTgt spid="371731"/>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71722"/>
                                        </p:tgtEl>
                                        <p:attrNameLst>
                                          <p:attrName>style.visibility</p:attrName>
                                        </p:attrNameLst>
                                      </p:cBhvr>
                                      <p:to>
                                        <p:strVal val="visible"/>
                                      </p:to>
                                    </p:set>
                                    <p:animEffect transition="in" filter="blinds(horizontal)">
                                      <p:cBhvr>
                                        <p:cTn id="44" dur="500"/>
                                        <p:tgtEl>
                                          <p:spTgt spid="37172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71732"/>
                                        </p:tgtEl>
                                        <p:attrNameLst>
                                          <p:attrName>style.visibility</p:attrName>
                                        </p:attrNameLst>
                                      </p:cBhvr>
                                      <p:to>
                                        <p:strVal val="visible"/>
                                      </p:to>
                                    </p:set>
                                    <p:animEffect transition="in" filter="blinds(horizontal)">
                                      <p:cBhvr>
                                        <p:cTn id="49" dur="500"/>
                                        <p:tgtEl>
                                          <p:spTgt spid="371732"/>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71723"/>
                                        </p:tgtEl>
                                        <p:attrNameLst>
                                          <p:attrName>style.visibility</p:attrName>
                                        </p:attrNameLst>
                                      </p:cBhvr>
                                      <p:to>
                                        <p:strVal val="visible"/>
                                      </p:to>
                                    </p:set>
                                    <p:animEffect transition="in" filter="blinds(horizontal)">
                                      <p:cBhvr>
                                        <p:cTn id="54" dur="500"/>
                                        <p:tgtEl>
                                          <p:spTgt spid="37172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71733"/>
                                        </p:tgtEl>
                                        <p:attrNameLst>
                                          <p:attrName>style.visibility</p:attrName>
                                        </p:attrNameLst>
                                      </p:cBhvr>
                                      <p:to>
                                        <p:strVal val="visible"/>
                                      </p:to>
                                    </p:set>
                                    <p:animEffect transition="in" filter="blinds(horizontal)">
                                      <p:cBhvr>
                                        <p:cTn id="59" dur="500"/>
                                        <p:tgtEl>
                                          <p:spTgt spid="371733"/>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71724"/>
                                        </p:tgtEl>
                                        <p:attrNameLst>
                                          <p:attrName>style.visibility</p:attrName>
                                        </p:attrNameLst>
                                      </p:cBhvr>
                                      <p:to>
                                        <p:strVal val="visible"/>
                                      </p:to>
                                    </p:set>
                                    <p:animEffect transition="in" filter="blinds(horizontal)">
                                      <p:cBhvr>
                                        <p:cTn id="64" dur="500"/>
                                        <p:tgtEl>
                                          <p:spTgt spid="37172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71734"/>
                                        </p:tgtEl>
                                        <p:attrNameLst>
                                          <p:attrName>style.visibility</p:attrName>
                                        </p:attrNameLst>
                                      </p:cBhvr>
                                      <p:to>
                                        <p:strVal val="visible"/>
                                      </p:to>
                                    </p:set>
                                    <p:animEffect transition="in" filter="blinds(horizontal)">
                                      <p:cBhvr>
                                        <p:cTn id="69" dur="500"/>
                                        <p:tgtEl>
                                          <p:spTgt spid="371734"/>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71725"/>
                                        </p:tgtEl>
                                        <p:attrNameLst>
                                          <p:attrName>style.visibility</p:attrName>
                                        </p:attrNameLst>
                                      </p:cBhvr>
                                      <p:to>
                                        <p:strVal val="visible"/>
                                      </p:to>
                                    </p:set>
                                    <p:animEffect transition="in" filter="blinds(horizontal)">
                                      <p:cBhvr>
                                        <p:cTn id="74" dur="500"/>
                                        <p:tgtEl>
                                          <p:spTgt spid="371725"/>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371735"/>
                                        </p:tgtEl>
                                        <p:attrNameLst>
                                          <p:attrName>style.visibility</p:attrName>
                                        </p:attrNameLst>
                                      </p:cBhvr>
                                      <p:to>
                                        <p:strVal val="visible"/>
                                      </p:to>
                                    </p:set>
                                    <p:animEffect transition="in" filter="blinds(horizontal)">
                                      <p:cBhvr>
                                        <p:cTn id="79" dur="500"/>
                                        <p:tgtEl>
                                          <p:spTgt spid="371735"/>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371726"/>
                                        </p:tgtEl>
                                        <p:attrNameLst>
                                          <p:attrName>style.visibility</p:attrName>
                                        </p:attrNameLst>
                                      </p:cBhvr>
                                      <p:to>
                                        <p:strVal val="visible"/>
                                      </p:to>
                                    </p:set>
                                    <p:animEffect transition="in" filter="blinds(horizontal)">
                                      <p:cBhvr>
                                        <p:cTn id="84" dur="500"/>
                                        <p:tgtEl>
                                          <p:spTgt spid="37172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71736"/>
                                        </p:tgtEl>
                                        <p:attrNameLst>
                                          <p:attrName>style.visibility</p:attrName>
                                        </p:attrNameLst>
                                      </p:cBhvr>
                                      <p:to>
                                        <p:strVal val="visible"/>
                                      </p:to>
                                    </p:set>
                                    <p:animEffect transition="in" filter="blinds(horizontal)">
                                      <p:cBhvr>
                                        <p:cTn id="89" dur="500"/>
                                        <p:tgtEl>
                                          <p:spTgt spid="371736"/>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371727"/>
                                        </p:tgtEl>
                                        <p:attrNameLst>
                                          <p:attrName>style.visibility</p:attrName>
                                        </p:attrNameLst>
                                      </p:cBhvr>
                                      <p:to>
                                        <p:strVal val="visible"/>
                                      </p:to>
                                    </p:set>
                                    <p:animEffect transition="in" filter="blinds(horizontal)">
                                      <p:cBhvr>
                                        <p:cTn id="94" dur="500"/>
                                        <p:tgtEl>
                                          <p:spTgt spid="371727"/>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371737"/>
                                        </p:tgtEl>
                                        <p:attrNameLst>
                                          <p:attrName>style.visibility</p:attrName>
                                        </p:attrNameLst>
                                      </p:cBhvr>
                                      <p:to>
                                        <p:strVal val="visible"/>
                                      </p:to>
                                    </p:set>
                                    <p:animEffect transition="in" filter="blinds(horizontal)">
                                      <p:cBhvr>
                                        <p:cTn id="99" dur="500"/>
                                        <p:tgtEl>
                                          <p:spTgt spid="371737"/>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371728"/>
                                        </p:tgtEl>
                                        <p:attrNameLst>
                                          <p:attrName>style.visibility</p:attrName>
                                        </p:attrNameLst>
                                      </p:cBhvr>
                                      <p:to>
                                        <p:strVal val="visible"/>
                                      </p:to>
                                    </p:set>
                                    <p:animEffect transition="in" filter="blinds(horizontal)">
                                      <p:cBhvr>
                                        <p:cTn id="104" dur="500"/>
                                        <p:tgtEl>
                                          <p:spTgt spid="371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6" grpId="0"/>
      <p:bldP spid="371720" grpId="0"/>
      <p:bldP spid="371721" grpId="0"/>
      <p:bldP spid="371722" grpId="0"/>
      <p:bldP spid="371723" grpId="0"/>
      <p:bldP spid="371724" grpId="0"/>
      <p:bldP spid="371725" grpId="0"/>
      <p:bldP spid="371726" grpId="0"/>
      <p:bldP spid="371727" grpId="0"/>
      <p:bldP spid="371728" grpId="0"/>
      <p:bldP spid="371729" grpId="0"/>
      <p:bldP spid="371730" grpId="0"/>
      <p:bldP spid="371731" grpId="0"/>
      <p:bldP spid="371732" grpId="0"/>
      <p:bldP spid="371733" grpId="0"/>
      <p:bldP spid="371734" grpId="0"/>
      <p:bldP spid="371735" grpId="0"/>
      <p:bldP spid="371736" grpId="0"/>
      <p:bldP spid="371737" grpId="0"/>
      <p:bldP spid="371738"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ext Box 49"/>
          <p:cNvSpPr txBox="1"/>
          <p:nvPr/>
        </p:nvSpPr>
        <p:spPr>
          <a:xfrm>
            <a:off x="1403350" y="2563813"/>
            <a:ext cx="1081088" cy="523220"/>
          </a:xfrm>
          <a:prstGeom prst="rect">
            <a:avLst/>
          </a:prstGeom>
          <a:noFill/>
          <a:ln w="9525">
            <a:noFill/>
          </a:ln>
        </p:spPr>
        <p:txBody>
          <a:bodyPr anchor="t" anchorCtr="0">
            <a:spAutoFit/>
          </a:bodyPr>
          <a:lstStyle/>
          <a:p>
            <a:pPr>
              <a:buClrTx/>
              <a:buFontTx/>
            </a:pPr>
            <a:endParaRPr lang="zh-CN" altLang="en-US" b="0" dirty="0">
              <a:latin typeface="Arial" panose="020B0604020202020204" pitchFamily="34" charset="0"/>
              <a:ea typeface="宋体" panose="02010600030101010101" pitchFamily="2" charset="-122"/>
            </a:endParaRPr>
          </a:p>
        </p:txBody>
      </p:sp>
      <p:graphicFrame>
        <p:nvGraphicFramePr>
          <p:cNvPr id="69682" name="Group 50"/>
          <p:cNvGraphicFramePr>
            <a:graphicFrameLocks noGrp="1"/>
          </p:cNvGraphicFramePr>
          <p:nvPr/>
        </p:nvGraphicFramePr>
        <p:xfrm>
          <a:off x="212725" y="376238"/>
          <a:ext cx="8713788" cy="4517235"/>
        </p:xfrm>
        <a:graphic>
          <a:graphicData uri="http://schemas.openxmlformats.org/drawingml/2006/table">
            <a:tbl>
              <a:tblPr/>
              <a:tblGrid>
                <a:gridCol w="930275">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4278313">
                  <a:extLst>
                    <a:ext uri="{9D8B030D-6E8A-4147-A177-3AD203B41FA5}">
                      <a16:colId xmlns:a16="http://schemas.microsoft.com/office/drawing/2014/main" val="20002"/>
                    </a:ext>
                  </a:extLst>
                </a:gridCol>
              </a:tblGrid>
              <a:tr h="427435">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类型</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化学式</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命名</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7435">
                <a:tc row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配位酸</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H[BF</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幼圆" pitchFamily="49" charset="-122"/>
                          <a:ea typeface="幼圆" pitchFamily="49" charset="-122"/>
                        </a:rPr>
                        <a:t>四氟合硼</a:t>
                      </a:r>
                      <a:r>
                        <a:rPr kumimoji="0" lang="en-US" altLang="zh-CN" sz="2100" b="1" i="0" u="none" strike="noStrike" cap="none" normalizeH="0" baseline="0">
                          <a:ln>
                            <a:noFill/>
                          </a:ln>
                          <a:solidFill>
                            <a:schemeClr val="tx1"/>
                          </a:solidFill>
                          <a:effectLst/>
                          <a:latin typeface="幼圆" pitchFamily="49" charset="-122"/>
                          <a:ea typeface="幼圆" pitchFamily="49" charset="-122"/>
                        </a:rPr>
                        <a:t>(Ⅲ)</a:t>
                      </a:r>
                      <a:r>
                        <a:rPr kumimoji="0" lang="zh-CN" altLang="en-US" sz="2100" b="1" i="0" u="none" strike="noStrike" cap="none" normalizeH="0" baseline="0">
                          <a:ln>
                            <a:noFill/>
                          </a:ln>
                          <a:solidFill>
                            <a:schemeClr val="tx1"/>
                          </a:solidFill>
                          <a:effectLst/>
                          <a:latin typeface="幼圆" pitchFamily="49" charset="-122"/>
                          <a:ea typeface="幼圆" pitchFamily="49" charset="-122"/>
                        </a:rPr>
                        <a:t>酸</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1963">
                <a:tc vMerge="1">
                  <a:txBody>
                    <a:bodyPr/>
                    <a:lstStyle/>
                    <a:p>
                      <a:endParaRPr lang="zh-CN"/>
                    </a:p>
                  </a:txBody>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H</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3</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[AlF</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6</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幼圆" pitchFamily="49" charset="-122"/>
                          <a:ea typeface="幼圆" pitchFamily="49" charset="-122"/>
                        </a:rPr>
                        <a:t>六氟合铝</a:t>
                      </a:r>
                      <a:r>
                        <a:rPr kumimoji="0" lang="en-US" altLang="zh-CN" sz="2100" b="1" i="0" u="none" strike="noStrike" cap="none" normalizeH="0" baseline="0">
                          <a:ln>
                            <a:noFill/>
                          </a:ln>
                          <a:solidFill>
                            <a:schemeClr val="tx1"/>
                          </a:solidFill>
                          <a:effectLst/>
                          <a:latin typeface="幼圆" pitchFamily="49" charset="-122"/>
                          <a:ea typeface="幼圆" pitchFamily="49" charset="-122"/>
                        </a:rPr>
                        <a:t>(Ⅲ)</a:t>
                      </a:r>
                      <a:r>
                        <a:rPr kumimoji="0" lang="zh-CN" altLang="en-US" sz="2100" b="1" i="0" u="none" strike="noStrike" cap="none" normalizeH="0" baseline="0">
                          <a:ln>
                            <a:noFill/>
                          </a:ln>
                          <a:solidFill>
                            <a:schemeClr val="tx1"/>
                          </a:solidFill>
                          <a:effectLst/>
                          <a:latin typeface="幼圆" pitchFamily="49" charset="-122"/>
                          <a:ea typeface="幼圆" pitchFamily="49" charset="-122"/>
                        </a:rPr>
                        <a:t>酸</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57200">
                <a:tc row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配位碱</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ˎ̥"/>
                        </a:rPr>
                        <a:t>[Zn(NH</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ˎ̥"/>
                        </a:rPr>
                        <a:t>3</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ˎ̥"/>
                        </a:rPr>
                        <a:t>)</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ˎ̥"/>
                        </a:rPr>
                        <a:t>4</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ˎ̥"/>
                        </a:rPr>
                        <a:t>](OH)</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ˎ̥"/>
                        </a:rPr>
                        <a:t>2</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氢氧化四氨合锌</a:t>
                      </a:r>
                      <a:r>
                        <a:rPr kumimoji="0" lang="en-US" altLang="zh-CN" sz="2100" b="1" i="0" u="none" strike="noStrike" cap="none" normalizeH="0" baseline="0">
                          <a:ln>
                            <a:noFill/>
                          </a:ln>
                          <a:solidFill>
                            <a:schemeClr val="tx1"/>
                          </a:solidFill>
                          <a:effectLst/>
                          <a:latin typeface="幼圆" pitchFamily="49" charset="-122"/>
                          <a:ea typeface="幼圆" pitchFamily="49" charset="-122"/>
                        </a:rPr>
                        <a:t>(</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II</a:t>
                      </a:r>
                      <a:r>
                        <a:rPr kumimoji="0" lang="en-US" altLang="zh-CN" sz="2100" b="1" i="0" u="none" strike="noStrike" cap="none" normalizeH="0" baseline="0">
                          <a:ln>
                            <a:noFill/>
                          </a:ln>
                          <a:solidFill>
                            <a:schemeClr val="tx1"/>
                          </a:solidFill>
                          <a:effectLst/>
                          <a:latin typeface="幼圆" pitchFamily="49" charset="-122"/>
                          <a:ea typeface="幼圆" pitchFamily="49" charset="-122"/>
                        </a:rPr>
                        <a:t>)</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57200">
                <a:tc vMerge="1">
                  <a:txBody>
                    <a:bodyPr/>
                    <a:lstStyle/>
                    <a:p>
                      <a:endParaRPr lang="zh-CN"/>
                    </a:p>
                  </a:txBody>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Arial Narrow" pitchFamily="34" charset="0"/>
                          <a:ea typeface="新宋体" panose="02010609030101010101" charset="-122"/>
                        </a:rPr>
                        <a:t>[Cr(OH)(H</a:t>
                      </a:r>
                      <a:r>
                        <a:rPr kumimoji="0" lang="en-US" altLang="zh-CN" sz="2100" b="1" i="0" u="none" strike="noStrike" cap="none" normalizeH="0" baseline="-30000">
                          <a:ln>
                            <a:noFill/>
                          </a:ln>
                          <a:solidFill>
                            <a:schemeClr val="tx1"/>
                          </a:solidFill>
                          <a:effectLst/>
                          <a:latin typeface="Arial Narrow" pitchFamily="34" charset="0"/>
                          <a:ea typeface="新宋体" panose="02010609030101010101" charset="-122"/>
                        </a:rPr>
                        <a:t>2</a:t>
                      </a:r>
                      <a:r>
                        <a:rPr kumimoji="0" lang="en-US" altLang="zh-CN" sz="2100" b="1" i="0" u="none" strike="noStrike" cap="none" normalizeH="0" baseline="0">
                          <a:ln>
                            <a:noFill/>
                          </a:ln>
                          <a:solidFill>
                            <a:schemeClr val="tx1"/>
                          </a:solidFill>
                          <a:effectLst/>
                          <a:latin typeface="Arial Narrow" pitchFamily="34" charset="0"/>
                          <a:ea typeface="新宋体" panose="02010609030101010101" charset="-122"/>
                        </a:rPr>
                        <a:t>O)</a:t>
                      </a:r>
                      <a:r>
                        <a:rPr kumimoji="0" lang="en-US" altLang="zh-CN" sz="2100" b="1" i="0" u="none" strike="noStrike" cap="none" normalizeH="0" baseline="-30000">
                          <a:ln>
                            <a:noFill/>
                          </a:ln>
                          <a:solidFill>
                            <a:schemeClr val="tx1"/>
                          </a:solidFill>
                          <a:effectLst/>
                          <a:latin typeface="Arial Narrow" pitchFamily="34" charset="0"/>
                          <a:ea typeface="新宋体" panose="02010609030101010101" charset="-122"/>
                        </a:rPr>
                        <a:t>5</a:t>
                      </a:r>
                      <a:r>
                        <a:rPr kumimoji="0" lang="en-US" altLang="zh-CN" sz="2100" b="1" i="0" u="none" strike="noStrike" cap="none" normalizeH="0" baseline="0">
                          <a:ln>
                            <a:noFill/>
                          </a:ln>
                          <a:solidFill>
                            <a:schemeClr val="tx1"/>
                          </a:solidFill>
                          <a:effectLst/>
                          <a:latin typeface="Arial Narrow" pitchFamily="34" charset="0"/>
                          <a:ea typeface="新宋体" panose="02010609030101010101" charset="-122"/>
                        </a:rPr>
                        <a:t>](OH)</a:t>
                      </a:r>
                      <a:r>
                        <a:rPr kumimoji="0" lang="en-US" altLang="zh-CN" sz="2100" b="1" i="0" u="none" strike="noStrike" cap="none" normalizeH="0" baseline="-30000">
                          <a:ln>
                            <a:noFill/>
                          </a:ln>
                          <a:solidFill>
                            <a:schemeClr val="tx1"/>
                          </a:solidFill>
                          <a:effectLst/>
                          <a:latin typeface="Arial Narrow" pitchFamily="34" charset="0"/>
                          <a:ea typeface="新宋体" panose="02010609030101010101" charset="-122"/>
                        </a:rPr>
                        <a:t>2</a:t>
                      </a:r>
                      <a:r>
                        <a:rPr kumimoji="0" lang="en-US" altLang="zh-CN" sz="2100" b="1" i="0" u="none" strike="noStrike" cap="none" normalizeH="0" baseline="0">
                          <a:ln>
                            <a:noFill/>
                          </a:ln>
                          <a:solidFill>
                            <a:schemeClr val="tx1"/>
                          </a:solidFill>
                          <a:effectLst/>
                          <a:latin typeface="幼圆" pitchFamily="49" charset="-122"/>
                          <a:ea typeface="幼圆" pitchFamily="49"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rgbClr val="000000"/>
                          </a:solidFill>
                          <a:effectLst/>
                          <a:latin typeface="幼圆" pitchFamily="49" charset="-122"/>
                          <a:ea typeface="幼圆" pitchFamily="49" charset="-122"/>
                        </a:rPr>
                        <a:t>氢氧化一羟基</a:t>
                      </a:r>
                      <a:r>
                        <a:rPr kumimoji="0" lang="zh-CN" altLang="en-US" sz="2100" b="1" i="0" u="none" strike="noStrike" cap="none" normalizeH="0" baseline="0">
                          <a:ln>
                            <a:noFill/>
                          </a:ln>
                          <a:solidFill>
                            <a:srgbClr val="000000"/>
                          </a:solidFill>
                          <a:effectLst/>
                          <a:latin typeface="幼圆" pitchFamily="49" charset="-122"/>
                          <a:ea typeface="幼圆" pitchFamily="49" charset="-122"/>
                          <a:sym typeface="Symbol" panose="05050102010706020507" pitchFamily="18" charset="2"/>
                        </a:rPr>
                        <a:t></a:t>
                      </a:r>
                      <a:r>
                        <a:rPr kumimoji="0" lang="zh-CN" altLang="en-US" sz="2100" b="1" i="0" u="none" strike="noStrike" cap="none" normalizeH="0" baseline="0">
                          <a:ln>
                            <a:noFill/>
                          </a:ln>
                          <a:solidFill>
                            <a:srgbClr val="000000"/>
                          </a:solidFill>
                          <a:effectLst/>
                          <a:latin typeface="幼圆" pitchFamily="49" charset="-122"/>
                          <a:ea typeface="幼圆" pitchFamily="49" charset="-122"/>
                        </a:rPr>
                        <a:t>五水合铬</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rPr>
                        <a:t>(</a:t>
                      </a:r>
                      <a:r>
                        <a:rPr kumimoji="0" lang="en-US" altLang="zh-CN" sz="2100" b="1" i="0" u="none" strike="noStrike" cap="none" normalizeH="0" baseline="0">
                          <a:ln>
                            <a:noFill/>
                          </a:ln>
                          <a:solidFill>
                            <a:schemeClr val="tx1"/>
                          </a:solidFill>
                          <a:effectLst/>
                          <a:latin typeface="幼圆" pitchFamily="49" charset="-122"/>
                          <a:ea typeface="幼圆" pitchFamily="49" charset="-122"/>
                        </a:rPr>
                        <a:t>Ⅲ</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rPr>
                        <a:t>)</a:t>
                      </a:r>
                      <a:endParaRPr kumimoji="0" lang="en-US" altLang="zh-CN" sz="2100" b="1" i="0" u="none" strike="noStrike" cap="none" normalizeH="0" baseline="0">
                        <a:ln>
                          <a:noFill/>
                        </a:ln>
                        <a:solidFill>
                          <a:srgbClr val="000000"/>
                        </a:solidFill>
                        <a:effectLst/>
                        <a:latin typeface="幼圆" pitchFamily="49" charset="-122"/>
                        <a:ea typeface="幼圆" pitchFamily="49" charset="-122"/>
                        <a:sym typeface="Symbol" panose="05050102010706020507" pitchFamily="18" charset="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27435">
                <a:tc rowSpan="3">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配 </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位 </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盐</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K[Al(OH)</a:t>
                      </a:r>
                      <a:r>
                        <a:rPr kumimoji="0" lang="en-US" altLang="zh-CN" sz="2100" b="1" i="0" u="none" strike="noStrike" cap="none" normalizeH="0" baseline="-25000">
                          <a:ln>
                            <a:noFill/>
                          </a:ln>
                          <a:solidFill>
                            <a:schemeClr val="tx1"/>
                          </a:solidFill>
                          <a:effectLst/>
                          <a:latin typeface="Times New Roman" panose="02020603050405020304" pitchFamily="18" charset="0"/>
                          <a:ea typeface="幼圆" pitchFamily="49" charset="-122"/>
                        </a:rPr>
                        <a:t>4</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rPr>
                        <a:t>]</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四羟基合铝 </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rPr>
                        <a:t>(</a:t>
                      </a:r>
                      <a:r>
                        <a:rPr kumimoji="0" lang="en-US" altLang="zh-CN" sz="2100" b="1" i="0" u="none" strike="noStrike" cap="none" normalizeH="0" baseline="0">
                          <a:ln>
                            <a:noFill/>
                          </a:ln>
                          <a:solidFill>
                            <a:schemeClr val="tx1"/>
                          </a:solidFill>
                          <a:effectLst/>
                          <a:latin typeface="幼圆" pitchFamily="49" charset="-122"/>
                          <a:ea typeface="幼圆" pitchFamily="49" charset="-122"/>
                        </a:rPr>
                        <a:t>Ⅲ</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rPr>
                        <a:t>)</a:t>
                      </a: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酸钾</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86966">
                <a:tc vMerge="1">
                  <a:txBody>
                    <a:bodyPr/>
                    <a:lstStyle/>
                    <a:p>
                      <a:endParaRPr lang="zh-CN"/>
                    </a:p>
                  </a:txBody>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a:t>
                      </a:r>
                      <a:r>
                        <a:rPr kumimoji="0" lang="en-US" altLang="zh-CN" sz="2100" b="1" i="0" u="none" strike="noStrike" cap="none" normalizeH="0" baseline="0">
                          <a:ln>
                            <a:noFill/>
                          </a:ln>
                          <a:solidFill>
                            <a:schemeClr val="tx1"/>
                          </a:solidFill>
                          <a:effectLst/>
                          <a:latin typeface="幼圆" pitchFamily="49" charset="-122"/>
                          <a:ea typeface="幼圆" pitchFamily="49" charset="-122"/>
                          <a:cs typeface="Times New Roman" panose="02020603050405020304" pitchFamily="18" charset="0"/>
                        </a:rPr>
                        <a:t>Co</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a:t>
                      </a:r>
                      <a:r>
                        <a:rPr kumimoji="0" lang="en-US" altLang="zh-CN" sz="2100" b="1" i="0" u="none" strike="noStrike" cap="none" normalizeH="0" baseline="0">
                          <a:ln>
                            <a:noFill/>
                          </a:ln>
                          <a:solidFill>
                            <a:schemeClr val="tx1"/>
                          </a:solidFill>
                          <a:effectLst/>
                          <a:latin typeface="幼圆" pitchFamily="49" charset="-122"/>
                          <a:ea typeface="幼圆" pitchFamily="49" charset="-122"/>
                          <a:cs typeface="Times New Roman" panose="02020603050405020304" pitchFamily="18" charset="0"/>
                        </a:rPr>
                        <a:t>NH</a:t>
                      </a:r>
                      <a:r>
                        <a:rPr kumimoji="0" lang="en-US" altLang="zh-CN" sz="2100" b="1" i="0" u="none" strike="noStrike" cap="none" normalizeH="0" baseline="-30000">
                          <a:ln>
                            <a:noFill/>
                          </a:ln>
                          <a:solidFill>
                            <a:schemeClr val="tx1"/>
                          </a:solidFill>
                          <a:effectLst/>
                          <a:latin typeface="幼圆" pitchFamily="49" charset="-122"/>
                          <a:ea typeface="幼圆" pitchFamily="49" charset="-122"/>
                          <a:cs typeface="Times New Roman" panose="02020603050405020304" pitchFamily="18" charset="0"/>
                        </a:rPr>
                        <a:t>3</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a:t>
                      </a:r>
                      <a:r>
                        <a:rPr kumimoji="0" lang="en-US" altLang="zh-CN" sz="2100" b="1" i="0" u="none" strike="noStrike" cap="none" normalizeH="0" baseline="-30000">
                          <a:ln>
                            <a:noFill/>
                          </a:ln>
                          <a:solidFill>
                            <a:schemeClr val="tx1"/>
                          </a:solidFill>
                          <a:effectLst/>
                          <a:latin typeface="幼圆" pitchFamily="49" charset="-122"/>
                          <a:ea typeface="幼圆" pitchFamily="49" charset="-122"/>
                          <a:cs typeface="Times New Roman" panose="02020603050405020304" pitchFamily="18" charset="0"/>
                        </a:rPr>
                        <a:t>5</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a:t>
                      </a:r>
                      <a:r>
                        <a:rPr kumimoji="0" lang="en-US" altLang="zh-CN" sz="2100" b="1" i="0" u="none" strike="noStrike" cap="none" normalizeH="0" baseline="0">
                          <a:ln>
                            <a:noFill/>
                          </a:ln>
                          <a:solidFill>
                            <a:schemeClr val="tx1"/>
                          </a:solidFill>
                          <a:effectLst/>
                          <a:latin typeface="幼圆" pitchFamily="49" charset="-122"/>
                          <a:ea typeface="幼圆" pitchFamily="49" charset="-122"/>
                          <a:cs typeface="Times New Roman" panose="02020603050405020304" pitchFamily="18" charset="0"/>
                        </a:rPr>
                        <a:t>H</a:t>
                      </a:r>
                      <a:r>
                        <a:rPr kumimoji="0" lang="en-US" altLang="zh-CN" sz="2100" b="1" i="0" u="none" strike="noStrike" cap="none" normalizeH="0" baseline="-30000">
                          <a:ln>
                            <a:noFill/>
                          </a:ln>
                          <a:solidFill>
                            <a:schemeClr val="tx1"/>
                          </a:solidFill>
                          <a:effectLst/>
                          <a:latin typeface="幼圆" pitchFamily="49" charset="-122"/>
                          <a:ea typeface="幼圆" pitchFamily="49" charset="-122"/>
                          <a:cs typeface="Times New Roman" panose="02020603050405020304" pitchFamily="18" charset="0"/>
                        </a:rPr>
                        <a:t>2</a:t>
                      </a:r>
                      <a:r>
                        <a:rPr kumimoji="0" lang="en-US" altLang="zh-CN" sz="2100" b="1" i="0" u="none" strike="noStrike" cap="none" normalizeH="0" baseline="0">
                          <a:ln>
                            <a:noFill/>
                          </a:ln>
                          <a:solidFill>
                            <a:schemeClr val="tx1"/>
                          </a:solidFill>
                          <a:effectLst/>
                          <a:latin typeface="幼圆" pitchFamily="49" charset="-122"/>
                          <a:ea typeface="幼圆" pitchFamily="49" charset="-122"/>
                          <a:cs typeface="Times New Roman" panose="02020603050405020304" pitchFamily="18" charset="0"/>
                        </a:rPr>
                        <a:t>O</a:t>
                      </a:r>
                      <a:r>
                        <a:rPr kumimoji="0" lang="en-US" altLang="zh-CN" sz="2100" b="1" i="0" u="none" strike="noStrike" cap="none" normalizeH="0" baseline="0">
                          <a:ln>
                            <a:noFill/>
                          </a:ln>
                          <a:solidFill>
                            <a:schemeClr val="tx1"/>
                          </a:solidFill>
                          <a:effectLst/>
                          <a:latin typeface="Times New Roman" panose="02020603050405020304" pitchFamily="18" charset="0"/>
                          <a:ea typeface="幼圆" pitchFamily="49" charset="-122"/>
                          <a:cs typeface="Times New Roman" panose="02020603050405020304" pitchFamily="18" charset="0"/>
                        </a:rPr>
                        <a:t>)]</a:t>
                      </a:r>
                      <a:r>
                        <a:rPr kumimoji="0" lang="en-US" altLang="zh-CN" sz="2100" b="1" i="0" u="none" strike="noStrike" cap="none" normalizeH="0" baseline="0">
                          <a:ln>
                            <a:noFill/>
                          </a:ln>
                          <a:solidFill>
                            <a:schemeClr val="tx1"/>
                          </a:solidFill>
                          <a:effectLst/>
                          <a:latin typeface="幼圆" pitchFamily="49" charset="-122"/>
                          <a:ea typeface="幼圆" pitchFamily="49" charset="-122"/>
                          <a:cs typeface="Times New Roman" panose="02020603050405020304" pitchFamily="18" charset="0"/>
                        </a:rPr>
                        <a:t>Cl</a:t>
                      </a:r>
                      <a:r>
                        <a:rPr kumimoji="0" lang="en-US" altLang="zh-CN" sz="2100" b="1" i="0" u="none" strike="noStrike" cap="none" normalizeH="0" baseline="-30000">
                          <a:ln>
                            <a:noFill/>
                          </a:ln>
                          <a:solidFill>
                            <a:schemeClr val="tx1"/>
                          </a:solidFill>
                          <a:effectLst/>
                          <a:latin typeface="幼圆" pitchFamily="49" charset="-122"/>
                          <a:ea typeface="幼圆" pitchFamily="49" charset="-122"/>
                          <a:cs typeface="Times New Roman" panose="02020603050405020304" pitchFamily="18" charset="0"/>
                        </a:rPr>
                        <a:t>3</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2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rgbClr val="000000"/>
                          </a:solidFill>
                          <a:effectLst/>
                          <a:latin typeface="幼圆" pitchFamily="49" charset="-122"/>
                          <a:ea typeface="幼圆" pitchFamily="49" charset="-122"/>
                        </a:rPr>
                        <a:t>三氯化五氨</a:t>
                      </a:r>
                      <a:r>
                        <a:rPr kumimoji="0" lang="zh-CN" altLang="en-US" sz="2100" b="1" i="0" u="none" strike="noStrike" cap="none" normalizeH="0" baseline="0">
                          <a:ln>
                            <a:noFill/>
                          </a:ln>
                          <a:solidFill>
                            <a:srgbClr val="000000"/>
                          </a:solidFill>
                          <a:effectLst/>
                          <a:latin typeface="幼圆" pitchFamily="49" charset="-122"/>
                          <a:ea typeface="幼圆" pitchFamily="49" charset="-122"/>
                          <a:sym typeface="Symbol" panose="05050102010706020507" pitchFamily="18" charset="2"/>
                        </a:rPr>
                        <a:t></a:t>
                      </a:r>
                      <a:r>
                        <a:rPr kumimoji="0" lang="zh-CN" altLang="en-US" sz="2100" b="1" i="0" u="none" strike="noStrike" cap="none" normalizeH="0" baseline="0">
                          <a:ln>
                            <a:noFill/>
                          </a:ln>
                          <a:solidFill>
                            <a:srgbClr val="000000"/>
                          </a:solidFill>
                          <a:effectLst/>
                          <a:latin typeface="幼圆" pitchFamily="49" charset="-122"/>
                          <a:ea typeface="幼圆" pitchFamily="49" charset="-122"/>
                        </a:rPr>
                        <a:t>一水合钴</a:t>
                      </a:r>
                      <a:r>
                        <a:rPr kumimoji="0" lang="en-US" altLang="zh-CN" sz="2100" b="1" i="0" u="none" strike="noStrike" cap="none" normalizeH="0" baseline="0">
                          <a:ln>
                            <a:noFill/>
                          </a:ln>
                          <a:solidFill>
                            <a:srgbClr val="000000"/>
                          </a:solidFill>
                          <a:effectLst/>
                          <a:latin typeface="Times New Roman" panose="02020603050405020304" pitchFamily="18" charset="0"/>
                          <a:ea typeface="ˎ̥"/>
                          <a:cs typeface="ˎ̥"/>
                        </a:rPr>
                        <a:t>(III)</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rPr>
                        <a:t> </a:t>
                      </a:r>
                      <a:endParaRPr kumimoji="0" lang="en-US" altLang="zh-CN" sz="2100" b="1" i="0" u="none" strike="noStrike" cap="none" normalizeH="0" baseline="0">
                        <a:ln>
                          <a:noFill/>
                        </a:ln>
                        <a:solidFill>
                          <a:srgbClr val="000000"/>
                        </a:solidFill>
                        <a:effectLst/>
                        <a:latin typeface="幼圆" pitchFamily="49" charset="-122"/>
                        <a:ea typeface="幼圆" pitchFamily="49" charset="-122"/>
                        <a:sym typeface="Symbol" panose="05050102010706020507" pitchFamily="18" charset="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63154">
                <a:tc vMerge="1">
                  <a:txBody>
                    <a:bodyPr/>
                    <a:lstStyle/>
                    <a:p>
                      <a:endParaRPr lang="zh-CN"/>
                    </a:p>
                  </a:txBody>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[Pt(NH</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Times New Roman" panose="02020603050405020304" pitchFamily="18" charset="0"/>
                        </a:rPr>
                        <a:t>3</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Times New Roman" panose="02020603050405020304" pitchFamily="18" charset="0"/>
                        </a:rPr>
                        <a:t>6</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][PtCl</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Times New Roman" panose="02020603050405020304" pitchFamily="18" charset="0"/>
                        </a:rPr>
                        <a:t>4</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a:t>
                      </a:r>
                      <a:r>
                        <a:rPr kumimoji="0" lang="en-US" altLang="zh-CN" sz="2100" b="1" i="0" u="none" strike="noStrike" cap="none" normalizeH="0" baseline="0">
                          <a:ln>
                            <a:noFill/>
                          </a:ln>
                          <a:solidFill>
                            <a:schemeClr val="tx1"/>
                          </a:solidFill>
                          <a:effectLst/>
                          <a:latin typeface="幼圆" pitchFamily="49" charset="-122"/>
                          <a:ea typeface="幼圆" pitchFamily="49" charset="-122"/>
                          <a:cs typeface="Times New Roman" panose="02020603050405020304" pitchFamily="18" charset="0"/>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rgbClr val="000000"/>
                          </a:solidFill>
                          <a:effectLst/>
                          <a:latin typeface="Times New Roman" panose="02020603050405020304" pitchFamily="18" charset="0"/>
                          <a:ea typeface="幼圆" pitchFamily="49" charset="-122"/>
                        </a:rPr>
                        <a:t>四氯合铂</a:t>
                      </a:r>
                      <a:r>
                        <a:rPr kumimoji="0" lang="en-US" altLang="zh-CN" sz="2100" b="1" i="0" u="none" strike="noStrike" cap="none" normalizeH="0" baseline="0">
                          <a:ln>
                            <a:noFill/>
                          </a:ln>
                          <a:solidFill>
                            <a:srgbClr val="000000"/>
                          </a:solidFill>
                          <a:effectLst/>
                          <a:latin typeface="Times New Roman" panose="02020603050405020304" pitchFamily="18" charset="0"/>
                          <a:ea typeface="ˎ̥"/>
                          <a:cs typeface="Times New Roman" panose="02020603050405020304" pitchFamily="18" charset="0"/>
                        </a:rPr>
                        <a:t>(II)</a:t>
                      </a:r>
                      <a:r>
                        <a:rPr kumimoji="0" lang="zh-CN" altLang="en-US" sz="2100" b="1" i="0" u="none" strike="noStrike" cap="none" normalizeH="0" baseline="0">
                          <a:ln>
                            <a:noFill/>
                          </a:ln>
                          <a:solidFill>
                            <a:srgbClr val="000000"/>
                          </a:solidFill>
                          <a:effectLst/>
                          <a:latin typeface="Times New Roman" panose="02020603050405020304" pitchFamily="18" charset="0"/>
                          <a:ea typeface="幼圆" pitchFamily="49" charset="-122"/>
                        </a:rPr>
                        <a:t>酸六氨合铂</a:t>
                      </a:r>
                      <a:r>
                        <a:rPr kumimoji="0" lang="en-US" altLang="zh-CN" sz="2100" b="1" i="0" u="none" strike="noStrike" cap="none" normalizeH="0" baseline="0">
                          <a:ln>
                            <a:noFill/>
                          </a:ln>
                          <a:solidFill>
                            <a:srgbClr val="000000"/>
                          </a:solidFill>
                          <a:effectLst/>
                          <a:latin typeface="Times New Roman" panose="02020603050405020304" pitchFamily="18" charset="0"/>
                          <a:ea typeface="ˎ̥"/>
                          <a:cs typeface="ˎ̥"/>
                        </a:rPr>
                        <a:t>(II)</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451247">
                <a:tc rowSpan="2">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中性分子</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[Ni(CO)</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Times New Roman" panose="02020603050405020304" pitchFamily="18" charset="0"/>
                        </a:rPr>
                        <a:t>4</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cs typeface="Times New Roman" panose="02020603050405020304" pitchFamily="18" charset="0"/>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rgbClr val="000000"/>
                          </a:solidFill>
                          <a:effectLst/>
                          <a:latin typeface="Times New Roman" panose="02020603050405020304" pitchFamily="18" charset="0"/>
                          <a:ea typeface="幼圆" pitchFamily="49" charset="-122"/>
                        </a:rPr>
                        <a:t>四羰基合镍</a:t>
                      </a:r>
                      <a:r>
                        <a:rPr kumimoji="0" lang="zh-CN" altLang="en-US" sz="2100" b="1" i="0" u="none" strike="noStrike" cap="none" normalizeH="0" baseline="0">
                          <a:ln>
                            <a:noFill/>
                          </a:ln>
                          <a:solidFill>
                            <a:schemeClr val="tx1"/>
                          </a:solidFill>
                          <a:effectLst/>
                          <a:latin typeface="Arial" panose="020B0604020202020204" pitchFamily="34" charset="0"/>
                          <a:ea typeface="幼圆" pitchFamily="49" charset="-122"/>
                        </a:rPr>
                        <a:t> </a:t>
                      </a:r>
                      <a:endParaRPr kumimoji="0" lang="zh-CN" altLang="en-US" sz="21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457200">
                <a:tc vMerge="1">
                  <a:txBody>
                    <a:bodyPr/>
                    <a:lstStyle/>
                    <a:p>
                      <a:endParaRPr lang="zh-CN"/>
                    </a:p>
                  </a:txBody>
                  <a:tcPr/>
                </a:tc>
                <a:tc>
                  <a:txBody>
                    <a:bodyPr/>
                    <a:lstStyle/>
                    <a:p>
                      <a:pPr marL="0" marR="0" lvl="0" indent="0" algn="ctr" defTabSz="914400" rtl="0" eaLnBrk="0" fontAlgn="base" latinLnBrk="0" hangingPunct="0">
                        <a:lnSpc>
                          <a:spcPct val="90000"/>
                        </a:lnSpc>
                        <a:spcBef>
                          <a:spcPct val="20000"/>
                        </a:spcBef>
                        <a:spcAft>
                          <a:spcPct val="0"/>
                        </a:spcAft>
                        <a:buClr>
                          <a:schemeClr val="bg2"/>
                        </a:buClr>
                        <a:buSzPct val="75000"/>
                        <a:buFont typeface="Wingdings" panose="05000000000000000000" pitchFamily="2" charset="2"/>
                        <a:buNone/>
                      </a:pP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[PtCl</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Times New Roman" panose="02020603050405020304" pitchFamily="18" charset="0"/>
                        </a:rPr>
                        <a:t>2</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(NH</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Times New Roman" panose="02020603050405020304" pitchFamily="18" charset="0"/>
                        </a:rPr>
                        <a:t>3</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a:t>
                      </a:r>
                      <a:r>
                        <a:rPr kumimoji="0" lang="en-US" altLang="zh-CN" sz="2100" b="1" i="0" u="none" strike="noStrike" cap="none" normalizeH="0" baseline="-30000">
                          <a:ln>
                            <a:noFill/>
                          </a:ln>
                          <a:solidFill>
                            <a:schemeClr val="tx1"/>
                          </a:solidFill>
                          <a:effectLst/>
                          <a:latin typeface="Times New Roman" panose="02020603050405020304" pitchFamily="18" charset="0"/>
                          <a:ea typeface="ˎ̥"/>
                          <a:cs typeface="Times New Roman" panose="02020603050405020304" pitchFamily="18" charset="0"/>
                        </a:rPr>
                        <a:t>2</a:t>
                      </a:r>
                      <a:r>
                        <a:rPr kumimoji="0" lang="en-US" altLang="zh-CN" sz="2100" b="1" i="0" u="none" strike="noStrike" cap="none" normalizeH="0" baseline="0">
                          <a:ln>
                            <a:noFill/>
                          </a:ln>
                          <a:solidFill>
                            <a:schemeClr val="tx1"/>
                          </a:solidFill>
                          <a:effectLst/>
                          <a:latin typeface="Times New Roman" panose="02020603050405020304" pitchFamily="18" charset="0"/>
                          <a:ea typeface="ˎ̥"/>
                          <a:cs typeface="Times New Roman" panose="02020603050405020304" pitchFamily="18" charset="0"/>
                        </a:rPr>
                        <a:t>]</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cs typeface="Times New Roman" panose="02020603050405020304" pitchFamily="18" charset="0"/>
                        </a:rPr>
                        <a:t> </a:t>
                      </a:r>
                      <a:endParaRPr kumimoji="0" lang="en-US" altLang="zh-CN" sz="21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2100" b="1" i="0" u="none" strike="noStrike" cap="none" normalizeH="0" baseline="0">
                          <a:ln>
                            <a:noFill/>
                          </a:ln>
                          <a:solidFill>
                            <a:srgbClr val="000000"/>
                          </a:solidFill>
                          <a:effectLst/>
                          <a:latin typeface="幼圆" pitchFamily="49" charset="-122"/>
                          <a:ea typeface="幼圆" pitchFamily="49" charset="-122"/>
                        </a:rPr>
                        <a:t>二氯</a:t>
                      </a:r>
                      <a:r>
                        <a:rPr kumimoji="0" lang="zh-CN" altLang="en-US" sz="2100" b="1" i="0" u="none" strike="noStrike" cap="none" normalizeH="0" baseline="0">
                          <a:ln>
                            <a:noFill/>
                          </a:ln>
                          <a:solidFill>
                            <a:srgbClr val="000000"/>
                          </a:solidFill>
                          <a:effectLst/>
                          <a:latin typeface="幼圆" pitchFamily="49" charset="-122"/>
                          <a:ea typeface="幼圆" pitchFamily="49" charset="-122"/>
                          <a:sym typeface="Symbol" panose="05050102010706020507" pitchFamily="18" charset="2"/>
                        </a:rPr>
                        <a:t></a:t>
                      </a:r>
                      <a:r>
                        <a:rPr kumimoji="0" lang="zh-CN" altLang="en-US" sz="2100" b="1" i="0" u="none" strike="noStrike" cap="none" normalizeH="0" baseline="0">
                          <a:ln>
                            <a:noFill/>
                          </a:ln>
                          <a:solidFill>
                            <a:srgbClr val="000000"/>
                          </a:solidFill>
                          <a:effectLst/>
                          <a:latin typeface="幼圆" pitchFamily="49" charset="-122"/>
                          <a:ea typeface="幼圆" pitchFamily="49" charset="-122"/>
                        </a:rPr>
                        <a:t>二氨合铂</a:t>
                      </a:r>
                      <a:r>
                        <a:rPr kumimoji="0" lang="en-US" altLang="zh-CN" sz="2100" b="1" i="0" u="none" strike="noStrike" cap="none" normalizeH="0" baseline="0">
                          <a:ln>
                            <a:noFill/>
                          </a:ln>
                          <a:solidFill>
                            <a:srgbClr val="000000"/>
                          </a:solidFill>
                          <a:effectLst/>
                          <a:latin typeface="Times New Roman" panose="02020603050405020304" pitchFamily="18" charset="0"/>
                          <a:ea typeface="ˎ̥"/>
                          <a:cs typeface="Times New Roman" panose="02020603050405020304" pitchFamily="18" charset="0"/>
                        </a:rPr>
                        <a:t>(II)</a:t>
                      </a:r>
                      <a:r>
                        <a:rPr kumimoji="0" lang="en-US" altLang="zh-CN" sz="2100" b="1" i="0" u="none" strike="noStrike" cap="none" normalizeH="0" baseline="0">
                          <a:ln>
                            <a:noFill/>
                          </a:ln>
                          <a:solidFill>
                            <a:schemeClr val="tx1"/>
                          </a:solidFill>
                          <a:effectLst/>
                          <a:latin typeface="Arial" panose="020B0604020202020204" pitchFamily="34" charset="0"/>
                          <a:ea typeface="幼圆" pitchFamily="49" charset="-122"/>
                        </a:rPr>
                        <a:t> </a:t>
                      </a:r>
                      <a:endParaRPr kumimoji="0" lang="en-US" altLang="zh-CN" sz="2100" b="1" i="0" u="none" strike="noStrike" cap="none" normalizeH="0" baseline="0">
                        <a:ln>
                          <a:noFill/>
                        </a:ln>
                        <a:solidFill>
                          <a:srgbClr val="000000"/>
                        </a:solidFill>
                        <a:effectLst/>
                        <a:latin typeface="幼圆" pitchFamily="49" charset="-122"/>
                        <a:ea typeface="幼圆" pitchFamily="49" charset="-122"/>
                        <a:sym typeface="Symbol" panose="05050102010706020507" pitchFamily="18" charset="2"/>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ext Box 25"/>
          <p:cNvSpPr txBox="1"/>
          <p:nvPr/>
        </p:nvSpPr>
        <p:spPr>
          <a:xfrm>
            <a:off x="1403350" y="2355850"/>
            <a:ext cx="1081088"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87042" name="Text Box 26"/>
          <p:cNvSpPr txBox="1"/>
          <p:nvPr/>
        </p:nvSpPr>
        <p:spPr>
          <a:xfrm>
            <a:off x="620230" y="109681"/>
            <a:ext cx="1296988" cy="584775"/>
          </a:xfrm>
          <a:prstGeom prst="rect">
            <a:avLst/>
          </a:prstGeom>
          <a:gradFill rotWithShape="1">
            <a:gsLst>
              <a:gs pos="0">
                <a:srgbClr val="761800"/>
              </a:gs>
              <a:gs pos="50000">
                <a:srgbClr val="FF3300"/>
              </a:gs>
              <a:gs pos="100000">
                <a:srgbClr val="761800"/>
              </a:gs>
            </a:gsLst>
            <a:lin ang="5400000" scaled="1"/>
            <a:tileRect/>
          </a:gradFill>
          <a:ln w="9525">
            <a:noFill/>
          </a:ln>
          <a:effectLst>
            <a:outerShdw sy="50000" kx="2453608" rotWithShape="0">
              <a:schemeClr val="bg2">
                <a:alpha val="50000"/>
              </a:schemeClr>
            </a:outerShdw>
          </a:effectLst>
        </p:spPr>
        <p:txBody>
          <a:bodyPr anchor="t" anchorCtr="0">
            <a:spAutoFit/>
          </a:bodyPr>
          <a:lstStyle/>
          <a:p>
            <a:pPr>
              <a:lnSpc>
                <a:spcPct val="80000"/>
              </a:lnSpc>
            </a:pPr>
            <a:r>
              <a:rPr lang="zh-CN" altLang="en-US" sz="4000" dirty="0">
                <a:solidFill>
                  <a:schemeClr val="bg1"/>
                </a:solidFill>
                <a:latin typeface="Arial" panose="020B0604020202020204" pitchFamily="34" charset="0"/>
                <a:ea typeface="幼圆" pitchFamily="49" charset="-122"/>
              </a:rPr>
              <a:t>注意</a:t>
            </a:r>
            <a:r>
              <a:rPr lang="zh-CN" altLang="en-US" sz="1800" dirty="0">
                <a:solidFill>
                  <a:schemeClr val="bg1"/>
                </a:solidFill>
                <a:latin typeface="Arial" panose="020B0604020202020204" pitchFamily="34" charset="0"/>
                <a:ea typeface="幼圆" pitchFamily="49" charset="-122"/>
              </a:rPr>
              <a:t> </a:t>
            </a:r>
            <a:endParaRPr lang="zh-CN" altLang="en-US" sz="1800" b="0" dirty="0">
              <a:latin typeface="Arial" panose="020B0604020202020204" pitchFamily="34" charset="0"/>
              <a:ea typeface="宋体" panose="02010600030101010101" pitchFamily="2" charset="-122"/>
            </a:endParaRPr>
          </a:p>
        </p:txBody>
      </p:sp>
      <p:grpSp>
        <p:nvGrpSpPr>
          <p:cNvPr id="2" name="Group 27"/>
          <p:cNvGrpSpPr/>
          <p:nvPr/>
        </p:nvGrpSpPr>
        <p:grpSpPr>
          <a:xfrm>
            <a:off x="333686" y="1947267"/>
            <a:ext cx="8567738" cy="2493981"/>
            <a:chOff x="204" y="1737"/>
            <a:chExt cx="5397" cy="2095"/>
          </a:xfrm>
        </p:grpSpPr>
        <p:sp>
          <p:nvSpPr>
            <p:cNvPr id="87044" name="Text Box 28"/>
            <p:cNvSpPr txBox="1"/>
            <p:nvPr/>
          </p:nvSpPr>
          <p:spPr>
            <a:xfrm>
              <a:off x="793" y="2886"/>
              <a:ext cx="4808" cy="946"/>
            </a:xfrm>
            <a:prstGeom prst="rect">
              <a:avLst/>
            </a:prstGeom>
            <a:noFill/>
            <a:ln w="9525">
              <a:noFill/>
            </a:ln>
          </p:spPr>
          <p:txBody>
            <a:bodyPr anchor="t" anchorCtr="0">
              <a:spAutoFit/>
            </a:bodyPr>
            <a:lstStyle/>
            <a:p>
              <a:pPr>
                <a:buClrTx/>
                <a:buFontTx/>
              </a:pPr>
              <a:r>
                <a:rPr lang="en-US" altLang="zh-CN" dirty="0">
                  <a:ea typeface="ˎ̥"/>
                </a:rPr>
                <a:t>NH</a:t>
              </a:r>
              <a:r>
                <a:rPr lang="en-US" altLang="zh-CN" baseline="-25000" dirty="0">
                  <a:ea typeface="ˎ̥"/>
                </a:rPr>
                <a:t>4</a:t>
              </a:r>
              <a:r>
                <a:rPr lang="en-US" altLang="zh-CN" dirty="0">
                  <a:ea typeface="ˎ̥"/>
                </a:rPr>
                <a:t>[Cr(NCS)</a:t>
              </a:r>
              <a:r>
                <a:rPr lang="en-US" altLang="zh-CN" baseline="-25000" dirty="0">
                  <a:ea typeface="ˎ̥"/>
                </a:rPr>
                <a:t>4</a:t>
              </a:r>
              <a:r>
                <a:rPr lang="en-US" altLang="zh-CN" dirty="0">
                  <a:ea typeface="ˎ̥"/>
                </a:rPr>
                <a:t>(NH</a:t>
              </a:r>
              <a:r>
                <a:rPr lang="en-US" altLang="zh-CN" baseline="-25000" dirty="0">
                  <a:ea typeface="ˎ̥"/>
                </a:rPr>
                <a:t>3</a:t>
              </a:r>
              <a:r>
                <a:rPr lang="en-US" altLang="zh-CN" dirty="0">
                  <a:ea typeface="ˎ̥"/>
                </a:rPr>
                <a:t>)</a:t>
              </a:r>
              <a:r>
                <a:rPr lang="en-US" altLang="zh-CN" baseline="-25000" dirty="0">
                  <a:ea typeface="ˎ̥"/>
                </a:rPr>
                <a:t>2</a:t>
              </a:r>
              <a:r>
                <a:rPr lang="en-US" altLang="zh-CN" dirty="0">
                  <a:ea typeface="ˎ̥"/>
                </a:rPr>
                <a:t>] </a:t>
              </a:r>
              <a:endParaRPr lang="en-US" altLang="zh-CN" b="0" dirty="0">
                <a:latin typeface="Arial" panose="020B0604020202020204" pitchFamily="34" charset="0"/>
                <a:ea typeface="ˎ̥"/>
              </a:endParaRPr>
            </a:p>
            <a:p>
              <a:pPr>
                <a:lnSpc>
                  <a:spcPct val="140000"/>
                </a:lnSpc>
                <a:buClrTx/>
                <a:buFontTx/>
              </a:pPr>
              <a:r>
                <a:rPr lang="en-US" altLang="zh-CN" b="0" dirty="0">
                  <a:latin typeface="Arial" panose="020B0604020202020204" pitchFamily="34" charset="0"/>
                  <a:ea typeface="ˎ̥"/>
                </a:rPr>
                <a:t>  </a:t>
              </a:r>
              <a:r>
                <a:rPr lang="zh-CN" altLang="en-US" dirty="0">
                  <a:latin typeface="幼圆" pitchFamily="49" charset="-122"/>
                </a:rPr>
                <a:t>四</a:t>
              </a:r>
              <a:r>
                <a:rPr lang="en-US" altLang="zh-CN" dirty="0">
                  <a:latin typeface="幼圆" pitchFamily="49" charset="-122"/>
                </a:rPr>
                <a:t>(</a:t>
              </a:r>
              <a:r>
                <a:rPr lang="zh-CN" altLang="en-US" dirty="0">
                  <a:latin typeface="幼圆" pitchFamily="49" charset="-122"/>
                </a:rPr>
                <a:t>异硫氰酸根</a:t>
              </a:r>
              <a:r>
                <a:rPr lang="en-US" altLang="zh-CN" dirty="0">
                  <a:latin typeface="幼圆" pitchFamily="49" charset="-122"/>
                </a:rPr>
                <a:t>)</a:t>
              </a:r>
              <a:r>
                <a:rPr lang="en-US" altLang="zh-CN" dirty="0">
                  <a:latin typeface="Arial" panose="020B0604020202020204" pitchFamily="34" charset="0"/>
                </a:rPr>
                <a:t>·</a:t>
              </a:r>
              <a:r>
                <a:rPr lang="zh-CN" altLang="en-US" dirty="0">
                  <a:latin typeface="幼圆" pitchFamily="49" charset="-122"/>
                </a:rPr>
                <a:t>二氨合铬</a:t>
              </a:r>
              <a:r>
                <a:rPr lang="en-US" altLang="zh-CN" dirty="0">
                  <a:latin typeface="幼圆" pitchFamily="49" charset="-122"/>
                </a:rPr>
                <a:t>(Ⅲ)</a:t>
              </a:r>
              <a:r>
                <a:rPr lang="zh-CN" altLang="en-US" dirty="0">
                  <a:latin typeface="幼圆" pitchFamily="49" charset="-122"/>
                </a:rPr>
                <a:t>酸铵</a:t>
              </a:r>
              <a:r>
                <a:rPr lang="zh-CN" altLang="en-US" b="0" dirty="0">
                  <a:latin typeface="Arial" panose="020B0604020202020204" pitchFamily="34" charset="0"/>
                  <a:ea typeface="宋体" panose="02010600030101010101" pitchFamily="2" charset="-122"/>
                </a:rPr>
                <a:t> </a:t>
              </a:r>
            </a:p>
          </p:txBody>
        </p:sp>
        <p:sp>
          <p:nvSpPr>
            <p:cNvPr id="87045" name="Text Box 29"/>
            <p:cNvSpPr txBox="1"/>
            <p:nvPr/>
          </p:nvSpPr>
          <p:spPr>
            <a:xfrm>
              <a:off x="204" y="1737"/>
              <a:ext cx="4989" cy="946"/>
            </a:xfrm>
            <a:prstGeom prst="rect">
              <a:avLst/>
            </a:prstGeom>
            <a:noFill/>
            <a:ln w="9525">
              <a:noFill/>
            </a:ln>
          </p:spPr>
          <p:txBody>
            <a:bodyPr anchor="t" anchorCtr="0">
              <a:spAutoFit/>
            </a:bodyPr>
            <a:lstStyle/>
            <a:p>
              <a:pPr>
                <a:spcBef>
                  <a:spcPct val="50000"/>
                </a:spcBef>
                <a:buClrTx/>
                <a:buFontTx/>
              </a:pPr>
              <a:r>
                <a:rPr lang="zh-CN" altLang="en-US" dirty="0"/>
                <a:t>如       </a:t>
              </a:r>
              <a:r>
                <a:rPr lang="en-US" altLang="zh-CN" dirty="0">
                  <a:ea typeface="ˎ̥"/>
                </a:rPr>
                <a:t>Na</a:t>
              </a:r>
              <a:r>
                <a:rPr lang="en-US" altLang="zh-CN" baseline="-25000" dirty="0">
                  <a:ea typeface="ˎ̥"/>
                </a:rPr>
                <a:t>3</a:t>
              </a:r>
              <a:r>
                <a:rPr lang="en-US" altLang="zh-CN" dirty="0">
                  <a:ea typeface="ˎ̥"/>
                </a:rPr>
                <a:t>[Ag(S</a:t>
              </a:r>
              <a:r>
                <a:rPr lang="en-US" altLang="zh-CN" baseline="-25000" dirty="0">
                  <a:ea typeface="ˎ̥"/>
                </a:rPr>
                <a:t>2</a:t>
              </a:r>
              <a:r>
                <a:rPr lang="en-US" altLang="zh-CN" dirty="0">
                  <a:ea typeface="ˎ̥"/>
                </a:rPr>
                <a:t>O</a:t>
              </a:r>
              <a:r>
                <a:rPr lang="en-US" altLang="zh-CN" baseline="-25000" dirty="0">
                  <a:ea typeface="ˎ̥"/>
                </a:rPr>
                <a:t>3</a:t>
              </a:r>
              <a:r>
                <a:rPr lang="en-US" altLang="zh-CN" dirty="0">
                  <a:ea typeface="ˎ̥"/>
                </a:rPr>
                <a:t>)</a:t>
              </a:r>
              <a:r>
                <a:rPr lang="en-US" altLang="zh-CN" baseline="-25000" dirty="0">
                  <a:ea typeface="ˎ̥"/>
                </a:rPr>
                <a:t>2</a:t>
              </a:r>
              <a:r>
                <a:rPr lang="en-US" altLang="zh-CN" dirty="0">
                  <a:ea typeface="ˎ̥"/>
                </a:rPr>
                <a:t>]</a:t>
              </a:r>
              <a:r>
                <a:rPr lang="en-US" altLang="zh-CN" b="0" dirty="0">
                  <a:latin typeface="Arial" panose="020B0604020202020204" pitchFamily="34" charset="0"/>
                  <a:ea typeface="ˎ̥"/>
                </a:rPr>
                <a:t> </a:t>
              </a:r>
            </a:p>
            <a:p>
              <a:pPr>
                <a:lnSpc>
                  <a:spcPct val="140000"/>
                </a:lnSpc>
                <a:buClrTx/>
                <a:buFontTx/>
              </a:pPr>
              <a:r>
                <a:rPr lang="en-US" altLang="zh-CN" dirty="0"/>
                <a:t>           </a:t>
              </a:r>
              <a:r>
                <a:rPr lang="zh-CN" altLang="en-US" dirty="0"/>
                <a:t>二</a:t>
              </a:r>
              <a:r>
                <a:rPr lang="en-US" altLang="zh-CN" dirty="0"/>
                <a:t>(</a:t>
              </a:r>
              <a:r>
                <a:rPr lang="zh-CN" altLang="en-US" dirty="0"/>
                <a:t>硫代硫酸根</a:t>
              </a:r>
              <a:r>
                <a:rPr lang="en-US" altLang="zh-CN" dirty="0"/>
                <a:t>)</a:t>
              </a:r>
              <a:r>
                <a:rPr lang="zh-CN" altLang="en-US" dirty="0"/>
                <a:t>合银</a:t>
              </a:r>
              <a:r>
                <a:rPr lang="en-US" altLang="zh-CN" dirty="0"/>
                <a:t>(Ⅰ)</a:t>
              </a:r>
              <a:r>
                <a:rPr lang="zh-CN" altLang="en-US" dirty="0"/>
                <a:t>酸钠</a:t>
              </a:r>
              <a:r>
                <a:rPr lang="zh-CN" altLang="en-US" b="0" dirty="0">
                  <a:latin typeface="Arial" panose="020B0604020202020204" pitchFamily="34" charset="0"/>
                  <a:ea typeface="宋体" panose="02010600030101010101" pitchFamily="2" charset="-122"/>
                </a:rPr>
                <a:t> </a:t>
              </a:r>
            </a:p>
          </p:txBody>
        </p:sp>
      </p:grpSp>
      <p:grpSp>
        <p:nvGrpSpPr>
          <p:cNvPr id="87046" name="Group 30"/>
          <p:cNvGrpSpPr/>
          <p:nvPr/>
        </p:nvGrpSpPr>
        <p:grpSpPr>
          <a:xfrm>
            <a:off x="44761" y="690384"/>
            <a:ext cx="8713788" cy="1126961"/>
            <a:chOff x="113" y="561"/>
            <a:chExt cx="5489" cy="946"/>
          </a:xfrm>
        </p:grpSpPr>
        <p:sp>
          <p:nvSpPr>
            <p:cNvPr id="87047" name="Text Box 31"/>
            <p:cNvSpPr txBox="1"/>
            <p:nvPr/>
          </p:nvSpPr>
          <p:spPr>
            <a:xfrm>
              <a:off x="113" y="561"/>
              <a:ext cx="5489" cy="946"/>
            </a:xfrm>
            <a:prstGeom prst="rect">
              <a:avLst/>
            </a:prstGeom>
            <a:noFill/>
            <a:ln w="9525">
              <a:noFill/>
            </a:ln>
          </p:spPr>
          <p:txBody>
            <a:bodyPr anchor="t" anchorCtr="0">
              <a:spAutoFit/>
            </a:bodyPr>
            <a:lstStyle/>
            <a:p>
              <a:pPr>
                <a:buClrTx/>
                <a:buFontTx/>
              </a:pPr>
              <a:r>
                <a:rPr lang="zh-CN" altLang="en-US" dirty="0">
                  <a:latin typeface="幼圆" pitchFamily="49" charset="-122"/>
                </a:rPr>
                <a:t>    带倍数词头的无机含氧酸根阴离子配 </a:t>
              </a:r>
              <a:endParaRPr lang="zh-CN" altLang="en-US" b="0" dirty="0">
                <a:latin typeface="Arial" panose="020B0604020202020204" pitchFamily="34" charset="0"/>
                <a:ea typeface="ˎ̥"/>
              </a:endParaRPr>
            </a:p>
            <a:p>
              <a:pPr>
                <a:lnSpc>
                  <a:spcPct val="140000"/>
                </a:lnSpc>
                <a:buClrTx/>
                <a:buFontTx/>
              </a:pPr>
              <a:r>
                <a:rPr lang="zh-CN" altLang="en-US" dirty="0">
                  <a:latin typeface="幼圆" pitchFamily="49" charset="-122"/>
                </a:rPr>
                <a:t>    体，命名时需用括号括起来</a:t>
              </a:r>
              <a:r>
                <a:rPr lang="zh-CN" altLang="en-US" dirty="0">
                  <a:latin typeface="Arial" panose="020B0604020202020204" pitchFamily="34" charset="0"/>
                  <a:ea typeface="宋体" panose="02010600030101010101" pitchFamily="2" charset="-122"/>
                </a:rPr>
                <a:t> </a:t>
              </a:r>
              <a:endParaRPr lang="zh-CN" altLang="en-US" b="0" dirty="0">
                <a:latin typeface="Arial" panose="020B0604020202020204" pitchFamily="34" charset="0"/>
                <a:ea typeface="宋体" panose="02010600030101010101" pitchFamily="2" charset="-122"/>
              </a:endParaRPr>
            </a:p>
          </p:txBody>
        </p:sp>
        <p:sp>
          <p:nvSpPr>
            <p:cNvPr id="87048" name="Oval 32"/>
            <p:cNvSpPr/>
            <p:nvPr/>
          </p:nvSpPr>
          <p:spPr>
            <a:xfrm>
              <a:off x="431" y="702"/>
              <a:ext cx="181" cy="181"/>
            </a:xfrm>
            <a:prstGeom prst="ellipse">
              <a:avLst/>
            </a:prstGeom>
            <a:solidFill>
              <a:srgbClr val="3333FF"/>
            </a:solidFill>
            <a:ln w="9525">
              <a:noFill/>
            </a:ln>
          </p:spPr>
          <p:txBody>
            <a:bodyPr wrap="none" anchor="ctr" anchorCtr="0"/>
            <a:lstStyle/>
            <a:p>
              <a:pPr>
                <a:buClrTx/>
                <a:buFontTx/>
              </a:pPr>
              <a:endParaRPr lang="zh-CN" altLang="en-US" dirty="0">
                <a:latin typeface="Times New Roman" panose="02020603050405020304" pitchFamily="18" charset="0"/>
                <a:ea typeface="幼圆"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16"/>
          <p:cNvSpPr txBox="1"/>
          <p:nvPr/>
        </p:nvSpPr>
        <p:spPr>
          <a:xfrm>
            <a:off x="398469" y="195266"/>
            <a:ext cx="1296987" cy="584775"/>
          </a:xfrm>
          <a:prstGeom prst="rect">
            <a:avLst/>
          </a:prstGeom>
          <a:gradFill rotWithShape="1">
            <a:gsLst>
              <a:gs pos="0">
                <a:srgbClr val="761800"/>
              </a:gs>
              <a:gs pos="50000">
                <a:srgbClr val="FF3300"/>
              </a:gs>
              <a:gs pos="100000">
                <a:srgbClr val="761800"/>
              </a:gs>
            </a:gsLst>
            <a:lin ang="5400000" scaled="1"/>
            <a:tileRect/>
          </a:gradFill>
          <a:ln w="9525">
            <a:noFill/>
          </a:ln>
          <a:effectLst>
            <a:outerShdw sy="50000" kx="2453608" rotWithShape="0">
              <a:schemeClr val="bg2">
                <a:alpha val="50000"/>
              </a:schemeClr>
            </a:outerShdw>
          </a:effectLst>
        </p:spPr>
        <p:txBody>
          <a:bodyPr anchor="t" anchorCtr="0">
            <a:spAutoFit/>
          </a:bodyPr>
          <a:lstStyle/>
          <a:p>
            <a:pPr>
              <a:lnSpc>
                <a:spcPct val="80000"/>
              </a:lnSpc>
            </a:pPr>
            <a:r>
              <a:rPr lang="zh-CN" altLang="en-US" sz="4000" dirty="0">
                <a:solidFill>
                  <a:schemeClr val="bg1"/>
                </a:solidFill>
                <a:latin typeface="Arial" panose="020B0604020202020204" pitchFamily="34" charset="0"/>
                <a:ea typeface="幼圆" pitchFamily="49" charset="-122"/>
              </a:rPr>
              <a:t>注意</a:t>
            </a:r>
            <a:r>
              <a:rPr lang="zh-CN" altLang="en-US" sz="1800" dirty="0">
                <a:solidFill>
                  <a:schemeClr val="bg1"/>
                </a:solidFill>
                <a:latin typeface="Arial" panose="020B0604020202020204" pitchFamily="34" charset="0"/>
                <a:ea typeface="幼圆" pitchFamily="49" charset="-122"/>
              </a:rPr>
              <a:t> </a:t>
            </a:r>
            <a:endParaRPr lang="zh-CN" altLang="en-US" sz="1800" b="0" dirty="0">
              <a:latin typeface="Arial" panose="020B0604020202020204" pitchFamily="34" charset="0"/>
              <a:ea typeface="宋体" panose="02010600030101010101" pitchFamily="2" charset="-122"/>
            </a:endParaRPr>
          </a:p>
        </p:txBody>
      </p:sp>
      <p:sp>
        <p:nvSpPr>
          <p:cNvPr id="88067" name="Text Box 17"/>
          <p:cNvSpPr txBox="1"/>
          <p:nvPr/>
        </p:nvSpPr>
        <p:spPr>
          <a:xfrm>
            <a:off x="398463" y="766764"/>
            <a:ext cx="8318500" cy="954107"/>
          </a:xfrm>
          <a:prstGeom prst="rect">
            <a:avLst/>
          </a:prstGeom>
          <a:noFill/>
          <a:ln w="9525">
            <a:noFill/>
          </a:ln>
        </p:spPr>
        <p:txBody>
          <a:bodyPr anchor="t" anchorCtr="0">
            <a:spAutoFit/>
          </a:bodyPr>
          <a:lstStyle/>
          <a:p>
            <a:pPr>
              <a:buClrTx/>
              <a:buFontTx/>
            </a:pPr>
            <a:r>
              <a:rPr lang="zh-CN" altLang="en-US" dirty="0">
                <a:latin typeface="幼圆" pitchFamily="49" charset="-122"/>
              </a:rPr>
              <a:t>有些配体具有相同的化学式，但由于配位原子不同，而有不同的命名</a:t>
            </a:r>
            <a:endParaRPr lang="zh-CN" altLang="en-US" b="0" dirty="0">
              <a:latin typeface="Arial" panose="020B0604020202020204" pitchFamily="34" charset="0"/>
              <a:ea typeface="宋体" panose="02010600030101010101" pitchFamily="2" charset="-122"/>
            </a:endParaRPr>
          </a:p>
        </p:txBody>
      </p:sp>
      <p:sp>
        <p:nvSpPr>
          <p:cNvPr id="88068" name="Oval 18"/>
          <p:cNvSpPr/>
          <p:nvPr/>
        </p:nvSpPr>
        <p:spPr>
          <a:xfrm>
            <a:off x="179394" y="1006477"/>
            <a:ext cx="287337" cy="215900"/>
          </a:xfrm>
          <a:prstGeom prst="ellipse">
            <a:avLst/>
          </a:prstGeom>
          <a:solidFill>
            <a:srgbClr val="3333FF"/>
          </a:solidFill>
          <a:ln w="9525">
            <a:noFill/>
          </a:ln>
        </p:spPr>
        <p:txBody>
          <a:bodyPr wrap="none" anchor="ctr" anchorCtr="0"/>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88069" name="Text Box 19"/>
          <p:cNvSpPr txBox="1"/>
          <p:nvPr/>
        </p:nvSpPr>
        <p:spPr>
          <a:xfrm>
            <a:off x="177800" y="1820865"/>
            <a:ext cx="865188" cy="646331"/>
          </a:xfrm>
          <a:prstGeom prst="rect">
            <a:avLst/>
          </a:prstGeom>
          <a:noFill/>
          <a:ln w="9525">
            <a:noFill/>
          </a:ln>
        </p:spPr>
        <p:txBody>
          <a:bodyPr anchor="t" anchorCtr="0">
            <a:spAutoFit/>
          </a:bodyPr>
          <a:lstStyle/>
          <a:p>
            <a:pPr>
              <a:spcBef>
                <a:spcPct val="50000"/>
              </a:spcBef>
              <a:buClrTx/>
              <a:buFontTx/>
            </a:pPr>
            <a:r>
              <a:rPr lang="zh-CN" altLang="en-US" sz="3200" dirty="0">
                <a:solidFill>
                  <a:srgbClr val="C00000"/>
                </a:solidFill>
                <a:latin typeface="Times New Roman" panose="02020603050405020304" pitchFamily="18" charset="0"/>
                <a:ea typeface="幼圆" pitchFamily="49" charset="-122"/>
              </a:rPr>
              <a:t>如</a:t>
            </a:r>
            <a:r>
              <a:rPr lang="zh-CN" altLang="en-US" sz="3600" b="0" dirty="0">
                <a:latin typeface="Arial" panose="020B0604020202020204" pitchFamily="34" charset="0"/>
                <a:ea typeface="宋体" panose="02010600030101010101" pitchFamily="2" charset="-122"/>
              </a:rPr>
              <a:t> </a:t>
            </a:r>
            <a:endParaRPr lang="zh-CN" altLang="en-US" sz="1800" b="0" dirty="0">
              <a:latin typeface="Arial" panose="020B0604020202020204" pitchFamily="34" charset="0"/>
              <a:ea typeface="宋体" panose="02010600030101010101" pitchFamily="2" charset="-122"/>
            </a:endParaRPr>
          </a:p>
        </p:txBody>
      </p:sp>
      <p:sp>
        <p:nvSpPr>
          <p:cNvPr id="88070" name="Line 20"/>
          <p:cNvSpPr/>
          <p:nvPr/>
        </p:nvSpPr>
        <p:spPr>
          <a:xfrm>
            <a:off x="1046163" y="1978025"/>
            <a:ext cx="7345362" cy="0"/>
          </a:xfrm>
          <a:prstGeom prst="line">
            <a:avLst/>
          </a:prstGeom>
          <a:ln w="28575" cap="sq" cmpd="sng">
            <a:solidFill>
              <a:schemeClr val="tx1"/>
            </a:solidFill>
            <a:prstDash val="solid"/>
            <a:round/>
            <a:headEnd type="none" w="med" len="med"/>
            <a:tailEnd type="none" w="med" len="med"/>
          </a:ln>
        </p:spPr>
      </p:sp>
      <p:sp>
        <p:nvSpPr>
          <p:cNvPr id="88071" name="Line 21"/>
          <p:cNvSpPr/>
          <p:nvPr/>
        </p:nvSpPr>
        <p:spPr>
          <a:xfrm>
            <a:off x="1046163" y="2517775"/>
            <a:ext cx="7345362" cy="0"/>
          </a:xfrm>
          <a:prstGeom prst="line">
            <a:avLst/>
          </a:prstGeom>
          <a:ln w="12700" cap="flat" cmpd="sng">
            <a:solidFill>
              <a:schemeClr val="tx1"/>
            </a:solidFill>
            <a:prstDash val="solid"/>
            <a:round/>
            <a:headEnd type="none" w="med" len="med"/>
            <a:tailEnd type="none" w="med" len="med"/>
          </a:ln>
        </p:spPr>
      </p:sp>
      <p:sp>
        <p:nvSpPr>
          <p:cNvPr id="88072" name="Line 22"/>
          <p:cNvSpPr/>
          <p:nvPr/>
        </p:nvSpPr>
        <p:spPr>
          <a:xfrm>
            <a:off x="1046163" y="3057525"/>
            <a:ext cx="7345362" cy="0"/>
          </a:xfrm>
          <a:prstGeom prst="line">
            <a:avLst/>
          </a:prstGeom>
          <a:ln w="12700" cap="flat" cmpd="sng">
            <a:solidFill>
              <a:schemeClr val="tx1"/>
            </a:solidFill>
            <a:prstDash val="solid"/>
            <a:round/>
            <a:headEnd type="none" w="med" len="med"/>
            <a:tailEnd type="none" w="med" len="med"/>
          </a:ln>
        </p:spPr>
      </p:sp>
      <p:sp>
        <p:nvSpPr>
          <p:cNvPr id="88073" name="Line 23"/>
          <p:cNvSpPr/>
          <p:nvPr/>
        </p:nvSpPr>
        <p:spPr>
          <a:xfrm>
            <a:off x="1046163" y="3598863"/>
            <a:ext cx="7345362" cy="0"/>
          </a:xfrm>
          <a:prstGeom prst="line">
            <a:avLst/>
          </a:prstGeom>
          <a:ln w="12700" cap="flat" cmpd="sng">
            <a:solidFill>
              <a:schemeClr val="tx1"/>
            </a:solidFill>
            <a:prstDash val="solid"/>
            <a:round/>
            <a:headEnd type="none" w="med" len="med"/>
            <a:tailEnd type="none" w="med" len="med"/>
          </a:ln>
        </p:spPr>
      </p:sp>
      <p:sp>
        <p:nvSpPr>
          <p:cNvPr id="88074" name="Line 24"/>
          <p:cNvSpPr/>
          <p:nvPr/>
        </p:nvSpPr>
        <p:spPr>
          <a:xfrm>
            <a:off x="1046163" y="4137025"/>
            <a:ext cx="7345362" cy="0"/>
          </a:xfrm>
          <a:prstGeom prst="line">
            <a:avLst/>
          </a:prstGeom>
          <a:ln w="12700" cap="flat" cmpd="sng">
            <a:solidFill>
              <a:schemeClr val="tx1"/>
            </a:solidFill>
            <a:prstDash val="solid"/>
            <a:round/>
            <a:headEnd type="none" w="med" len="med"/>
            <a:tailEnd type="none" w="med" len="med"/>
          </a:ln>
        </p:spPr>
      </p:sp>
      <p:sp>
        <p:nvSpPr>
          <p:cNvPr id="88075" name="Line 25"/>
          <p:cNvSpPr/>
          <p:nvPr/>
        </p:nvSpPr>
        <p:spPr>
          <a:xfrm>
            <a:off x="1046163" y="4678363"/>
            <a:ext cx="7345362" cy="0"/>
          </a:xfrm>
          <a:prstGeom prst="line">
            <a:avLst/>
          </a:prstGeom>
          <a:ln w="28575" cap="sq" cmpd="sng">
            <a:solidFill>
              <a:schemeClr val="tx1"/>
            </a:solidFill>
            <a:prstDash val="solid"/>
            <a:round/>
            <a:headEnd type="none" w="med" len="med"/>
            <a:tailEnd type="none" w="med" len="med"/>
          </a:ln>
        </p:spPr>
      </p:sp>
      <p:sp>
        <p:nvSpPr>
          <p:cNvPr id="88076" name="Line 26"/>
          <p:cNvSpPr/>
          <p:nvPr/>
        </p:nvSpPr>
        <p:spPr>
          <a:xfrm>
            <a:off x="1046163" y="1978027"/>
            <a:ext cx="0" cy="2700338"/>
          </a:xfrm>
          <a:prstGeom prst="line">
            <a:avLst/>
          </a:prstGeom>
          <a:ln w="28575" cap="sq" cmpd="sng">
            <a:solidFill>
              <a:schemeClr val="tx1"/>
            </a:solidFill>
            <a:prstDash val="solid"/>
            <a:round/>
            <a:headEnd type="none" w="med" len="med"/>
            <a:tailEnd type="none" w="med" len="med"/>
          </a:ln>
        </p:spPr>
      </p:sp>
      <p:sp>
        <p:nvSpPr>
          <p:cNvPr id="88077" name="Line 27"/>
          <p:cNvSpPr/>
          <p:nvPr/>
        </p:nvSpPr>
        <p:spPr>
          <a:xfrm>
            <a:off x="3494088" y="1978027"/>
            <a:ext cx="0" cy="2700338"/>
          </a:xfrm>
          <a:prstGeom prst="line">
            <a:avLst/>
          </a:prstGeom>
          <a:ln w="12700" cap="flat" cmpd="sng">
            <a:solidFill>
              <a:schemeClr val="tx1"/>
            </a:solidFill>
            <a:prstDash val="solid"/>
            <a:round/>
            <a:headEnd type="none" w="med" len="med"/>
            <a:tailEnd type="none" w="med" len="med"/>
          </a:ln>
        </p:spPr>
      </p:sp>
      <p:sp>
        <p:nvSpPr>
          <p:cNvPr id="88078" name="Line 28"/>
          <p:cNvSpPr/>
          <p:nvPr/>
        </p:nvSpPr>
        <p:spPr>
          <a:xfrm>
            <a:off x="5727700" y="1978027"/>
            <a:ext cx="0" cy="2700338"/>
          </a:xfrm>
          <a:prstGeom prst="line">
            <a:avLst/>
          </a:prstGeom>
          <a:ln w="12700" cap="flat" cmpd="sng">
            <a:solidFill>
              <a:schemeClr val="tx1"/>
            </a:solidFill>
            <a:prstDash val="solid"/>
            <a:round/>
            <a:headEnd type="none" w="med" len="med"/>
            <a:tailEnd type="none" w="med" len="med"/>
          </a:ln>
        </p:spPr>
      </p:sp>
      <p:sp>
        <p:nvSpPr>
          <p:cNvPr id="88079" name="Line 29"/>
          <p:cNvSpPr/>
          <p:nvPr/>
        </p:nvSpPr>
        <p:spPr>
          <a:xfrm>
            <a:off x="8391525" y="1978027"/>
            <a:ext cx="0" cy="2700338"/>
          </a:xfrm>
          <a:prstGeom prst="line">
            <a:avLst/>
          </a:prstGeom>
          <a:ln w="28575" cap="sq" cmpd="sng">
            <a:solidFill>
              <a:schemeClr val="tx1"/>
            </a:solidFill>
            <a:prstDash val="solid"/>
            <a:round/>
            <a:headEnd type="none" w="med" len="med"/>
            <a:tailEnd type="none" w="med" len="med"/>
          </a:ln>
        </p:spPr>
      </p:sp>
      <p:grpSp>
        <p:nvGrpSpPr>
          <p:cNvPr id="88080" name="Group 30"/>
          <p:cNvGrpSpPr/>
          <p:nvPr/>
        </p:nvGrpSpPr>
        <p:grpSpPr>
          <a:xfrm>
            <a:off x="1046484" y="2105660"/>
            <a:ext cx="7117715" cy="2519483"/>
            <a:chOff x="884" y="1582"/>
            <a:chExt cx="4769" cy="2348"/>
          </a:xfrm>
        </p:grpSpPr>
        <p:sp>
          <p:nvSpPr>
            <p:cNvPr id="88081" name="Rectangle 31"/>
            <p:cNvSpPr/>
            <p:nvPr/>
          </p:nvSpPr>
          <p:spPr>
            <a:xfrm>
              <a:off x="3924" y="3463"/>
              <a:ext cx="1678"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zh-CN" altLang="en-US" dirty="0">
                  <a:latin typeface="Arial" panose="020B0604020202020204" pitchFamily="34" charset="0"/>
                  <a:ea typeface="幼圆" pitchFamily="49" charset="-122"/>
                </a:rPr>
                <a:t>异硫氰酸根</a:t>
              </a:r>
              <a:endParaRPr lang="zh-CN" altLang="en-US" b="0" dirty="0">
                <a:latin typeface="Arial" panose="020B0604020202020204" pitchFamily="34" charset="0"/>
                <a:ea typeface="幼圆" pitchFamily="49" charset="-122"/>
              </a:endParaRPr>
            </a:p>
          </p:txBody>
        </p:sp>
        <p:sp>
          <p:nvSpPr>
            <p:cNvPr id="88082" name="Rectangle 32"/>
            <p:cNvSpPr/>
            <p:nvPr/>
          </p:nvSpPr>
          <p:spPr>
            <a:xfrm>
              <a:off x="2426" y="3475"/>
              <a:ext cx="1407"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N</a:t>
              </a:r>
              <a:endParaRPr lang="en-US" altLang="zh-CN" b="0" dirty="0">
                <a:latin typeface="Times New Roman" panose="02020603050405020304" pitchFamily="18" charset="0"/>
                <a:ea typeface="幼圆" pitchFamily="49" charset="-122"/>
              </a:endParaRPr>
            </a:p>
          </p:txBody>
        </p:sp>
        <p:sp>
          <p:nvSpPr>
            <p:cNvPr id="88083" name="Rectangle 33"/>
            <p:cNvSpPr/>
            <p:nvPr/>
          </p:nvSpPr>
          <p:spPr>
            <a:xfrm>
              <a:off x="884" y="3475"/>
              <a:ext cx="1542"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Tx/>
              </a:pPr>
              <a:r>
                <a:rPr lang="en-US" altLang="zh-CN" dirty="0">
                  <a:latin typeface="Times New Roman" panose="02020603050405020304" pitchFamily="18" charset="0"/>
                </a:rPr>
                <a:t>NCS</a:t>
              </a:r>
              <a:r>
                <a:rPr lang="en-US" altLang="zh-CN" baseline="30000" dirty="0">
                  <a:solidFill>
                    <a:srgbClr val="000000"/>
                  </a:solidFill>
                  <a:latin typeface="Times New Roman" panose="02020603050405020304" pitchFamily="18" charset="0"/>
                  <a:ea typeface="宋体" panose="02010600030101010101" pitchFamily="2" charset="-122"/>
                </a:rPr>
                <a:t>-</a:t>
              </a:r>
              <a:endParaRPr lang="en-US" altLang="zh-CN" b="0" baseline="30000" dirty="0">
                <a:solidFill>
                  <a:srgbClr val="000000"/>
                </a:solidFill>
                <a:latin typeface="Times New Roman" panose="02020603050405020304" pitchFamily="18" charset="0"/>
                <a:ea typeface="宋体" panose="02010600030101010101" pitchFamily="2" charset="-122"/>
              </a:endParaRPr>
            </a:p>
          </p:txBody>
        </p:sp>
        <p:sp>
          <p:nvSpPr>
            <p:cNvPr id="88084" name="Rectangle 34"/>
            <p:cNvSpPr/>
            <p:nvPr/>
          </p:nvSpPr>
          <p:spPr>
            <a:xfrm>
              <a:off x="3973" y="3002"/>
              <a:ext cx="1678" cy="453"/>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Tx/>
              </a:pPr>
              <a:r>
                <a:rPr lang="zh-CN" altLang="en-US" dirty="0">
                  <a:latin typeface="Arial" panose="020B0604020202020204" pitchFamily="34" charset="0"/>
                  <a:ea typeface="幼圆" pitchFamily="49" charset="-122"/>
                </a:rPr>
                <a:t>硫氰酸根</a:t>
              </a:r>
            </a:p>
          </p:txBody>
        </p:sp>
        <p:sp>
          <p:nvSpPr>
            <p:cNvPr id="88085" name="Rectangle 35"/>
            <p:cNvSpPr/>
            <p:nvPr/>
          </p:nvSpPr>
          <p:spPr>
            <a:xfrm>
              <a:off x="2426" y="3022"/>
              <a:ext cx="1407" cy="453"/>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S</a:t>
              </a:r>
              <a:endParaRPr lang="en-US" altLang="zh-CN" b="0" dirty="0">
                <a:latin typeface="Times New Roman" panose="02020603050405020304" pitchFamily="18" charset="0"/>
                <a:ea typeface="幼圆" pitchFamily="49" charset="-122"/>
              </a:endParaRPr>
            </a:p>
          </p:txBody>
        </p:sp>
        <p:sp>
          <p:nvSpPr>
            <p:cNvPr id="88086" name="Rectangle 36"/>
            <p:cNvSpPr/>
            <p:nvPr/>
          </p:nvSpPr>
          <p:spPr>
            <a:xfrm>
              <a:off x="884" y="3022"/>
              <a:ext cx="1542" cy="453"/>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宋体" panose="02010600030101010101" pitchFamily="2" charset="-122"/>
                </a:rPr>
                <a:t>SCN</a:t>
              </a:r>
              <a:r>
                <a:rPr lang="en-US" altLang="zh-CN" baseline="30000" dirty="0">
                  <a:latin typeface="Times New Roman" panose="02020603050405020304" pitchFamily="18" charset="0"/>
                  <a:ea typeface="宋体" panose="02010600030101010101" pitchFamily="2" charset="-122"/>
                </a:rPr>
                <a:t>-</a:t>
              </a:r>
              <a:endParaRPr lang="en-US" altLang="zh-CN" b="0" baseline="30000" dirty="0">
                <a:latin typeface="Times New Roman" panose="02020603050405020304" pitchFamily="18" charset="0"/>
                <a:ea typeface="宋体" panose="02010600030101010101" pitchFamily="2" charset="-122"/>
              </a:endParaRPr>
            </a:p>
          </p:txBody>
        </p:sp>
        <p:sp>
          <p:nvSpPr>
            <p:cNvPr id="88087" name="Rectangle 37"/>
            <p:cNvSpPr/>
            <p:nvPr/>
          </p:nvSpPr>
          <p:spPr>
            <a:xfrm>
              <a:off x="3905" y="2529"/>
              <a:ext cx="1678"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zh-CN" altLang="en-US" dirty="0">
                  <a:latin typeface="Times New Roman" panose="02020603050405020304" pitchFamily="18" charset="0"/>
                  <a:ea typeface="幼圆" pitchFamily="49" charset="-122"/>
                </a:rPr>
                <a:t>硝基</a:t>
              </a:r>
              <a:endParaRPr lang="zh-CN" altLang="en-US" b="0" dirty="0">
                <a:latin typeface="Times New Roman" panose="02020603050405020304" pitchFamily="18" charset="0"/>
                <a:ea typeface="幼圆" pitchFamily="49" charset="-122"/>
              </a:endParaRPr>
            </a:p>
          </p:txBody>
        </p:sp>
        <p:sp>
          <p:nvSpPr>
            <p:cNvPr id="88088" name="Rectangle 38"/>
            <p:cNvSpPr/>
            <p:nvPr/>
          </p:nvSpPr>
          <p:spPr>
            <a:xfrm>
              <a:off x="2426" y="2568"/>
              <a:ext cx="1407"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N</a:t>
              </a:r>
              <a:endParaRPr lang="en-US" altLang="zh-CN" b="0" dirty="0">
                <a:latin typeface="Times New Roman" panose="02020603050405020304" pitchFamily="18" charset="0"/>
                <a:ea typeface="幼圆" pitchFamily="49" charset="-122"/>
              </a:endParaRPr>
            </a:p>
          </p:txBody>
        </p:sp>
        <p:sp>
          <p:nvSpPr>
            <p:cNvPr id="88089" name="Rectangle 39"/>
            <p:cNvSpPr/>
            <p:nvPr/>
          </p:nvSpPr>
          <p:spPr>
            <a:xfrm>
              <a:off x="884" y="2568"/>
              <a:ext cx="1542"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en-US" altLang="zh-CN" dirty="0">
                  <a:ea typeface="幼圆" pitchFamily="49" charset="-122"/>
                </a:rPr>
                <a:t>NO</a:t>
              </a:r>
              <a:r>
                <a:rPr lang="en-US" altLang="zh-CN" baseline="-25000" dirty="0">
                  <a:ea typeface="幼圆" pitchFamily="49" charset="-122"/>
                </a:rPr>
                <a:t>2</a:t>
              </a:r>
              <a:r>
                <a:rPr lang="en-US" altLang="zh-CN" dirty="0">
                  <a:latin typeface="Arial" panose="020B0604020202020204" pitchFamily="34" charset="0"/>
                  <a:ea typeface="幼圆" pitchFamily="49" charset="-122"/>
                </a:rPr>
                <a:t> </a:t>
              </a:r>
              <a:endParaRPr lang="en-US" altLang="zh-CN" b="0" dirty="0">
                <a:latin typeface="Arial" panose="020B0604020202020204" pitchFamily="34" charset="0"/>
                <a:ea typeface="幼圆" pitchFamily="49" charset="-122"/>
              </a:endParaRPr>
            </a:p>
          </p:txBody>
        </p:sp>
        <p:sp>
          <p:nvSpPr>
            <p:cNvPr id="88090" name="Rectangle 40"/>
            <p:cNvSpPr/>
            <p:nvPr/>
          </p:nvSpPr>
          <p:spPr>
            <a:xfrm>
              <a:off x="3924" y="2056"/>
              <a:ext cx="1678" cy="453"/>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zh-CN" altLang="en-US" dirty="0">
                  <a:latin typeface="Times New Roman" panose="02020603050405020304" pitchFamily="18" charset="0"/>
                  <a:ea typeface="幼圆" pitchFamily="49" charset="-122"/>
                </a:rPr>
                <a:t>亚硝酸根</a:t>
              </a:r>
              <a:endParaRPr lang="zh-CN" altLang="en-US" b="0" dirty="0">
                <a:latin typeface="Times New Roman" panose="02020603050405020304" pitchFamily="18" charset="0"/>
                <a:ea typeface="幼圆" pitchFamily="49" charset="-122"/>
              </a:endParaRPr>
            </a:p>
          </p:txBody>
        </p:sp>
        <p:sp>
          <p:nvSpPr>
            <p:cNvPr id="88091" name="Rectangle 41"/>
            <p:cNvSpPr/>
            <p:nvPr/>
          </p:nvSpPr>
          <p:spPr>
            <a:xfrm>
              <a:off x="2426" y="2115"/>
              <a:ext cx="1407" cy="453"/>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en-US" altLang="zh-CN" dirty="0">
                  <a:latin typeface="Times New Roman" panose="02020603050405020304" pitchFamily="18" charset="0"/>
                  <a:ea typeface="幼圆" pitchFamily="49" charset="-122"/>
                </a:rPr>
                <a:t>O</a:t>
              </a:r>
              <a:endParaRPr lang="en-US" altLang="zh-CN" b="0" dirty="0">
                <a:latin typeface="Times New Roman" panose="02020603050405020304" pitchFamily="18" charset="0"/>
                <a:ea typeface="幼圆" pitchFamily="49" charset="-122"/>
              </a:endParaRPr>
            </a:p>
          </p:txBody>
        </p:sp>
        <p:sp>
          <p:nvSpPr>
            <p:cNvPr id="88092" name="Rectangle 42"/>
            <p:cNvSpPr/>
            <p:nvPr/>
          </p:nvSpPr>
          <p:spPr>
            <a:xfrm>
              <a:off x="884" y="2115"/>
              <a:ext cx="1542" cy="453"/>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en-US" altLang="zh-CN" dirty="0">
                  <a:ea typeface="幼圆" pitchFamily="49" charset="-122"/>
                </a:rPr>
                <a:t>ONO</a:t>
              </a:r>
              <a:r>
                <a:rPr lang="en-US" altLang="zh-CN" baseline="30000" dirty="0">
                  <a:ea typeface="幼圆" pitchFamily="49" charset="-122"/>
                </a:rPr>
                <a:t>-</a:t>
              </a:r>
              <a:r>
                <a:rPr lang="en-US" altLang="zh-CN" dirty="0">
                  <a:latin typeface="Arial" panose="020B0604020202020204" pitchFamily="34" charset="0"/>
                  <a:ea typeface="幼圆" pitchFamily="49" charset="-122"/>
                </a:rPr>
                <a:t> </a:t>
              </a:r>
              <a:endParaRPr lang="en-US" altLang="zh-CN" b="0" dirty="0">
                <a:latin typeface="Arial" panose="020B0604020202020204" pitchFamily="34" charset="0"/>
                <a:ea typeface="幼圆" pitchFamily="49" charset="-122"/>
              </a:endParaRPr>
            </a:p>
          </p:txBody>
        </p:sp>
        <p:sp>
          <p:nvSpPr>
            <p:cNvPr id="88093" name="Rectangle 43"/>
            <p:cNvSpPr/>
            <p:nvPr/>
          </p:nvSpPr>
          <p:spPr>
            <a:xfrm>
              <a:off x="3975" y="1582"/>
              <a:ext cx="1678"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zh-CN" altLang="en-US" dirty="0">
                  <a:latin typeface="Arial" panose="020B0604020202020204" pitchFamily="34" charset="0"/>
                  <a:ea typeface="幼圆" pitchFamily="49" charset="-122"/>
                </a:rPr>
                <a:t>命名</a:t>
              </a:r>
              <a:endParaRPr lang="zh-CN" altLang="en-US" b="0" dirty="0">
                <a:latin typeface="Arial" panose="020B0604020202020204" pitchFamily="34" charset="0"/>
                <a:ea typeface="幼圆" pitchFamily="49" charset="-122"/>
              </a:endParaRPr>
            </a:p>
          </p:txBody>
        </p:sp>
        <p:sp>
          <p:nvSpPr>
            <p:cNvPr id="88094" name="Rectangle 44"/>
            <p:cNvSpPr/>
            <p:nvPr/>
          </p:nvSpPr>
          <p:spPr>
            <a:xfrm>
              <a:off x="2461" y="1582"/>
              <a:ext cx="1407"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zh-CN" altLang="en-US" dirty="0">
                  <a:latin typeface="Arial" panose="020B0604020202020204" pitchFamily="34" charset="0"/>
                  <a:ea typeface="幼圆" pitchFamily="49" charset="-122"/>
                </a:rPr>
                <a:t>配位原子</a:t>
              </a:r>
              <a:endParaRPr lang="zh-CN" altLang="en-US" b="0" dirty="0">
                <a:latin typeface="Arial" panose="020B0604020202020204" pitchFamily="34" charset="0"/>
                <a:ea typeface="幼圆" pitchFamily="49" charset="-122"/>
              </a:endParaRPr>
            </a:p>
          </p:txBody>
        </p:sp>
        <p:sp>
          <p:nvSpPr>
            <p:cNvPr id="88095" name="Rectangle 45"/>
            <p:cNvSpPr/>
            <p:nvPr/>
          </p:nvSpPr>
          <p:spPr>
            <a:xfrm>
              <a:off x="885" y="1582"/>
              <a:ext cx="1542" cy="454"/>
            </a:xfrm>
            <a:prstGeom prst="rect">
              <a:avLst/>
            </a:prstGeom>
            <a:noFill/>
            <a:ln w="9525">
              <a:noFill/>
            </a:ln>
          </p:spPr>
          <p:txBody>
            <a:bodyPr lIns="90000" tIns="46800" rIns="90000" bIns="46800" anchor="ctr" anchorCtr="1"/>
            <a:lstStyle/>
            <a:p>
              <a:pPr algn="ctr" eaLnBrk="0" hangingPunct="0">
                <a:spcBef>
                  <a:spcPct val="20000"/>
                </a:spcBef>
                <a:buClr>
                  <a:schemeClr val="bg2"/>
                </a:buClr>
                <a:buSzPct val="75000"/>
                <a:buFont typeface="Wingdings" panose="05000000000000000000" pitchFamily="2" charset="2"/>
              </a:pPr>
              <a:r>
                <a:rPr lang="zh-CN" altLang="en-US" dirty="0">
                  <a:latin typeface="Arial" panose="020B0604020202020204" pitchFamily="34" charset="0"/>
                  <a:ea typeface="幼圆" pitchFamily="49" charset="-122"/>
                </a:rPr>
                <a:t>配体</a:t>
              </a:r>
              <a:endParaRPr lang="zh-CN" altLang="en-US" b="0" dirty="0">
                <a:latin typeface="Arial" panose="020B0604020202020204" pitchFamily="34" charset="0"/>
                <a:ea typeface="幼圆" pitchFamily="49" charset="-122"/>
              </a:endParaRPr>
            </a:p>
          </p:txBody>
        </p:sp>
        <p:sp>
          <p:nvSpPr>
            <p:cNvPr id="88096" name="Text Box 46"/>
            <p:cNvSpPr txBox="1"/>
            <p:nvPr/>
          </p:nvSpPr>
          <p:spPr>
            <a:xfrm>
              <a:off x="1765" y="2484"/>
              <a:ext cx="272" cy="545"/>
            </a:xfrm>
            <a:prstGeom prst="rect">
              <a:avLst/>
            </a:prstGeom>
            <a:noFill/>
            <a:ln w="9525">
              <a:noFill/>
            </a:ln>
          </p:spPr>
          <p:txBody>
            <a:bodyPr anchor="t" anchorCtr="0">
              <a:spAutoFit/>
            </a:bodyPr>
            <a:lstStyle/>
            <a:p>
              <a:pPr>
                <a:buClrTx/>
                <a:buFontTx/>
              </a:pPr>
              <a:endParaRPr lang="zh-CN" altLang="en-US" sz="3200" dirty="0">
                <a:latin typeface="Times New Roman" panose="02020603050405020304" pitchFamily="18" charset="0"/>
                <a:ea typeface="幼圆" pitchFamily="49" charset="-122"/>
              </a:endParaRPr>
            </a:p>
          </p:txBody>
        </p:sp>
        <p:sp>
          <p:nvSpPr>
            <p:cNvPr id="88097" name="Text Box 47"/>
            <p:cNvSpPr txBox="1"/>
            <p:nvPr/>
          </p:nvSpPr>
          <p:spPr>
            <a:xfrm>
              <a:off x="1882" y="2935"/>
              <a:ext cx="272" cy="545"/>
            </a:xfrm>
            <a:prstGeom prst="rect">
              <a:avLst/>
            </a:prstGeom>
            <a:noFill/>
            <a:ln w="9525">
              <a:noFill/>
            </a:ln>
          </p:spPr>
          <p:txBody>
            <a:bodyPr anchor="t" anchorCtr="0">
              <a:spAutoFit/>
            </a:bodyPr>
            <a:lstStyle/>
            <a:p>
              <a:pPr>
                <a:buClrTx/>
                <a:buFontTx/>
              </a:pPr>
              <a:endParaRPr lang="zh-CN" altLang="en-US" sz="3200" dirty="0">
                <a:latin typeface="Times New Roman" panose="02020603050405020304" pitchFamily="18" charset="0"/>
                <a:ea typeface="幼圆" pitchFamily="49" charset="-122"/>
              </a:endParaRPr>
            </a:p>
          </p:txBody>
        </p:sp>
        <p:sp>
          <p:nvSpPr>
            <p:cNvPr id="88098" name="Text Box 48"/>
            <p:cNvSpPr txBox="1"/>
            <p:nvPr/>
          </p:nvSpPr>
          <p:spPr>
            <a:xfrm>
              <a:off x="1882" y="3385"/>
              <a:ext cx="272" cy="545"/>
            </a:xfrm>
            <a:prstGeom prst="rect">
              <a:avLst/>
            </a:prstGeom>
            <a:noFill/>
            <a:ln w="9525">
              <a:noFill/>
            </a:ln>
          </p:spPr>
          <p:txBody>
            <a:bodyPr anchor="t" anchorCtr="0">
              <a:spAutoFit/>
            </a:bodyPr>
            <a:lstStyle/>
            <a:p>
              <a:pPr>
                <a:buClrTx/>
                <a:buFontTx/>
              </a:pPr>
              <a:endParaRPr lang="zh-CN" altLang="en-US" sz="3200" dirty="0">
                <a:latin typeface="Times New Roman" panose="02020603050405020304" pitchFamily="18" charset="0"/>
                <a:ea typeface="幼圆" pitchFamily="49" charset="-122"/>
              </a:endParaRPr>
            </a:p>
          </p:txBody>
        </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ext Box 9"/>
          <p:cNvSpPr txBox="1"/>
          <p:nvPr/>
        </p:nvSpPr>
        <p:spPr>
          <a:xfrm>
            <a:off x="989019" y="2355850"/>
            <a:ext cx="1081087" cy="369332"/>
          </a:xfrm>
          <a:prstGeom prst="rect">
            <a:avLst/>
          </a:prstGeom>
          <a:noFill/>
          <a:ln w="9525">
            <a:noFill/>
          </a:ln>
        </p:spPr>
        <p:txBody>
          <a:bodyPr anchor="t" anchorCtr="0">
            <a:spAutoFit/>
          </a:bodyPr>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89090" name="Text Box 10"/>
          <p:cNvSpPr txBox="1"/>
          <p:nvPr/>
        </p:nvSpPr>
        <p:spPr>
          <a:xfrm>
            <a:off x="341319" y="195266"/>
            <a:ext cx="1296987" cy="584775"/>
          </a:xfrm>
          <a:prstGeom prst="rect">
            <a:avLst/>
          </a:prstGeom>
          <a:gradFill rotWithShape="1">
            <a:gsLst>
              <a:gs pos="0">
                <a:srgbClr val="761800"/>
              </a:gs>
              <a:gs pos="50000">
                <a:srgbClr val="FF3300"/>
              </a:gs>
              <a:gs pos="100000">
                <a:srgbClr val="761800"/>
              </a:gs>
            </a:gsLst>
            <a:lin ang="5400000" scaled="1"/>
            <a:tileRect/>
          </a:gradFill>
          <a:ln w="9525">
            <a:noFill/>
          </a:ln>
          <a:effectLst>
            <a:outerShdw sy="50000" kx="2453608" rotWithShape="0">
              <a:schemeClr val="bg2">
                <a:alpha val="50000"/>
              </a:schemeClr>
            </a:outerShdw>
          </a:effectLst>
        </p:spPr>
        <p:txBody>
          <a:bodyPr anchor="t" anchorCtr="0">
            <a:spAutoFit/>
          </a:bodyPr>
          <a:lstStyle/>
          <a:p>
            <a:pPr>
              <a:lnSpc>
                <a:spcPct val="80000"/>
              </a:lnSpc>
            </a:pPr>
            <a:r>
              <a:rPr lang="zh-CN" altLang="en-US" sz="4000" dirty="0">
                <a:solidFill>
                  <a:schemeClr val="bg1"/>
                </a:solidFill>
                <a:latin typeface="Arial" panose="020B0604020202020204" pitchFamily="34" charset="0"/>
                <a:ea typeface="幼圆" pitchFamily="49" charset="-122"/>
              </a:rPr>
              <a:t>注意</a:t>
            </a:r>
            <a:r>
              <a:rPr lang="zh-CN" altLang="en-US" sz="1800" dirty="0">
                <a:solidFill>
                  <a:schemeClr val="bg1"/>
                </a:solidFill>
                <a:latin typeface="Arial" panose="020B0604020202020204" pitchFamily="34" charset="0"/>
                <a:ea typeface="幼圆" pitchFamily="49" charset="-122"/>
              </a:rPr>
              <a:t> </a:t>
            </a:r>
            <a:endParaRPr lang="zh-CN" altLang="en-US" sz="1800" b="0" dirty="0">
              <a:latin typeface="Arial" panose="020B0604020202020204" pitchFamily="34" charset="0"/>
              <a:ea typeface="宋体" panose="02010600030101010101" pitchFamily="2" charset="-122"/>
            </a:endParaRPr>
          </a:p>
        </p:txBody>
      </p:sp>
      <p:sp>
        <p:nvSpPr>
          <p:cNvPr id="89091" name="Text Box 11"/>
          <p:cNvSpPr txBox="1"/>
          <p:nvPr/>
        </p:nvSpPr>
        <p:spPr>
          <a:xfrm>
            <a:off x="250825" y="931867"/>
            <a:ext cx="8713788" cy="1169551"/>
          </a:xfrm>
          <a:prstGeom prst="rect">
            <a:avLst/>
          </a:prstGeom>
          <a:noFill/>
          <a:ln w="9525">
            <a:noFill/>
          </a:ln>
        </p:spPr>
        <p:txBody>
          <a:bodyPr anchor="t" anchorCtr="0">
            <a:spAutoFit/>
          </a:bodyPr>
          <a:lstStyle/>
          <a:p>
            <a:pPr>
              <a:buClrTx/>
              <a:buFontTx/>
            </a:pPr>
            <a:r>
              <a:rPr lang="zh-CN" altLang="en-US" dirty="0">
                <a:latin typeface="幼圆" pitchFamily="49" charset="-122"/>
                <a:ea typeface="幼圆" pitchFamily="49" charset="-122"/>
              </a:rPr>
              <a:t>某些分子或基团，作配体后读法上 </a:t>
            </a:r>
            <a:endParaRPr lang="zh-CN" altLang="en-US" b="0" dirty="0">
              <a:latin typeface="Arial" panose="020B0604020202020204" pitchFamily="34" charset="0"/>
              <a:ea typeface="ˎ̥"/>
            </a:endParaRPr>
          </a:p>
          <a:p>
            <a:pPr>
              <a:lnSpc>
                <a:spcPct val="150000"/>
              </a:lnSpc>
              <a:buClrTx/>
              <a:buFontTx/>
            </a:pPr>
            <a:r>
              <a:rPr lang="zh-CN" altLang="en-US" dirty="0">
                <a:latin typeface="Times New Roman" panose="02020603050405020304" pitchFamily="18" charset="0"/>
                <a:ea typeface="幼圆" pitchFamily="49" charset="-122"/>
              </a:rPr>
              <a:t>有所改变</a:t>
            </a:r>
            <a:endParaRPr lang="zh-CN" altLang="en-US" b="0" dirty="0">
              <a:latin typeface="Arial" panose="020B0604020202020204" pitchFamily="34" charset="0"/>
              <a:ea typeface="宋体" panose="02010600030101010101" pitchFamily="2" charset="-122"/>
            </a:endParaRPr>
          </a:p>
        </p:txBody>
      </p:sp>
      <p:sp>
        <p:nvSpPr>
          <p:cNvPr id="9228" name="Text Box 12"/>
          <p:cNvSpPr txBox="1"/>
          <p:nvPr/>
        </p:nvSpPr>
        <p:spPr>
          <a:xfrm>
            <a:off x="1062038" y="2409828"/>
            <a:ext cx="5472112" cy="2062103"/>
          </a:xfrm>
          <a:prstGeom prst="rect">
            <a:avLst/>
          </a:prstGeom>
          <a:noFill/>
          <a:ln w="9525">
            <a:noFill/>
          </a:ln>
        </p:spPr>
        <p:txBody>
          <a:bodyPr anchor="t" anchorCtr="0">
            <a:spAutoFit/>
          </a:bodyPr>
          <a:lstStyle/>
          <a:p>
            <a:pPr>
              <a:spcBef>
                <a:spcPct val="50000"/>
              </a:spcBef>
              <a:buClrTx/>
              <a:buFontTx/>
            </a:pPr>
            <a:r>
              <a:rPr lang="zh-CN" altLang="en-US" sz="3200" dirty="0">
                <a:latin typeface="Times New Roman" panose="02020603050405020304" pitchFamily="18" charset="0"/>
                <a:ea typeface="幼圆" pitchFamily="49" charset="-122"/>
              </a:rPr>
              <a:t>如       </a:t>
            </a:r>
            <a:r>
              <a:rPr lang="en-US" altLang="zh-CN" sz="3200" dirty="0">
                <a:latin typeface="Times New Roman" panose="02020603050405020304" pitchFamily="18" charset="0"/>
                <a:ea typeface="ˎ̥"/>
              </a:rPr>
              <a:t>CO             </a:t>
            </a:r>
            <a:r>
              <a:rPr lang="zh-CN" altLang="en-US" sz="3200" dirty="0">
                <a:latin typeface="Times New Roman" panose="02020603050405020304" pitchFamily="18" charset="0"/>
                <a:ea typeface="幼圆" pitchFamily="49" charset="-122"/>
              </a:rPr>
              <a:t>羰基</a:t>
            </a:r>
            <a:r>
              <a:rPr lang="zh-CN" altLang="en-US" sz="3200" b="0" dirty="0">
                <a:latin typeface="Arial" panose="020B0604020202020204" pitchFamily="34" charset="0"/>
                <a:ea typeface="ˎ̥"/>
              </a:rPr>
              <a:t> </a:t>
            </a:r>
            <a:endParaRPr lang="zh-CN" altLang="en-US" sz="1600" b="0" dirty="0">
              <a:latin typeface="Arial" panose="020B0604020202020204" pitchFamily="34" charset="0"/>
              <a:ea typeface="ˎ̥"/>
            </a:endParaRPr>
          </a:p>
          <a:p>
            <a:pPr>
              <a:lnSpc>
                <a:spcPct val="150000"/>
              </a:lnSpc>
              <a:buClrTx/>
              <a:buFontTx/>
            </a:pPr>
            <a:r>
              <a:rPr lang="zh-CN" altLang="en-US" sz="3200" dirty="0">
                <a:latin typeface="Times New Roman" panose="02020603050405020304" pitchFamily="18" charset="0"/>
                <a:ea typeface="幼圆" pitchFamily="49" charset="-122"/>
              </a:rPr>
              <a:t>           </a:t>
            </a:r>
            <a:r>
              <a:rPr lang="en-US" altLang="zh-CN" sz="3200" dirty="0">
                <a:latin typeface="Times New Roman" panose="02020603050405020304" pitchFamily="18" charset="0"/>
                <a:ea typeface="幼圆" pitchFamily="49" charset="-122"/>
              </a:rPr>
              <a:t>OH</a:t>
            </a:r>
            <a:r>
              <a:rPr lang="en-US" altLang="zh-CN" sz="3200" baseline="30000" dirty="0">
                <a:latin typeface="幼圆" pitchFamily="49" charset="-122"/>
                <a:ea typeface="幼圆" pitchFamily="49" charset="-122"/>
              </a:rPr>
              <a:t>-        </a:t>
            </a:r>
            <a:r>
              <a:rPr lang="zh-CN" altLang="en-US" sz="3200" dirty="0">
                <a:latin typeface="幼圆" pitchFamily="49" charset="-122"/>
                <a:ea typeface="幼圆" pitchFamily="49" charset="-122"/>
              </a:rPr>
              <a:t>羟基 </a:t>
            </a:r>
            <a:endParaRPr lang="zh-CN" altLang="en-US" sz="1600" b="0" dirty="0">
              <a:latin typeface="Arial" panose="020B0604020202020204" pitchFamily="34" charset="0"/>
              <a:ea typeface="ˎ̥"/>
            </a:endParaRPr>
          </a:p>
          <a:p>
            <a:pPr>
              <a:lnSpc>
                <a:spcPct val="150000"/>
              </a:lnSpc>
              <a:buClrTx/>
              <a:buFontTx/>
            </a:pPr>
            <a:r>
              <a:rPr lang="zh-CN" altLang="en-US" sz="3200" dirty="0">
                <a:latin typeface="幼圆" pitchFamily="49" charset="-122"/>
                <a:ea typeface="幼圆" pitchFamily="49" charset="-122"/>
              </a:rPr>
              <a:t>      </a:t>
            </a:r>
            <a:r>
              <a:rPr lang="en-US" altLang="zh-CN" sz="3200" dirty="0">
                <a:latin typeface="Times New Roman" panose="02020603050405020304" pitchFamily="18" charset="0"/>
                <a:ea typeface="幼圆" pitchFamily="49" charset="-122"/>
              </a:rPr>
              <a:t>NO          </a:t>
            </a:r>
            <a:r>
              <a:rPr lang="zh-CN" altLang="en-US" sz="3200" dirty="0">
                <a:latin typeface="Times New Roman" panose="02020603050405020304" pitchFamily="18" charset="0"/>
                <a:ea typeface="幼圆" pitchFamily="49" charset="-122"/>
              </a:rPr>
              <a:t>亚硝基</a:t>
            </a:r>
            <a:r>
              <a:rPr lang="zh-CN" altLang="en-US" sz="3200" b="0" dirty="0">
                <a:latin typeface="Times New Roman" panose="02020603050405020304" pitchFamily="18" charset="0"/>
                <a:ea typeface="幼圆" pitchFamily="49" charset="-122"/>
              </a:rPr>
              <a:t> </a:t>
            </a:r>
            <a:endParaRPr lang="zh-CN" altLang="en-US" sz="1600" b="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9228"/>
                                        </p:tgtEl>
                                        <p:attrNameLst>
                                          <p:attrName>style.visibility</p:attrName>
                                        </p:attrNameLst>
                                      </p:cBhvr>
                                      <p:to>
                                        <p:strVal val="visible"/>
                                      </p:to>
                                    </p:set>
                                    <p:animEffect transition="in" filter="box(out)">
                                      <p:cBhvr>
                                        <p:cTn id="7" dur="500"/>
                                        <p:tgtEl>
                                          <p:spTgt spid="9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0"/>
          <p:cNvSpPr/>
          <p:nvPr/>
        </p:nvSpPr>
        <p:spPr>
          <a:xfrm>
            <a:off x="215904" y="145946"/>
            <a:ext cx="3427413" cy="646331"/>
          </a:xfrm>
          <a:prstGeom prst="rect">
            <a:avLst/>
          </a:prstGeom>
          <a:solidFill>
            <a:srgbClr val="9900CC"/>
          </a:solidFill>
          <a:ln w="9525">
            <a:noFill/>
          </a:ln>
        </p:spPr>
        <p:txBody>
          <a:bodyPr anchor="ctr" anchorCtr="0">
            <a:spAutoFit/>
          </a:bodyPr>
          <a:lstStyle/>
          <a:p>
            <a:pPr eaLnBrk="0" hangingPunct="0">
              <a:buClrTx/>
              <a:buFontTx/>
            </a:pPr>
            <a:r>
              <a:rPr lang="en-US" altLang="zh-CN" sz="3600" dirty="0">
                <a:solidFill>
                  <a:srgbClr val="FFFF00"/>
                </a:solidFill>
                <a:latin typeface="华文新魏" pitchFamily="2" charset="-122"/>
                <a:ea typeface="华文新魏" pitchFamily="2" charset="-122"/>
              </a:rPr>
              <a:t>3.5.2 </a:t>
            </a:r>
            <a:r>
              <a:rPr lang="zh-CN" altLang="en-US" sz="3600" dirty="0">
                <a:solidFill>
                  <a:srgbClr val="FFFF00"/>
                </a:solidFill>
                <a:latin typeface="华文新魏" pitchFamily="2" charset="-122"/>
                <a:ea typeface="华文新魏" pitchFamily="2" charset="-122"/>
              </a:rPr>
              <a:t>配位平衡</a:t>
            </a:r>
            <a:r>
              <a:rPr lang="zh-CN" altLang="en-US" sz="3600" b="0" dirty="0">
                <a:solidFill>
                  <a:srgbClr val="FFFF00"/>
                </a:solidFill>
                <a:latin typeface="华文新魏" pitchFamily="2" charset="-122"/>
                <a:ea typeface="华文新魏" pitchFamily="2" charset="-122"/>
              </a:rPr>
              <a:t> </a:t>
            </a:r>
          </a:p>
        </p:txBody>
      </p:sp>
      <p:sp>
        <p:nvSpPr>
          <p:cNvPr id="90114" name="Text Box 21"/>
          <p:cNvSpPr txBox="1"/>
          <p:nvPr/>
        </p:nvSpPr>
        <p:spPr>
          <a:xfrm>
            <a:off x="250825" y="839790"/>
            <a:ext cx="2808288" cy="646331"/>
          </a:xfrm>
          <a:prstGeom prst="rect">
            <a:avLst/>
          </a:prstGeom>
          <a:solidFill>
            <a:srgbClr val="92D050"/>
          </a:solidFill>
          <a:ln w="9525">
            <a:noFill/>
          </a:ln>
        </p:spPr>
        <p:txBody>
          <a:bodyPr anchor="t" anchorCtr="0">
            <a:spAutoFit/>
          </a:bodyPr>
          <a:lstStyle/>
          <a:p>
            <a:pPr>
              <a:spcBef>
                <a:spcPct val="50000"/>
              </a:spcBef>
              <a:buClrTx/>
              <a:buFontTx/>
            </a:pPr>
            <a:r>
              <a:rPr lang="zh-CN" altLang="en-US" sz="3600" b="0" dirty="0">
                <a:latin typeface="华文新魏" pitchFamily="2" charset="-122"/>
                <a:ea typeface="华文新魏" pitchFamily="2" charset="-122"/>
              </a:rPr>
              <a:t> </a:t>
            </a:r>
            <a:r>
              <a:rPr lang="en-US" altLang="zh-CN" sz="3600" b="0" dirty="0">
                <a:latin typeface="华文新魏" pitchFamily="2" charset="-122"/>
                <a:ea typeface="华文新魏" pitchFamily="2" charset="-122"/>
              </a:rPr>
              <a:t>1.</a:t>
            </a:r>
            <a:r>
              <a:rPr lang="zh-CN" altLang="en-US" sz="3600" b="0" dirty="0">
                <a:latin typeface="华文新魏" pitchFamily="2" charset="-122"/>
                <a:ea typeface="华文新魏" pitchFamily="2" charset="-122"/>
              </a:rPr>
              <a:t>配位平衡 </a:t>
            </a:r>
          </a:p>
        </p:txBody>
      </p:sp>
      <p:sp>
        <p:nvSpPr>
          <p:cNvPr id="90115" name="Rectangle 24"/>
          <p:cNvSpPr/>
          <p:nvPr/>
        </p:nvSpPr>
        <p:spPr>
          <a:xfrm>
            <a:off x="5" y="22815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0116" name="Rectangle 27"/>
          <p:cNvSpPr/>
          <p:nvPr/>
        </p:nvSpPr>
        <p:spPr>
          <a:xfrm>
            <a:off x="5" y="2221242"/>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0117" name="Rectangle 29"/>
          <p:cNvSpPr/>
          <p:nvPr/>
        </p:nvSpPr>
        <p:spPr>
          <a:xfrm>
            <a:off x="5" y="222441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0118" name="Rectangle 34"/>
          <p:cNvSpPr/>
          <p:nvPr/>
        </p:nvSpPr>
        <p:spPr>
          <a:xfrm>
            <a:off x="5" y="2135517"/>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0119" name="Rectangle 36"/>
          <p:cNvSpPr/>
          <p:nvPr/>
        </p:nvSpPr>
        <p:spPr>
          <a:xfrm>
            <a:off x="5" y="2135517"/>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2" name="Group 63"/>
          <p:cNvGrpSpPr/>
          <p:nvPr/>
        </p:nvGrpSpPr>
        <p:grpSpPr>
          <a:xfrm>
            <a:off x="152400" y="1427314"/>
            <a:ext cx="8820150" cy="1194535"/>
            <a:chOff x="204" y="549"/>
            <a:chExt cx="5556" cy="1004"/>
          </a:xfrm>
        </p:grpSpPr>
        <p:graphicFrame>
          <p:nvGraphicFramePr>
            <p:cNvPr id="90121" name="Object 23"/>
            <p:cNvGraphicFramePr>
              <a:graphicFrameLocks noChangeAspect="1"/>
            </p:cNvGraphicFramePr>
            <p:nvPr/>
          </p:nvGraphicFramePr>
          <p:xfrm>
            <a:off x="1429" y="799"/>
            <a:ext cx="362" cy="93"/>
          </p:xfrm>
          <a:graphic>
            <a:graphicData uri="http://schemas.openxmlformats.org/presentationml/2006/ole">
              <mc:AlternateContent xmlns:mc="http://schemas.openxmlformats.org/markup-compatibility/2006">
                <mc:Choice xmlns:v="urn:schemas-microsoft-com:vml" Requires="v">
                  <p:oleObj r:id="rId2" imgW="676275" imgH="171450" progId="Equation.3">
                    <p:embed/>
                  </p:oleObj>
                </mc:Choice>
                <mc:Fallback>
                  <p:oleObj r:id="rId2" imgW="676275" imgH="171450" progId="Equation.3">
                    <p:embed/>
                    <p:pic>
                      <p:nvPicPr>
                        <p:cNvPr id="0" name="图片 3180"/>
                        <p:cNvPicPr/>
                        <p:nvPr/>
                      </p:nvPicPr>
                      <p:blipFill>
                        <a:blip r:embed="rId3"/>
                        <a:stretch>
                          <a:fillRect/>
                        </a:stretch>
                      </p:blipFill>
                      <p:spPr>
                        <a:xfrm>
                          <a:off x="1429" y="799"/>
                          <a:ext cx="362" cy="93"/>
                        </a:xfrm>
                        <a:prstGeom prst="rect">
                          <a:avLst/>
                        </a:prstGeom>
                        <a:noFill/>
                        <a:ln w="38100">
                          <a:noFill/>
                          <a:miter/>
                        </a:ln>
                      </p:spPr>
                    </p:pic>
                  </p:oleObj>
                </mc:Fallback>
              </mc:AlternateContent>
            </a:graphicData>
          </a:graphic>
        </p:graphicFrame>
        <p:grpSp>
          <p:nvGrpSpPr>
            <p:cNvPr id="90122" name="Group 62"/>
            <p:cNvGrpSpPr/>
            <p:nvPr/>
          </p:nvGrpSpPr>
          <p:grpSpPr>
            <a:xfrm>
              <a:off x="204" y="549"/>
              <a:ext cx="5556" cy="1004"/>
              <a:chOff x="204" y="958"/>
              <a:chExt cx="5556" cy="1004"/>
            </a:xfrm>
          </p:grpSpPr>
          <p:graphicFrame>
            <p:nvGraphicFramePr>
              <p:cNvPr id="90123" name="Object 25"/>
              <p:cNvGraphicFramePr>
                <a:graphicFrameLocks noChangeAspect="1"/>
              </p:cNvGraphicFramePr>
              <p:nvPr/>
            </p:nvGraphicFramePr>
            <p:xfrm>
              <a:off x="1412" y="1549"/>
              <a:ext cx="362" cy="93"/>
            </p:xfrm>
            <a:graphic>
              <a:graphicData uri="http://schemas.openxmlformats.org/presentationml/2006/ole">
                <mc:AlternateContent xmlns:mc="http://schemas.openxmlformats.org/markup-compatibility/2006">
                  <mc:Choice xmlns:v="urn:schemas-microsoft-com:vml" Requires="v">
                    <p:oleObj r:id="rId4" imgW="676275" imgH="171450" progId="Equation.3">
                      <p:embed/>
                    </p:oleObj>
                  </mc:Choice>
                  <mc:Fallback>
                    <p:oleObj r:id="rId4" imgW="676275" imgH="171450" progId="Equation.3">
                      <p:embed/>
                      <p:pic>
                        <p:nvPicPr>
                          <p:cNvPr id="0" name="图片 3181"/>
                          <p:cNvPicPr/>
                          <p:nvPr/>
                        </p:nvPicPr>
                        <p:blipFill>
                          <a:blip r:embed="rId3"/>
                          <a:stretch>
                            <a:fillRect/>
                          </a:stretch>
                        </p:blipFill>
                        <p:spPr>
                          <a:xfrm>
                            <a:off x="1412" y="1549"/>
                            <a:ext cx="362" cy="93"/>
                          </a:xfrm>
                          <a:prstGeom prst="rect">
                            <a:avLst/>
                          </a:prstGeom>
                          <a:noFill/>
                          <a:ln w="38100">
                            <a:noFill/>
                            <a:miter/>
                          </a:ln>
                        </p:spPr>
                      </p:pic>
                    </p:oleObj>
                  </mc:Fallback>
                </mc:AlternateContent>
              </a:graphicData>
            </a:graphic>
          </p:graphicFrame>
          <p:grpSp>
            <p:nvGrpSpPr>
              <p:cNvPr id="90124" name="Group 61"/>
              <p:cNvGrpSpPr/>
              <p:nvPr/>
            </p:nvGrpSpPr>
            <p:grpSpPr>
              <a:xfrm>
                <a:off x="204" y="958"/>
                <a:ext cx="5556" cy="1004"/>
                <a:chOff x="136" y="1230"/>
                <a:chExt cx="5556" cy="1004"/>
              </a:xfrm>
            </p:grpSpPr>
            <p:sp>
              <p:nvSpPr>
                <p:cNvPr id="90125" name="Text Box 22"/>
                <p:cNvSpPr txBox="1"/>
                <p:nvPr/>
              </p:nvSpPr>
              <p:spPr>
                <a:xfrm>
                  <a:off x="136" y="1276"/>
                  <a:ext cx="5556" cy="905"/>
                </a:xfrm>
                <a:prstGeom prst="rect">
                  <a:avLst/>
                </a:prstGeom>
                <a:noFill/>
                <a:ln w="9525">
                  <a:noFill/>
                </a:ln>
              </p:spPr>
              <p:txBody>
                <a:bodyPr anchor="t" anchorCtr="0">
                  <a:spAutoFit/>
                </a:bodyPr>
                <a:lstStyle/>
                <a:p>
                  <a:pPr>
                    <a:lnSpc>
                      <a:spcPct val="120000"/>
                    </a:lnSpc>
                    <a:buClrTx/>
                    <a:buFontTx/>
                  </a:pPr>
                  <a:r>
                    <a:rPr lang="en-US" altLang="zh-CN" dirty="0">
                      <a:latin typeface="Times New Roman" panose="02020603050405020304" pitchFamily="18" charset="0"/>
                      <a:ea typeface="宋体" panose="02010600030101010101" pitchFamily="2" charset="-122"/>
                    </a:rPr>
                    <a:t>[Cu(NH</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Cu</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+4NH</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en-US" altLang="zh-CN" baseline="-25000" dirty="0">
                      <a:latin typeface="Times New Roman" panose="02020603050405020304" pitchFamily="18" charset="0"/>
                      <a:ea typeface="宋体" panose="02010600030101010101" pitchFamily="2" charset="-122"/>
                    </a:rPr>
                    <a:t>(</a:t>
                  </a:r>
                  <a:r>
                    <a:rPr lang="zh-CN" altLang="en-US" baseline="-25000" dirty="0">
                      <a:latin typeface="Times New Roman" panose="02020603050405020304" pitchFamily="18" charset="0"/>
                      <a:ea typeface="宋体" panose="02010600030101010101" pitchFamily="2" charset="-122"/>
                    </a:rPr>
                    <a:t>不稳</a:t>
                  </a:r>
                  <a:r>
                    <a:rPr lang="en-US" altLang="zh-CN" baseline="-250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p>
                <a:p>
                  <a:pPr>
                    <a:lnSpc>
                      <a:spcPct val="120000"/>
                    </a:lnSpc>
                    <a:buClrTx/>
                    <a:buFontTx/>
                  </a:pPr>
                  <a:r>
                    <a:rPr lang="en-US" altLang="zh-CN" dirty="0">
                      <a:latin typeface="Times New Roman" panose="02020603050405020304" pitchFamily="18" charset="0"/>
                      <a:ea typeface="宋体" panose="02010600030101010101" pitchFamily="2" charset="-122"/>
                    </a:rPr>
                    <a:t> Cu</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+4NH</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       [Cu(NH</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en-US" altLang="zh-CN" baseline="-25000" dirty="0">
                      <a:latin typeface="Times New Roman" panose="02020603050405020304" pitchFamily="18" charset="0"/>
                      <a:ea typeface="宋体" panose="02010600030101010101" pitchFamily="2" charset="-122"/>
                    </a:rPr>
                    <a:t>(</a:t>
                  </a:r>
                  <a:r>
                    <a:rPr lang="zh-CN" altLang="en-US" baseline="-25000" dirty="0">
                      <a:latin typeface="Times New Roman" panose="02020603050405020304" pitchFamily="18" charset="0"/>
                      <a:ea typeface="宋体" panose="02010600030101010101" pitchFamily="2" charset="-122"/>
                    </a:rPr>
                    <a:t>稳</a:t>
                  </a:r>
                  <a:r>
                    <a:rPr lang="en-US" altLang="zh-CN" baseline="-25000"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90126" name="Object 26"/>
                <p:cNvGraphicFramePr>
                  <a:graphicFrameLocks noChangeAspect="1"/>
                </p:cNvGraphicFramePr>
                <p:nvPr/>
              </p:nvGraphicFramePr>
              <p:xfrm>
                <a:off x="3158" y="1365"/>
                <a:ext cx="305" cy="331"/>
              </p:xfrm>
              <a:graphic>
                <a:graphicData uri="http://schemas.openxmlformats.org/presentationml/2006/ole">
                  <mc:AlternateContent xmlns:mc="http://schemas.openxmlformats.org/markup-compatibility/2006">
                    <mc:Choice xmlns:v="urn:schemas-microsoft-com:vml" Requires="v">
                      <p:oleObj r:id="rId5" imgW="222250" imgH="248920" progId="Equation.3">
                        <p:embed/>
                      </p:oleObj>
                    </mc:Choice>
                    <mc:Fallback>
                      <p:oleObj r:id="rId5" imgW="222250" imgH="248920" progId="Equation.3">
                        <p:embed/>
                        <p:pic>
                          <p:nvPicPr>
                            <p:cNvPr id="0" name="图片 3182"/>
                            <p:cNvPicPr/>
                            <p:nvPr/>
                          </p:nvPicPr>
                          <p:blipFill>
                            <a:blip r:embed="rId6"/>
                            <a:stretch>
                              <a:fillRect/>
                            </a:stretch>
                          </p:blipFill>
                          <p:spPr>
                            <a:xfrm>
                              <a:off x="3158" y="1365"/>
                              <a:ext cx="305" cy="331"/>
                            </a:xfrm>
                            <a:prstGeom prst="rect">
                              <a:avLst/>
                            </a:prstGeom>
                            <a:noFill/>
                            <a:ln w="38100">
                              <a:noFill/>
                              <a:miter/>
                            </a:ln>
                          </p:spPr>
                        </p:pic>
                      </p:oleObj>
                    </mc:Fallback>
                  </mc:AlternateContent>
                </a:graphicData>
              </a:graphic>
            </p:graphicFrame>
            <p:graphicFrame>
              <p:nvGraphicFramePr>
                <p:cNvPr id="90127" name="Object 28"/>
                <p:cNvGraphicFramePr>
                  <a:graphicFrameLocks noChangeAspect="1"/>
                </p:cNvGraphicFramePr>
                <p:nvPr/>
              </p:nvGraphicFramePr>
              <p:xfrm>
                <a:off x="3204" y="1756"/>
                <a:ext cx="262" cy="318"/>
              </p:xfrm>
              <a:graphic>
                <a:graphicData uri="http://schemas.openxmlformats.org/presentationml/2006/ole">
                  <mc:AlternateContent xmlns:mc="http://schemas.openxmlformats.org/markup-compatibility/2006">
                    <mc:Choice xmlns:v="urn:schemas-microsoft-com:vml" Requires="v">
                      <p:oleObj r:id="rId7" imgW="222885" imgH="236220" progId="Equation.3">
                        <p:embed/>
                      </p:oleObj>
                    </mc:Choice>
                    <mc:Fallback>
                      <p:oleObj r:id="rId7" imgW="222885" imgH="236220" progId="Equation.3">
                        <p:embed/>
                        <p:pic>
                          <p:nvPicPr>
                            <p:cNvPr id="0" name="图片 3183"/>
                            <p:cNvPicPr/>
                            <p:nvPr/>
                          </p:nvPicPr>
                          <p:blipFill>
                            <a:blip r:embed="rId8"/>
                            <a:stretch>
                              <a:fillRect/>
                            </a:stretch>
                          </p:blipFill>
                          <p:spPr>
                            <a:xfrm>
                              <a:off x="3204" y="1756"/>
                              <a:ext cx="262" cy="318"/>
                            </a:xfrm>
                            <a:prstGeom prst="rect">
                              <a:avLst/>
                            </a:prstGeom>
                            <a:noFill/>
                            <a:ln w="38100">
                              <a:noFill/>
                              <a:miter/>
                            </a:ln>
                          </p:spPr>
                        </p:pic>
                      </p:oleObj>
                    </mc:Fallback>
                  </mc:AlternateContent>
                </a:graphicData>
              </a:graphic>
            </p:graphicFrame>
            <p:graphicFrame>
              <p:nvGraphicFramePr>
                <p:cNvPr id="90128" name="Object 30"/>
                <p:cNvGraphicFramePr>
                  <a:graphicFrameLocks noChangeAspect="1"/>
                </p:cNvGraphicFramePr>
                <p:nvPr/>
              </p:nvGraphicFramePr>
              <p:xfrm>
                <a:off x="3612" y="1406"/>
                <a:ext cx="292" cy="343"/>
              </p:xfrm>
              <a:graphic>
                <a:graphicData uri="http://schemas.openxmlformats.org/presentationml/2006/ole">
                  <mc:AlternateContent xmlns:mc="http://schemas.openxmlformats.org/markup-compatibility/2006">
                    <mc:Choice xmlns:v="urn:schemas-microsoft-com:vml" Requires="v">
                      <p:oleObj r:id="rId9" imgW="222250" imgH="261620" progId="Equation.3">
                        <p:embed/>
                      </p:oleObj>
                    </mc:Choice>
                    <mc:Fallback>
                      <p:oleObj r:id="rId9" imgW="222250" imgH="261620" progId="Equation.3">
                        <p:embed/>
                        <p:pic>
                          <p:nvPicPr>
                            <p:cNvPr id="0" name="图片 3184"/>
                            <p:cNvPicPr/>
                            <p:nvPr/>
                          </p:nvPicPr>
                          <p:blipFill>
                            <a:blip r:embed="rId10"/>
                            <a:stretch>
                              <a:fillRect/>
                            </a:stretch>
                          </p:blipFill>
                          <p:spPr>
                            <a:xfrm>
                              <a:off x="3612" y="1406"/>
                              <a:ext cx="292" cy="343"/>
                            </a:xfrm>
                            <a:prstGeom prst="rect">
                              <a:avLst/>
                            </a:prstGeom>
                            <a:noFill/>
                            <a:ln w="38100">
                              <a:noFill/>
                              <a:miter/>
                            </a:ln>
                          </p:spPr>
                        </p:pic>
                      </p:oleObj>
                    </mc:Fallback>
                  </mc:AlternateContent>
                </a:graphicData>
              </a:graphic>
            </p:graphicFrame>
            <p:graphicFrame>
              <p:nvGraphicFramePr>
                <p:cNvPr id="90129" name="Object 32"/>
                <p:cNvGraphicFramePr>
                  <a:graphicFrameLocks noChangeAspect="1"/>
                </p:cNvGraphicFramePr>
                <p:nvPr/>
              </p:nvGraphicFramePr>
              <p:xfrm>
                <a:off x="3612" y="1716"/>
                <a:ext cx="292" cy="343"/>
              </p:xfrm>
              <a:graphic>
                <a:graphicData uri="http://schemas.openxmlformats.org/presentationml/2006/ole">
                  <mc:AlternateContent xmlns:mc="http://schemas.openxmlformats.org/markup-compatibility/2006">
                    <mc:Choice xmlns:v="urn:schemas-microsoft-com:vml" Requires="v">
                      <p:oleObj r:id="rId11" imgW="222250" imgH="261620" progId="Equation.3">
                        <p:embed/>
                      </p:oleObj>
                    </mc:Choice>
                    <mc:Fallback>
                      <p:oleObj r:id="rId11" imgW="222250" imgH="261620" progId="Equation.3">
                        <p:embed/>
                        <p:pic>
                          <p:nvPicPr>
                            <p:cNvPr id="0" name="图片 3185"/>
                            <p:cNvPicPr/>
                            <p:nvPr/>
                          </p:nvPicPr>
                          <p:blipFill>
                            <a:blip r:embed="rId10"/>
                            <a:stretch>
                              <a:fillRect/>
                            </a:stretch>
                          </p:blipFill>
                          <p:spPr>
                            <a:xfrm>
                              <a:off x="3612" y="1716"/>
                              <a:ext cx="292" cy="343"/>
                            </a:xfrm>
                            <a:prstGeom prst="rect">
                              <a:avLst/>
                            </a:prstGeom>
                            <a:noFill/>
                            <a:ln w="38100">
                              <a:noFill/>
                              <a:miter/>
                            </a:ln>
                          </p:spPr>
                        </p:pic>
                      </p:oleObj>
                    </mc:Fallback>
                  </mc:AlternateContent>
                </a:graphicData>
              </a:graphic>
            </p:graphicFrame>
            <p:graphicFrame>
              <p:nvGraphicFramePr>
                <p:cNvPr id="90130" name="Object 33"/>
                <p:cNvGraphicFramePr>
                  <a:graphicFrameLocks noChangeAspect="1"/>
                </p:cNvGraphicFramePr>
                <p:nvPr>
                  <p:extLst>
                    <p:ext uri="{D42A27DB-BD31-4B8C-83A1-F6EECF244321}">
                      <p14:modId xmlns:p14="http://schemas.microsoft.com/office/powerpoint/2010/main" val="2535504574"/>
                    </p:ext>
                  </p:extLst>
                </p:nvPr>
              </p:nvGraphicFramePr>
              <p:xfrm>
                <a:off x="4417" y="1230"/>
                <a:ext cx="1156" cy="469"/>
              </p:xfrm>
              <a:graphic>
                <a:graphicData uri="http://schemas.openxmlformats.org/presentationml/2006/ole">
                  <mc:AlternateContent xmlns:mc="http://schemas.openxmlformats.org/markup-compatibility/2006">
                    <mc:Choice xmlns:v="urn:schemas-microsoft-com:vml" Requires="v">
                      <p:oleObj r:id="rId12" imgW="1260475" imgH="471170" progId="Equation.DSMT4">
                        <p:embed/>
                      </p:oleObj>
                    </mc:Choice>
                    <mc:Fallback>
                      <p:oleObj r:id="rId12" imgW="1260475" imgH="471170" progId="Equation.DSMT4">
                        <p:embed/>
                        <p:pic>
                          <p:nvPicPr>
                            <p:cNvPr id="0" name="图片 3186"/>
                            <p:cNvPicPr/>
                            <p:nvPr/>
                          </p:nvPicPr>
                          <p:blipFill>
                            <a:blip r:embed="rId13"/>
                            <a:stretch>
                              <a:fillRect/>
                            </a:stretch>
                          </p:blipFill>
                          <p:spPr>
                            <a:xfrm>
                              <a:off x="4417" y="1230"/>
                              <a:ext cx="1156" cy="469"/>
                            </a:xfrm>
                            <a:prstGeom prst="rect">
                              <a:avLst/>
                            </a:prstGeom>
                            <a:solidFill>
                              <a:srgbClr val="FFFFCC"/>
                            </a:solidFill>
                            <a:ln w="38100">
                              <a:noFill/>
                              <a:miter/>
                            </a:ln>
                          </p:spPr>
                        </p:pic>
                      </p:oleObj>
                    </mc:Fallback>
                  </mc:AlternateContent>
                </a:graphicData>
              </a:graphic>
            </p:graphicFrame>
            <p:graphicFrame>
              <p:nvGraphicFramePr>
                <p:cNvPr id="90131" name="Object 35"/>
                <p:cNvGraphicFramePr>
                  <a:graphicFrameLocks noChangeAspect="1"/>
                </p:cNvGraphicFramePr>
                <p:nvPr>
                  <p:extLst>
                    <p:ext uri="{D42A27DB-BD31-4B8C-83A1-F6EECF244321}">
                      <p14:modId xmlns:p14="http://schemas.microsoft.com/office/powerpoint/2010/main" val="317967776"/>
                    </p:ext>
                  </p:extLst>
                </p:nvPr>
              </p:nvGraphicFramePr>
              <p:xfrm>
                <a:off x="4222" y="1768"/>
                <a:ext cx="1452" cy="466"/>
              </p:xfrm>
              <a:graphic>
                <a:graphicData uri="http://schemas.openxmlformats.org/presentationml/2006/ole">
                  <mc:AlternateContent xmlns:mc="http://schemas.openxmlformats.org/markup-compatibility/2006">
                    <mc:Choice xmlns:v="urn:schemas-microsoft-com:vml" Requires="v">
                      <p:oleObj name="Equation" r:id="rId14" imgW="1260475" imgH="471170" progId="Equation.DSMT4">
                        <p:embed/>
                      </p:oleObj>
                    </mc:Choice>
                    <mc:Fallback>
                      <p:oleObj name="Equation" r:id="rId14" imgW="1260475" imgH="471170" progId="Equation.DSMT4">
                        <p:embed/>
                        <p:pic>
                          <p:nvPicPr>
                            <p:cNvPr id="0" name="图片 3187"/>
                            <p:cNvPicPr/>
                            <p:nvPr/>
                          </p:nvPicPr>
                          <p:blipFill>
                            <a:blip r:embed="rId15"/>
                            <a:stretch>
                              <a:fillRect/>
                            </a:stretch>
                          </p:blipFill>
                          <p:spPr>
                            <a:xfrm>
                              <a:off x="4222" y="1768"/>
                              <a:ext cx="1452" cy="466"/>
                            </a:xfrm>
                            <a:prstGeom prst="rect">
                              <a:avLst/>
                            </a:prstGeom>
                            <a:solidFill>
                              <a:srgbClr val="FFFFCC"/>
                            </a:solidFill>
                            <a:ln w="38100">
                              <a:noFill/>
                              <a:miter/>
                            </a:ln>
                          </p:spPr>
                        </p:pic>
                      </p:oleObj>
                    </mc:Fallback>
                  </mc:AlternateContent>
                </a:graphicData>
              </a:graphic>
            </p:graphicFrame>
          </p:grpSp>
        </p:grpSp>
      </p:grpSp>
      <p:grpSp>
        <p:nvGrpSpPr>
          <p:cNvPr id="5" name="Group 50"/>
          <p:cNvGrpSpPr/>
          <p:nvPr/>
        </p:nvGrpSpPr>
        <p:grpSpPr>
          <a:xfrm>
            <a:off x="203200" y="2508754"/>
            <a:ext cx="8769350" cy="830657"/>
            <a:chOff x="183" y="2000"/>
            <a:chExt cx="5290" cy="697"/>
          </a:xfrm>
        </p:grpSpPr>
        <p:graphicFrame>
          <p:nvGraphicFramePr>
            <p:cNvPr id="90133" name="Object 37"/>
            <p:cNvGraphicFramePr>
              <a:graphicFrameLocks noChangeAspect="1"/>
            </p:cNvGraphicFramePr>
            <p:nvPr/>
          </p:nvGraphicFramePr>
          <p:xfrm>
            <a:off x="183" y="2059"/>
            <a:ext cx="319" cy="339"/>
          </p:xfrm>
          <a:graphic>
            <a:graphicData uri="http://schemas.openxmlformats.org/presentationml/2006/ole">
              <mc:AlternateContent xmlns:mc="http://schemas.openxmlformats.org/markup-compatibility/2006">
                <mc:Choice xmlns:v="urn:schemas-microsoft-com:vml" Requires="v">
                  <p:oleObj r:id="rId16" imgW="222250" imgH="248920" progId="Equation.3">
                    <p:embed/>
                  </p:oleObj>
                </mc:Choice>
                <mc:Fallback>
                  <p:oleObj r:id="rId16" imgW="222250" imgH="248920" progId="Equation.3">
                    <p:embed/>
                    <p:pic>
                      <p:nvPicPr>
                        <p:cNvPr id="0" name="图片 3188"/>
                        <p:cNvPicPr/>
                        <p:nvPr/>
                      </p:nvPicPr>
                      <p:blipFill>
                        <a:blip r:embed="rId6"/>
                        <a:stretch>
                          <a:fillRect/>
                        </a:stretch>
                      </p:blipFill>
                      <p:spPr>
                        <a:xfrm>
                          <a:off x="183" y="2059"/>
                          <a:ext cx="319" cy="339"/>
                        </a:xfrm>
                        <a:prstGeom prst="rect">
                          <a:avLst/>
                        </a:prstGeom>
                        <a:noFill/>
                        <a:ln w="38100">
                          <a:noFill/>
                          <a:miter/>
                        </a:ln>
                      </p:spPr>
                    </p:pic>
                  </p:oleObj>
                </mc:Fallback>
              </mc:AlternateContent>
            </a:graphicData>
          </a:graphic>
        </p:graphicFrame>
        <p:graphicFrame>
          <p:nvGraphicFramePr>
            <p:cNvPr id="90134" name="Object 42"/>
            <p:cNvGraphicFramePr>
              <a:graphicFrameLocks noChangeAspect="1"/>
            </p:cNvGraphicFramePr>
            <p:nvPr/>
          </p:nvGraphicFramePr>
          <p:xfrm>
            <a:off x="533" y="2085"/>
            <a:ext cx="306" cy="343"/>
          </p:xfrm>
          <a:graphic>
            <a:graphicData uri="http://schemas.openxmlformats.org/presentationml/2006/ole">
              <mc:AlternateContent xmlns:mc="http://schemas.openxmlformats.org/markup-compatibility/2006">
                <mc:Choice xmlns:v="urn:schemas-microsoft-com:vml" Requires="v">
                  <p:oleObj r:id="rId17" imgW="222250" imgH="261620" progId="Equation.3">
                    <p:embed/>
                  </p:oleObj>
                </mc:Choice>
                <mc:Fallback>
                  <p:oleObj r:id="rId17" imgW="222250" imgH="261620" progId="Equation.3">
                    <p:embed/>
                    <p:pic>
                      <p:nvPicPr>
                        <p:cNvPr id="0" name="图片 3189"/>
                        <p:cNvPicPr/>
                        <p:nvPr/>
                      </p:nvPicPr>
                      <p:blipFill>
                        <a:blip r:embed="rId10"/>
                        <a:stretch>
                          <a:fillRect/>
                        </a:stretch>
                      </p:blipFill>
                      <p:spPr>
                        <a:xfrm>
                          <a:off x="533" y="2085"/>
                          <a:ext cx="306" cy="343"/>
                        </a:xfrm>
                        <a:prstGeom prst="rect">
                          <a:avLst/>
                        </a:prstGeom>
                        <a:noFill/>
                        <a:ln w="38100">
                          <a:noFill/>
                          <a:miter/>
                        </a:ln>
                      </p:spPr>
                    </p:pic>
                  </p:oleObj>
                </mc:Fallback>
              </mc:AlternateContent>
            </a:graphicData>
          </a:graphic>
        </p:graphicFrame>
        <p:sp>
          <p:nvSpPr>
            <p:cNvPr id="90135" name="Text Box 45"/>
            <p:cNvSpPr txBox="1"/>
            <p:nvPr/>
          </p:nvSpPr>
          <p:spPr>
            <a:xfrm>
              <a:off x="189" y="2000"/>
              <a:ext cx="5284" cy="697"/>
            </a:xfrm>
            <a:prstGeom prst="rect">
              <a:avLst/>
            </a:prstGeom>
            <a:noFill/>
            <a:ln w="9525">
              <a:noFill/>
            </a:ln>
          </p:spPr>
          <p:txBody>
            <a:bodyPr anchor="t" anchorCtr="0">
              <a:spAutoFit/>
            </a:bodyPr>
            <a:lstStyle/>
            <a:p>
              <a:pPr>
                <a:buClrTx/>
                <a:buFontTx/>
              </a:pPr>
              <a:r>
                <a:rPr lang="zh-CN" altLang="en-US" sz="2400" dirty="0">
                  <a:latin typeface="宋体" panose="02010600030101010101" pitchFamily="2" charset="-122"/>
                  <a:ea typeface="宋体" panose="02010600030101010101" pitchFamily="2" charset="-122"/>
                </a:rPr>
                <a:t> （</a:t>
              </a:r>
              <a:r>
                <a:rPr lang="zh-CN" altLang="en-US" sz="2400" baseline="-25000" dirty="0">
                  <a:latin typeface="宋体" panose="02010600030101010101" pitchFamily="2" charset="-122"/>
                  <a:ea typeface="宋体" panose="02010600030101010101" pitchFamily="2" charset="-122"/>
                </a:rPr>
                <a:t>  </a:t>
              </a:r>
              <a:r>
                <a:rPr lang="en-US" altLang="zh-CN" sz="2400" baseline="-25000" dirty="0">
                  <a:latin typeface="宋体" panose="02010600030101010101" pitchFamily="2" charset="-122"/>
                  <a:ea typeface="宋体" panose="02010600030101010101" pitchFamily="2" charset="-122"/>
                </a:rPr>
                <a:t>(</a:t>
              </a:r>
              <a:r>
                <a:rPr lang="zh-CN" altLang="en-US" sz="2400" baseline="-25000" dirty="0">
                  <a:latin typeface="宋体" panose="02010600030101010101" pitchFamily="2" charset="-122"/>
                  <a:ea typeface="宋体" panose="02010600030101010101" pitchFamily="2" charset="-122"/>
                </a:rPr>
                <a:t>不稳</a:t>
              </a:r>
              <a:r>
                <a:rPr lang="en-US" altLang="zh-CN" sz="2400" baseline="-250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a:t>
              </a:r>
              <a:r>
                <a:rPr lang="zh-CN" altLang="en-US" sz="2400" dirty="0">
                  <a:latin typeface="幼圆" pitchFamily="49" charset="-122"/>
                  <a:ea typeface="幼圆" pitchFamily="49" charset="-122"/>
                </a:rPr>
                <a:t>配离子的解离常数，值越大，表示配离子的解离</a:t>
              </a:r>
              <a:endParaRPr lang="en-US" altLang="zh-CN" sz="2400" dirty="0">
                <a:latin typeface="幼圆" pitchFamily="49" charset="-122"/>
                <a:ea typeface="幼圆" pitchFamily="49" charset="-122"/>
              </a:endParaRPr>
            </a:p>
            <a:p>
              <a:pPr>
                <a:buClrTx/>
                <a:buFontTx/>
              </a:pPr>
              <a:r>
                <a:rPr lang="zh-CN" altLang="en-US" sz="2400" dirty="0">
                  <a:latin typeface="幼圆" pitchFamily="49" charset="-122"/>
                  <a:ea typeface="幼圆" pitchFamily="49" charset="-122"/>
                </a:rPr>
                <a:t>           趋势越大，该配离子在水溶液中越不稳定。</a:t>
              </a:r>
              <a:endParaRPr lang="zh-CN" altLang="en-US" sz="2400" b="0" dirty="0">
                <a:latin typeface="幼圆" pitchFamily="49" charset="-122"/>
                <a:ea typeface="幼圆" pitchFamily="49" charset="-122"/>
              </a:endParaRPr>
            </a:p>
          </p:txBody>
        </p:sp>
      </p:grpSp>
      <p:grpSp>
        <p:nvGrpSpPr>
          <p:cNvPr id="6" name="Group 48"/>
          <p:cNvGrpSpPr/>
          <p:nvPr/>
        </p:nvGrpSpPr>
        <p:grpSpPr>
          <a:xfrm>
            <a:off x="303213" y="3332163"/>
            <a:ext cx="8805862" cy="830657"/>
            <a:chOff x="330" y="3244"/>
            <a:chExt cx="5293" cy="697"/>
          </a:xfrm>
        </p:grpSpPr>
        <p:graphicFrame>
          <p:nvGraphicFramePr>
            <p:cNvPr id="90137" name="Object 41"/>
            <p:cNvGraphicFramePr>
              <a:graphicFrameLocks noChangeAspect="1"/>
            </p:cNvGraphicFramePr>
            <p:nvPr/>
          </p:nvGraphicFramePr>
          <p:xfrm>
            <a:off x="661" y="3339"/>
            <a:ext cx="292" cy="343"/>
          </p:xfrm>
          <a:graphic>
            <a:graphicData uri="http://schemas.openxmlformats.org/presentationml/2006/ole">
              <mc:AlternateContent xmlns:mc="http://schemas.openxmlformats.org/markup-compatibility/2006">
                <mc:Choice xmlns:v="urn:schemas-microsoft-com:vml" Requires="v">
                  <p:oleObj r:id="rId18" imgW="222250" imgH="261620" progId="Equation.3">
                    <p:embed/>
                  </p:oleObj>
                </mc:Choice>
                <mc:Fallback>
                  <p:oleObj r:id="rId18" imgW="222250" imgH="261620" progId="Equation.3">
                    <p:embed/>
                    <p:pic>
                      <p:nvPicPr>
                        <p:cNvPr id="0" name="图片 3190"/>
                        <p:cNvPicPr/>
                        <p:nvPr/>
                      </p:nvPicPr>
                      <p:blipFill>
                        <a:blip r:embed="rId10"/>
                        <a:stretch>
                          <a:fillRect/>
                        </a:stretch>
                      </p:blipFill>
                      <p:spPr>
                        <a:xfrm>
                          <a:off x="661" y="3339"/>
                          <a:ext cx="292" cy="343"/>
                        </a:xfrm>
                        <a:prstGeom prst="rect">
                          <a:avLst/>
                        </a:prstGeom>
                        <a:noFill/>
                        <a:ln w="38100">
                          <a:noFill/>
                          <a:miter/>
                        </a:ln>
                      </p:spPr>
                    </p:pic>
                  </p:oleObj>
                </mc:Fallback>
              </mc:AlternateContent>
            </a:graphicData>
          </a:graphic>
        </p:graphicFrame>
        <p:graphicFrame>
          <p:nvGraphicFramePr>
            <p:cNvPr id="90138" name="Object 44"/>
            <p:cNvGraphicFramePr>
              <a:graphicFrameLocks noChangeAspect="1"/>
            </p:cNvGraphicFramePr>
            <p:nvPr/>
          </p:nvGraphicFramePr>
          <p:xfrm>
            <a:off x="330" y="3275"/>
            <a:ext cx="262" cy="318"/>
          </p:xfrm>
          <a:graphic>
            <a:graphicData uri="http://schemas.openxmlformats.org/presentationml/2006/ole">
              <mc:AlternateContent xmlns:mc="http://schemas.openxmlformats.org/markup-compatibility/2006">
                <mc:Choice xmlns:v="urn:schemas-microsoft-com:vml" Requires="v">
                  <p:oleObj r:id="rId19" imgW="222885" imgH="236220" progId="Equation.3">
                    <p:embed/>
                  </p:oleObj>
                </mc:Choice>
                <mc:Fallback>
                  <p:oleObj r:id="rId19" imgW="222885" imgH="236220" progId="Equation.3">
                    <p:embed/>
                    <p:pic>
                      <p:nvPicPr>
                        <p:cNvPr id="0" name="图片 3191"/>
                        <p:cNvPicPr/>
                        <p:nvPr/>
                      </p:nvPicPr>
                      <p:blipFill>
                        <a:blip r:embed="rId8"/>
                        <a:stretch>
                          <a:fillRect/>
                        </a:stretch>
                      </p:blipFill>
                      <p:spPr>
                        <a:xfrm>
                          <a:off x="330" y="3275"/>
                          <a:ext cx="262" cy="318"/>
                        </a:xfrm>
                        <a:prstGeom prst="rect">
                          <a:avLst/>
                        </a:prstGeom>
                        <a:noFill/>
                        <a:ln w="38100">
                          <a:noFill/>
                          <a:miter/>
                        </a:ln>
                      </p:spPr>
                    </p:pic>
                  </p:oleObj>
                </mc:Fallback>
              </mc:AlternateContent>
            </a:graphicData>
          </a:graphic>
        </p:graphicFrame>
        <p:sp>
          <p:nvSpPr>
            <p:cNvPr id="90139" name="Text Box 47"/>
            <p:cNvSpPr txBox="1"/>
            <p:nvPr/>
          </p:nvSpPr>
          <p:spPr>
            <a:xfrm>
              <a:off x="543" y="3244"/>
              <a:ext cx="5080" cy="697"/>
            </a:xfrm>
            <a:prstGeom prst="rect">
              <a:avLst/>
            </a:prstGeom>
            <a:noFill/>
            <a:ln w="9525">
              <a:noFill/>
            </a:ln>
          </p:spPr>
          <p:txBody>
            <a:bodyPr anchor="t" anchorCtr="0">
              <a:spAutoFit/>
            </a:bodyPr>
            <a:lstStyle/>
            <a:p>
              <a:pPr>
                <a:buClrTx/>
                <a:buFontTx/>
              </a:pPr>
              <a:r>
                <a:rPr lang="en-US" altLang="zh-CN" sz="2400" dirty="0">
                  <a:latin typeface="宋体" panose="02010600030101010101" pitchFamily="2" charset="-122"/>
                  <a:ea typeface="宋体" panose="02010600030101010101" pitchFamily="2" charset="-122"/>
                </a:rPr>
                <a:t>(  </a:t>
              </a:r>
              <a:r>
                <a:rPr lang="en-US" altLang="zh-CN" sz="2400" baseline="-25000" dirty="0">
                  <a:latin typeface="宋体" panose="02010600030101010101" pitchFamily="2" charset="-122"/>
                  <a:ea typeface="宋体" panose="02010600030101010101" pitchFamily="2" charset="-122"/>
                </a:rPr>
                <a:t>(</a:t>
              </a:r>
              <a:r>
                <a:rPr lang="zh-CN" altLang="en-US" sz="2400" baseline="-25000" dirty="0">
                  <a:latin typeface="宋体" panose="02010600030101010101" pitchFamily="2" charset="-122"/>
                  <a:ea typeface="宋体" panose="02010600030101010101" pitchFamily="2" charset="-122"/>
                </a:rPr>
                <a:t>稳</a:t>
              </a:r>
              <a:r>
                <a:rPr lang="en-US" altLang="zh-CN" sz="2400" baseline="-250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幼圆" pitchFamily="49" charset="-122"/>
                  <a:ea typeface="幼圆" pitchFamily="49" charset="-122"/>
                </a:rPr>
                <a:t>配离子的生成常数</a:t>
              </a:r>
              <a:r>
                <a:rPr lang="en-US" altLang="zh-CN" sz="2400" dirty="0">
                  <a:latin typeface="幼圆" pitchFamily="49" charset="-122"/>
                  <a:ea typeface="幼圆" pitchFamily="49" charset="-122"/>
                </a:rPr>
                <a:t>,</a:t>
              </a:r>
              <a:r>
                <a:rPr lang="zh-CN" altLang="en-US" sz="2400" dirty="0">
                  <a:latin typeface="幼圆" pitchFamily="49" charset="-122"/>
                  <a:ea typeface="幼圆" pitchFamily="49" charset="-122"/>
                </a:rPr>
                <a:t>值越大，该配离子在水溶液</a:t>
              </a:r>
            </a:p>
            <a:p>
              <a:pPr>
                <a:buClrTx/>
                <a:buFontTx/>
              </a:pPr>
              <a:r>
                <a:rPr lang="zh-CN" altLang="en-US" sz="2400" dirty="0">
                  <a:latin typeface="幼圆" pitchFamily="49" charset="-122"/>
                  <a:ea typeface="幼圆" pitchFamily="49" charset="-122"/>
                </a:rPr>
                <a:t>        中越稳定。</a:t>
              </a:r>
              <a:r>
                <a:rPr lang="zh-CN" altLang="en-US" sz="2400" b="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 </a:t>
              </a:r>
            </a:p>
          </p:txBody>
        </p:sp>
      </p:grpSp>
      <p:grpSp>
        <p:nvGrpSpPr>
          <p:cNvPr id="7" name="Group 57"/>
          <p:cNvGrpSpPr/>
          <p:nvPr/>
        </p:nvGrpSpPr>
        <p:grpSpPr>
          <a:xfrm>
            <a:off x="368306" y="4078292"/>
            <a:ext cx="8353425" cy="830658"/>
            <a:chOff x="158" y="2883"/>
            <a:chExt cx="5262" cy="697"/>
          </a:xfrm>
        </p:grpSpPr>
        <p:grpSp>
          <p:nvGrpSpPr>
            <p:cNvPr id="90141" name="Group 54"/>
            <p:cNvGrpSpPr/>
            <p:nvPr/>
          </p:nvGrpSpPr>
          <p:grpSpPr>
            <a:xfrm>
              <a:off x="340" y="2883"/>
              <a:ext cx="5080" cy="697"/>
              <a:chOff x="340" y="2928"/>
              <a:chExt cx="5080" cy="697"/>
            </a:xfrm>
          </p:grpSpPr>
          <p:sp>
            <p:nvSpPr>
              <p:cNvPr id="90142" name="Text Box 51"/>
              <p:cNvSpPr txBox="1"/>
              <p:nvPr/>
            </p:nvSpPr>
            <p:spPr>
              <a:xfrm>
                <a:off x="340" y="2928"/>
                <a:ext cx="5080" cy="697"/>
              </a:xfrm>
              <a:prstGeom prst="rect">
                <a:avLst/>
              </a:prstGeom>
              <a:noFill/>
              <a:ln w="9525">
                <a:noFill/>
              </a:ln>
            </p:spPr>
            <p:txBody>
              <a:bodyPr anchor="t" anchorCtr="0">
                <a:spAutoFit/>
              </a:bodyPr>
              <a:lstStyle/>
              <a:p>
                <a:pPr>
                  <a:buClrTx/>
                  <a:buFontTx/>
                </a:pPr>
                <a:r>
                  <a:rPr lang="zh-CN" altLang="en-US" sz="2400" dirty="0">
                    <a:latin typeface="幼圆" pitchFamily="49" charset="-122"/>
                    <a:ea typeface="幼圆" pitchFamily="49" charset="-122"/>
                  </a:rPr>
                  <a:t>同一配离子的稳定常数与不稳定常数互为倒数，即</a:t>
                </a:r>
                <a:r>
                  <a:rPr lang="zh-CN" altLang="en-US" sz="2400" dirty="0">
                    <a:latin typeface="宋体" panose="02010600030101010101" pitchFamily="2" charset="-122"/>
                    <a:ea typeface="宋体" panose="02010600030101010101" pitchFamily="2" charset="-122"/>
                  </a:rPr>
                  <a:t>                           </a:t>
                </a:r>
              </a:p>
              <a:p>
                <a:pPr>
                  <a:buClrTx/>
                  <a:buFontTx/>
                </a:pPr>
                <a:r>
                  <a:rPr lang="en-US" altLang="zh-CN" sz="2400" dirty="0">
                    <a:latin typeface="宋体" panose="02010600030101010101" pitchFamily="2" charset="-122"/>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=1/</a:t>
                </a:r>
                <a:r>
                  <a:rPr lang="en-US" altLang="zh-CN"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p:txBody>
          </p:sp>
          <p:graphicFrame>
            <p:nvGraphicFramePr>
              <p:cNvPr id="90143" name="Object 52"/>
              <p:cNvGraphicFramePr>
                <a:graphicFrameLocks noChangeAspect="1"/>
              </p:cNvGraphicFramePr>
              <p:nvPr/>
            </p:nvGraphicFramePr>
            <p:xfrm>
              <a:off x="1837" y="3241"/>
              <a:ext cx="262" cy="318"/>
            </p:xfrm>
            <a:graphic>
              <a:graphicData uri="http://schemas.openxmlformats.org/presentationml/2006/ole">
                <mc:AlternateContent xmlns:mc="http://schemas.openxmlformats.org/markup-compatibility/2006">
                  <mc:Choice xmlns:v="urn:schemas-microsoft-com:vml" Requires="v">
                    <p:oleObj r:id="rId20" imgW="222885" imgH="236220" progId="Equation.3">
                      <p:embed/>
                    </p:oleObj>
                  </mc:Choice>
                  <mc:Fallback>
                    <p:oleObj r:id="rId20" imgW="222885" imgH="236220" progId="Equation.3">
                      <p:embed/>
                      <p:pic>
                        <p:nvPicPr>
                          <p:cNvPr id="0" name="图片 3192"/>
                          <p:cNvPicPr/>
                          <p:nvPr/>
                        </p:nvPicPr>
                        <p:blipFill>
                          <a:blip r:embed="rId8"/>
                          <a:stretch>
                            <a:fillRect/>
                          </a:stretch>
                        </p:blipFill>
                        <p:spPr>
                          <a:xfrm>
                            <a:off x="1837" y="3241"/>
                            <a:ext cx="262" cy="318"/>
                          </a:xfrm>
                          <a:prstGeom prst="rect">
                            <a:avLst/>
                          </a:prstGeom>
                          <a:noFill/>
                          <a:ln w="38100">
                            <a:noFill/>
                            <a:miter/>
                          </a:ln>
                        </p:spPr>
                      </p:pic>
                    </p:oleObj>
                  </mc:Fallback>
                </mc:AlternateContent>
              </a:graphicData>
            </a:graphic>
          </p:graphicFrame>
          <p:graphicFrame>
            <p:nvGraphicFramePr>
              <p:cNvPr id="90144" name="Object 53"/>
              <p:cNvGraphicFramePr>
                <a:graphicFrameLocks noChangeAspect="1"/>
              </p:cNvGraphicFramePr>
              <p:nvPr/>
            </p:nvGraphicFramePr>
            <p:xfrm>
              <a:off x="2426" y="3277"/>
              <a:ext cx="305" cy="331"/>
            </p:xfrm>
            <a:graphic>
              <a:graphicData uri="http://schemas.openxmlformats.org/presentationml/2006/ole">
                <mc:AlternateContent xmlns:mc="http://schemas.openxmlformats.org/markup-compatibility/2006">
                  <mc:Choice xmlns:v="urn:schemas-microsoft-com:vml" Requires="v">
                    <p:oleObj r:id="rId21" imgW="222250" imgH="248920" progId="Equation.3">
                      <p:embed/>
                    </p:oleObj>
                  </mc:Choice>
                  <mc:Fallback>
                    <p:oleObj r:id="rId21" imgW="222250" imgH="248920" progId="Equation.3">
                      <p:embed/>
                      <p:pic>
                        <p:nvPicPr>
                          <p:cNvPr id="0" name="图片 3193"/>
                          <p:cNvPicPr/>
                          <p:nvPr/>
                        </p:nvPicPr>
                        <p:blipFill>
                          <a:blip r:embed="rId6"/>
                          <a:stretch>
                            <a:fillRect/>
                          </a:stretch>
                        </p:blipFill>
                        <p:spPr>
                          <a:xfrm>
                            <a:off x="2426" y="3277"/>
                            <a:ext cx="305" cy="331"/>
                          </a:xfrm>
                          <a:prstGeom prst="rect">
                            <a:avLst/>
                          </a:prstGeom>
                          <a:noFill/>
                          <a:ln w="38100">
                            <a:noFill/>
                            <a:miter/>
                          </a:ln>
                        </p:spPr>
                      </p:pic>
                    </p:oleObj>
                  </mc:Fallback>
                </mc:AlternateContent>
              </a:graphicData>
            </a:graphic>
          </p:graphicFrame>
        </p:grpSp>
        <p:sp>
          <p:nvSpPr>
            <p:cNvPr id="90145" name="Oval 55"/>
            <p:cNvSpPr/>
            <p:nvPr/>
          </p:nvSpPr>
          <p:spPr>
            <a:xfrm>
              <a:off x="158" y="2886"/>
              <a:ext cx="137" cy="135"/>
            </a:xfrm>
            <a:prstGeom prst="ellipse">
              <a:avLst/>
            </a:prstGeom>
            <a:solidFill>
              <a:srgbClr val="3333FF"/>
            </a:solidFill>
            <a:ln w="9525">
              <a:noFill/>
            </a:ln>
          </p:spPr>
          <p:txBody>
            <a:bodyPr wrap="none" anchor="ctr" anchorCtr="0"/>
            <a:lstStyle/>
            <a:p>
              <a:pPr>
                <a:buClrTx/>
                <a:buFontTx/>
              </a:pPr>
              <a:endParaRPr lang="zh-CN" altLang="en-US" sz="1800" b="0" dirty="0">
                <a:latin typeface="Arial" panose="020B0604020202020204" pitchFamily="34" charset="0"/>
                <a:ea typeface="宋体" panose="02010600030101010101" pitchFamily="2" charset="-122"/>
              </a:endParaRPr>
            </a:p>
          </p:txBody>
        </p:sp>
      </p:grpSp>
      <p:grpSp>
        <p:nvGrpSpPr>
          <p:cNvPr id="9" name="Group 60"/>
          <p:cNvGrpSpPr/>
          <p:nvPr/>
        </p:nvGrpSpPr>
        <p:grpSpPr>
          <a:xfrm>
            <a:off x="265561" y="2224416"/>
            <a:ext cx="8101915" cy="1385270"/>
            <a:chOff x="158" y="2975"/>
            <a:chExt cx="4740" cy="904"/>
          </a:xfrm>
        </p:grpSpPr>
        <p:sp>
          <p:nvSpPr>
            <p:cNvPr id="90147" name="Oval 56"/>
            <p:cNvSpPr/>
            <p:nvPr/>
          </p:nvSpPr>
          <p:spPr>
            <a:xfrm>
              <a:off x="158" y="3522"/>
              <a:ext cx="137" cy="135"/>
            </a:xfrm>
            <a:prstGeom prst="ellipse">
              <a:avLst/>
            </a:prstGeom>
            <a:solidFill>
              <a:srgbClr val="3333FF"/>
            </a:solidFill>
            <a:ln w="9525">
              <a:noFill/>
            </a:ln>
          </p:spPr>
          <p:txBody>
            <a:bodyPr wrap="none" anchor="ctr" anchorCtr="0"/>
            <a:lstStyle/>
            <a:p>
              <a:pPr>
                <a:buClrTx/>
                <a:buFontTx/>
              </a:pPr>
              <a:endParaRPr lang="zh-CN" altLang="en-US" sz="1800" b="0" dirty="0">
                <a:latin typeface="Arial" panose="020B0604020202020204" pitchFamily="34" charset="0"/>
                <a:ea typeface="宋体" panose="02010600030101010101" pitchFamily="2" charset="-122"/>
              </a:endParaRPr>
            </a:p>
          </p:txBody>
        </p:sp>
        <p:sp>
          <p:nvSpPr>
            <p:cNvPr id="90148" name="Text Box 58"/>
            <p:cNvSpPr txBox="1"/>
            <p:nvPr/>
          </p:nvSpPr>
          <p:spPr>
            <a:xfrm>
              <a:off x="260" y="2975"/>
              <a:ext cx="4638" cy="904"/>
            </a:xfrm>
            <a:prstGeom prst="rect">
              <a:avLst/>
            </a:prstGeom>
            <a:solidFill>
              <a:srgbClr val="FFC000"/>
            </a:solidFill>
            <a:ln w="28575" cap="flat" cmpd="sng">
              <a:solidFill>
                <a:schemeClr val="bg2">
                  <a:lumMod val="60000"/>
                  <a:lumOff val="40000"/>
                </a:schemeClr>
              </a:solidFill>
              <a:prstDash val="solid"/>
              <a:miter/>
              <a:headEnd type="none" w="med" len="med"/>
              <a:tailEnd type="none" w="med" len="med"/>
            </a:ln>
          </p:spPr>
          <p:txBody>
            <a:bodyPr anchor="t" anchorCtr="0">
              <a:spAutoFit/>
            </a:bodyPr>
            <a:lstStyle/>
            <a:p>
              <a:pPr>
                <a:lnSpc>
                  <a:spcPct val="150000"/>
                </a:lnSpc>
                <a:buClrTx/>
                <a:buFontTx/>
              </a:pPr>
              <a:r>
                <a:rPr lang="zh-CN" altLang="en-US" dirty="0">
                  <a:latin typeface="幼圆" pitchFamily="49" charset="-122"/>
                  <a:ea typeface="幼圆" pitchFamily="49" charset="-122"/>
                </a:rPr>
                <a:t>同类型配离子，可以直接用   </a:t>
              </a:r>
              <a:r>
                <a:rPr lang="en-US" altLang="zh-CN" baseline="-25000" dirty="0">
                  <a:latin typeface="幼圆" pitchFamily="49" charset="-122"/>
                  <a:ea typeface="幼圆" pitchFamily="49" charset="-122"/>
                </a:rPr>
                <a:t>(</a:t>
              </a:r>
              <a:r>
                <a:rPr lang="zh-CN" altLang="en-US" baseline="-25000" dirty="0">
                  <a:latin typeface="幼圆" pitchFamily="49" charset="-122"/>
                  <a:ea typeface="幼圆" pitchFamily="49" charset="-122"/>
                </a:rPr>
                <a:t>稳</a:t>
              </a:r>
              <a:r>
                <a:rPr lang="en-US" altLang="zh-CN" baseline="-25000" dirty="0">
                  <a:latin typeface="幼圆" pitchFamily="49" charset="-122"/>
                  <a:ea typeface="幼圆" pitchFamily="49" charset="-122"/>
                </a:rPr>
                <a:t>)</a:t>
              </a:r>
              <a:r>
                <a:rPr lang="zh-CN" altLang="en-US" dirty="0">
                  <a:latin typeface="幼圆" pitchFamily="49" charset="-122"/>
                  <a:ea typeface="幼圆" pitchFamily="49" charset="-122"/>
                </a:rPr>
                <a:t>比较其稳定性；</a:t>
              </a:r>
            </a:p>
            <a:p>
              <a:pPr>
                <a:lnSpc>
                  <a:spcPct val="150000"/>
                </a:lnSpc>
                <a:buClrTx/>
                <a:buFontTx/>
              </a:pPr>
              <a:r>
                <a:rPr lang="zh-CN" altLang="en-US" dirty="0">
                  <a:latin typeface="幼圆" pitchFamily="49" charset="-122"/>
                  <a:ea typeface="幼圆" pitchFamily="49" charset="-122"/>
                </a:rPr>
                <a:t>不同类型配离子，需通过计算比较其稳定性。</a:t>
              </a:r>
              <a:r>
                <a:rPr lang="zh-CN" altLang="en-US" sz="2400" dirty="0">
                  <a:latin typeface="幼圆" pitchFamily="49" charset="-122"/>
                  <a:ea typeface="幼圆" pitchFamily="49" charset="-122"/>
                </a:rPr>
                <a:t> </a:t>
              </a:r>
            </a:p>
          </p:txBody>
        </p:sp>
        <p:graphicFrame>
          <p:nvGraphicFramePr>
            <p:cNvPr id="90149" name="Object 59"/>
            <p:cNvGraphicFramePr>
              <a:graphicFrameLocks noChangeAspect="1"/>
            </p:cNvGraphicFramePr>
            <p:nvPr>
              <p:extLst>
                <p:ext uri="{D42A27DB-BD31-4B8C-83A1-F6EECF244321}">
                  <p14:modId xmlns:p14="http://schemas.microsoft.com/office/powerpoint/2010/main" val="2109452165"/>
                </p:ext>
              </p:extLst>
            </p:nvPr>
          </p:nvGraphicFramePr>
          <p:xfrm>
            <a:off x="2872" y="3102"/>
            <a:ext cx="262" cy="318"/>
          </p:xfrm>
          <a:graphic>
            <a:graphicData uri="http://schemas.openxmlformats.org/presentationml/2006/ole">
              <mc:AlternateContent xmlns:mc="http://schemas.openxmlformats.org/markup-compatibility/2006">
                <mc:Choice xmlns:v="urn:schemas-microsoft-com:vml" Requires="v">
                  <p:oleObj r:id="rId22" imgW="222885" imgH="236220" progId="Equation.3">
                    <p:embed/>
                  </p:oleObj>
                </mc:Choice>
                <mc:Fallback>
                  <p:oleObj r:id="rId22" imgW="222885" imgH="236220" progId="Equation.3">
                    <p:embed/>
                    <p:pic>
                      <p:nvPicPr>
                        <p:cNvPr id="0" name="图片 3194"/>
                        <p:cNvPicPr/>
                        <p:nvPr/>
                      </p:nvPicPr>
                      <p:blipFill>
                        <a:blip r:embed="rId8"/>
                        <a:stretch>
                          <a:fillRect/>
                        </a:stretch>
                      </p:blipFill>
                      <p:spPr>
                        <a:xfrm>
                          <a:off x="2872" y="3102"/>
                          <a:ext cx="262" cy="318"/>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ox(in)">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amond(in)">
                                      <p:cBhvr>
                                        <p:cTn id="2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10"/>
          <p:cNvSpPr/>
          <p:nvPr/>
        </p:nvSpPr>
        <p:spPr>
          <a:xfrm>
            <a:off x="28581" y="411057"/>
            <a:ext cx="3877985" cy="646331"/>
          </a:xfrm>
          <a:prstGeom prst="rect">
            <a:avLst/>
          </a:prstGeom>
          <a:solidFill>
            <a:srgbClr val="92D050"/>
          </a:solidFill>
          <a:ln w="9525">
            <a:noFill/>
          </a:ln>
        </p:spPr>
        <p:txBody>
          <a:bodyPr wrap="none" anchor="ctr" anchorCtr="0">
            <a:spAutoFit/>
          </a:bodyPr>
          <a:lstStyle/>
          <a:p>
            <a:pPr eaLnBrk="0" hangingPunct="0">
              <a:buClrTx/>
              <a:buFontTx/>
            </a:pPr>
            <a:r>
              <a:rPr lang="en-US" altLang="zh-CN" sz="3600" dirty="0">
                <a:latin typeface="Times New Roman" panose="02020603050405020304" pitchFamily="18" charset="0"/>
                <a:ea typeface="华文新魏" pitchFamily="2" charset="-122"/>
              </a:rPr>
              <a:t>2.</a:t>
            </a:r>
            <a:r>
              <a:rPr lang="zh-CN" altLang="en-US" sz="3600" dirty="0">
                <a:latin typeface="Times New Roman" panose="02020603050405020304" pitchFamily="18" charset="0"/>
                <a:ea typeface="华文新魏" pitchFamily="2" charset="-122"/>
              </a:rPr>
              <a:t>配位平衡的移动 </a:t>
            </a:r>
          </a:p>
        </p:txBody>
      </p:sp>
      <p:sp>
        <p:nvSpPr>
          <p:cNvPr id="10251" name="Rectangle 11"/>
          <p:cNvSpPr/>
          <p:nvPr/>
        </p:nvSpPr>
        <p:spPr>
          <a:xfrm>
            <a:off x="92080" y="1177461"/>
            <a:ext cx="3028393" cy="523220"/>
          </a:xfrm>
          <a:prstGeom prst="rect">
            <a:avLst/>
          </a:prstGeom>
          <a:noFill/>
          <a:ln w="9525">
            <a:noFill/>
          </a:ln>
        </p:spPr>
        <p:txBody>
          <a:bodyPr wrap="none" anchor="ctr" anchorCtr="0">
            <a:spAutoFit/>
          </a:bodyPr>
          <a:lstStyle/>
          <a:p>
            <a:pPr eaLnBrk="0" hangingPunct="0">
              <a:buClrTx/>
              <a:buFontTx/>
            </a:pPr>
            <a:r>
              <a:rPr lang="en-US" altLang="zh-CN" b="0" dirty="0">
                <a:solidFill>
                  <a:srgbClr val="C00000"/>
                </a:solidFill>
                <a:latin typeface="微软雅黑" panose="020B0503020204020204" pitchFamily="34" charset="-122"/>
                <a:ea typeface="微软雅黑" panose="020B0503020204020204" pitchFamily="34" charset="-122"/>
              </a:rPr>
              <a:t>1) </a:t>
            </a:r>
            <a:r>
              <a:rPr lang="zh-CN" altLang="en-US" b="0" dirty="0">
                <a:solidFill>
                  <a:srgbClr val="C00000"/>
                </a:solidFill>
                <a:latin typeface="微软雅黑" panose="020B0503020204020204" pitchFamily="34" charset="-122"/>
                <a:ea typeface="微软雅黑" panose="020B0503020204020204" pitchFamily="34" charset="-122"/>
              </a:rPr>
              <a:t>改变溶液的</a:t>
            </a:r>
            <a:r>
              <a:rPr lang="en-US" altLang="zh-CN" b="0" dirty="0">
                <a:solidFill>
                  <a:srgbClr val="C00000"/>
                </a:solidFill>
                <a:latin typeface="微软雅黑" panose="020B0503020204020204" pitchFamily="34" charset="-122"/>
                <a:ea typeface="微软雅黑" panose="020B0503020204020204" pitchFamily="34" charset="-122"/>
              </a:rPr>
              <a:t>pH </a:t>
            </a:r>
          </a:p>
        </p:txBody>
      </p:sp>
      <p:grpSp>
        <p:nvGrpSpPr>
          <p:cNvPr id="2" name="Group 16"/>
          <p:cNvGrpSpPr/>
          <p:nvPr/>
        </p:nvGrpSpPr>
        <p:grpSpPr>
          <a:xfrm>
            <a:off x="1979617" y="3076580"/>
            <a:ext cx="5545137" cy="461963"/>
            <a:chOff x="1020" y="2212"/>
            <a:chExt cx="3493" cy="388"/>
          </a:xfrm>
        </p:grpSpPr>
        <p:sp>
          <p:nvSpPr>
            <p:cNvPr id="91140" name="Text Box 12"/>
            <p:cNvSpPr txBox="1"/>
            <p:nvPr/>
          </p:nvSpPr>
          <p:spPr>
            <a:xfrm>
              <a:off x="1020" y="2212"/>
              <a:ext cx="3493" cy="388"/>
            </a:xfrm>
            <a:prstGeom prst="rect">
              <a:avLst/>
            </a:prstGeom>
            <a:noFill/>
            <a:ln w="9525">
              <a:noFill/>
            </a:ln>
          </p:spPr>
          <p:txBody>
            <a:bodyPr anchor="t" anchorCtr="0">
              <a:spAutoFit/>
            </a:bodyPr>
            <a:lstStyle/>
            <a:p>
              <a:pPr>
                <a:spcBef>
                  <a:spcPct val="50000"/>
                </a:spcBef>
                <a:buClrTx/>
                <a:buFontTx/>
              </a:pPr>
              <a:r>
                <a:rPr lang="en-US" altLang="zh-CN" sz="2400" dirty="0">
                  <a:latin typeface="Times New Roman" panose="02020603050405020304" pitchFamily="18" charset="0"/>
                  <a:ea typeface="华文新魏" pitchFamily="2" charset="-122"/>
                </a:rPr>
                <a:t>[Cu(NH</a:t>
              </a:r>
              <a:r>
                <a:rPr lang="en-US" altLang="zh-CN" sz="2400" baseline="-25000" dirty="0">
                  <a:latin typeface="Times New Roman" panose="02020603050405020304" pitchFamily="18" charset="0"/>
                  <a:ea typeface="华文新魏" pitchFamily="2" charset="-122"/>
                </a:rPr>
                <a:t>3</a:t>
              </a:r>
              <a:r>
                <a:rPr lang="en-US" altLang="zh-CN" sz="2400" dirty="0">
                  <a:latin typeface="Times New Roman" panose="02020603050405020304" pitchFamily="18" charset="0"/>
                  <a:ea typeface="华文新魏" pitchFamily="2" charset="-122"/>
                </a:rPr>
                <a:t>)</a:t>
              </a:r>
              <a:r>
                <a:rPr lang="en-US" altLang="zh-CN" sz="2400" baseline="-25000" dirty="0">
                  <a:latin typeface="Times New Roman" panose="02020603050405020304" pitchFamily="18" charset="0"/>
                  <a:ea typeface="华文新魏" pitchFamily="2" charset="-122"/>
                </a:rPr>
                <a:t>4</a:t>
              </a:r>
              <a:r>
                <a:rPr lang="en-US" altLang="zh-CN" sz="2400" dirty="0">
                  <a:latin typeface="Times New Roman" panose="02020603050405020304" pitchFamily="18" charset="0"/>
                  <a:ea typeface="华文新魏" pitchFamily="2" charset="-122"/>
                </a:rPr>
                <a:t>]</a:t>
              </a:r>
              <a:r>
                <a:rPr lang="en-US" altLang="zh-CN" sz="2400" baseline="30000" dirty="0">
                  <a:latin typeface="Times New Roman" panose="02020603050405020304" pitchFamily="18" charset="0"/>
                  <a:ea typeface="华文新魏" pitchFamily="2" charset="-122"/>
                </a:rPr>
                <a:t>2+</a:t>
              </a:r>
              <a:r>
                <a:rPr lang="en-US" altLang="zh-CN" sz="2400" dirty="0">
                  <a:latin typeface="Times New Roman" panose="02020603050405020304" pitchFamily="18" charset="0"/>
                  <a:ea typeface="华文新魏" pitchFamily="2" charset="-122"/>
                </a:rPr>
                <a:t> +4H</a:t>
              </a:r>
              <a:r>
                <a:rPr lang="en-US" altLang="zh-CN" sz="2400" baseline="30000" dirty="0">
                  <a:latin typeface="Times New Roman" panose="02020603050405020304" pitchFamily="18" charset="0"/>
                  <a:ea typeface="华文新魏" pitchFamily="2" charset="-122"/>
                </a:rPr>
                <a:t>+</a:t>
              </a:r>
              <a:r>
                <a:rPr lang="en-US" altLang="zh-CN" sz="2400" dirty="0">
                  <a:latin typeface="Times New Roman" panose="02020603050405020304" pitchFamily="18" charset="0"/>
                  <a:ea typeface="华文新魏" pitchFamily="2" charset="-122"/>
                </a:rPr>
                <a:t>         Cu</a:t>
              </a:r>
              <a:r>
                <a:rPr lang="en-US" altLang="zh-CN" sz="2400" baseline="30000" dirty="0">
                  <a:latin typeface="Times New Roman" panose="02020603050405020304" pitchFamily="18" charset="0"/>
                  <a:ea typeface="华文新魏" pitchFamily="2" charset="-122"/>
                </a:rPr>
                <a:t>2+</a:t>
              </a:r>
              <a:r>
                <a:rPr lang="en-US" altLang="zh-CN" sz="2400" dirty="0">
                  <a:latin typeface="Times New Roman" panose="02020603050405020304" pitchFamily="18" charset="0"/>
                  <a:ea typeface="华文新魏" pitchFamily="2" charset="-122"/>
                </a:rPr>
                <a:t>+4NH</a:t>
              </a:r>
              <a:r>
                <a:rPr lang="en-US" altLang="zh-CN" sz="2400" baseline="-25000" dirty="0">
                  <a:latin typeface="Times New Roman" panose="02020603050405020304" pitchFamily="18" charset="0"/>
                  <a:ea typeface="华文新魏" pitchFamily="2" charset="-122"/>
                </a:rPr>
                <a:t>4</a:t>
              </a:r>
              <a:r>
                <a:rPr lang="en-US" altLang="zh-CN" sz="2400" baseline="30000" dirty="0">
                  <a:latin typeface="Times New Roman" panose="02020603050405020304" pitchFamily="18" charset="0"/>
                  <a:ea typeface="华文新魏" pitchFamily="2" charset="-122"/>
                </a:rPr>
                <a:t>+</a:t>
              </a:r>
              <a:r>
                <a:rPr lang="en-US" altLang="zh-CN" sz="2400" dirty="0">
                  <a:latin typeface="Times New Roman" panose="02020603050405020304" pitchFamily="18" charset="0"/>
                  <a:ea typeface="华文新魏" pitchFamily="2" charset="-122"/>
                </a:rPr>
                <a:t> </a:t>
              </a:r>
              <a:endParaRPr lang="zh-CN" altLang="en-US" sz="2400" dirty="0">
                <a:latin typeface="Times New Roman" panose="02020603050405020304" pitchFamily="18" charset="0"/>
                <a:ea typeface="华文新魏" pitchFamily="2" charset="-122"/>
              </a:endParaRPr>
            </a:p>
          </p:txBody>
        </p:sp>
        <p:graphicFrame>
          <p:nvGraphicFramePr>
            <p:cNvPr id="91141" name="Object 13"/>
            <p:cNvGraphicFramePr>
              <a:graphicFrameLocks noChangeAspect="1"/>
            </p:cNvGraphicFramePr>
            <p:nvPr>
              <p:extLst>
                <p:ext uri="{D42A27DB-BD31-4B8C-83A1-F6EECF244321}">
                  <p14:modId xmlns:p14="http://schemas.microsoft.com/office/powerpoint/2010/main" val="2757056638"/>
                </p:ext>
              </p:extLst>
            </p:nvPr>
          </p:nvGraphicFramePr>
          <p:xfrm>
            <a:off x="2653" y="2406"/>
            <a:ext cx="362" cy="93"/>
          </p:xfrm>
          <a:graphic>
            <a:graphicData uri="http://schemas.openxmlformats.org/presentationml/2006/ole">
              <mc:AlternateContent xmlns:mc="http://schemas.openxmlformats.org/markup-compatibility/2006">
                <mc:Choice xmlns:v="urn:schemas-microsoft-com:vml" Requires="v">
                  <p:oleObj r:id="rId2" imgW="676275" imgH="171450" progId="Equation.3">
                    <p:embed/>
                  </p:oleObj>
                </mc:Choice>
                <mc:Fallback>
                  <p:oleObj r:id="rId2" imgW="676275" imgH="171450" progId="Equation.3">
                    <p:embed/>
                    <p:pic>
                      <p:nvPicPr>
                        <p:cNvPr id="0" name="图片 3195"/>
                        <p:cNvPicPr/>
                        <p:nvPr/>
                      </p:nvPicPr>
                      <p:blipFill>
                        <a:blip r:embed="rId3"/>
                        <a:stretch>
                          <a:fillRect/>
                        </a:stretch>
                      </p:blipFill>
                      <p:spPr>
                        <a:xfrm>
                          <a:off x="2653" y="2406"/>
                          <a:ext cx="362" cy="93"/>
                        </a:xfrm>
                        <a:prstGeom prst="rect">
                          <a:avLst/>
                        </a:prstGeom>
                        <a:noFill/>
                        <a:ln w="38100">
                          <a:noFill/>
                          <a:miter/>
                        </a:ln>
                      </p:spPr>
                    </p:pic>
                  </p:oleObj>
                </mc:Fallback>
              </mc:AlternateContent>
            </a:graphicData>
          </a:graphic>
        </p:graphicFrame>
      </p:grpSp>
      <p:sp>
        <p:nvSpPr>
          <p:cNvPr id="10255" name="Text Box 15"/>
          <p:cNvSpPr txBox="1"/>
          <p:nvPr/>
        </p:nvSpPr>
        <p:spPr>
          <a:xfrm>
            <a:off x="468313" y="1865315"/>
            <a:ext cx="8208962" cy="461665"/>
          </a:xfrm>
          <a:prstGeom prst="rect">
            <a:avLst/>
          </a:prstGeom>
          <a:noFill/>
          <a:ln w="9525">
            <a:noFill/>
          </a:ln>
        </p:spPr>
        <p:txBody>
          <a:bodyPr anchor="t" anchorCtr="0">
            <a:spAutoFit/>
          </a:bodyPr>
          <a:lstStyle/>
          <a:p>
            <a:pPr>
              <a:spcBef>
                <a:spcPct val="50000"/>
              </a:spcBef>
              <a:buClrTx/>
              <a:buFontTx/>
            </a:pPr>
            <a:r>
              <a:rPr lang="zh-CN" altLang="en-US" sz="2400" dirty="0">
                <a:latin typeface="Times New Roman" panose="02020603050405020304" pitchFamily="18" charset="0"/>
                <a:ea typeface="幼圆" pitchFamily="49" charset="-122"/>
              </a:rPr>
              <a:t>向深蓝色</a:t>
            </a:r>
            <a:r>
              <a:rPr lang="en-US" altLang="zh-CN" sz="2400" dirty="0">
                <a:latin typeface="Times New Roman" panose="02020603050405020304" pitchFamily="18" charset="0"/>
                <a:ea typeface="幼圆" pitchFamily="49" charset="-122"/>
              </a:rPr>
              <a:t>[Cu(NH</a:t>
            </a:r>
            <a:r>
              <a:rPr lang="en-US" altLang="zh-CN" sz="2400" baseline="-25000" dirty="0">
                <a:latin typeface="Times New Roman" panose="02020603050405020304" pitchFamily="18" charset="0"/>
                <a:ea typeface="幼圆" pitchFamily="49" charset="-122"/>
              </a:rPr>
              <a:t>3</a:t>
            </a:r>
            <a:r>
              <a:rPr lang="en-US" altLang="zh-CN" sz="2400" dirty="0">
                <a:latin typeface="Times New Roman" panose="02020603050405020304" pitchFamily="18" charset="0"/>
                <a:ea typeface="幼圆" pitchFamily="49" charset="-122"/>
              </a:rPr>
              <a:t>)</a:t>
            </a:r>
            <a:r>
              <a:rPr lang="en-US" altLang="zh-CN" sz="2400" baseline="-25000" dirty="0">
                <a:latin typeface="Times New Roman" panose="02020603050405020304" pitchFamily="18" charset="0"/>
                <a:ea typeface="幼圆" pitchFamily="49" charset="-122"/>
              </a:rPr>
              <a:t>4</a:t>
            </a:r>
            <a:r>
              <a:rPr lang="en-US" altLang="zh-CN" sz="2400" dirty="0">
                <a:latin typeface="Times New Roman" panose="02020603050405020304" pitchFamily="18" charset="0"/>
                <a:ea typeface="幼圆" pitchFamily="49" charset="-122"/>
              </a:rPr>
              <a:t>]</a:t>
            </a:r>
            <a:r>
              <a:rPr lang="en-US" altLang="zh-CN" sz="2400" baseline="30000" dirty="0">
                <a:latin typeface="Times New Roman" panose="02020603050405020304" pitchFamily="18" charset="0"/>
                <a:ea typeface="幼圆" pitchFamily="49" charset="-122"/>
              </a:rPr>
              <a:t>2+</a:t>
            </a:r>
            <a:r>
              <a:rPr lang="zh-CN" altLang="en-US" sz="2400" dirty="0">
                <a:latin typeface="Times New Roman" panose="02020603050405020304" pitchFamily="18" charset="0"/>
                <a:ea typeface="幼圆" pitchFamily="49" charset="-122"/>
              </a:rPr>
              <a:t>溶液中加入适量的酸</a:t>
            </a:r>
            <a:r>
              <a:rPr lang="en-US" altLang="zh-CN" sz="2400" dirty="0">
                <a:latin typeface="Times New Roman" panose="02020603050405020304" pitchFamily="18" charset="0"/>
                <a:ea typeface="幼圆" pitchFamily="49" charset="-122"/>
              </a:rPr>
              <a:t>(H</a:t>
            </a:r>
            <a:r>
              <a:rPr lang="en-US" altLang="zh-CN" sz="2400" baseline="30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a:t>
            </a:r>
          </a:p>
        </p:txBody>
      </p:sp>
      <p:sp>
        <p:nvSpPr>
          <p:cNvPr id="10257" name="Text Box 17"/>
          <p:cNvSpPr txBox="1"/>
          <p:nvPr/>
        </p:nvSpPr>
        <p:spPr>
          <a:xfrm>
            <a:off x="539750" y="2482853"/>
            <a:ext cx="5473700" cy="461665"/>
          </a:xfrm>
          <a:prstGeom prst="rect">
            <a:avLst/>
          </a:prstGeom>
          <a:noFill/>
          <a:ln w="9525">
            <a:noFill/>
          </a:ln>
        </p:spPr>
        <p:txBody>
          <a:bodyPr anchor="t" anchorCtr="0">
            <a:spAutoFit/>
          </a:bodyPr>
          <a:lstStyle/>
          <a:p>
            <a:pPr>
              <a:spcBef>
                <a:spcPct val="50000"/>
              </a:spcBef>
              <a:buClrTx/>
              <a:buFontTx/>
            </a:pPr>
            <a:r>
              <a:rPr lang="zh-CN" altLang="en-US" sz="2400" dirty="0">
                <a:solidFill>
                  <a:srgbClr val="0033CC"/>
                </a:solidFill>
                <a:latin typeface="Times New Roman" panose="02020603050405020304" pitchFamily="18" charset="0"/>
                <a:ea typeface="幼圆" pitchFamily="49" charset="-122"/>
              </a:rPr>
              <a:t>现象：</a:t>
            </a:r>
            <a:r>
              <a:rPr lang="zh-CN" altLang="en-US" sz="2400" dirty="0">
                <a:latin typeface="Times New Roman" panose="02020603050405020304" pitchFamily="18" charset="0"/>
                <a:ea typeface="幼圆" pitchFamily="49" charset="-122"/>
              </a:rPr>
              <a:t>溶液会变为浅蓝色。</a:t>
            </a:r>
            <a:endParaRPr lang="en-US" altLang="zh-CN" sz="2400" dirty="0">
              <a:latin typeface="Times New Roman" panose="02020603050405020304" pitchFamily="18" charset="0"/>
              <a:ea typeface="幼圆" pitchFamily="49" charset="-122"/>
            </a:endParaRPr>
          </a:p>
        </p:txBody>
      </p:sp>
      <p:sp>
        <p:nvSpPr>
          <p:cNvPr id="91144" name="Rectangle 22"/>
          <p:cNvSpPr/>
          <p:nvPr/>
        </p:nvSpPr>
        <p:spPr>
          <a:xfrm>
            <a:off x="5" y="22815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1145" name="Rectangle 27"/>
          <p:cNvSpPr/>
          <p:nvPr/>
        </p:nvSpPr>
        <p:spPr>
          <a:xfrm>
            <a:off x="5" y="2221242"/>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20" name="Text Box 25"/>
          <p:cNvSpPr txBox="1"/>
          <p:nvPr/>
        </p:nvSpPr>
        <p:spPr>
          <a:xfrm>
            <a:off x="323850" y="3867153"/>
            <a:ext cx="8496300" cy="954107"/>
          </a:xfrm>
          <a:prstGeom prst="rect">
            <a:avLst/>
          </a:prstGeom>
          <a:gradFill rotWithShape="1">
            <a:gsLst>
              <a:gs pos="0">
                <a:srgbClr val="003300"/>
              </a:gs>
              <a:gs pos="100000">
                <a:srgbClr val="008000"/>
              </a:gs>
            </a:gsLst>
            <a:lin ang="5400000" scaled="1"/>
            <a:tileRect/>
          </a:gradFill>
          <a:ln w="9525" cap="flat" cmpd="sng">
            <a:solidFill>
              <a:srgbClr val="339966"/>
            </a:solidFill>
            <a:prstDash val="solid"/>
            <a:miter/>
            <a:headEnd type="none" w="med" len="med"/>
            <a:tailEnd type="none" w="med" len="med"/>
          </a:ln>
        </p:spPr>
        <p:txBody>
          <a:bodyPr anchor="t" anchorCtr="0">
            <a:spAutoFit/>
          </a:bodyPr>
          <a:lstStyle/>
          <a:p>
            <a:pPr>
              <a:spcBef>
                <a:spcPct val="50000"/>
              </a:spcBef>
              <a:buClrTx/>
              <a:buFontTx/>
            </a:pPr>
            <a:r>
              <a:rPr lang="zh-CN" altLang="en-US" dirty="0">
                <a:latin typeface="Times New Roman" panose="02020603050405020304" pitchFamily="18" charset="0"/>
                <a:ea typeface="宋体" panose="02010600030101010101" pitchFamily="2" charset="-122"/>
              </a:rPr>
              <a:t>     </a:t>
            </a:r>
            <a:r>
              <a:rPr lang="zh-CN" altLang="en-US" dirty="0">
                <a:solidFill>
                  <a:srgbClr val="FFFF00"/>
                </a:solidFill>
                <a:latin typeface="Times New Roman" panose="02020603050405020304" pitchFamily="18" charset="0"/>
                <a:ea typeface="幼圆" pitchFamily="49" charset="-122"/>
              </a:rPr>
              <a:t>一般地，两种配离子的稳定常数相差越大，配离子之间的转化越完全。</a:t>
            </a:r>
            <a:r>
              <a:rPr lang="zh-CN" altLang="en-US" dirty="0">
                <a:latin typeface="Times New Roman" panose="02020603050405020304" pitchFamily="18" charset="0"/>
                <a:ea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51"/>
                                        </p:tgtEl>
                                        <p:attrNameLst>
                                          <p:attrName>style.visibility</p:attrName>
                                        </p:attrNameLst>
                                      </p:cBhvr>
                                      <p:to>
                                        <p:strVal val="visible"/>
                                      </p:to>
                                    </p:set>
                                    <p:anim calcmode="lin" valueType="num">
                                      <p:cBhvr additive="base">
                                        <p:cTn id="7" dur="500" fill="hold"/>
                                        <p:tgtEl>
                                          <p:spTgt spid="10251"/>
                                        </p:tgtEl>
                                        <p:attrNameLst>
                                          <p:attrName>ppt_x</p:attrName>
                                        </p:attrNameLst>
                                      </p:cBhvr>
                                      <p:tavLst>
                                        <p:tav tm="0">
                                          <p:val>
                                            <p:strVal val="#ppt_x"/>
                                          </p:val>
                                        </p:tav>
                                        <p:tav tm="100000">
                                          <p:val>
                                            <p:strVal val="#ppt_x"/>
                                          </p:val>
                                        </p:tav>
                                      </p:tavLst>
                                    </p:anim>
                                    <p:anim calcmode="lin" valueType="num">
                                      <p:cBhvr additive="base">
                                        <p:cTn id="8" dur="500" fill="hold"/>
                                        <p:tgtEl>
                                          <p:spTgt spid="1025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257"/>
                                        </p:tgtEl>
                                        <p:attrNameLst>
                                          <p:attrName>style.visibility</p:attrName>
                                        </p:attrNameLst>
                                      </p:cBhvr>
                                      <p:to>
                                        <p:strVal val="visible"/>
                                      </p:to>
                                    </p:set>
                                    <p:anim calcmode="lin" valueType="num">
                                      <p:cBhvr additive="base">
                                        <p:cTn id="11" dur="500" fill="hold"/>
                                        <p:tgtEl>
                                          <p:spTgt spid="10257"/>
                                        </p:tgtEl>
                                        <p:attrNameLst>
                                          <p:attrName>ppt_x</p:attrName>
                                        </p:attrNameLst>
                                      </p:cBhvr>
                                      <p:tavLst>
                                        <p:tav tm="0">
                                          <p:val>
                                            <p:strVal val="#ppt_x"/>
                                          </p:val>
                                        </p:tav>
                                        <p:tav tm="100000">
                                          <p:val>
                                            <p:strVal val="#ppt_x"/>
                                          </p:val>
                                        </p:tav>
                                      </p:tavLst>
                                    </p:anim>
                                    <p:anim calcmode="lin" valueType="num">
                                      <p:cBhvr additive="base">
                                        <p:cTn id="12" dur="500" fill="hold"/>
                                        <p:tgtEl>
                                          <p:spTgt spid="1025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255"/>
                                        </p:tgtEl>
                                        <p:attrNameLst>
                                          <p:attrName>style.visibility</p:attrName>
                                        </p:attrNameLst>
                                      </p:cBhvr>
                                      <p:to>
                                        <p:strVal val="visible"/>
                                      </p:to>
                                    </p:set>
                                    <p:anim calcmode="lin" valueType="num">
                                      <p:cBhvr additive="base">
                                        <p:cTn id="15" dur="500" fill="hold"/>
                                        <p:tgtEl>
                                          <p:spTgt spid="10255"/>
                                        </p:tgtEl>
                                        <p:attrNameLst>
                                          <p:attrName>ppt_x</p:attrName>
                                        </p:attrNameLst>
                                      </p:cBhvr>
                                      <p:tavLst>
                                        <p:tav tm="0">
                                          <p:val>
                                            <p:strVal val="#ppt_x"/>
                                          </p:val>
                                        </p:tav>
                                        <p:tav tm="100000">
                                          <p:val>
                                            <p:strVal val="#ppt_x"/>
                                          </p:val>
                                        </p:tav>
                                      </p:tavLst>
                                    </p:anim>
                                    <p:anim calcmode="lin" valueType="num">
                                      <p:cBhvr additive="base">
                                        <p:cTn id="16" dur="500" fill="hold"/>
                                        <p:tgtEl>
                                          <p:spTgt spid="1025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in)">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fill="hold"/>
                                        <p:tgtEl>
                                          <p:spTgt spid="20"/>
                                        </p:tgtEl>
                                        <p:attrNameLst>
                                          <p:attrName>ppt_x</p:attrName>
                                        </p:attrNameLst>
                                      </p:cBhvr>
                                      <p:tavLst>
                                        <p:tav tm="0">
                                          <p:val>
                                            <p:strVal val="#ppt_x"/>
                                          </p:val>
                                        </p:tav>
                                        <p:tav tm="100000">
                                          <p:val>
                                            <p:strVal val="#ppt_x"/>
                                          </p:val>
                                        </p:tav>
                                      </p:tavLst>
                                    </p:anim>
                                    <p:anim calcmode="lin" valueType="num">
                                      <p:cBhvr additive="base">
                                        <p:cTn id="2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1" grpId="0"/>
      <p:bldP spid="10255" grpId="0"/>
      <p:bldP spid="10257" grpId="0"/>
      <p:bldP spid="20"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8" name="Rectangle 18"/>
          <p:cNvSpPr/>
          <p:nvPr/>
        </p:nvSpPr>
        <p:spPr>
          <a:xfrm>
            <a:off x="92076" y="555954"/>
            <a:ext cx="3599062" cy="523220"/>
          </a:xfrm>
          <a:prstGeom prst="rect">
            <a:avLst/>
          </a:prstGeom>
          <a:noFill/>
          <a:ln w="9525">
            <a:noFill/>
          </a:ln>
        </p:spPr>
        <p:txBody>
          <a:bodyPr wrap="none" anchor="ctr" anchorCtr="0">
            <a:spAutoFit/>
          </a:bodyPr>
          <a:lstStyle/>
          <a:p>
            <a:pPr eaLnBrk="0" hangingPunct="0">
              <a:buClrTx/>
              <a:buFontTx/>
            </a:pPr>
            <a:r>
              <a:rPr lang="en-US" altLang="zh-CN" b="0" dirty="0">
                <a:solidFill>
                  <a:srgbClr val="C00000"/>
                </a:solidFill>
                <a:latin typeface="微软雅黑" panose="020B0503020204020204" pitchFamily="34" charset="-122"/>
                <a:ea typeface="微软雅黑" panose="020B0503020204020204" pitchFamily="34" charset="-122"/>
              </a:rPr>
              <a:t>2) </a:t>
            </a:r>
            <a:r>
              <a:rPr lang="zh-CN" altLang="en-US" b="0" dirty="0">
                <a:solidFill>
                  <a:srgbClr val="C00000"/>
                </a:solidFill>
                <a:latin typeface="微软雅黑" panose="020B0503020204020204" pitchFamily="34" charset="-122"/>
                <a:ea typeface="微软雅黑" panose="020B0503020204020204" pitchFamily="34" charset="-122"/>
              </a:rPr>
              <a:t>配离子之间的转化 </a:t>
            </a:r>
          </a:p>
        </p:txBody>
      </p:sp>
      <p:sp>
        <p:nvSpPr>
          <p:cNvPr id="10259" name="Text Box 19"/>
          <p:cNvSpPr txBox="1"/>
          <p:nvPr/>
        </p:nvSpPr>
        <p:spPr>
          <a:xfrm>
            <a:off x="144463" y="1203325"/>
            <a:ext cx="8839200" cy="1754326"/>
          </a:xfrm>
          <a:prstGeom prst="rect">
            <a:avLst/>
          </a:prstGeom>
          <a:noFill/>
          <a:ln w="9525">
            <a:noFill/>
          </a:ln>
        </p:spPr>
        <p:txBody>
          <a:bodyPr anchor="t" anchorCtr="0">
            <a:spAutoFit/>
          </a:bodyPr>
          <a:lstStyle/>
          <a:p>
            <a:pPr>
              <a:lnSpc>
                <a:spcPct val="150000"/>
              </a:lnSpc>
              <a:buClrTx/>
              <a:buFontTx/>
            </a:pPr>
            <a:r>
              <a:rPr lang="zh-CN" altLang="en-US" sz="2400" dirty="0">
                <a:latin typeface="宋体" panose="02010600030101010101" pitchFamily="2" charset="-122"/>
                <a:ea typeface="宋体" panose="02010600030101010101" pitchFamily="2" charset="-122"/>
              </a:rPr>
              <a:t>    </a:t>
            </a:r>
            <a:r>
              <a:rPr lang="zh-CN" altLang="en-US" sz="2400" dirty="0">
                <a:latin typeface="Times New Roman" panose="02020603050405020304" pitchFamily="18" charset="0"/>
                <a:ea typeface="幼圆" pitchFamily="49" charset="-122"/>
              </a:rPr>
              <a:t>在某一配离子溶液中加入另一配体，若能形成更稳定的配离子，则原有的配位平衡被破坏，向着生成更稳定配离子的方向移动。例如 </a:t>
            </a:r>
          </a:p>
        </p:txBody>
      </p:sp>
      <p:sp>
        <p:nvSpPr>
          <p:cNvPr id="92163" name="Rectangle 22"/>
          <p:cNvSpPr/>
          <p:nvPr/>
        </p:nvSpPr>
        <p:spPr>
          <a:xfrm>
            <a:off x="5" y="228156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3" name="Group 23"/>
          <p:cNvGrpSpPr/>
          <p:nvPr/>
        </p:nvGrpSpPr>
        <p:grpSpPr>
          <a:xfrm>
            <a:off x="1870075" y="2636844"/>
            <a:ext cx="6191250" cy="461963"/>
            <a:chOff x="1111" y="2639"/>
            <a:chExt cx="3900" cy="388"/>
          </a:xfrm>
        </p:grpSpPr>
        <p:sp>
          <p:nvSpPr>
            <p:cNvPr id="92165" name="Text Box 20"/>
            <p:cNvSpPr txBox="1"/>
            <p:nvPr/>
          </p:nvSpPr>
          <p:spPr>
            <a:xfrm>
              <a:off x="1111" y="2639"/>
              <a:ext cx="3900" cy="388"/>
            </a:xfrm>
            <a:prstGeom prst="rect">
              <a:avLst/>
            </a:prstGeom>
            <a:noFill/>
            <a:ln w="9525">
              <a:noFill/>
            </a:ln>
          </p:spPr>
          <p:txBody>
            <a:bodyPr anchor="t" anchorCtr="0">
              <a:spAutoFit/>
            </a:bodyPr>
            <a:lstStyle/>
            <a:p>
              <a:pPr>
                <a:spcBef>
                  <a:spcPct val="50000"/>
                </a:spcBef>
                <a:buClrTx/>
                <a:buFontTx/>
              </a:pPr>
              <a:r>
                <a:rPr lang="en-US" altLang="zh-CN" sz="2400" dirty="0">
                  <a:latin typeface="Times New Roman" panose="02020603050405020304" pitchFamily="18" charset="0"/>
                  <a:ea typeface="华文新魏" pitchFamily="2" charset="-122"/>
                </a:rPr>
                <a:t>[Zn(NH</a:t>
              </a:r>
              <a:r>
                <a:rPr lang="en-US" altLang="zh-CN" sz="2400" baseline="-25000" dirty="0">
                  <a:latin typeface="Times New Roman" panose="02020603050405020304" pitchFamily="18" charset="0"/>
                  <a:ea typeface="华文新魏" pitchFamily="2" charset="-122"/>
                </a:rPr>
                <a:t>3</a:t>
              </a:r>
              <a:r>
                <a:rPr lang="en-US" altLang="zh-CN" sz="2400" dirty="0">
                  <a:latin typeface="Times New Roman" panose="02020603050405020304" pitchFamily="18" charset="0"/>
                  <a:ea typeface="华文新魏" pitchFamily="2" charset="-122"/>
                </a:rPr>
                <a:t>)</a:t>
              </a:r>
              <a:r>
                <a:rPr lang="en-US" altLang="zh-CN" sz="2400" baseline="-25000" dirty="0">
                  <a:latin typeface="Times New Roman" panose="02020603050405020304" pitchFamily="18" charset="0"/>
                  <a:ea typeface="华文新魏" pitchFamily="2" charset="-122"/>
                </a:rPr>
                <a:t>4</a:t>
              </a:r>
              <a:r>
                <a:rPr lang="en-US" altLang="zh-CN" sz="2400" dirty="0">
                  <a:latin typeface="Times New Roman" panose="02020603050405020304" pitchFamily="18" charset="0"/>
                  <a:ea typeface="华文新魏" pitchFamily="2" charset="-122"/>
                </a:rPr>
                <a:t>]</a:t>
              </a:r>
              <a:r>
                <a:rPr lang="en-US" altLang="zh-CN" sz="2400" baseline="30000" dirty="0">
                  <a:latin typeface="Times New Roman" panose="02020603050405020304" pitchFamily="18" charset="0"/>
                  <a:ea typeface="华文新魏" pitchFamily="2" charset="-122"/>
                </a:rPr>
                <a:t>2+</a:t>
              </a:r>
              <a:r>
                <a:rPr lang="en-US" altLang="zh-CN" sz="2400" dirty="0">
                  <a:latin typeface="Times New Roman" panose="02020603050405020304" pitchFamily="18" charset="0"/>
                  <a:ea typeface="华文新魏" pitchFamily="2" charset="-122"/>
                </a:rPr>
                <a:t>+ 4CN</a:t>
              </a:r>
              <a:r>
                <a:rPr lang="en-US" altLang="zh-CN" sz="2400" baseline="30000" dirty="0">
                  <a:latin typeface="Times New Roman" panose="02020603050405020304" pitchFamily="18" charset="0"/>
                  <a:ea typeface="华文新魏" pitchFamily="2" charset="-122"/>
                </a:rPr>
                <a:t>-</a:t>
              </a:r>
              <a:r>
                <a:rPr lang="en-US" altLang="zh-CN" sz="2400" dirty="0">
                  <a:latin typeface="Times New Roman" panose="02020603050405020304" pitchFamily="18" charset="0"/>
                  <a:ea typeface="华文新魏" pitchFamily="2" charset="-122"/>
                </a:rPr>
                <a:t>         [Zn(CN)</a:t>
              </a:r>
              <a:r>
                <a:rPr lang="en-US" altLang="zh-CN" sz="2400" baseline="30000" dirty="0">
                  <a:latin typeface="Times New Roman" panose="02020603050405020304" pitchFamily="18" charset="0"/>
                  <a:ea typeface="华文新魏" pitchFamily="2" charset="-122"/>
                </a:rPr>
                <a:t>4</a:t>
              </a:r>
              <a:r>
                <a:rPr lang="en-US" altLang="zh-CN" sz="2400" dirty="0">
                  <a:latin typeface="Times New Roman" panose="02020603050405020304" pitchFamily="18" charset="0"/>
                  <a:ea typeface="华文新魏" pitchFamily="2" charset="-122"/>
                </a:rPr>
                <a:t>]</a:t>
              </a:r>
              <a:r>
                <a:rPr lang="en-US" altLang="zh-CN" sz="2400" baseline="30000" dirty="0">
                  <a:latin typeface="Times New Roman" panose="02020603050405020304" pitchFamily="18" charset="0"/>
                  <a:ea typeface="华文新魏" pitchFamily="2" charset="-122"/>
                </a:rPr>
                <a:t>2-</a:t>
              </a:r>
              <a:r>
                <a:rPr lang="en-US" altLang="zh-CN" sz="2400" dirty="0">
                  <a:latin typeface="Times New Roman" panose="02020603050405020304" pitchFamily="18" charset="0"/>
                  <a:ea typeface="华文新魏" pitchFamily="2" charset="-122"/>
                </a:rPr>
                <a:t>+4NH</a:t>
              </a:r>
              <a:r>
                <a:rPr lang="en-US" altLang="zh-CN" sz="2400" baseline="-25000" dirty="0">
                  <a:latin typeface="Times New Roman" panose="02020603050405020304" pitchFamily="18" charset="0"/>
                  <a:ea typeface="华文新魏" pitchFamily="2" charset="-122"/>
                </a:rPr>
                <a:t>3</a:t>
              </a:r>
              <a:endParaRPr lang="zh-CN" altLang="en-US" sz="2400" baseline="-25000" dirty="0">
                <a:latin typeface="Times New Roman" panose="02020603050405020304" pitchFamily="18" charset="0"/>
                <a:ea typeface="华文新魏" pitchFamily="2" charset="-122"/>
              </a:endParaRPr>
            </a:p>
          </p:txBody>
        </p:sp>
        <p:graphicFrame>
          <p:nvGraphicFramePr>
            <p:cNvPr id="92166" name="Object 21"/>
            <p:cNvGraphicFramePr>
              <a:graphicFrameLocks noChangeAspect="1"/>
            </p:cNvGraphicFramePr>
            <p:nvPr/>
          </p:nvGraphicFramePr>
          <p:xfrm>
            <a:off x="2790" y="2797"/>
            <a:ext cx="409" cy="106"/>
          </p:xfrm>
          <a:graphic>
            <a:graphicData uri="http://schemas.openxmlformats.org/presentationml/2006/ole">
              <mc:AlternateContent xmlns:mc="http://schemas.openxmlformats.org/markup-compatibility/2006">
                <mc:Choice xmlns:v="urn:schemas-microsoft-com:vml" Requires="v">
                  <p:oleObj r:id="rId2" imgW="676275" imgH="171450" progId="Equation.3">
                    <p:embed/>
                  </p:oleObj>
                </mc:Choice>
                <mc:Fallback>
                  <p:oleObj r:id="rId2" imgW="676275" imgH="171450" progId="Equation.3">
                    <p:embed/>
                    <p:pic>
                      <p:nvPicPr>
                        <p:cNvPr id="0" name="图片 3196"/>
                        <p:cNvPicPr/>
                        <p:nvPr/>
                      </p:nvPicPr>
                      <p:blipFill>
                        <a:blip r:embed="rId3"/>
                        <a:stretch>
                          <a:fillRect/>
                        </a:stretch>
                      </p:blipFill>
                      <p:spPr>
                        <a:xfrm>
                          <a:off x="2790" y="2797"/>
                          <a:ext cx="409" cy="106"/>
                        </a:xfrm>
                        <a:prstGeom prst="rect">
                          <a:avLst/>
                        </a:prstGeom>
                        <a:noFill/>
                        <a:ln w="38100">
                          <a:noFill/>
                          <a:miter/>
                        </a:ln>
                      </p:spPr>
                    </p:pic>
                  </p:oleObj>
                </mc:Fallback>
              </mc:AlternateContent>
            </a:graphicData>
          </a:graphic>
        </p:graphicFrame>
      </p:grpSp>
      <p:sp>
        <p:nvSpPr>
          <p:cNvPr id="92167" name="Rectangle 27"/>
          <p:cNvSpPr/>
          <p:nvPr/>
        </p:nvSpPr>
        <p:spPr>
          <a:xfrm>
            <a:off x="5" y="2221242"/>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grpSp>
        <p:nvGrpSpPr>
          <p:cNvPr id="4" name="Group 28"/>
          <p:cNvGrpSpPr/>
          <p:nvPr/>
        </p:nvGrpSpPr>
        <p:grpSpPr>
          <a:xfrm>
            <a:off x="473075" y="3292480"/>
            <a:ext cx="8496300" cy="523479"/>
            <a:chOff x="201" y="2657"/>
            <a:chExt cx="5352" cy="440"/>
          </a:xfrm>
        </p:grpSpPr>
        <p:sp>
          <p:nvSpPr>
            <p:cNvPr id="92169" name="Text Box 24"/>
            <p:cNvSpPr txBox="1"/>
            <p:nvPr/>
          </p:nvSpPr>
          <p:spPr>
            <a:xfrm>
              <a:off x="201" y="2657"/>
              <a:ext cx="5352" cy="440"/>
            </a:xfrm>
            <a:prstGeom prst="rect">
              <a:avLst/>
            </a:prstGeom>
            <a:noFill/>
            <a:ln w="9525">
              <a:noFill/>
            </a:ln>
          </p:spPr>
          <p:txBody>
            <a:bodyPr anchor="t" anchorCtr="0">
              <a:spAutoFit/>
            </a:bodyPr>
            <a:lstStyle/>
            <a:p>
              <a:pPr>
                <a:spcBef>
                  <a:spcPct val="50000"/>
                </a:spcBef>
                <a:buClrTx/>
                <a:buFontTx/>
              </a:pPr>
              <a:r>
                <a:rPr lang="zh-CN" altLang="en-US"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值很大，</a:t>
              </a:r>
              <a:r>
                <a:rPr lang="en-US" altLang="zh-CN" sz="2400" dirty="0">
                  <a:latin typeface="Times New Roman" panose="02020603050405020304" pitchFamily="18" charset="0"/>
                  <a:ea typeface="宋体" panose="02010600030101010101" pitchFamily="2" charset="-122"/>
                </a:rPr>
                <a:t>[Zn(NH</a:t>
              </a:r>
              <a:r>
                <a:rPr lang="en-US" altLang="zh-CN" sz="240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a:t>
              </a:r>
              <a:r>
                <a:rPr lang="en-US" altLang="zh-CN" sz="2400" baseline="30000" dirty="0">
                  <a:latin typeface="Times New Roman" panose="02020603050405020304" pitchFamily="18" charset="0"/>
                  <a:ea typeface="宋体" panose="02010600030101010101" pitchFamily="2" charset="-122"/>
                </a:rPr>
                <a:t>2+</a:t>
              </a:r>
              <a:r>
                <a:rPr lang="zh-CN" altLang="en-US" sz="2400" dirty="0">
                  <a:latin typeface="Times New Roman" panose="02020603050405020304" pitchFamily="18" charset="0"/>
                  <a:ea typeface="宋体" panose="02010600030101010101" pitchFamily="2" charset="-122"/>
                </a:rPr>
                <a:t>可完全转化为</a:t>
              </a:r>
              <a:r>
                <a:rPr lang="en-US" altLang="zh-CN" sz="2400" dirty="0">
                  <a:latin typeface="Times New Roman" panose="02020603050405020304" pitchFamily="18" charset="0"/>
                  <a:ea typeface="宋体" panose="02010600030101010101" pitchFamily="2" charset="-122"/>
                </a:rPr>
                <a:t>[Zn(CN)</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a:t>
              </a:r>
              <a:r>
                <a:rPr lang="en-US" altLang="zh-CN" sz="2400" baseline="30000"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p>
          </p:txBody>
        </p:sp>
        <p:graphicFrame>
          <p:nvGraphicFramePr>
            <p:cNvPr id="92170" name="Object 26"/>
            <p:cNvGraphicFramePr>
              <a:graphicFrameLocks noChangeAspect="1"/>
            </p:cNvGraphicFramePr>
            <p:nvPr/>
          </p:nvGraphicFramePr>
          <p:xfrm>
            <a:off x="379" y="2736"/>
            <a:ext cx="277" cy="331"/>
          </p:xfrm>
          <a:graphic>
            <a:graphicData uri="http://schemas.openxmlformats.org/presentationml/2006/ole">
              <mc:AlternateContent xmlns:mc="http://schemas.openxmlformats.org/markup-compatibility/2006">
                <mc:Choice xmlns:v="urn:schemas-microsoft-com:vml" Requires="v">
                  <p:oleObj r:id="rId4" imgW="206375" imgH="245110" progId="Equation.3">
                    <p:embed/>
                  </p:oleObj>
                </mc:Choice>
                <mc:Fallback>
                  <p:oleObj r:id="rId4" imgW="206375" imgH="245110" progId="Equation.3">
                    <p:embed/>
                    <p:pic>
                      <p:nvPicPr>
                        <p:cNvPr id="0" name="图片 3197"/>
                        <p:cNvPicPr/>
                        <p:nvPr/>
                      </p:nvPicPr>
                      <p:blipFill>
                        <a:blip r:embed="rId5"/>
                        <a:stretch>
                          <a:fillRect/>
                        </a:stretch>
                      </p:blipFill>
                      <p:spPr>
                        <a:xfrm>
                          <a:off x="379" y="2736"/>
                          <a:ext cx="277" cy="331"/>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58"/>
                                        </p:tgtEl>
                                        <p:attrNameLst>
                                          <p:attrName>style.visibility</p:attrName>
                                        </p:attrNameLst>
                                      </p:cBhvr>
                                      <p:to>
                                        <p:strVal val="visible"/>
                                      </p:to>
                                    </p:set>
                                    <p:animEffect transition="in" filter="blinds(horizontal)">
                                      <p:cBhvr>
                                        <p:cTn id="7" dur="500"/>
                                        <p:tgtEl>
                                          <p:spTgt spid="1025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259"/>
                                        </p:tgtEl>
                                        <p:attrNameLst>
                                          <p:attrName>style.visibility</p:attrName>
                                        </p:attrNameLst>
                                      </p:cBhvr>
                                      <p:to>
                                        <p:strVal val="visible"/>
                                      </p:to>
                                    </p:set>
                                    <p:animEffect transition="in" filter="blinds(horizontal)">
                                      <p:cBhvr>
                                        <p:cTn id="10" dur="500"/>
                                        <p:tgtEl>
                                          <p:spTgt spid="10259"/>
                                        </p:tgtEl>
                                      </p:cBhvr>
                                    </p:animEffect>
                                  </p:childTnLst>
                                </p:cTn>
                              </p:par>
                              <p:par>
                                <p:cTn id="11" presetID="3"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par>
                                <p:cTn id="14" presetID="3" presetClass="entr" presetSubtype="1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8" grpId="0"/>
      <p:bldP spid="10259"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17"/>
          <p:cNvSpPr/>
          <p:nvPr/>
        </p:nvSpPr>
        <p:spPr>
          <a:xfrm>
            <a:off x="184151" y="640091"/>
            <a:ext cx="4676280" cy="523220"/>
          </a:xfrm>
          <a:prstGeom prst="rect">
            <a:avLst/>
          </a:prstGeom>
          <a:noFill/>
          <a:ln w="9525">
            <a:noFill/>
          </a:ln>
        </p:spPr>
        <p:txBody>
          <a:bodyPr wrap="none" anchor="ctr" anchorCtr="0">
            <a:spAutoFit/>
          </a:bodyPr>
          <a:lstStyle/>
          <a:p>
            <a:pPr eaLnBrk="0" hangingPunct="0">
              <a:buClrTx/>
              <a:buFontTx/>
            </a:pPr>
            <a:r>
              <a:rPr lang="en-US" altLang="zh-CN" b="0" dirty="0">
                <a:solidFill>
                  <a:srgbClr val="C00000"/>
                </a:solidFill>
                <a:latin typeface="微软雅黑" panose="020B0503020204020204" pitchFamily="34" charset="-122"/>
                <a:ea typeface="微软雅黑" panose="020B0503020204020204" pitchFamily="34" charset="-122"/>
              </a:rPr>
              <a:t>3) </a:t>
            </a:r>
            <a:r>
              <a:rPr lang="zh-CN" altLang="en-US" b="0" dirty="0">
                <a:solidFill>
                  <a:srgbClr val="C00000"/>
                </a:solidFill>
                <a:latin typeface="微软雅黑" panose="020B0503020204020204" pitchFamily="34" charset="-122"/>
                <a:ea typeface="微软雅黑" panose="020B0503020204020204" pitchFamily="34" charset="-122"/>
              </a:rPr>
              <a:t>配离子与沉淀之间的转化 </a:t>
            </a:r>
          </a:p>
        </p:txBody>
      </p:sp>
      <p:grpSp>
        <p:nvGrpSpPr>
          <p:cNvPr id="93186" name="Group 44"/>
          <p:cNvGrpSpPr/>
          <p:nvPr/>
        </p:nvGrpSpPr>
        <p:grpSpPr>
          <a:xfrm>
            <a:off x="684213" y="1241425"/>
            <a:ext cx="7962900" cy="2938860"/>
            <a:chOff x="431" y="1043"/>
            <a:chExt cx="4469" cy="2468"/>
          </a:xfrm>
        </p:grpSpPr>
        <p:sp>
          <p:nvSpPr>
            <p:cNvPr id="93187" name="Text Box 21"/>
            <p:cNvSpPr txBox="1"/>
            <p:nvPr/>
          </p:nvSpPr>
          <p:spPr>
            <a:xfrm>
              <a:off x="431" y="1043"/>
              <a:ext cx="4469" cy="2468"/>
            </a:xfrm>
            <a:prstGeom prst="rect">
              <a:avLst/>
            </a:prstGeom>
            <a:noFill/>
            <a:ln w="9525">
              <a:noFill/>
            </a:ln>
          </p:spPr>
          <p:txBody>
            <a:bodyPr anchor="t" anchorCtr="0">
              <a:spAutoFit/>
            </a:bodyPr>
            <a:lstStyle/>
            <a:p>
              <a:pPr>
                <a:lnSpc>
                  <a:spcPts val="3700"/>
                </a:lnSpc>
                <a:buClrTx/>
                <a:buFontTx/>
              </a:pPr>
              <a:r>
                <a:rPr lang="zh-CN" altLang="en-US" dirty="0">
                  <a:latin typeface="Times New Roman" panose="02020603050405020304" pitchFamily="18" charset="0"/>
                  <a:ea typeface="幼圆" pitchFamily="49" charset="-122"/>
                </a:rPr>
                <a:t>        在配合物溶液中加入一种沉淀剂，若形成体（中心离子）与沉淀剂反应生成沉淀，则配位平衡会向着配离子解离的方向移动；同样，一种沉淀物也会因与配位剂作用而溶解。 例如，</a:t>
              </a:r>
              <a:r>
                <a:rPr lang="en-US" altLang="zh-CN" dirty="0">
                  <a:latin typeface="Times New Roman" panose="02020603050405020304" pitchFamily="18" charset="0"/>
                  <a:ea typeface="幼圆" pitchFamily="49" charset="-122"/>
                </a:rPr>
                <a:t>AgCl</a:t>
              </a:r>
              <a:r>
                <a:rPr lang="zh-CN" altLang="en-US" dirty="0">
                  <a:latin typeface="Times New Roman" panose="02020603050405020304" pitchFamily="18" charset="0"/>
                  <a:ea typeface="幼圆" pitchFamily="49" charset="-122"/>
                </a:rPr>
                <a:t>溶于氨水的反应    </a:t>
              </a:r>
            </a:p>
            <a:p>
              <a:pPr>
                <a:lnSpc>
                  <a:spcPts val="3700"/>
                </a:lnSpc>
                <a:buClrTx/>
                <a:buFontTx/>
              </a:pPr>
              <a:r>
                <a:rPr lang="zh-CN" altLang="en-US" dirty="0">
                  <a:latin typeface="Times New Roman" panose="02020603050405020304" pitchFamily="18" charset="0"/>
                  <a:ea typeface="幼圆" pitchFamily="49" charset="-122"/>
                </a:rPr>
                <a:t>            </a:t>
              </a:r>
              <a:r>
                <a:rPr lang="de-DE" altLang="zh-CN" dirty="0">
                  <a:latin typeface="Times New Roman" panose="02020603050405020304" pitchFamily="18" charset="0"/>
                  <a:ea typeface="幼圆" pitchFamily="49" charset="-122"/>
                </a:rPr>
                <a:t>AgCl + 2NH</a:t>
              </a:r>
              <a:r>
                <a:rPr lang="de-DE" altLang="zh-CN" baseline="-25000" dirty="0">
                  <a:latin typeface="Times New Roman" panose="02020603050405020304" pitchFamily="18" charset="0"/>
                  <a:ea typeface="幼圆" pitchFamily="49" charset="-122"/>
                </a:rPr>
                <a:t>3</a:t>
              </a:r>
              <a:r>
                <a:rPr lang="de-DE" altLang="zh-CN" dirty="0">
                  <a:latin typeface="Times New Roman" panose="02020603050405020304" pitchFamily="18" charset="0"/>
                  <a:ea typeface="幼圆" pitchFamily="49" charset="-122"/>
                </a:rPr>
                <a:t>            [Ag(NH</a:t>
              </a:r>
              <a:r>
                <a:rPr lang="de-DE" altLang="zh-CN" baseline="-25000" dirty="0">
                  <a:latin typeface="Times New Roman" panose="02020603050405020304" pitchFamily="18" charset="0"/>
                  <a:ea typeface="幼圆" pitchFamily="49" charset="-122"/>
                </a:rPr>
                <a:t>3</a:t>
              </a:r>
              <a:r>
                <a:rPr lang="de-DE" altLang="zh-CN" dirty="0">
                  <a:latin typeface="Times New Roman" panose="02020603050405020304" pitchFamily="18" charset="0"/>
                  <a:ea typeface="幼圆" pitchFamily="49" charset="-122"/>
                </a:rPr>
                <a:t>)</a:t>
              </a:r>
              <a:r>
                <a:rPr lang="de-DE" altLang="zh-CN" baseline="-25000" dirty="0">
                  <a:latin typeface="Times New Roman" panose="02020603050405020304" pitchFamily="18" charset="0"/>
                  <a:ea typeface="幼圆" pitchFamily="49" charset="-122"/>
                </a:rPr>
                <a:t>2</a:t>
              </a:r>
              <a:r>
                <a:rPr lang="de-DE" altLang="zh-CN" dirty="0">
                  <a:latin typeface="Times New Roman" panose="02020603050405020304" pitchFamily="18" charset="0"/>
                  <a:ea typeface="幼圆" pitchFamily="49" charset="-122"/>
                </a:rPr>
                <a:t>]</a:t>
              </a:r>
              <a:r>
                <a:rPr lang="de-DE" altLang="zh-CN" baseline="30000" dirty="0">
                  <a:latin typeface="Times New Roman" panose="02020603050405020304" pitchFamily="18" charset="0"/>
                  <a:ea typeface="幼圆" pitchFamily="49" charset="-122"/>
                </a:rPr>
                <a:t>+ </a:t>
              </a:r>
              <a:r>
                <a:rPr lang="de-DE" altLang="zh-CN" dirty="0">
                  <a:latin typeface="Times New Roman" panose="02020603050405020304" pitchFamily="18" charset="0"/>
                  <a:ea typeface="幼圆" pitchFamily="49" charset="-122"/>
                </a:rPr>
                <a:t>+Cl</a:t>
              </a:r>
              <a:r>
                <a:rPr lang="de-DE" altLang="zh-CN" baseline="30000" dirty="0">
                  <a:latin typeface="Times New Roman" panose="02020603050405020304" pitchFamily="18" charset="0"/>
                  <a:ea typeface="幼圆" pitchFamily="49" charset="-122"/>
                </a:rPr>
                <a:t>-</a:t>
              </a:r>
              <a:endParaRPr lang="zh-CN" altLang="en-US" dirty="0">
                <a:latin typeface="Times New Roman" panose="02020603050405020304" pitchFamily="18" charset="0"/>
                <a:ea typeface="幼圆" pitchFamily="49" charset="-122"/>
              </a:endParaRPr>
            </a:p>
          </p:txBody>
        </p:sp>
        <p:graphicFrame>
          <p:nvGraphicFramePr>
            <p:cNvPr id="93188" name="Object 22"/>
            <p:cNvGraphicFramePr>
              <a:graphicFrameLocks noChangeAspect="1"/>
            </p:cNvGraphicFramePr>
            <p:nvPr/>
          </p:nvGraphicFramePr>
          <p:xfrm>
            <a:off x="2169" y="3188"/>
            <a:ext cx="589" cy="186"/>
          </p:xfrm>
          <a:graphic>
            <a:graphicData uri="http://schemas.openxmlformats.org/presentationml/2006/ole">
              <mc:AlternateContent xmlns:mc="http://schemas.openxmlformats.org/markup-compatibility/2006">
                <mc:Choice xmlns:v="urn:schemas-microsoft-com:vml" Requires="v">
                  <p:oleObj r:id="rId3" imgW="676275" imgH="171450" progId="Equation.3">
                    <p:embed/>
                  </p:oleObj>
                </mc:Choice>
                <mc:Fallback>
                  <p:oleObj r:id="rId3" imgW="676275" imgH="171450" progId="Equation.3">
                    <p:embed/>
                    <p:pic>
                      <p:nvPicPr>
                        <p:cNvPr id="0" name="图片 3198"/>
                        <p:cNvPicPr/>
                        <p:nvPr/>
                      </p:nvPicPr>
                      <p:blipFill>
                        <a:blip r:embed="rId4"/>
                        <a:stretch>
                          <a:fillRect/>
                        </a:stretch>
                      </p:blipFill>
                      <p:spPr>
                        <a:xfrm>
                          <a:off x="2169" y="3188"/>
                          <a:ext cx="589" cy="186"/>
                        </a:xfrm>
                        <a:prstGeom prst="rect">
                          <a:avLst/>
                        </a:prstGeom>
                        <a:noFill/>
                        <a:ln w="38100">
                          <a:noFill/>
                          <a:miter/>
                        </a:ln>
                      </p:spPr>
                    </p:pic>
                  </p:oleObj>
                </mc:Fallback>
              </mc:AlternateContent>
            </a:graphicData>
          </a:graphic>
        </p:graphicFrame>
      </p:grpSp>
      <p:sp>
        <p:nvSpPr>
          <p:cNvPr id="93189" name="Rectangle 28"/>
          <p:cNvSpPr/>
          <p:nvPr/>
        </p:nvSpPr>
        <p:spPr>
          <a:xfrm>
            <a:off x="5" y="-261609"/>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3190" name="Rectangle 31"/>
          <p:cNvSpPr/>
          <p:nvPr/>
        </p:nvSpPr>
        <p:spPr>
          <a:xfrm>
            <a:off x="5" y="2224416"/>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3191" name="Rectangle 35"/>
          <p:cNvSpPr/>
          <p:nvPr/>
        </p:nvSpPr>
        <p:spPr>
          <a:xfrm>
            <a:off x="5" y="-261609"/>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3192" name="Rectangle 37"/>
          <p:cNvSpPr/>
          <p:nvPr/>
        </p:nvSpPr>
        <p:spPr>
          <a:xfrm>
            <a:off x="5" y="2152980"/>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3193" name="Rectangle 39"/>
          <p:cNvSpPr/>
          <p:nvPr/>
        </p:nvSpPr>
        <p:spPr>
          <a:xfrm>
            <a:off x="5" y="2152980"/>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sp>
        <p:nvSpPr>
          <p:cNvPr id="93194" name="Rectangle 41"/>
          <p:cNvSpPr/>
          <p:nvPr/>
        </p:nvSpPr>
        <p:spPr>
          <a:xfrm>
            <a:off x="5" y="2152980"/>
            <a:ext cx="184731" cy="52322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幼圆" pitchFamily="49" charset="-122"/>
            </a:endParaRPr>
          </a:p>
        </p:txBody>
      </p:sp>
      <p:pic>
        <p:nvPicPr>
          <p:cNvPr id="93195" name="Picture 45" descr="next">
            <a:hlinkClick r:id="rId5" action="ppaction://hlinksldjump"/>
          </p:cNvPr>
          <p:cNvPicPr>
            <a:picLocks noChangeAspect="1"/>
          </p:cNvPicPr>
          <p:nvPr/>
        </p:nvPicPr>
        <p:blipFill>
          <a:blip r:embed="rId6"/>
          <a:stretch>
            <a:fillRect/>
          </a:stretch>
        </p:blipFill>
        <p:spPr>
          <a:xfrm>
            <a:off x="8388350" y="4516439"/>
            <a:ext cx="515938" cy="401637"/>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ext Box 3"/>
          <p:cNvSpPr txBox="1"/>
          <p:nvPr/>
        </p:nvSpPr>
        <p:spPr>
          <a:xfrm>
            <a:off x="85725" y="176213"/>
            <a:ext cx="9036050" cy="523220"/>
          </a:xfrm>
          <a:prstGeom prst="rect">
            <a:avLst/>
          </a:prstGeom>
          <a:solidFill>
            <a:srgbClr val="FFC000"/>
          </a:solidFill>
          <a:ln w="12700" cap="flat" cmpd="sng">
            <a:solidFill>
              <a:schemeClr val="tx1"/>
            </a:solidFill>
            <a:prstDash val="solid"/>
            <a:miter/>
            <a:headEnd type="none" w="med" len="med"/>
            <a:tailEnd type="none" w="med" len="med"/>
          </a:ln>
        </p:spPr>
        <p:txBody>
          <a:bodyPr anchor="t" anchorCtr="0">
            <a:spAutoFit/>
          </a:bodyPr>
          <a:lstStyle/>
          <a:p>
            <a:pPr>
              <a:spcBef>
                <a:spcPct val="50000"/>
              </a:spcBef>
              <a:buClrTx/>
              <a:buFontTx/>
            </a:pPr>
            <a:r>
              <a:rPr lang="en-US" altLang="zh-CN"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例</a:t>
            </a:r>
            <a:r>
              <a:rPr lang="en-US" altLang="zh-CN" sz="2400" dirty="0">
                <a:latin typeface="Times New Roman" panose="02020603050405020304" pitchFamily="18" charset="0"/>
                <a:ea typeface="幼圆" pitchFamily="49" charset="-122"/>
              </a:rPr>
              <a:t>3.9]</a:t>
            </a:r>
            <a:r>
              <a:rPr lang="zh-CN" altLang="en-US" sz="2400" dirty="0">
                <a:latin typeface="Times New Roman" panose="02020603050405020304" pitchFamily="18" charset="0"/>
                <a:ea typeface="幼圆" pitchFamily="49" charset="-122"/>
              </a:rPr>
              <a:t>计算</a:t>
            </a:r>
            <a:r>
              <a:rPr lang="en-US" altLang="zh-CN" sz="2400" dirty="0">
                <a:latin typeface="Times New Roman" panose="02020603050405020304" pitchFamily="18" charset="0"/>
                <a:ea typeface="幼圆" pitchFamily="49" charset="-122"/>
              </a:rPr>
              <a:t>25℃</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AgCl</a:t>
            </a:r>
            <a:r>
              <a:rPr lang="zh-CN" altLang="en-US" sz="2400" dirty="0">
                <a:latin typeface="Times New Roman" panose="02020603050405020304" pitchFamily="18" charset="0"/>
                <a:ea typeface="幼圆" pitchFamily="49" charset="-122"/>
              </a:rPr>
              <a:t>在 </a:t>
            </a:r>
            <a:r>
              <a:rPr lang="en-US" altLang="zh-CN" sz="2400" dirty="0">
                <a:latin typeface="Times New Roman" panose="02020603050405020304" pitchFamily="18" charset="0"/>
                <a:ea typeface="幼圆" pitchFamily="49" charset="-122"/>
              </a:rPr>
              <a:t>6.0 mol·L</a:t>
            </a:r>
            <a:r>
              <a:rPr lang="en-US" altLang="zh-CN" sz="2400" baseline="30000" dirty="0">
                <a:latin typeface="Times New Roman" panose="02020603050405020304" pitchFamily="18" charset="0"/>
                <a:ea typeface="幼圆" pitchFamily="49" charset="-122"/>
              </a:rPr>
              <a:t>-l</a:t>
            </a:r>
            <a:r>
              <a:rPr lang="zh-CN" altLang="en-US" sz="2400" dirty="0">
                <a:latin typeface="Times New Roman" panose="02020603050405020304" pitchFamily="18" charset="0"/>
                <a:ea typeface="幼圆" pitchFamily="49" charset="-122"/>
              </a:rPr>
              <a:t>氨水溶液中的溶解度</a:t>
            </a:r>
          </a:p>
        </p:txBody>
      </p:sp>
      <p:grpSp>
        <p:nvGrpSpPr>
          <p:cNvPr id="2" name="Group 14"/>
          <p:cNvGrpSpPr/>
          <p:nvPr/>
        </p:nvGrpSpPr>
        <p:grpSpPr>
          <a:xfrm>
            <a:off x="250825" y="700089"/>
            <a:ext cx="8540750" cy="2413000"/>
            <a:chOff x="144" y="484"/>
            <a:chExt cx="5353" cy="1893"/>
          </a:xfrm>
        </p:grpSpPr>
        <p:sp>
          <p:nvSpPr>
            <p:cNvPr id="94211" name="Text Box 5"/>
            <p:cNvSpPr txBox="1"/>
            <p:nvPr/>
          </p:nvSpPr>
          <p:spPr>
            <a:xfrm>
              <a:off x="144" y="484"/>
              <a:ext cx="5353" cy="1893"/>
            </a:xfrm>
            <a:prstGeom prst="rect">
              <a:avLst/>
            </a:prstGeom>
            <a:noFill/>
            <a:ln w="9525">
              <a:noFill/>
            </a:ln>
          </p:spPr>
          <p:txBody>
            <a:bodyPr anchor="t" anchorCtr="0">
              <a:spAutoFit/>
            </a:bodyPr>
            <a:lstStyle/>
            <a:p>
              <a:pPr>
                <a:lnSpc>
                  <a:spcPts val="3700"/>
                </a:lnSpc>
                <a:buClrTx/>
                <a:buFontTx/>
              </a:pPr>
              <a:r>
                <a:rPr lang="zh-CN" altLang="en-US" sz="2400" dirty="0">
                  <a:latin typeface="Times New Roman" panose="02020603050405020304" pitchFamily="18" charset="0"/>
                  <a:ea typeface="幼圆" pitchFamily="49" charset="-122"/>
                </a:rPr>
                <a:t>解：查表知        </a:t>
              </a:r>
              <a:r>
                <a:rPr lang="en-US" altLang="zh-CN" sz="2400" dirty="0">
                  <a:latin typeface="Times New Roman" panose="02020603050405020304" pitchFamily="18" charset="0"/>
                  <a:ea typeface="幼圆" pitchFamily="49" charset="-122"/>
                </a:rPr>
                <a:t>(AgCl)=1.77×10</a:t>
              </a:r>
              <a:r>
                <a:rPr lang="en-US" altLang="zh-CN" sz="2400" baseline="30000" dirty="0">
                  <a:latin typeface="Times New Roman" panose="02020603050405020304" pitchFamily="18" charset="0"/>
                  <a:ea typeface="幼圆" pitchFamily="49" charset="-122"/>
                </a:rPr>
                <a:t>-10</a:t>
              </a:r>
              <a:r>
                <a:rPr lang="zh-CN" altLang="en-US" sz="2400" dirty="0">
                  <a:latin typeface="Times New Roman" panose="02020603050405020304" pitchFamily="18" charset="0"/>
                  <a:ea typeface="幼圆" pitchFamily="49" charset="-122"/>
                </a:rPr>
                <a:t>，       </a:t>
              </a:r>
            </a:p>
            <a:p>
              <a:pPr>
                <a:buClrTx/>
                <a:buFontTx/>
              </a:pPr>
              <a:r>
                <a:rPr lang="en-US" altLang="zh-CN" sz="2400" dirty="0">
                  <a:latin typeface="Times New Roman" panose="02020603050405020304" pitchFamily="18" charset="0"/>
                  <a:ea typeface="幼圆" pitchFamily="49" charset="-122"/>
                </a:rPr>
                <a:t>             ([Ag(NH</a:t>
              </a:r>
              <a:r>
                <a:rPr lang="en-US" altLang="zh-CN" sz="2400" baseline="-25000" dirty="0">
                  <a:latin typeface="Times New Roman" panose="02020603050405020304" pitchFamily="18" charset="0"/>
                  <a:ea typeface="幼圆" pitchFamily="49" charset="-122"/>
                </a:rPr>
                <a:t>3</a:t>
              </a:r>
              <a:r>
                <a:rPr lang="en-US" altLang="zh-CN" sz="2400" dirty="0">
                  <a:latin typeface="Times New Roman" panose="02020603050405020304" pitchFamily="18" charset="0"/>
                  <a:ea typeface="幼圆" pitchFamily="49" charset="-122"/>
                </a:rPr>
                <a:t>)</a:t>
              </a:r>
              <a:r>
                <a:rPr lang="en-US" altLang="zh-CN" sz="2400" baseline="-25000" dirty="0">
                  <a:latin typeface="Times New Roman" panose="02020603050405020304" pitchFamily="18" charset="0"/>
                  <a:ea typeface="幼圆" pitchFamily="49" charset="-122"/>
                </a:rPr>
                <a:t>2</a:t>
              </a:r>
              <a:r>
                <a:rPr lang="en-US" altLang="zh-CN" sz="2400" dirty="0">
                  <a:latin typeface="Times New Roman" panose="02020603050405020304" pitchFamily="18" charset="0"/>
                  <a:ea typeface="幼圆" pitchFamily="49" charset="-122"/>
                </a:rPr>
                <a:t>]</a:t>
              </a:r>
              <a:r>
                <a:rPr lang="en-US" altLang="zh-CN" sz="2400" baseline="30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)=1.12×10</a:t>
              </a:r>
              <a:r>
                <a:rPr lang="en-US" altLang="zh-CN" sz="2400" baseline="30000" dirty="0">
                  <a:latin typeface="Times New Roman" panose="02020603050405020304" pitchFamily="18" charset="0"/>
                  <a:ea typeface="幼圆" pitchFamily="49" charset="-122"/>
                </a:rPr>
                <a:t>7</a:t>
              </a:r>
              <a:r>
                <a:rPr lang="zh-CN" altLang="en-US" sz="2400" dirty="0">
                  <a:latin typeface="Times New Roman" panose="02020603050405020304" pitchFamily="18" charset="0"/>
                  <a:ea typeface="幼圆" pitchFamily="49" charset="-122"/>
                </a:rPr>
                <a:t>，设</a:t>
              </a:r>
              <a:r>
                <a:rPr lang="en-US" altLang="zh-CN" sz="2400" dirty="0">
                  <a:latin typeface="Times New Roman" panose="02020603050405020304" pitchFamily="18" charset="0"/>
                  <a:ea typeface="幼圆" pitchFamily="49" charset="-122"/>
                </a:rPr>
                <a:t>25℃</a:t>
              </a:r>
              <a:r>
                <a:rPr lang="zh-CN" altLang="en-US" sz="2400" dirty="0">
                  <a:latin typeface="Times New Roman" panose="02020603050405020304" pitchFamily="18" charset="0"/>
                  <a:ea typeface="幼圆" pitchFamily="49" charset="-122"/>
                </a:rPr>
                <a:t>时，</a:t>
              </a:r>
              <a:r>
                <a:rPr lang="en-US" altLang="zh-CN" sz="2400" dirty="0">
                  <a:latin typeface="Times New Roman" panose="02020603050405020304" pitchFamily="18" charset="0"/>
                  <a:ea typeface="幼圆" pitchFamily="49" charset="-122"/>
                </a:rPr>
                <a:t>AgCl</a:t>
              </a:r>
              <a:r>
                <a:rPr lang="zh-CN" altLang="en-US" sz="2400" dirty="0">
                  <a:latin typeface="Times New Roman" panose="02020603050405020304" pitchFamily="18" charset="0"/>
                  <a:ea typeface="幼圆" pitchFamily="49" charset="-122"/>
                </a:rPr>
                <a:t>在氨水中的溶解度为 </a:t>
              </a:r>
              <a:r>
                <a:rPr lang="en-US" altLang="zh-CN" sz="2400" i="1" dirty="0">
                  <a:latin typeface="Times New Roman" panose="02020603050405020304" pitchFamily="18" charset="0"/>
                  <a:ea typeface="幼圆" pitchFamily="49" charset="-122"/>
                </a:rPr>
                <a:t>x </a:t>
              </a:r>
              <a:r>
                <a:rPr lang="en-US" altLang="zh-CN" sz="2400" dirty="0">
                  <a:latin typeface="Times New Roman" panose="02020603050405020304" pitchFamily="18" charset="0"/>
                  <a:ea typeface="幼圆" pitchFamily="49" charset="-122"/>
                </a:rPr>
                <a:t>mol·L</a:t>
              </a:r>
              <a:r>
                <a:rPr lang="en-US" altLang="zh-CN" sz="2400" baseline="30000" dirty="0">
                  <a:latin typeface="Times New Roman" panose="02020603050405020304" pitchFamily="18" charset="0"/>
                  <a:ea typeface="幼圆" pitchFamily="49" charset="-122"/>
                </a:rPr>
                <a:t>-l</a:t>
              </a:r>
            </a:p>
            <a:p>
              <a:pPr>
                <a:buClrTx/>
                <a:buFontTx/>
              </a:pPr>
              <a:r>
                <a:rPr lang="en-US" altLang="zh-CN" sz="2400" dirty="0">
                  <a:latin typeface="Times New Roman" panose="02020603050405020304" pitchFamily="18" charset="0"/>
                  <a:ea typeface="幼圆" pitchFamily="49" charset="-122"/>
                </a:rPr>
                <a:t>                                        </a:t>
              </a:r>
              <a:r>
                <a:rPr lang="de-DE" altLang="zh-CN" sz="2400" dirty="0">
                  <a:latin typeface="Times New Roman" panose="02020603050405020304" pitchFamily="18" charset="0"/>
                  <a:ea typeface="幼圆" pitchFamily="49" charset="-122"/>
                </a:rPr>
                <a:t>AgCl + 2NH</a:t>
              </a:r>
              <a:r>
                <a:rPr lang="de-DE" altLang="zh-CN" sz="2400" baseline="-25000" dirty="0">
                  <a:latin typeface="Times New Roman" panose="02020603050405020304" pitchFamily="18" charset="0"/>
                  <a:ea typeface="幼圆" pitchFamily="49" charset="-122"/>
                </a:rPr>
                <a:t>3</a:t>
              </a:r>
              <a:r>
                <a:rPr lang="de-DE" altLang="zh-CN" sz="2400" dirty="0">
                  <a:latin typeface="Times New Roman" panose="02020603050405020304" pitchFamily="18" charset="0"/>
                  <a:ea typeface="幼圆" pitchFamily="49" charset="-122"/>
                </a:rPr>
                <a:t>       [Ag(NH</a:t>
              </a:r>
              <a:r>
                <a:rPr lang="de-DE" altLang="zh-CN" sz="2400" baseline="-25000" dirty="0">
                  <a:latin typeface="Times New Roman" panose="02020603050405020304" pitchFamily="18" charset="0"/>
                  <a:ea typeface="幼圆" pitchFamily="49" charset="-122"/>
                </a:rPr>
                <a:t>3</a:t>
              </a:r>
              <a:r>
                <a:rPr lang="de-DE" altLang="zh-CN" sz="2400" dirty="0">
                  <a:latin typeface="Times New Roman" panose="02020603050405020304" pitchFamily="18" charset="0"/>
                  <a:ea typeface="幼圆" pitchFamily="49" charset="-122"/>
                </a:rPr>
                <a:t>)</a:t>
              </a:r>
              <a:r>
                <a:rPr lang="de-DE" altLang="zh-CN" sz="2400" baseline="-25000" dirty="0">
                  <a:latin typeface="Times New Roman" panose="02020603050405020304" pitchFamily="18" charset="0"/>
                  <a:ea typeface="幼圆" pitchFamily="49" charset="-122"/>
                </a:rPr>
                <a:t>2</a:t>
              </a:r>
              <a:r>
                <a:rPr lang="de-DE" altLang="zh-CN" sz="2400" dirty="0">
                  <a:latin typeface="Times New Roman" panose="02020603050405020304" pitchFamily="18" charset="0"/>
                  <a:ea typeface="幼圆" pitchFamily="49" charset="-122"/>
                </a:rPr>
                <a:t>]</a:t>
              </a:r>
              <a:r>
                <a:rPr lang="de-DE" altLang="zh-CN" sz="2400" baseline="30000" dirty="0">
                  <a:latin typeface="Times New Roman" panose="02020603050405020304" pitchFamily="18" charset="0"/>
                  <a:ea typeface="幼圆" pitchFamily="49" charset="-122"/>
                </a:rPr>
                <a:t>+</a:t>
              </a:r>
              <a:r>
                <a:rPr lang="de-DE" altLang="zh-CN" sz="2400" dirty="0">
                  <a:latin typeface="Times New Roman" panose="02020603050405020304" pitchFamily="18" charset="0"/>
                  <a:ea typeface="幼圆" pitchFamily="49" charset="-122"/>
                </a:rPr>
                <a:t> +Cl</a:t>
              </a:r>
              <a:r>
                <a:rPr lang="de-DE" altLang="zh-CN" sz="2400" baseline="30000" dirty="0">
                  <a:latin typeface="Times New Roman" panose="02020603050405020304" pitchFamily="18" charset="0"/>
                  <a:ea typeface="幼圆" pitchFamily="49" charset="-122"/>
                </a:rPr>
                <a:t>-</a:t>
              </a:r>
            </a:p>
            <a:p>
              <a:pPr>
                <a:buClrTx/>
                <a:buFontTx/>
              </a:pPr>
              <a:r>
                <a:rPr lang="zh-CN" altLang="de-DE" sz="2400" dirty="0">
                  <a:latin typeface="Times New Roman" panose="02020603050405020304" pitchFamily="18" charset="0"/>
                  <a:ea typeface="幼圆" pitchFamily="49" charset="-122"/>
                </a:rPr>
                <a:t>初始浓度</a:t>
              </a:r>
              <a:r>
                <a:rPr lang="de-DE" altLang="zh-CN" sz="2400" dirty="0">
                  <a:latin typeface="Times New Roman" panose="02020603050405020304" pitchFamily="18" charset="0"/>
                  <a:ea typeface="幼圆" pitchFamily="49" charset="-122"/>
                </a:rPr>
                <a:t>/</a:t>
              </a:r>
              <a:r>
                <a:rPr lang="de-DE" altLang="zh-CN" sz="2400" i="1" dirty="0">
                  <a:latin typeface="Times New Roman" panose="02020603050405020304" pitchFamily="18" charset="0"/>
                  <a:ea typeface="幼圆" pitchFamily="49" charset="-122"/>
                </a:rPr>
                <a:t> </a:t>
              </a:r>
              <a:r>
                <a:rPr lang="de-DE" altLang="zh-CN" sz="2400" dirty="0">
                  <a:latin typeface="Times New Roman" panose="02020603050405020304" pitchFamily="18" charset="0"/>
                  <a:ea typeface="幼圆" pitchFamily="49" charset="-122"/>
                </a:rPr>
                <a:t>mol·L</a:t>
              </a:r>
              <a:r>
                <a:rPr lang="de-DE" altLang="zh-CN" sz="2400" baseline="30000" dirty="0">
                  <a:latin typeface="Times New Roman" panose="02020603050405020304" pitchFamily="18" charset="0"/>
                  <a:ea typeface="幼圆" pitchFamily="49" charset="-122"/>
                </a:rPr>
                <a:t>-l</a:t>
              </a:r>
              <a:r>
                <a:rPr lang="de-DE" altLang="zh-CN" sz="2400" dirty="0">
                  <a:latin typeface="Times New Roman" panose="02020603050405020304" pitchFamily="18" charset="0"/>
                  <a:ea typeface="幼圆" pitchFamily="49" charset="-122"/>
                </a:rPr>
                <a:t>                         6.0                   0              0</a:t>
              </a:r>
            </a:p>
            <a:p>
              <a:pPr>
                <a:buClrTx/>
                <a:buFontTx/>
              </a:pPr>
              <a:r>
                <a:rPr lang="zh-CN" altLang="de-DE" sz="2400" dirty="0">
                  <a:latin typeface="Times New Roman" panose="02020603050405020304" pitchFamily="18" charset="0"/>
                  <a:ea typeface="幼圆" pitchFamily="49" charset="-122"/>
                </a:rPr>
                <a:t>平衡浓度</a:t>
              </a:r>
              <a:r>
                <a:rPr lang="de-DE" altLang="zh-CN" sz="2400" dirty="0">
                  <a:latin typeface="Times New Roman" panose="02020603050405020304" pitchFamily="18" charset="0"/>
                  <a:ea typeface="幼圆" pitchFamily="49" charset="-122"/>
                </a:rPr>
                <a:t>/</a:t>
              </a:r>
              <a:r>
                <a:rPr lang="de-DE" altLang="zh-CN" sz="2400" i="1" dirty="0">
                  <a:latin typeface="Times New Roman" panose="02020603050405020304" pitchFamily="18" charset="0"/>
                  <a:ea typeface="幼圆" pitchFamily="49" charset="-122"/>
                </a:rPr>
                <a:t> </a:t>
              </a:r>
              <a:r>
                <a:rPr lang="de-DE" altLang="zh-CN" sz="2400" dirty="0">
                  <a:latin typeface="Times New Roman" panose="02020603050405020304" pitchFamily="18" charset="0"/>
                  <a:ea typeface="幼圆" pitchFamily="49" charset="-122"/>
                </a:rPr>
                <a:t>mol·L</a:t>
              </a:r>
              <a:r>
                <a:rPr lang="de-DE" altLang="zh-CN" sz="2400" baseline="30000" dirty="0">
                  <a:latin typeface="Times New Roman" panose="02020603050405020304" pitchFamily="18" charset="0"/>
                  <a:ea typeface="幼圆" pitchFamily="49" charset="-122"/>
                </a:rPr>
                <a:t>-l</a:t>
              </a:r>
              <a:r>
                <a:rPr lang="de-DE" altLang="zh-CN" sz="2400" dirty="0">
                  <a:latin typeface="Times New Roman" panose="02020603050405020304" pitchFamily="18" charset="0"/>
                  <a:ea typeface="幼圆" pitchFamily="49" charset="-122"/>
                </a:rPr>
                <a:t>                       6.0 -2</a:t>
              </a:r>
              <a:r>
                <a:rPr lang="de-DE" altLang="zh-CN" sz="2400" i="1" dirty="0">
                  <a:latin typeface="Times New Roman" panose="02020603050405020304" pitchFamily="18" charset="0"/>
                  <a:ea typeface="幼圆" pitchFamily="49" charset="-122"/>
                </a:rPr>
                <a:t>x              x               x         </a:t>
              </a:r>
              <a:r>
                <a:rPr lang="de-DE" altLang="zh-CN" sz="2400" dirty="0">
                  <a:latin typeface="Times New Roman" panose="02020603050405020304" pitchFamily="18" charset="0"/>
                  <a:ea typeface="幼圆" pitchFamily="49" charset="-122"/>
                </a:rPr>
                <a:t>  </a:t>
              </a:r>
            </a:p>
          </p:txBody>
        </p:sp>
        <p:graphicFrame>
          <p:nvGraphicFramePr>
            <p:cNvPr id="94212" name="Object 6"/>
            <p:cNvGraphicFramePr>
              <a:graphicFrameLocks noChangeAspect="1"/>
            </p:cNvGraphicFramePr>
            <p:nvPr/>
          </p:nvGraphicFramePr>
          <p:xfrm>
            <a:off x="1182" y="540"/>
            <a:ext cx="339" cy="364"/>
          </p:xfrm>
          <a:graphic>
            <a:graphicData uri="http://schemas.openxmlformats.org/presentationml/2006/ole">
              <mc:AlternateContent xmlns:mc="http://schemas.openxmlformats.org/markup-compatibility/2006">
                <mc:Choice xmlns:v="urn:schemas-microsoft-com:vml" Requires="v">
                  <p:oleObj r:id="rId2" imgW="250825" imgH="264160" progId="Equation.3">
                    <p:embed/>
                  </p:oleObj>
                </mc:Choice>
                <mc:Fallback>
                  <p:oleObj r:id="rId2" imgW="250825" imgH="264160" progId="Equation.3">
                    <p:embed/>
                    <p:pic>
                      <p:nvPicPr>
                        <p:cNvPr id="0" name=""/>
                        <p:cNvPicPr/>
                        <p:nvPr/>
                      </p:nvPicPr>
                      <p:blipFill>
                        <a:blip r:embed="rId3"/>
                        <a:stretch>
                          <a:fillRect/>
                        </a:stretch>
                      </p:blipFill>
                      <p:spPr>
                        <a:xfrm>
                          <a:off x="1182" y="540"/>
                          <a:ext cx="339" cy="364"/>
                        </a:xfrm>
                        <a:prstGeom prst="rect">
                          <a:avLst/>
                        </a:prstGeom>
                        <a:noFill/>
                        <a:ln w="38100">
                          <a:noFill/>
                          <a:miter/>
                        </a:ln>
                      </p:spPr>
                    </p:pic>
                  </p:oleObj>
                </mc:Fallback>
              </mc:AlternateContent>
            </a:graphicData>
          </a:graphic>
        </p:graphicFrame>
        <p:graphicFrame>
          <p:nvGraphicFramePr>
            <p:cNvPr id="94213" name="Object 8"/>
            <p:cNvGraphicFramePr>
              <a:graphicFrameLocks noChangeAspect="1"/>
            </p:cNvGraphicFramePr>
            <p:nvPr/>
          </p:nvGraphicFramePr>
          <p:xfrm>
            <a:off x="460" y="823"/>
            <a:ext cx="347" cy="363"/>
          </p:xfrm>
          <a:graphic>
            <a:graphicData uri="http://schemas.openxmlformats.org/presentationml/2006/ole">
              <mc:AlternateContent xmlns:mc="http://schemas.openxmlformats.org/markup-compatibility/2006">
                <mc:Choice xmlns:v="urn:schemas-microsoft-com:vml" Requires="v">
                  <p:oleObj r:id="rId4" imgW="222885" imgH="236220" progId="Equation.3">
                    <p:embed/>
                  </p:oleObj>
                </mc:Choice>
                <mc:Fallback>
                  <p:oleObj r:id="rId4" imgW="222885" imgH="236220" progId="Equation.3">
                    <p:embed/>
                    <p:pic>
                      <p:nvPicPr>
                        <p:cNvPr id="0" name=""/>
                        <p:cNvPicPr/>
                        <p:nvPr/>
                      </p:nvPicPr>
                      <p:blipFill>
                        <a:blip r:embed="rId5"/>
                        <a:stretch>
                          <a:fillRect/>
                        </a:stretch>
                      </p:blipFill>
                      <p:spPr>
                        <a:xfrm>
                          <a:off x="460" y="823"/>
                          <a:ext cx="347" cy="363"/>
                        </a:xfrm>
                        <a:prstGeom prst="rect">
                          <a:avLst/>
                        </a:prstGeom>
                        <a:noFill/>
                        <a:ln w="38100">
                          <a:noFill/>
                          <a:miter/>
                        </a:ln>
                      </p:spPr>
                    </p:pic>
                  </p:oleObj>
                </mc:Fallback>
              </mc:AlternateContent>
            </a:graphicData>
          </a:graphic>
        </p:graphicFrame>
      </p:grpSp>
      <p:graphicFrame>
        <p:nvGraphicFramePr>
          <p:cNvPr id="94216" name="Object 7"/>
          <p:cNvGraphicFramePr>
            <a:graphicFrameLocks noChangeAspect="1"/>
          </p:cNvGraphicFramePr>
          <p:nvPr>
            <p:extLst>
              <p:ext uri="{D42A27DB-BD31-4B8C-83A1-F6EECF244321}">
                <p14:modId xmlns:p14="http://schemas.microsoft.com/office/powerpoint/2010/main" val="1017203866"/>
              </p:ext>
            </p:extLst>
          </p:nvPr>
        </p:nvGraphicFramePr>
        <p:xfrm>
          <a:off x="827584" y="3795886"/>
          <a:ext cx="2682875" cy="396875"/>
        </p:xfrm>
        <a:graphic>
          <a:graphicData uri="http://schemas.openxmlformats.org/presentationml/2006/ole">
            <mc:AlternateContent xmlns:mc="http://schemas.openxmlformats.org/markup-compatibility/2006">
              <mc:Choice xmlns:v="urn:schemas-microsoft-com:vml" Requires="v">
                <p:oleObj name="Equation" r:id="rId6" imgW="1320480" imgH="253800" progId="Equation.DSMT4">
                  <p:embed/>
                </p:oleObj>
              </mc:Choice>
              <mc:Fallback>
                <p:oleObj name="Equation" r:id="rId6" imgW="1320480" imgH="253800" progId="Equation.DSMT4">
                  <p:embed/>
                  <p:pic>
                    <p:nvPicPr>
                      <p:cNvPr id="0" name=""/>
                      <p:cNvPicPr/>
                      <p:nvPr/>
                    </p:nvPicPr>
                    <p:blipFill>
                      <a:blip r:embed="rId7"/>
                      <a:stretch>
                        <a:fillRect/>
                      </a:stretch>
                    </p:blipFill>
                    <p:spPr>
                      <a:xfrm>
                        <a:off x="827584" y="3795886"/>
                        <a:ext cx="2682875" cy="396875"/>
                      </a:xfrm>
                      <a:prstGeom prst="rect">
                        <a:avLst/>
                      </a:prstGeom>
                      <a:noFill/>
                      <a:ln w="38100">
                        <a:noFill/>
                        <a:miter/>
                      </a:ln>
                    </p:spPr>
                  </p:pic>
                </p:oleObj>
              </mc:Fallback>
            </mc:AlternateContent>
          </a:graphicData>
        </a:graphic>
      </p:graphicFrame>
      <p:graphicFrame>
        <p:nvGraphicFramePr>
          <p:cNvPr id="94217" name="Object 9"/>
          <p:cNvGraphicFramePr>
            <a:graphicFrameLocks noChangeAspect="1"/>
          </p:cNvGraphicFramePr>
          <p:nvPr>
            <p:extLst>
              <p:ext uri="{D42A27DB-BD31-4B8C-83A1-F6EECF244321}">
                <p14:modId xmlns:p14="http://schemas.microsoft.com/office/powerpoint/2010/main" val="2980093036"/>
              </p:ext>
            </p:extLst>
          </p:nvPr>
        </p:nvGraphicFramePr>
        <p:xfrm>
          <a:off x="1979613" y="4175125"/>
          <a:ext cx="4673600" cy="812800"/>
        </p:xfrm>
        <a:graphic>
          <a:graphicData uri="http://schemas.openxmlformats.org/presentationml/2006/ole">
            <mc:AlternateContent xmlns:mc="http://schemas.openxmlformats.org/markup-compatibility/2006">
              <mc:Choice xmlns:v="urn:schemas-microsoft-com:vml" Requires="v">
                <p:oleObj name="Equation" r:id="rId8" imgW="2158920" imgH="507960" progId="Equation.DSMT4">
                  <p:embed/>
                </p:oleObj>
              </mc:Choice>
              <mc:Fallback>
                <p:oleObj name="Equation" r:id="rId8" imgW="2158920" imgH="507960" progId="Equation.DSMT4">
                  <p:embed/>
                  <p:pic>
                    <p:nvPicPr>
                      <p:cNvPr id="0" name=""/>
                      <p:cNvPicPr/>
                      <p:nvPr/>
                    </p:nvPicPr>
                    <p:blipFill>
                      <a:blip r:embed="rId9"/>
                      <a:stretch>
                        <a:fillRect/>
                      </a:stretch>
                    </p:blipFill>
                    <p:spPr>
                      <a:xfrm>
                        <a:off x="1979613" y="4175125"/>
                        <a:ext cx="4673600" cy="812800"/>
                      </a:xfrm>
                      <a:prstGeom prst="rect">
                        <a:avLst/>
                      </a:prstGeom>
                      <a:noFill/>
                      <a:ln w="38100">
                        <a:noFill/>
                        <a:miter/>
                      </a:ln>
                    </p:spPr>
                  </p:pic>
                </p:oleObj>
              </mc:Fallback>
            </mc:AlternateContent>
          </a:graphicData>
        </a:graphic>
      </p:graphicFrame>
      <p:grpSp>
        <p:nvGrpSpPr>
          <p:cNvPr id="4" name="组合 3"/>
          <p:cNvGrpSpPr/>
          <p:nvPr/>
        </p:nvGrpSpPr>
        <p:grpSpPr>
          <a:xfrm>
            <a:off x="3203848" y="3219822"/>
            <a:ext cx="2902395" cy="666935"/>
            <a:chOff x="683639" y="3212100"/>
            <a:chExt cx="2695608" cy="563562"/>
          </a:xfrm>
        </p:grpSpPr>
        <p:graphicFrame>
          <p:nvGraphicFramePr>
            <p:cNvPr id="94218" name="Object 10"/>
            <p:cNvGraphicFramePr>
              <a:graphicFrameLocks noChangeAspect="1"/>
            </p:cNvGraphicFramePr>
            <p:nvPr>
              <p:extLst>
                <p:ext uri="{D42A27DB-BD31-4B8C-83A1-F6EECF244321}">
                  <p14:modId xmlns:p14="http://schemas.microsoft.com/office/powerpoint/2010/main" val="2874389843"/>
                </p:ext>
              </p:extLst>
            </p:nvPr>
          </p:nvGraphicFramePr>
          <p:xfrm>
            <a:off x="683639" y="3279330"/>
            <a:ext cx="685304" cy="277894"/>
          </p:xfrm>
          <a:graphic>
            <a:graphicData uri="http://schemas.openxmlformats.org/presentationml/2006/ole">
              <mc:AlternateContent xmlns:mc="http://schemas.openxmlformats.org/markup-compatibility/2006">
                <mc:Choice xmlns:v="urn:schemas-microsoft-com:vml" Requires="v">
                  <p:oleObj name="Equation" r:id="rId10" imgW="355320" imgH="190440" progId="Equation.DSMT4">
                    <p:embed/>
                  </p:oleObj>
                </mc:Choice>
                <mc:Fallback>
                  <p:oleObj name="Equation" r:id="rId10" imgW="355320" imgH="190440" progId="Equation.DSMT4">
                    <p:embed/>
                    <p:pic>
                      <p:nvPicPr>
                        <p:cNvPr id="0" name=""/>
                        <p:cNvPicPr/>
                        <p:nvPr/>
                      </p:nvPicPr>
                      <p:blipFill>
                        <a:blip r:embed="rId11"/>
                        <a:stretch>
                          <a:fillRect/>
                        </a:stretch>
                      </p:blipFill>
                      <p:spPr>
                        <a:xfrm>
                          <a:off x="683639" y="3279330"/>
                          <a:ext cx="685304" cy="277894"/>
                        </a:xfrm>
                        <a:prstGeom prst="rect">
                          <a:avLst/>
                        </a:prstGeom>
                        <a:noFill/>
                        <a:ln w="38100">
                          <a:noFill/>
                          <a:miter/>
                        </a:ln>
                      </p:spPr>
                    </p:pic>
                  </p:oleObj>
                </mc:Fallback>
              </mc:AlternateContent>
            </a:graphicData>
          </a:graphic>
        </p:graphicFrame>
        <p:graphicFrame>
          <p:nvGraphicFramePr>
            <p:cNvPr id="94219" name="Object 11"/>
            <p:cNvGraphicFramePr>
              <a:graphicFrameLocks noChangeAspect="1"/>
            </p:cNvGraphicFramePr>
            <p:nvPr>
              <p:extLst>
                <p:ext uri="{D42A27DB-BD31-4B8C-83A1-F6EECF244321}">
                  <p14:modId xmlns:p14="http://schemas.microsoft.com/office/powerpoint/2010/main" val="3890517810"/>
                </p:ext>
              </p:extLst>
            </p:nvPr>
          </p:nvGraphicFramePr>
          <p:xfrm>
            <a:off x="1218660" y="3212100"/>
            <a:ext cx="2160587" cy="563562"/>
          </p:xfrm>
          <a:graphic>
            <a:graphicData uri="http://schemas.openxmlformats.org/presentationml/2006/ole">
              <mc:AlternateContent xmlns:mc="http://schemas.openxmlformats.org/markup-compatibility/2006">
                <mc:Choice xmlns:v="urn:schemas-microsoft-com:vml" Requires="v">
                  <p:oleObj name="Equation" r:id="rId12" imgW="1251585" imgH="421640" progId="Equation.DSMT4">
                    <p:embed/>
                  </p:oleObj>
                </mc:Choice>
                <mc:Fallback>
                  <p:oleObj name="Equation" r:id="rId12" imgW="1251585" imgH="421640" progId="Equation.DSMT4">
                    <p:embed/>
                    <p:pic>
                      <p:nvPicPr>
                        <p:cNvPr id="0" name=""/>
                        <p:cNvPicPr/>
                        <p:nvPr/>
                      </p:nvPicPr>
                      <p:blipFill>
                        <a:blip r:embed="rId13"/>
                        <a:stretch>
                          <a:fillRect/>
                        </a:stretch>
                      </p:blipFill>
                      <p:spPr>
                        <a:xfrm>
                          <a:off x="1218660" y="3212100"/>
                          <a:ext cx="2160587" cy="563562"/>
                        </a:xfrm>
                        <a:prstGeom prst="rect">
                          <a:avLst/>
                        </a:prstGeom>
                        <a:noFill/>
                        <a:ln w="38100">
                          <a:noFill/>
                          <a:miter/>
                        </a:ln>
                      </p:spPr>
                    </p:pic>
                  </p:oleObj>
                </mc:Fallback>
              </mc:AlternateContent>
            </a:graphicData>
          </a:graphic>
        </p:graphicFrame>
      </p:grpSp>
      <p:graphicFrame>
        <p:nvGraphicFramePr>
          <p:cNvPr id="18" name="Object 29"/>
          <p:cNvGraphicFramePr>
            <a:graphicFrameLocks noChangeAspect="1"/>
          </p:cNvGraphicFramePr>
          <p:nvPr>
            <p:extLst>
              <p:ext uri="{D42A27DB-BD31-4B8C-83A1-F6EECF244321}">
                <p14:modId xmlns:p14="http://schemas.microsoft.com/office/powerpoint/2010/main" val="2555955426"/>
              </p:ext>
            </p:extLst>
          </p:nvPr>
        </p:nvGraphicFramePr>
        <p:xfrm>
          <a:off x="5148064" y="2067695"/>
          <a:ext cx="433388" cy="120291"/>
        </p:xfrm>
        <a:graphic>
          <a:graphicData uri="http://schemas.openxmlformats.org/presentationml/2006/ole">
            <mc:AlternateContent xmlns:mc="http://schemas.openxmlformats.org/markup-compatibility/2006">
              <mc:Choice xmlns:v="urn:schemas-microsoft-com:vml" Requires="v">
                <p:oleObj name="Equation" r:id="rId14" imgW="676275" imgH="171450" progId="Equation.DSMT4">
                  <p:embed/>
                </p:oleObj>
              </mc:Choice>
              <mc:Fallback>
                <p:oleObj name="Equation" r:id="rId14" imgW="676275" imgH="171450" progId="Equation.DSMT4">
                  <p:embed/>
                  <p:pic>
                    <p:nvPicPr>
                      <p:cNvPr id="0" name=""/>
                      <p:cNvPicPr/>
                      <p:nvPr/>
                    </p:nvPicPr>
                    <p:blipFill>
                      <a:blip r:embed="rId15"/>
                      <a:stretch>
                        <a:fillRect/>
                      </a:stretch>
                    </p:blipFill>
                    <p:spPr>
                      <a:xfrm>
                        <a:off x="5148064" y="2067695"/>
                        <a:ext cx="433388" cy="120291"/>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765946337"/>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216"/>
                                        </p:tgtEl>
                                        <p:attrNameLst>
                                          <p:attrName>style.visibility</p:attrName>
                                        </p:attrNameLst>
                                      </p:cBhvr>
                                      <p:to>
                                        <p:strVal val="visible"/>
                                      </p:to>
                                    </p:set>
                                    <p:animEffect transition="in" filter="wipe(left)">
                                      <p:cBhvr>
                                        <p:cTn id="17" dur="500"/>
                                        <p:tgtEl>
                                          <p:spTgt spid="942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4217"/>
                                        </p:tgtEl>
                                        <p:attrNameLst>
                                          <p:attrName>style.visibility</p:attrName>
                                        </p:attrNameLst>
                                      </p:cBhvr>
                                      <p:to>
                                        <p:strVal val="visible"/>
                                      </p:to>
                                    </p:set>
                                    <p:animEffect transition="in" filter="wipe(left)">
                                      <p:cBhvr>
                                        <p:cTn id="22" dur="500"/>
                                        <p:tgtEl>
                                          <p:spTgt spid="94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ext Box 3"/>
          <p:cNvSpPr txBox="1"/>
          <p:nvPr/>
        </p:nvSpPr>
        <p:spPr>
          <a:xfrm>
            <a:off x="85725" y="176213"/>
            <a:ext cx="9036050" cy="523220"/>
          </a:xfrm>
          <a:prstGeom prst="rect">
            <a:avLst/>
          </a:prstGeom>
          <a:solidFill>
            <a:srgbClr val="FFC000"/>
          </a:solidFill>
          <a:ln w="12700" cap="flat" cmpd="sng">
            <a:solidFill>
              <a:schemeClr val="tx1"/>
            </a:solidFill>
            <a:prstDash val="solid"/>
            <a:miter/>
            <a:headEnd type="none" w="med" len="med"/>
            <a:tailEnd type="none" w="med" len="med"/>
          </a:ln>
        </p:spPr>
        <p:txBody>
          <a:bodyPr anchor="t" anchorCtr="0">
            <a:spAutoFit/>
          </a:bodyPr>
          <a:lstStyle/>
          <a:p>
            <a:pPr>
              <a:spcBef>
                <a:spcPct val="50000"/>
              </a:spcBef>
              <a:buClrTx/>
              <a:buFontTx/>
            </a:pPr>
            <a:r>
              <a:rPr lang="en-US" altLang="zh-CN"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例</a:t>
            </a:r>
            <a:r>
              <a:rPr lang="en-US" altLang="zh-CN" sz="2400" dirty="0">
                <a:latin typeface="Times New Roman" panose="02020603050405020304" pitchFamily="18" charset="0"/>
                <a:ea typeface="幼圆" pitchFamily="49" charset="-122"/>
              </a:rPr>
              <a:t>3.9]</a:t>
            </a:r>
            <a:r>
              <a:rPr lang="zh-CN" altLang="en-US" sz="2400" dirty="0">
                <a:latin typeface="Times New Roman" panose="02020603050405020304" pitchFamily="18" charset="0"/>
                <a:ea typeface="幼圆" pitchFamily="49" charset="-122"/>
              </a:rPr>
              <a:t>计算</a:t>
            </a:r>
            <a:r>
              <a:rPr lang="en-US" altLang="zh-CN" sz="2400" dirty="0">
                <a:latin typeface="Times New Roman" panose="02020603050405020304" pitchFamily="18" charset="0"/>
                <a:ea typeface="幼圆" pitchFamily="49" charset="-122"/>
              </a:rPr>
              <a:t>25℃</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AgCl</a:t>
            </a:r>
            <a:r>
              <a:rPr lang="zh-CN" altLang="en-US" sz="2400" dirty="0">
                <a:latin typeface="Times New Roman" panose="02020603050405020304" pitchFamily="18" charset="0"/>
                <a:ea typeface="幼圆" pitchFamily="49" charset="-122"/>
              </a:rPr>
              <a:t>在 </a:t>
            </a:r>
            <a:r>
              <a:rPr lang="en-US" altLang="zh-CN" sz="2400" dirty="0">
                <a:latin typeface="Times New Roman" panose="02020603050405020304" pitchFamily="18" charset="0"/>
                <a:ea typeface="幼圆" pitchFamily="49" charset="-122"/>
              </a:rPr>
              <a:t>6.0 mol·L</a:t>
            </a:r>
            <a:r>
              <a:rPr lang="en-US" altLang="zh-CN" sz="2400" baseline="30000" dirty="0">
                <a:latin typeface="Times New Roman" panose="02020603050405020304" pitchFamily="18" charset="0"/>
                <a:ea typeface="幼圆" pitchFamily="49" charset="-122"/>
              </a:rPr>
              <a:t>-l</a:t>
            </a:r>
            <a:r>
              <a:rPr lang="zh-CN" altLang="en-US" sz="2400" dirty="0">
                <a:latin typeface="Times New Roman" panose="02020603050405020304" pitchFamily="18" charset="0"/>
                <a:ea typeface="幼圆" pitchFamily="49" charset="-122"/>
              </a:rPr>
              <a:t>氨水溶液中的溶解度</a:t>
            </a:r>
          </a:p>
        </p:txBody>
      </p:sp>
      <p:grpSp>
        <p:nvGrpSpPr>
          <p:cNvPr id="2" name="Group 14"/>
          <p:cNvGrpSpPr/>
          <p:nvPr/>
        </p:nvGrpSpPr>
        <p:grpSpPr>
          <a:xfrm>
            <a:off x="250825" y="700089"/>
            <a:ext cx="8540750" cy="2413000"/>
            <a:chOff x="144" y="484"/>
            <a:chExt cx="5353" cy="1893"/>
          </a:xfrm>
        </p:grpSpPr>
        <p:sp>
          <p:nvSpPr>
            <p:cNvPr id="94211" name="Text Box 5"/>
            <p:cNvSpPr txBox="1"/>
            <p:nvPr/>
          </p:nvSpPr>
          <p:spPr>
            <a:xfrm>
              <a:off x="144" y="484"/>
              <a:ext cx="5353" cy="1893"/>
            </a:xfrm>
            <a:prstGeom prst="rect">
              <a:avLst/>
            </a:prstGeom>
            <a:noFill/>
            <a:ln w="9525">
              <a:noFill/>
            </a:ln>
          </p:spPr>
          <p:txBody>
            <a:bodyPr anchor="t" anchorCtr="0">
              <a:spAutoFit/>
            </a:bodyPr>
            <a:lstStyle/>
            <a:p>
              <a:pPr>
                <a:lnSpc>
                  <a:spcPts val="3700"/>
                </a:lnSpc>
                <a:buClrTx/>
                <a:buFontTx/>
              </a:pPr>
              <a:r>
                <a:rPr lang="zh-CN" altLang="en-US" sz="2400" dirty="0">
                  <a:latin typeface="Times New Roman" panose="02020603050405020304" pitchFamily="18" charset="0"/>
                  <a:ea typeface="幼圆" pitchFamily="49" charset="-122"/>
                </a:rPr>
                <a:t>解：查表知        </a:t>
              </a:r>
              <a:r>
                <a:rPr lang="en-US" altLang="zh-CN" sz="2400" dirty="0">
                  <a:latin typeface="Times New Roman" panose="02020603050405020304" pitchFamily="18" charset="0"/>
                  <a:ea typeface="幼圆" pitchFamily="49" charset="-122"/>
                </a:rPr>
                <a:t>(AgCl)=1.77×10</a:t>
              </a:r>
              <a:r>
                <a:rPr lang="en-US" altLang="zh-CN" sz="2400" baseline="30000" dirty="0">
                  <a:latin typeface="Times New Roman" panose="02020603050405020304" pitchFamily="18" charset="0"/>
                  <a:ea typeface="幼圆" pitchFamily="49" charset="-122"/>
                </a:rPr>
                <a:t>-10</a:t>
              </a:r>
              <a:r>
                <a:rPr lang="zh-CN" altLang="en-US" sz="2400" dirty="0">
                  <a:latin typeface="Times New Roman" panose="02020603050405020304" pitchFamily="18" charset="0"/>
                  <a:ea typeface="幼圆" pitchFamily="49" charset="-122"/>
                </a:rPr>
                <a:t>，       </a:t>
              </a:r>
            </a:p>
            <a:p>
              <a:pPr>
                <a:buClrTx/>
                <a:buFontTx/>
              </a:pPr>
              <a:r>
                <a:rPr lang="en-US" altLang="zh-CN" sz="2400" dirty="0">
                  <a:latin typeface="Times New Roman" panose="02020603050405020304" pitchFamily="18" charset="0"/>
                  <a:ea typeface="幼圆" pitchFamily="49" charset="-122"/>
                </a:rPr>
                <a:t>             ([Ag(NH</a:t>
              </a:r>
              <a:r>
                <a:rPr lang="en-US" altLang="zh-CN" sz="2400" baseline="-25000" dirty="0">
                  <a:latin typeface="Times New Roman" panose="02020603050405020304" pitchFamily="18" charset="0"/>
                  <a:ea typeface="幼圆" pitchFamily="49" charset="-122"/>
                </a:rPr>
                <a:t>3</a:t>
              </a:r>
              <a:r>
                <a:rPr lang="en-US" altLang="zh-CN" sz="2400" dirty="0">
                  <a:latin typeface="Times New Roman" panose="02020603050405020304" pitchFamily="18" charset="0"/>
                  <a:ea typeface="幼圆" pitchFamily="49" charset="-122"/>
                </a:rPr>
                <a:t>)</a:t>
              </a:r>
              <a:r>
                <a:rPr lang="en-US" altLang="zh-CN" sz="2400" baseline="-25000" dirty="0">
                  <a:latin typeface="Times New Roman" panose="02020603050405020304" pitchFamily="18" charset="0"/>
                  <a:ea typeface="幼圆" pitchFamily="49" charset="-122"/>
                </a:rPr>
                <a:t>2</a:t>
              </a:r>
              <a:r>
                <a:rPr lang="en-US" altLang="zh-CN" sz="2400" dirty="0">
                  <a:latin typeface="Times New Roman" panose="02020603050405020304" pitchFamily="18" charset="0"/>
                  <a:ea typeface="幼圆" pitchFamily="49" charset="-122"/>
                </a:rPr>
                <a:t>]</a:t>
              </a:r>
              <a:r>
                <a:rPr lang="en-US" altLang="zh-CN" sz="2400" baseline="300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)=1.12×10</a:t>
              </a:r>
              <a:r>
                <a:rPr lang="en-US" altLang="zh-CN" sz="2400" baseline="30000" dirty="0">
                  <a:latin typeface="Times New Roman" panose="02020603050405020304" pitchFamily="18" charset="0"/>
                  <a:ea typeface="幼圆" pitchFamily="49" charset="-122"/>
                </a:rPr>
                <a:t>7</a:t>
              </a:r>
              <a:r>
                <a:rPr lang="zh-CN" altLang="en-US" sz="2400" dirty="0">
                  <a:latin typeface="Times New Roman" panose="02020603050405020304" pitchFamily="18" charset="0"/>
                  <a:ea typeface="幼圆" pitchFamily="49" charset="-122"/>
                </a:rPr>
                <a:t>，设</a:t>
              </a:r>
              <a:r>
                <a:rPr lang="en-US" altLang="zh-CN" sz="2400" dirty="0">
                  <a:latin typeface="Times New Roman" panose="02020603050405020304" pitchFamily="18" charset="0"/>
                  <a:ea typeface="幼圆" pitchFamily="49" charset="-122"/>
                </a:rPr>
                <a:t>25℃</a:t>
              </a:r>
              <a:r>
                <a:rPr lang="zh-CN" altLang="en-US" sz="2400" dirty="0">
                  <a:latin typeface="Times New Roman" panose="02020603050405020304" pitchFamily="18" charset="0"/>
                  <a:ea typeface="幼圆" pitchFamily="49" charset="-122"/>
                </a:rPr>
                <a:t>时，</a:t>
              </a:r>
              <a:r>
                <a:rPr lang="en-US" altLang="zh-CN" sz="2400" dirty="0">
                  <a:latin typeface="Times New Roman" panose="02020603050405020304" pitchFamily="18" charset="0"/>
                  <a:ea typeface="幼圆" pitchFamily="49" charset="-122"/>
                </a:rPr>
                <a:t>AgCl</a:t>
              </a:r>
              <a:r>
                <a:rPr lang="zh-CN" altLang="en-US" sz="2400" dirty="0">
                  <a:latin typeface="Times New Roman" panose="02020603050405020304" pitchFamily="18" charset="0"/>
                  <a:ea typeface="幼圆" pitchFamily="49" charset="-122"/>
                </a:rPr>
                <a:t>在氨水中的溶解度为 </a:t>
              </a:r>
              <a:r>
                <a:rPr lang="en-US" altLang="zh-CN" sz="2400" i="1" dirty="0">
                  <a:latin typeface="Times New Roman" panose="02020603050405020304" pitchFamily="18" charset="0"/>
                  <a:ea typeface="幼圆" pitchFamily="49" charset="-122"/>
                </a:rPr>
                <a:t>x </a:t>
              </a:r>
              <a:r>
                <a:rPr lang="en-US" altLang="zh-CN" sz="2400" dirty="0" err="1">
                  <a:latin typeface="Times New Roman" panose="02020603050405020304" pitchFamily="18" charset="0"/>
                  <a:ea typeface="幼圆" pitchFamily="49" charset="-122"/>
                </a:rPr>
                <a:t>mol·L</a:t>
              </a:r>
              <a:r>
                <a:rPr lang="en-US" altLang="zh-CN" sz="2400" baseline="30000" dirty="0" err="1">
                  <a:latin typeface="Times New Roman" panose="02020603050405020304" pitchFamily="18" charset="0"/>
                  <a:ea typeface="幼圆" pitchFamily="49" charset="-122"/>
                </a:rPr>
                <a:t>-l</a:t>
              </a:r>
              <a:endParaRPr lang="en-US" altLang="zh-CN" sz="2400" baseline="30000" dirty="0">
                <a:latin typeface="Times New Roman" panose="02020603050405020304" pitchFamily="18" charset="0"/>
                <a:ea typeface="幼圆" pitchFamily="49" charset="-122"/>
              </a:endParaRPr>
            </a:p>
            <a:p>
              <a:pPr>
                <a:buClrTx/>
                <a:buFontTx/>
              </a:pPr>
              <a:r>
                <a:rPr lang="en-US" altLang="zh-CN" sz="2400" dirty="0">
                  <a:latin typeface="Times New Roman" panose="02020603050405020304" pitchFamily="18" charset="0"/>
                  <a:ea typeface="幼圆" pitchFamily="49" charset="-122"/>
                </a:rPr>
                <a:t>                                        </a:t>
              </a:r>
              <a:r>
                <a:rPr lang="de-DE" altLang="zh-CN" sz="2400" dirty="0">
                  <a:latin typeface="Times New Roman" panose="02020603050405020304" pitchFamily="18" charset="0"/>
                  <a:ea typeface="幼圆" pitchFamily="49" charset="-122"/>
                </a:rPr>
                <a:t>AgCl + 2NH</a:t>
              </a:r>
              <a:r>
                <a:rPr lang="de-DE" altLang="zh-CN" sz="2400" baseline="-25000" dirty="0">
                  <a:latin typeface="Times New Roman" panose="02020603050405020304" pitchFamily="18" charset="0"/>
                  <a:ea typeface="幼圆" pitchFamily="49" charset="-122"/>
                </a:rPr>
                <a:t>3</a:t>
              </a:r>
              <a:r>
                <a:rPr lang="de-DE" altLang="zh-CN" sz="2400" dirty="0">
                  <a:latin typeface="Times New Roman" panose="02020603050405020304" pitchFamily="18" charset="0"/>
                  <a:ea typeface="幼圆" pitchFamily="49" charset="-122"/>
                </a:rPr>
                <a:t>       [Ag(NH</a:t>
              </a:r>
              <a:r>
                <a:rPr lang="de-DE" altLang="zh-CN" sz="2400" baseline="-25000" dirty="0">
                  <a:latin typeface="Times New Roman" panose="02020603050405020304" pitchFamily="18" charset="0"/>
                  <a:ea typeface="幼圆" pitchFamily="49" charset="-122"/>
                </a:rPr>
                <a:t>3</a:t>
              </a:r>
              <a:r>
                <a:rPr lang="de-DE" altLang="zh-CN" sz="2400" dirty="0">
                  <a:latin typeface="Times New Roman" panose="02020603050405020304" pitchFamily="18" charset="0"/>
                  <a:ea typeface="幼圆" pitchFamily="49" charset="-122"/>
                </a:rPr>
                <a:t>)</a:t>
              </a:r>
              <a:r>
                <a:rPr lang="de-DE" altLang="zh-CN" sz="2400" baseline="-25000" dirty="0">
                  <a:latin typeface="Times New Roman" panose="02020603050405020304" pitchFamily="18" charset="0"/>
                  <a:ea typeface="幼圆" pitchFamily="49" charset="-122"/>
                </a:rPr>
                <a:t>2</a:t>
              </a:r>
              <a:r>
                <a:rPr lang="de-DE" altLang="zh-CN" sz="2400" dirty="0">
                  <a:latin typeface="Times New Roman" panose="02020603050405020304" pitchFamily="18" charset="0"/>
                  <a:ea typeface="幼圆" pitchFamily="49" charset="-122"/>
                </a:rPr>
                <a:t>]</a:t>
              </a:r>
              <a:r>
                <a:rPr lang="de-DE" altLang="zh-CN" sz="2400" baseline="30000" dirty="0">
                  <a:latin typeface="Times New Roman" panose="02020603050405020304" pitchFamily="18" charset="0"/>
                  <a:ea typeface="幼圆" pitchFamily="49" charset="-122"/>
                </a:rPr>
                <a:t>+</a:t>
              </a:r>
              <a:r>
                <a:rPr lang="de-DE" altLang="zh-CN" sz="2400" dirty="0">
                  <a:latin typeface="Times New Roman" panose="02020603050405020304" pitchFamily="18" charset="0"/>
                  <a:ea typeface="幼圆" pitchFamily="49" charset="-122"/>
                </a:rPr>
                <a:t> +Cl</a:t>
              </a:r>
              <a:r>
                <a:rPr lang="de-DE" altLang="zh-CN" sz="2400" baseline="30000" dirty="0">
                  <a:latin typeface="Times New Roman" panose="02020603050405020304" pitchFamily="18" charset="0"/>
                  <a:ea typeface="幼圆" pitchFamily="49" charset="-122"/>
                </a:rPr>
                <a:t>-</a:t>
              </a:r>
            </a:p>
            <a:p>
              <a:pPr>
                <a:buClrTx/>
                <a:buFontTx/>
              </a:pPr>
              <a:r>
                <a:rPr lang="zh-CN" altLang="de-DE" sz="2400" dirty="0">
                  <a:latin typeface="Times New Roman" panose="02020603050405020304" pitchFamily="18" charset="0"/>
                  <a:ea typeface="幼圆" pitchFamily="49" charset="-122"/>
                </a:rPr>
                <a:t>初始浓度</a:t>
              </a:r>
              <a:r>
                <a:rPr lang="de-DE" altLang="zh-CN" sz="2400" dirty="0">
                  <a:latin typeface="Times New Roman" panose="02020603050405020304" pitchFamily="18" charset="0"/>
                  <a:ea typeface="幼圆" pitchFamily="49" charset="-122"/>
                </a:rPr>
                <a:t>/</a:t>
              </a:r>
              <a:r>
                <a:rPr lang="de-DE" altLang="zh-CN" sz="2400" i="1" dirty="0">
                  <a:latin typeface="Times New Roman" panose="02020603050405020304" pitchFamily="18" charset="0"/>
                  <a:ea typeface="幼圆" pitchFamily="49" charset="-122"/>
                </a:rPr>
                <a:t> </a:t>
              </a:r>
              <a:r>
                <a:rPr lang="de-DE" altLang="zh-CN" sz="2400" dirty="0">
                  <a:latin typeface="Times New Roman" panose="02020603050405020304" pitchFamily="18" charset="0"/>
                  <a:ea typeface="幼圆" pitchFamily="49" charset="-122"/>
                </a:rPr>
                <a:t>mol·L</a:t>
              </a:r>
              <a:r>
                <a:rPr lang="de-DE" altLang="zh-CN" sz="2400" baseline="30000" dirty="0">
                  <a:latin typeface="Times New Roman" panose="02020603050405020304" pitchFamily="18" charset="0"/>
                  <a:ea typeface="幼圆" pitchFamily="49" charset="-122"/>
                </a:rPr>
                <a:t>-l</a:t>
              </a:r>
              <a:r>
                <a:rPr lang="de-DE" altLang="zh-CN" sz="2400" dirty="0">
                  <a:latin typeface="Times New Roman" panose="02020603050405020304" pitchFamily="18" charset="0"/>
                  <a:ea typeface="幼圆" pitchFamily="49" charset="-122"/>
                </a:rPr>
                <a:t>                         6.0                   0              0</a:t>
              </a:r>
            </a:p>
            <a:p>
              <a:pPr>
                <a:buClrTx/>
                <a:buFontTx/>
              </a:pPr>
              <a:r>
                <a:rPr lang="zh-CN" altLang="de-DE" sz="2400" dirty="0">
                  <a:latin typeface="Times New Roman" panose="02020603050405020304" pitchFamily="18" charset="0"/>
                  <a:ea typeface="幼圆" pitchFamily="49" charset="-122"/>
                </a:rPr>
                <a:t>平衡浓度</a:t>
              </a:r>
              <a:r>
                <a:rPr lang="de-DE" altLang="zh-CN" sz="2400" dirty="0">
                  <a:latin typeface="Times New Roman" panose="02020603050405020304" pitchFamily="18" charset="0"/>
                  <a:ea typeface="幼圆" pitchFamily="49" charset="-122"/>
                </a:rPr>
                <a:t>/</a:t>
              </a:r>
              <a:r>
                <a:rPr lang="de-DE" altLang="zh-CN" sz="2400" i="1" dirty="0">
                  <a:latin typeface="Times New Roman" panose="02020603050405020304" pitchFamily="18" charset="0"/>
                  <a:ea typeface="幼圆" pitchFamily="49" charset="-122"/>
                </a:rPr>
                <a:t> </a:t>
              </a:r>
              <a:r>
                <a:rPr lang="de-DE" altLang="zh-CN" sz="2400" dirty="0">
                  <a:latin typeface="Times New Roman" panose="02020603050405020304" pitchFamily="18" charset="0"/>
                  <a:ea typeface="幼圆" pitchFamily="49" charset="-122"/>
                </a:rPr>
                <a:t>mol·L</a:t>
              </a:r>
              <a:r>
                <a:rPr lang="de-DE" altLang="zh-CN" sz="2400" baseline="30000" dirty="0">
                  <a:latin typeface="Times New Roman" panose="02020603050405020304" pitchFamily="18" charset="0"/>
                  <a:ea typeface="幼圆" pitchFamily="49" charset="-122"/>
                </a:rPr>
                <a:t>-l</a:t>
              </a:r>
              <a:r>
                <a:rPr lang="de-DE" altLang="zh-CN" sz="2400" dirty="0">
                  <a:latin typeface="Times New Roman" panose="02020603050405020304" pitchFamily="18" charset="0"/>
                  <a:ea typeface="幼圆" pitchFamily="49" charset="-122"/>
                </a:rPr>
                <a:t>                       6.0 -2</a:t>
              </a:r>
              <a:r>
                <a:rPr lang="de-DE" altLang="zh-CN" sz="2400" i="1" dirty="0">
                  <a:latin typeface="Times New Roman" panose="02020603050405020304" pitchFamily="18" charset="0"/>
                  <a:ea typeface="幼圆" pitchFamily="49" charset="-122"/>
                </a:rPr>
                <a:t>x              x               x         </a:t>
              </a:r>
              <a:r>
                <a:rPr lang="de-DE" altLang="zh-CN" sz="2400" dirty="0">
                  <a:latin typeface="Times New Roman" panose="02020603050405020304" pitchFamily="18" charset="0"/>
                  <a:ea typeface="幼圆" pitchFamily="49" charset="-122"/>
                </a:rPr>
                <a:t>  </a:t>
              </a:r>
            </a:p>
          </p:txBody>
        </p:sp>
        <p:graphicFrame>
          <p:nvGraphicFramePr>
            <p:cNvPr id="94212" name="Object 6"/>
            <p:cNvGraphicFramePr>
              <a:graphicFrameLocks noChangeAspect="1"/>
            </p:cNvGraphicFramePr>
            <p:nvPr/>
          </p:nvGraphicFramePr>
          <p:xfrm>
            <a:off x="1182" y="540"/>
            <a:ext cx="339" cy="364"/>
          </p:xfrm>
          <a:graphic>
            <a:graphicData uri="http://schemas.openxmlformats.org/presentationml/2006/ole">
              <mc:AlternateContent xmlns:mc="http://schemas.openxmlformats.org/markup-compatibility/2006">
                <mc:Choice xmlns:v="urn:schemas-microsoft-com:vml" Requires="v">
                  <p:oleObj r:id="rId2" imgW="250825" imgH="264160" progId="Equation.3">
                    <p:embed/>
                  </p:oleObj>
                </mc:Choice>
                <mc:Fallback>
                  <p:oleObj r:id="rId2" imgW="250825" imgH="264160" progId="Equation.3">
                    <p:embed/>
                    <p:pic>
                      <p:nvPicPr>
                        <p:cNvPr id="0" name="图片 3199"/>
                        <p:cNvPicPr/>
                        <p:nvPr/>
                      </p:nvPicPr>
                      <p:blipFill>
                        <a:blip r:embed="rId3"/>
                        <a:stretch>
                          <a:fillRect/>
                        </a:stretch>
                      </p:blipFill>
                      <p:spPr>
                        <a:xfrm>
                          <a:off x="1182" y="540"/>
                          <a:ext cx="339" cy="364"/>
                        </a:xfrm>
                        <a:prstGeom prst="rect">
                          <a:avLst/>
                        </a:prstGeom>
                        <a:noFill/>
                        <a:ln w="38100">
                          <a:noFill/>
                          <a:miter/>
                        </a:ln>
                      </p:spPr>
                    </p:pic>
                  </p:oleObj>
                </mc:Fallback>
              </mc:AlternateContent>
            </a:graphicData>
          </a:graphic>
        </p:graphicFrame>
        <p:graphicFrame>
          <p:nvGraphicFramePr>
            <p:cNvPr id="94213" name="Object 8"/>
            <p:cNvGraphicFramePr>
              <a:graphicFrameLocks noChangeAspect="1"/>
            </p:cNvGraphicFramePr>
            <p:nvPr/>
          </p:nvGraphicFramePr>
          <p:xfrm>
            <a:off x="460" y="823"/>
            <a:ext cx="347" cy="363"/>
          </p:xfrm>
          <a:graphic>
            <a:graphicData uri="http://schemas.openxmlformats.org/presentationml/2006/ole">
              <mc:AlternateContent xmlns:mc="http://schemas.openxmlformats.org/markup-compatibility/2006">
                <mc:Choice xmlns:v="urn:schemas-microsoft-com:vml" Requires="v">
                  <p:oleObj r:id="rId4" imgW="222885" imgH="236220" progId="Equation.3">
                    <p:embed/>
                  </p:oleObj>
                </mc:Choice>
                <mc:Fallback>
                  <p:oleObj r:id="rId4" imgW="222885" imgH="236220" progId="Equation.3">
                    <p:embed/>
                    <p:pic>
                      <p:nvPicPr>
                        <p:cNvPr id="0" name="图片 3200"/>
                        <p:cNvPicPr/>
                        <p:nvPr/>
                      </p:nvPicPr>
                      <p:blipFill>
                        <a:blip r:embed="rId5"/>
                        <a:stretch>
                          <a:fillRect/>
                        </a:stretch>
                      </p:blipFill>
                      <p:spPr>
                        <a:xfrm>
                          <a:off x="460" y="823"/>
                          <a:ext cx="347" cy="363"/>
                        </a:xfrm>
                        <a:prstGeom prst="rect">
                          <a:avLst/>
                        </a:prstGeom>
                        <a:noFill/>
                        <a:ln w="38100">
                          <a:noFill/>
                          <a:miter/>
                        </a:ln>
                      </p:spPr>
                    </p:pic>
                  </p:oleObj>
                </mc:Fallback>
              </mc:AlternateContent>
            </a:graphicData>
          </a:graphic>
        </p:graphicFrame>
      </p:grpSp>
      <p:grpSp>
        <p:nvGrpSpPr>
          <p:cNvPr id="3" name="组合 2"/>
          <p:cNvGrpSpPr/>
          <p:nvPr/>
        </p:nvGrpSpPr>
        <p:grpSpPr>
          <a:xfrm>
            <a:off x="355600" y="3113089"/>
            <a:ext cx="8540750" cy="588962"/>
            <a:chOff x="355539" y="3269760"/>
            <a:chExt cx="8540424" cy="588963"/>
          </a:xfrm>
          <a:solidFill>
            <a:srgbClr val="92D050"/>
          </a:solidFill>
        </p:grpSpPr>
        <p:sp>
          <p:nvSpPr>
            <p:cNvPr id="94215" name="Text Box 5"/>
            <p:cNvSpPr txBox="1"/>
            <p:nvPr/>
          </p:nvSpPr>
          <p:spPr>
            <a:xfrm>
              <a:off x="355539" y="3291829"/>
              <a:ext cx="8540424" cy="566823"/>
            </a:xfrm>
            <a:prstGeom prst="rect">
              <a:avLst/>
            </a:prstGeom>
            <a:grpFill/>
            <a:ln w="9525">
              <a:noFill/>
            </a:ln>
          </p:spPr>
          <p:txBody>
            <a:bodyPr anchor="t" anchorCtr="0">
              <a:spAutoFit/>
            </a:bodyPr>
            <a:lstStyle/>
            <a:p>
              <a:pPr>
                <a:lnSpc>
                  <a:spcPts val="3700"/>
                </a:lnSpc>
                <a:buClrTx/>
                <a:buFontTx/>
              </a:pPr>
              <a:r>
                <a:rPr lang="de-DE" altLang="zh-CN" sz="2400" dirty="0">
                  <a:latin typeface="Times New Roman" panose="02020603050405020304" pitchFamily="18" charset="0"/>
                  <a:ea typeface="幼圆" pitchFamily="49" charset="-122"/>
                </a:rPr>
                <a:t>        =                            =      (AgCl)     ([Ag(NH</a:t>
              </a:r>
              <a:r>
                <a:rPr lang="de-DE" altLang="zh-CN" sz="2400" baseline="-25000" dirty="0">
                  <a:latin typeface="Times New Roman" panose="02020603050405020304" pitchFamily="18" charset="0"/>
                  <a:ea typeface="幼圆" pitchFamily="49" charset="-122"/>
                </a:rPr>
                <a:t>3</a:t>
              </a:r>
              <a:r>
                <a:rPr lang="de-DE" altLang="zh-CN" sz="2400" dirty="0">
                  <a:latin typeface="Times New Roman" panose="02020603050405020304" pitchFamily="18" charset="0"/>
                  <a:ea typeface="幼圆" pitchFamily="49" charset="-122"/>
                </a:rPr>
                <a:t>)</a:t>
              </a:r>
              <a:r>
                <a:rPr lang="de-DE" altLang="zh-CN" sz="2400" baseline="-25000" dirty="0">
                  <a:latin typeface="Times New Roman" panose="02020603050405020304" pitchFamily="18" charset="0"/>
                  <a:ea typeface="幼圆" pitchFamily="49" charset="-122"/>
                </a:rPr>
                <a:t>2</a:t>
              </a:r>
              <a:r>
                <a:rPr lang="de-DE" altLang="zh-CN" sz="2400" dirty="0">
                  <a:latin typeface="Times New Roman" panose="02020603050405020304" pitchFamily="18" charset="0"/>
                  <a:ea typeface="幼圆" pitchFamily="49" charset="-122"/>
                </a:rPr>
                <a:t>]</a:t>
              </a:r>
              <a:r>
                <a:rPr lang="de-DE" altLang="zh-CN" sz="2400" baseline="30000" dirty="0">
                  <a:latin typeface="Times New Roman" panose="02020603050405020304" pitchFamily="18" charset="0"/>
                  <a:ea typeface="幼圆" pitchFamily="49" charset="-122"/>
                </a:rPr>
                <a:t>+</a:t>
              </a:r>
              <a:r>
                <a:rPr lang="de-DE" altLang="zh-CN" sz="2400" dirty="0">
                  <a:latin typeface="Times New Roman" panose="02020603050405020304" pitchFamily="18" charset="0"/>
                  <a:ea typeface="幼圆" pitchFamily="49" charset="-122"/>
                </a:rPr>
                <a:t>)=</a:t>
              </a:r>
              <a:r>
                <a:rPr lang="zh-CN" altLang="de-DE" sz="2400" dirty="0">
                  <a:latin typeface="Times New Roman" panose="02020603050405020304" pitchFamily="18" charset="0"/>
                  <a:ea typeface="幼圆" pitchFamily="49" charset="-122"/>
                </a:rPr>
                <a:t>                              </a:t>
              </a:r>
              <a:r>
                <a:rPr lang="de-DE" altLang="zh-CN" sz="2400" dirty="0">
                  <a:latin typeface="Times New Roman" panose="02020603050405020304" pitchFamily="18" charset="0"/>
                  <a:ea typeface="幼圆" pitchFamily="49" charset="-122"/>
                </a:rPr>
                <a:t>                                              </a:t>
              </a:r>
            </a:p>
          </p:txBody>
        </p:sp>
        <p:graphicFrame>
          <p:nvGraphicFramePr>
            <p:cNvPr id="94216" name="Object 7"/>
            <p:cNvGraphicFramePr>
              <a:graphicFrameLocks noChangeAspect="1"/>
            </p:cNvGraphicFramePr>
            <p:nvPr/>
          </p:nvGraphicFramePr>
          <p:xfrm>
            <a:off x="3563888" y="3369858"/>
            <a:ext cx="508000" cy="410766"/>
          </p:xfrm>
          <a:graphic>
            <a:graphicData uri="http://schemas.openxmlformats.org/presentationml/2006/ole">
              <mc:AlternateContent xmlns:mc="http://schemas.openxmlformats.org/markup-compatibility/2006">
                <mc:Choice xmlns:v="urn:schemas-microsoft-com:vml" Requires="v">
                  <p:oleObj r:id="rId6" imgW="250825" imgH="264160" progId="Equation.3">
                    <p:embed/>
                  </p:oleObj>
                </mc:Choice>
                <mc:Fallback>
                  <p:oleObj r:id="rId6" imgW="250825" imgH="264160" progId="Equation.3">
                    <p:embed/>
                    <p:pic>
                      <p:nvPicPr>
                        <p:cNvPr id="0" name="图片 3201"/>
                        <p:cNvPicPr/>
                        <p:nvPr/>
                      </p:nvPicPr>
                      <p:blipFill>
                        <a:blip r:embed="rId3"/>
                        <a:stretch>
                          <a:fillRect/>
                        </a:stretch>
                      </p:blipFill>
                      <p:spPr>
                        <a:xfrm>
                          <a:off x="3563888" y="3369858"/>
                          <a:ext cx="508000" cy="410766"/>
                        </a:xfrm>
                        <a:prstGeom prst="rect">
                          <a:avLst/>
                        </a:prstGeom>
                        <a:noFill/>
                        <a:ln w="38100">
                          <a:noFill/>
                          <a:miter/>
                        </a:ln>
                      </p:spPr>
                    </p:pic>
                  </p:oleObj>
                </mc:Fallback>
              </mc:AlternateContent>
            </a:graphicData>
          </a:graphic>
        </p:graphicFrame>
        <p:graphicFrame>
          <p:nvGraphicFramePr>
            <p:cNvPr id="94217" name="Object 9"/>
            <p:cNvGraphicFramePr>
              <a:graphicFrameLocks noChangeAspect="1"/>
            </p:cNvGraphicFramePr>
            <p:nvPr/>
          </p:nvGraphicFramePr>
          <p:xfrm>
            <a:off x="4860032" y="3386527"/>
            <a:ext cx="481013" cy="377428"/>
          </p:xfrm>
          <a:graphic>
            <a:graphicData uri="http://schemas.openxmlformats.org/presentationml/2006/ole">
              <mc:AlternateContent xmlns:mc="http://schemas.openxmlformats.org/markup-compatibility/2006">
                <mc:Choice xmlns:v="urn:schemas-microsoft-com:vml" Requires="v">
                  <p:oleObj r:id="rId7" imgW="222885" imgH="236220" progId="Equation.3">
                    <p:embed/>
                  </p:oleObj>
                </mc:Choice>
                <mc:Fallback>
                  <p:oleObj r:id="rId7" imgW="222885" imgH="236220" progId="Equation.3">
                    <p:embed/>
                    <p:pic>
                      <p:nvPicPr>
                        <p:cNvPr id="0" name="图片 3202"/>
                        <p:cNvPicPr/>
                        <p:nvPr/>
                      </p:nvPicPr>
                      <p:blipFill>
                        <a:blip r:embed="rId5"/>
                        <a:stretch>
                          <a:fillRect/>
                        </a:stretch>
                      </p:blipFill>
                      <p:spPr>
                        <a:xfrm>
                          <a:off x="4860032" y="3386527"/>
                          <a:ext cx="481013" cy="377428"/>
                        </a:xfrm>
                        <a:prstGeom prst="rect">
                          <a:avLst/>
                        </a:prstGeom>
                        <a:noFill/>
                        <a:ln w="38100">
                          <a:noFill/>
                          <a:miter/>
                        </a:ln>
                      </p:spPr>
                    </p:pic>
                  </p:oleObj>
                </mc:Fallback>
              </mc:AlternateContent>
            </a:graphicData>
          </a:graphic>
        </p:graphicFrame>
        <p:graphicFrame>
          <p:nvGraphicFramePr>
            <p:cNvPr id="94218" name="Object 10"/>
            <p:cNvGraphicFramePr>
              <a:graphicFrameLocks noChangeAspect="1"/>
            </p:cNvGraphicFramePr>
            <p:nvPr/>
          </p:nvGraphicFramePr>
          <p:xfrm>
            <a:off x="611560" y="3350808"/>
            <a:ext cx="501650" cy="448866"/>
          </p:xfrm>
          <a:graphic>
            <a:graphicData uri="http://schemas.openxmlformats.org/presentationml/2006/ole">
              <mc:AlternateContent xmlns:mc="http://schemas.openxmlformats.org/markup-compatibility/2006">
                <mc:Choice xmlns:v="urn:schemas-microsoft-com:vml" Requires="v">
                  <p:oleObj r:id="rId8" imgW="206375" imgH="245110" progId="Equation.3">
                    <p:embed/>
                  </p:oleObj>
                </mc:Choice>
                <mc:Fallback>
                  <p:oleObj r:id="rId8" imgW="206375" imgH="245110" progId="Equation.3">
                    <p:embed/>
                    <p:pic>
                      <p:nvPicPr>
                        <p:cNvPr id="0" name="图片 3203"/>
                        <p:cNvPicPr/>
                        <p:nvPr/>
                      </p:nvPicPr>
                      <p:blipFill>
                        <a:blip r:embed="rId9"/>
                        <a:stretch>
                          <a:fillRect/>
                        </a:stretch>
                      </p:blipFill>
                      <p:spPr>
                        <a:xfrm>
                          <a:off x="611560" y="3350808"/>
                          <a:ext cx="501650" cy="448866"/>
                        </a:xfrm>
                        <a:prstGeom prst="rect">
                          <a:avLst/>
                        </a:prstGeom>
                        <a:noFill/>
                        <a:ln w="38100">
                          <a:noFill/>
                          <a:miter/>
                        </a:ln>
                      </p:spPr>
                    </p:pic>
                  </p:oleObj>
                </mc:Fallback>
              </mc:AlternateContent>
            </a:graphicData>
          </a:graphic>
        </p:graphicFrame>
        <p:graphicFrame>
          <p:nvGraphicFramePr>
            <p:cNvPr id="94219" name="Object 11"/>
            <p:cNvGraphicFramePr>
              <a:graphicFrameLocks noChangeAspect="1"/>
            </p:cNvGraphicFramePr>
            <p:nvPr/>
          </p:nvGraphicFramePr>
          <p:xfrm>
            <a:off x="1331815" y="3291985"/>
            <a:ext cx="2160505" cy="563563"/>
          </p:xfrm>
          <a:graphic>
            <a:graphicData uri="http://schemas.openxmlformats.org/presentationml/2006/ole">
              <mc:AlternateContent xmlns:mc="http://schemas.openxmlformats.org/markup-compatibility/2006">
                <mc:Choice xmlns:v="urn:schemas-microsoft-com:vml" Requires="v">
                  <p:oleObj name="Equation" r:id="rId10" imgW="1251585" imgH="421640" progId="Equation.DSMT4">
                    <p:embed/>
                  </p:oleObj>
                </mc:Choice>
                <mc:Fallback>
                  <p:oleObj name="Equation" r:id="rId10" imgW="1251585" imgH="421640" progId="Equation.DSMT4">
                    <p:embed/>
                    <p:pic>
                      <p:nvPicPr>
                        <p:cNvPr id="0" name="图片 3204"/>
                        <p:cNvPicPr/>
                        <p:nvPr/>
                      </p:nvPicPr>
                      <p:blipFill>
                        <a:blip r:embed="rId11"/>
                        <a:stretch>
                          <a:fillRect/>
                        </a:stretch>
                      </p:blipFill>
                      <p:spPr>
                        <a:xfrm>
                          <a:off x="1331815" y="3291985"/>
                          <a:ext cx="2160505" cy="563563"/>
                        </a:xfrm>
                        <a:prstGeom prst="rect">
                          <a:avLst/>
                        </a:prstGeom>
                        <a:noFill/>
                        <a:ln w="38100">
                          <a:noFill/>
                          <a:miter/>
                        </a:ln>
                      </p:spPr>
                    </p:pic>
                  </p:oleObj>
                </mc:Fallback>
              </mc:AlternateContent>
            </a:graphicData>
          </a:graphic>
        </p:graphicFrame>
        <p:graphicFrame>
          <p:nvGraphicFramePr>
            <p:cNvPr id="94220" name="Object 12"/>
            <p:cNvGraphicFramePr>
              <a:graphicFrameLocks noChangeAspect="1"/>
            </p:cNvGraphicFramePr>
            <p:nvPr/>
          </p:nvGraphicFramePr>
          <p:xfrm>
            <a:off x="7235825" y="3269760"/>
            <a:ext cx="1223963" cy="588963"/>
          </p:xfrm>
          <a:graphic>
            <a:graphicData uri="http://schemas.openxmlformats.org/presentationml/2006/ole">
              <mc:AlternateContent xmlns:mc="http://schemas.openxmlformats.org/markup-compatibility/2006">
                <mc:Choice xmlns:v="urn:schemas-microsoft-com:vml" Requires="v">
                  <p:oleObj r:id="rId12" imgW="638175" imgH="421640" progId="Equation.DSMT4">
                    <p:embed/>
                  </p:oleObj>
                </mc:Choice>
                <mc:Fallback>
                  <p:oleObj r:id="rId12" imgW="638175" imgH="421640" progId="Equation.DSMT4">
                    <p:embed/>
                    <p:pic>
                      <p:nvPicPr>
                        <p:cNvPr id="0" name="图片 3205"/>
                        <p:cNvPicPr/>
                        <p:nvPr/>
                      </p:nvPicPr>
                      <p:blipFill>
                        <a:blip r:embed="rId13"/>
                        <a:stretch>
                          <a:fillRect/>
                        </a:stretch>
                      </p:blipFill>
                      <p:spPr>
                        <a:xfrm>
                          <a:off x="7235825" y="3269760"/>
                          <a:ext cx="1223963" cy="588963"/>
                        </a:xfrm>
                        <a:prstGeom prst="rect">
                          <a:avLst/>
                        </a:prstGeom>
                        <a:noFill/>
                        <a:ln w="38100">
                          <a:noFill/>
                          <a:miter/>
                        </a:ln>
                      </p:spPr>
                    </p:pic>
                  </p:oleObj>
                </mc:Fallback>
              </mc:AlternateContent>
            </a:graphicData>
          </a:graphic>
        </p:graphicFrame>
      </p:grpSp>
      <p:grpSp>
        <p:nvGrpSpPr>
          <p:cNvPr id="5" name="组合 4"/>
          <p:cNvGrpSpPr/>
          <p:nvPr/>
        </p:nvGrpSpPr>
        <p:grpSpPr>
          <a:xfrm>
            <a:off x="665169" y="3675055"/>
            <a:ext cx="7921627" cy="936154"/>
            <a:chOff x="665311" y="3674560"/>
            <a:chExt cx="7920880" cy="937273"/>
          </a:xfrm>
        </p:grpSpPr>
        <p:sp>
          <p:nvSpPr>
            <p:cNvPr id="94222" name="矩形 3"/>
            <p:cNvSpPr/>
            <p:nvPr/>
          </p:nvSpPr>
          <p:spPr>
            <a:xfrm>
              <a:off x="665311" y="3674560"/>
              <a:ext cx="7920880" cy="937273"/>
            </a:xfrm>
            <a:prstGeom prst="rect">
              <a:avLst/>
            </a:prstGeom>
            <a:noFill/>
            <a:ln w="9525">
              <a:noFill/>
            </a:ln>
          </p:spPr>
          <p:txBody>
            <a:bodyPr anchor="t" anchorCtr="0">
              <a:spAutoFit/>
            </a:bodyPr>
            <a:lstStyle/>
            <a:p>
              <a:pPr>
                <a:lnSpc>
                  <a:spcPts val="3700"/>
                </a:lnSpc>
              </a:pPr>
              <a:r>
                <a:rPr lang="zh-CN" altLang="de-DE" sz="2400" dirty="0">
                  <a:latin typeface="Times New Roman" panose="02020603050405020304" pitchFamily="18" charset="0"/>
                  <a:ea typeface="幼圆" pitchFamily="49" charset="-122"/>
                </a:rPr>
                <a:t>                即</a:t>
              </a:r>
              <a:r>
                <a:rPr lang="de-DE" altLang="zh-CN" sz="2400" dirty="0">
                  <a:latin typeface="Times New Roman" panose="02020603050405020304" pitchFamily="18" charset="0"/>
                  <a:ea typeface="幼圆" pitchFamily="49" charset="-122"/>
                </a:rPr>
                <a:t>1.12×10</a:t>
              </a:r>
              <a:r>
                <a:rPr lang="de-DE" altLang="zh-CN" sz="2400" baseline="30000" dirty="0">
                  <a:latin typeface="Times New Roman" panose="02020603050405020304" pitchFamily="18" charset="0"/>
                  <a:ea typeface="幼圆" pitchFamily="49" charset="-122"/>
                </a:rPr>
                <a:t>7</a:t>
              </a:r>
              <a:r>
                <a:rPr lang="de-DE" altLang="zh-CN" sz="2400" dirty="0">
                  <a:latin typeface="Times New Roman" panose="02020603050405020304" pitchFamily="18" charset="0"/>
                  <a:ea typeface="幼圆" pitchFamily="49" charset="-122"/>
                </a:rPr>
                <a:t>×1.77×10</a:t>
              </a:r>
              <a:r>
                <a:rPr lang="de-DE" altLang="zh-CN" sz="2400" baseline="30000" dirty="0">
                  <a:latin typeface="Times New Roman" panose="02020603050405020304" pitchFamily="18" charset="0"/>
                  <a:ea typeface="幼圆" pitchFamily="49" charset="-122"/>
                </a:rPr>
                <a:t>-10</a:t>
              </a:r>
              <a:r>
                <a:rPr lang="de-DE" altLang="zh-CN" sz="2400" dirty="0">
                  <a:latin typeface="Times New Roman" panose="02020603050405020304" pitchFamily="18" charset="0"/>
                  <a:ea typeface="幼圆" pitchFamily="49" charset="-122"/>
                </a:rPr>
                <a:t> =</a:t>
              </a:r>
              <a:r>
                <a:rPr lang="en-US" altLang="zh-CN" sz="2400" dirty="0">
                  <a:latin typeface="Times New Roman" panose="02020603050405020304" pitchFamily="18" charset="0"/>
                  <a:ea typeface="幼圆" pitchFamily="49" charset="-122"/>
                </a:rPr>
                <a:t> </a:t>
              </a:r>
              <a:endParaRPr lang="de-DE" altLang="zh-CN" sz="2400" dirty="0">
                <a:latin typeface="Times New Roman" panose="02020603050405020304" pitchFamily="18" charset="0"/>
                <a:ea typeface="幼圆" pitchFamily="49" charset="-122"/>
              </a:endParaRPr>
            </a:p>
            <a:p>
              <a:r>
                <a:rPr lang="de-DE" altLang="zh-CN" sz="2400" dirty="0">
                  <a:latin typeface="Times New Roman" panose="02020603050405020304" pitchFamily="18" charset="0"/>
                  <a:ea typeface="幼圆" pitchFamily="49" charset="-122"/>
                </a:rPr>
                <a:t>                                      </a:t>
              </a:r>
              <a:r>
                <a:rPr lang="de-DE" altLang="zh-CN" sz="2400" i="1" dirty="0">
                  <a:latin typeface="Times New Roman" panose="02020603050405020304" pitchFamily="18" charset="0"/>
                  <a:ea typeface="幼圆" pitchFamily="49" charset="-122"/>
                </a:rPr>
                <a:t>x </a:t>
              </a:r>
              <a:r>
                <a:rPr lang="de-DE" altLang="zh-CN" sz="2400" dirty="0">
                  <a:latin typeface="Times New Roman" panose="02020603050405020304" pitchFamily="18" charset="0"/>
                  <a:ea typeface="幼圆" pitchFamily="49" charset="-122"/>
                </a:rPr>
                <a:t>=0.24</a:t>
              </a:r>
            </a:p>
          </p:txBody>
        </p:sp>
        <p:graphicFrame>
          <p:nvGraphicFramePr>
            <p:cNvPr id="94223" name="Object 13"/>
            <p:cNvGraphicFramePr>
              <a:graphicFrameLocks noChangeAspect="1"/>
            </p:cNvGraphicFramePr>
            <p:nvPr/>
          </p:nvGraphicFramePr>
          <p:xfrm>
            <a:off x="5580112" y="3701874"/>
            <a:ext cx="1368425" cy="590550"/>
          </p:xfrm>
          <a:graphic>
            <a:graphicData uri="http://schemas.openxmlformats.org/presentationml/2006/ole">
              <mc:AlternateContent xmlns:mc="http://schemas.openxmlformats.org/markup-compatibility/2006">
                <mc:Choice xmlns:v="urn:schemas-microsoft-com:vml" Requires="v">
                  <p:oleObj r:id="rId14" imgW="638175" imgH="421640" progId="Equation.DSMT4">
                    <p:embed/>
                  </p:oleObj>
                </mc:Choice>
                <mc:Fallback>
                  <p:oleObj r:id="rId14" imgW="638175" imgH="421640" progId="Equation.DSMT4">
                    <p:embed/>
                    <p:pic>
                      <p:nvPicPr>
                        <p:cNvPr id="0" name="图片 3206"/>
                        <p:cNvPicPr/>
                        <p:nvPr/>
                      </p:nvPicPr>
                      <p:blipFill>
                        <a:blip r:embed="rId13"/>
                        <a:stretch>
                          <a:fillRect/>
                        </a:stretch>
                      </p:blipFill>
                      <p:spPr>
                        <a:xfrm>
                          <a:off x="5580112" y="3701874"/>
                          <a:ext cx="1368425" cy="590550"/>
                        </a:xfrm>
                        <a:prstGeom prst="rect">
                          <a:avLst/>
                        </a:prstGeom>
                        <a:noFill/>
                        <a:ln w="38100">
                          <a:noFill/>
                          <a:miter/>
                        </a:ln>
                      </p:spPr>
                    </p:pic>
                  </p:oleObj>
                </mc:Fallback>
              </mc:AlternateContent>
            </a:graphicData>
          </a:graphic>
        </p:graphicFrame>
      </p:grpSp>
      <p:sp>
        <p:nvSpPr>
          <p:cNvPr id="6" name="矩形 5"/>
          <p:cNvSpPr/>
          <p:nvPr/>
        </p:nvSpPr>
        <p:spPr>
          <a:xfrm>
            <a:off x="179388" y="4610103"/>
            <a:ext cx="9036050" cy="461665"/>
          </a:xfrm>
          <a:prstGeom prst="rect">
            <a:avLst/>
          </a:prstGeom>
          <a:noFill/>
          <a:ln w="9525">
            <a:noFill/>
          </a:ln>
        </p:spPr>
        <p:txBody>
          <a:bodyPr anchor="t" anchorCtr="0">
            <a:spAutoFit/>
          </a:bodyPr>
          <a:lstStyle/>
          <a:p>
            <a:r>
              <a:rPr lang="zh-CN" altLang="de-DE" sz="2400" dirty="0">
                <a:latin typeface="Times New Roman" panose="02020603050405020304" pitchFamily="18" charset="0"/>
                <a:ea typeface="幼圆" pitchFamily="49" charset="-122"/>
              </a:rPr>
              <a:t>故</a:t>
            </a:r>
            <a:r>
              <a:rPr lang="de-DE" altLang="zh-CN" sz="2400" dirty="0">
                <a:latin typeface="Times New Roman" panose="02020603050405020304" pitchFamily="18" charset="0"/>
                <a:ea typeface="幼圆" pitchFamily="49" charset="-122"/>
              </a:rPr>
              <a:t>25℃</a:t>
            </a:r>
            <a:r>
              <a:rPr lang="zh-CN" altLang="de-DE" sz="2400" dirty="0">
                <a:latin typeface="Times New Roman" panose="02020603050405020304" pitchFamily="18" charset="0"/>
                <a:ea typeface="幼圆" pitchFamily="49" charset="-122"/>
              </a:rPr>
              <a:t>时，</a:t>
            </a:r>
            <a:r>
              <a:rPr lang="de-DE" altLang="zh-CN" sz="2400" dirty="0">
                <a:latin typeface="Times New Roman" panose="02020603050405020304" pitchFamily="18" charset="0"/>
                <a:ea typeface="幼圆" pitchFamily="49" charset="-122"/>
              </a:rPr>
              <a:t>AgCl</a:t>
            </a:r>
            <a:r>
              <a:rPr lang="zh-CN" altLang="de-DE" sz="2400" dirty="0">
                <a:latin typeface="Times New Roman" panose="02020603050405020304" pitchFamily="18" charset="0"/>
                <a:ea typeface="幼圆" pitchFamily="49" charset="-122"/>
              </a:rPr>
              <a:t>在</a:t>
            </a:r>
            <a:r>
              <a:rPr lang="de-DE" altLang="zh-CN" sz="2400" dirty="0">
                <a:latin typeface="Times New Roman" panose="02020603050405020304" pitchFamily="18" charset="0"/>
                <a:ea typeface="幼圆" pitchFamily="49" charset="-122"/>
              </a:rPr>
              <a:t>6.0 mol·L</a:t>
            </a:r>
            <a:r>
              <a:rPr lang="de-DE" altLang="zh-CN" sz="2400" baseline="30000" dirty="0">
                <a:latin typeface="Times New Roman" panose="02020603050405020304" pitchFamily="18" charset="0"/>
                <a:ea typeface="幼圆" pitchFamily="49" charset="-122"/>
              </a:rPr>
              <a:t>-l</a:t>
            </a:r>
            <a:r>
              <a:rPr lang="zh-CN" altLang="de-DE" sz="2400" dirty="0">
                <a:latin typeface="Times New Roman" panose="02020603050405020304" pitchFamily="18" charset="0"/>
                <a:ea typeface="幼圆" pitchFamily="49" charset="-122"/>
              </a:rPr>
              <a:t>氨水中的溶解度为</a:t>
            </a:r>
            <a:r>
              <a:rPr lang="de-DE" altLang="zh-CN" sz="2400" dirty="0">
                <a:latin typeface="Times New Roman" panose="02020603050405020304" pitchFamily="18" charset="0"/>
                <a:ea typeface="幼圆" pitchFamily="49" charset="-122"/>
              </a:rPr>
              <a:t>0.24</a:t>
            </a:r>
            <a:r>
              <a:rPr lang="de-DE" altLang="zh-CN" sz="2400" i="1" dirty="0">
                <a:latin typeface="Times New Roman" panose="02020603050405020304" pitchFamily="18" charset="0"/>
                <a:ea typeface="幼圆" pitchFamily="49" charset="-122"/>
              </a:rPr>
              <a:t> </a:t>
            </a:r>
            <a:r>
              <a:rPr lang="de-DE" altLang="zh-CN" sz="2400" dirty="0">
                <a:latin typeface="Times New Roman" panose="02020603050405020304" pitchFamily="18" charset="0"/>
                <a:ea typeface="幼圆" pitchFamily="49" charset="-122"/>
              </a:rPr>
              <a:t>mol·L</a:t>
            </a:r>
            <a:r>
              <a:rPr lang="de-DE" altLang="zh-CN" sz="2400" baseline="30000" dirty="0">
                <a:latin typeface="Times New Roman" panose="02020603050405020304" pitchFamily="18" charset="0"/>
                <a:ea typeface="幼圆" pitchFamily="49" charset="-122"/>
              </a:rPr>
              <a:t>-l</a:t>
            </a:r>
            <a:r>
              <a:rPr lang="zh-CN" altLang="de-DE" sz="2400" dirty="0">
                <a:latin typeface="Times New Roman" panose="02020603050405020304" pitchFamily="18" charset="0"/>
                <a:ea typeface="幼圆" pitchFamily="49" charset="-122"/>
              </a:rPr>
              <a:t>。</a:t>
            </a:r>
            <a:endParaRPr lang="zh-CN" altLang="en-US" sz="2400" dirty="0">
              <a:latin typeface="Times New Roman" panose="02020603050405020304" pitchFamily="18" charset="0"/>
              <a:ea typeface="幼圆" pitchFamily="49" charset="-122"/>
            </a:endParaRPr>
          </a:p>
        </p:txBody>
      </p:sp>
      <p:graphicFrame>
        <p:nvGraphicFramePr>
          <p:cNvPr id="18" name="Object 29"/>
          <p:cNvGraphicFramePr>
            <a:graphicFrameLocks noChangeAspect="1"/>
          </p:cNvGraphicFramePr>
          <p:nvPr>
            <p:extLst>
              <p:ext uri="{D42A27DB-BD31-4B8C-83A1-F6EECF244321}">
                <p14:modId xmlns:p14="http://schemas.microsoft.com/office/powerpoint/2010/main" val="3794922815"/>
              </p:ext>
            </p:extLst>
          </p:nvPr>
        </p:nvGraphicFramePr>
        <p:xfrm>
          <a:off x="5148064" y="2067695"/>
          <a:ext cx="433388" cy="120291"/>
        </p:xfrm>
        <a:graphic>
          <a:graphicData uri="http://schemas.openxmlformats.org/presentationml/2006/ole">
            <mc:AlternateContent xmlns:mc="http://schemas.openxmlformats.org/markup-compatibility/2006">
              <mc:Choice xmlns:v="urn:schemas-microsoft-com:vml" Requires="v">
                <p:oleObj name="Equation" r:id="rId15" imgW="676275" imgH="171450" progId="Equation.DSMT4">
                  <p:embed/>
                </p:oleObj>
              </mc:Choice>
              <mc:Fallback>
                <p:oleObj name="Equation" r:id="rId15" imgW="676275" imgH="171450" progId="Equation.DSMT4">
                  <p:embed/>
                  <p:pic>
                    <p:nvPicPr>
                      <p:cNvPr id="0" name=""/>
                      <p:cNvPicPr/>
                      <p:nvPr/>
                    </p:nvPicPr>
                    <p:blipFill>
                      <a:blip r:embed="rId16"/>
                      <a:stretch>
                        <a:fillRect/>
                      </a:stretch>
                    </p:blipFill>
                    <p:spPr>
                      <a:xfrm>
                        <a:off x="5148064" y="2067695"/>
                        <a:ext cx="433388" cy="120291"/>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18"/>
          <p:cNvSpPr/>
          <p:nvPr/>
        </p:nvSpPr>
        <p:spPr>
          <a:xfrm>
            <a:off x="179391" y="99135"/>
            <a:ext cx="4504759" cy="646282"/>
          </a:xfrm>
          <a:prstGeom prst="rect">
            <a:avLst/>
          </a:prstGeom>
          <a:solidFill>
            <a:srgbClr val="9900CC"/>
          </a:solidFill>
          <a:ln w="9525">
            <a:solidFill>
              <a:schemeClr val="bg2">
                <a:lumMod val="60000"/>
                <a:lumOff val="40000"/>
              </a:schemeClr>
            </a:solidFill>
          </a:ln>
        </p:spPr>
        <p:txBody>
          <a:bodyPr wrap="none" tIns="76176" bIns="76176" anchor="ctr" anchorCtr="0">
            <a:spAutoFit/>
          </a:bodyPr>
          <a:lstStyle/>
          <a:p>
            <a:pPr eaLnBrk="0" hangingPunct="0">
              <a:buClrTx/>
              <a:buFontTx/>
            </a:pPr>
            <a:r>
              <a:rPr lang="en-US" altLang="zh-CN" sz="3200" dirty="0">
                <a:solidFill>
                  <a:srgbClr val="FFFF00"/>
                </a:solidFill>
                <a:latin typeface="华文新魏" pitchFamily="2" charset="-122"/>
                <a:ea typeface="华文新魏" pitchFamily="2" charset="-122"/>
              </a:rPr>
              <a:t>3.5.3 </a:t>
            </a:r>
            <a:r>
              <a:rPr lang="zh-CN" altLang="en-US" sz="3200" dirty="0">
                <a:solidFill>
                  <a:srgbClr val="FFFF00"/>
                </a:solidFill>
                <a:latin typeface="华文新魏" pitchFamily="2" charset="-122"/>
                <a:ea typeface="华文新魏" pitchFamily="2" charset="-122"/>
              </a:rPr>
              <a:t>配位化合物的应用</a:t>
            </a:r>
          </a:p>
        </p:txBody>
      </p:sp>
      <p:sp>
        <p:nvSpPr>
          <p:cNvPr id="73747" name="Text Box 19"/>
          <p:cNvSpPr txBox="1"/>
          <p:nvPr/>
        </p:nvSpPr>
        <p:spPr>
          <a:xfrm>
            <a:off x="395294" y="844553"/>
            <a:ext cx="3455987" cy="584775"/>
          </a:xfrm>
          <a:prstGeom prst="rect">
            <a:avLst/>
          </a:prstGeom>
          <a:noFill/>
          <a:ln w="9525">
            <a:noFill/>
          </a:ln>
        </p:spPr>
        <p:txBody>
          <a:bodyPr anchor="t" anchorCtr="0">
            <a:spAutoFit/>
          </a:bodyPr>
          <a:lstStyle/>
          <a:p>
            <a:pPr>
              <a:spcBef>
                <a:spcPct val="50000"/>
              </a:spcBef>
              <a:buClrTx/>
              <a:buFontTx/>
            </a:pPr>
            <a:r>
              <a:rPr lang="en-US" altLang="zh-CN" sz="3200" dirty="0">
                <a:latin typeface="华文新魏" pitchFamily="2" charset="-122"/>
                <a:ea typeface="华文新魏" pitchFamily="2" charset="-122"/>
              </a:rPr>
              <a:t>1. </a:t>
            </a:r>
            <a:r>
              <a:rPr lang="zh-CN" altLang="en-US" sz="3200" dirty="0">
                <a:latin typeface="华文新魏" pitchFamily="2" charset="-122"/>
                <a:ea typeface="华文新魏" pitchFamily="2" charset="-122"/>
              </a:rPr>
              <a:t>分析化学方面</a:t>
            </a:r>
          </a:p>
        </p:txBody>
      </p:sp>
      <p:sp>
        <p:nvSpPr>
          <p:cNvPr id="73748" name="Rectangle 20"/>
          <p:cNvSpPr/>
          <p:nvPr/>
        </p:nvSpPr>
        <p:spPr>
          <a:xfrm>
            <a:off x="657230" y="1263186"/>
            <a:ext cx="2787943" cy="523220"/>
          </a:xfrm>
          <a:prstGeom prst="rect">
            <a:avLst/>
          </a:prstGeom>
          <a:noFill/>
          <a:ln w="9525">
            <a:noFill/>
          </a:ln>
        </p:spPr>
        <p:txBody>
          <a:bodyPr wrap="none" anchor="ctr" anchorCtr="0">
            <a:spAutoFit/>
          </a:bodyPr>
          <a:lstStyle/>
          <a:p>
            <a:pPr eaLnBrk="0" hangingPunct="0">
              <a:buClrTx/>
              <a:buFontTx/>
            </a:pPr>
            <a:r>
              <a:rPr lang="zh-CN" altLang="en-US" b="0" dirty="0">
                <a:solidFill>
                  <a:srgbClr val="0000FF"/>
                </a:solidFill>
                <a:latin typeface="Times New Roman" panose="02020603050405020304" pitchFamily="18" charset="0"/>
                <a:ea typeface="华文新魏" pitchFamily="2" charset="-122"/>
              </a:rPr>
              <a:t>离子的定性鉴定</a:t>
            </a:r>
            <a:r>
              <a:rPr lang="zh-CN" altLang="en-US" b="0" dirty="0">
                <a:latin typeface="Times New Roman" panose="02020603050405020304" pitchFamily="18" charset="0"/>
                <a:ea typeface="华文新魏" pitchFamily="2" charset="-122"/>
              </a:rPr>
              <a:t> </a:t>
            </a:r>
          </a:p>
        </p:txBody>
      </p:sp>
      <p:sp>
        <p:nvSpPr>
          <p:cNvPr id="73749" name="Rectangle 21"/>
          <p:cNvSpPr/>
          <p:nvPr/>
        </p:nvSpPr>
        <p:spPr>
          <a:xfrm>
            <a:off x="684213" y="1748961"/>
            <a:ext cx="1351652" cy="523220"/>
          </a:xfrm>
          <a:prstGeom prst="rect">
            <a:avLst/>
          </a:prstGeom>
          <a:noFill/>
          <a:ln w="9525">
            <a:noFill/>
          </a:ln>
        </p:spPr>
        <p:txBody>
          <a:bodyPr wrap="none" anchor="ctr" anchorCtr="0">
            <a:spAutoFit/>
          </a:bodyPr>
          <a:lstStyle/>
          <a:p>
            <a:pPr eaLnBrk="0" hangingPunct="0">
              <a:buClrTx/>
              <a:buFontTx/>
            </a:pPr>
            <a:r>
              <a:rPr lang="zh-CN" altLang="en-US" b="0" dirty="0">
                <a:solidFill>
                  <a:srgbClr val="0000FF"/>
                </a:solidFill>
                <a:latin typeface="Times New Roman" panose="02020603050405020304" pitchFamily="18" charset="0"/>
                <a:ea typeface="华文新魏" pitchFamily="2" charset="-122"/>
              </a:rPr>
              <a:t>掩蔽剂</a:t>
            </a:r>
            <a:r>
              <a:rPr lang="zh-CN" altLang="en-US" b="0" dirty="0">
                <a:latin typeface="Times New Roman" panose="02020603050405020304" pitchFamily="18" charset="0"/>
                <a:ea typeface="华文新魏" pitchFamily="2" charset="-122"/>
              </a:rPr>
              <a:t> </a:t>
            </a:r>
          </a:p>
        </p:txBody>
      </p:sp>
      <p:sp>
        <p:nvSpPr>
          <p:cNvPr id="73750" name="Rectangle 22"/>
          <p:cNvSpPr/>
          <p:nvPr/>
        </p:nvSpPr>
        <p:spPr>
          <a:xfrm>
            <a:off x="684213" y="2666535"/>
            <a:ext cx="1441420" cy="523220"/>
          </a:xfrm>
          <a:prstGeom prst="rect">
            <a:avLst/>
          </a:prstGeom>
          <a:noFill/>
          <a:ln w="9525">
            <a:noFill/>
          </a:ln>
        </p:spPr>
        <p:txBody>
          <a:bodyPr wrap="none" anchor="ctr" anchorCtr="0">
            <a:spAutoFit/>
          </a:bodyPr>
          <a:lstStyle/>
          <a:p>
            <a:pPr eaLnBrk="0" hangingPunct="0">
              <a:buClrTx/>
              <a:buFontTx/>
            </a:pPr>
            <a:r>
              <a:rPr lang="zh-CN" altLang="en-US" b="0" dirty="0">
                <a:solidFill>
                  <a:srgbClr val="0000FF"/>
                </a:solidFill>
                <a:latin typeface="Times New Roman" panose="02020603050405020304" pitchFamily="18" charset="0"/>
                <a:ea typeface="华文新魏" pitchFamily="2" charset="-122"/>
              </a:rPr>
              <a:t>萃取剂</a:t>
            </a:r>
            <a:r>
              <a:rPr lang="zh-CN" altLang="en-US" b="0" dirty="0">
                <a:latin typeface="Times New Roman" panose="02020603050405020304" pitchFamily="18" charset="0"/>
                <a:ea typeface="华文新魏" pitchFamily="2" charset="-122"/>
              </a:rPr>
              <a:t>  </a:t>
            </a:r>
          </a:p>
        </p:txBody>
      </p:sp>
      <p:sp>
        <p:nvSpPr>
          <p:cNvPr id="73751" name="Rectangle 23"/>
          <p:cNvSpPr/>
          <p:nvPr/>
        </p:nvSpPr>
        <p:spPr>
          <a:xfrm>
            <a:off x="539756" y="3202337"/>
            <a:ext cx="3098925" cy="584775"/>
          </a:xfrm>
          <a:prstGeom prst="rect">
            <a:avLst/>
          </a:prstGeom>
          <a:noFill/>
          <a:ln w="9525">
            <a:noFill/>
          </a:ln>
        </p:spPr>
        <p:txBody>
          <a:bodyPr wrap="none" anchor="ctr" anchorCtr="0">
            <a:spAutoFit/>
          </a:bodyPr>
          <a:lstStyle/>
          <a:p>
            <a:pPr eaLnBrk="0" hangingPunct="0">
              <a:buClrTx/>
              <a:buFontTx/>
            </a:pPr>
            <a:r>
              <a:rPr lang="en-US" altLang="zh-CN" sz="3200" dirty="0">
                <a:latin typeface="华文新魏" pitchFamily="2" charset="-122"/>
                <a:ea typeface="华文新魏" pitchFamily="2" charset="-122"/>
              </a:rPr>
              <a:t>2. 冶金工业方面</a:t>
            </a:r>
            <a:endParaRPr lang="zh-CN" altLang="en-US" sz="3200" b="0" dirty="0">
              <a:latin typeface="Times New Roman" panose="02020603050405020304" pitchFamily="18" charset="0"/>
              <a:ea typeface="华文新魏" pitchFamily="2" charset="-122"/>
            </a:endParaRPr>
          </a:p>
        </p:txBody>
      </p:sp>
      <p:sp>
        <p:nvSpPr>
          <p:cNvPr id="73752" name="Rectangle 24"/>
          <p:cNvSpPr/>
          <p:nvPr/>
        </p:nvSpPr>
        <p:spPr>
          <a:xfrm>
            <a:off x="539755" y="3716054"/>
            <a:ext cx="3057247" cy="584775"/>
          </a:xfrm>
          <a:prstGeom prst="rect">
            <a:avLst/>
          </a:prstGeom>
          <a:noFill/>
          <a:ln w="9525">
            <a:noFill/>
          </a:ln>
        </p:spPr>
        <p:txBody>
          <a:bodyPr wrap="none" anchor="ctr" anchorCtr="0">
            <a:spAutoFit/>
          </a:bodyPr>
          <a:lstStyle/>
          <a:p>
            <a:pPr eaLnBrk="0" hangingPunct="0">
              <a:buClrTx/>
              <a:buFontTx/>
            </a:pPr>
            <a:r>
              <a:rPr lang="en-US" altLang="zh-CN" sz="3200" dirty="0">
                <a:latin typeface="Times New Roman" panose="02020603050405020304" pitchFamily="18" charset="0"/>
                <a:ea typeface="华文新魏" pitchFamily="2" charset="-122"/>
              </a:rPr>
              <a:t>3. </a:t>
            </a:r>
            <a:r>
              <a:rPr lang="zh-CN" altLang="en-US" sz="3200" dirty="0">
                <a:latin typeface="Times New Roman" panose="02020603050405020304" pitchFamily="18" charset="0"/>
                <a:ea typeface="华文新魏" pitchFamily="2" charset="-122"/>
              </a:rPr>
              <a:t>生物医药方面</a:t>
            </a:r>
          </a:p>
        </p:txBody>
      </p:sp>
      <p:sp>
        <p:nvSpPr>
          <p:cNvPr id="73753" name="Rectangle 25"/>
          <p:cNvSpPr/>
          <p:nvPr/>
        </p:nvSpPr>
        <p:spPr>
          <a:xfrm>
            <a:off x="531500" y="4311842"/>
            <a:ext cx="3057247" cy="584775"/>
          </a:xfrm>
          <a:prstGeom prst="rect">
            <a:avLst/>
          </a:prstGeom>
          <a:noFill/>
          <a:ln w="9525">
            <a:noFill/>
          </a:ln>
        </p:spPr>
        <p:txBody>
          <a:bodyPr wrap="none" anchor="ctr" anchorCtr="0">
            <a:spAutoFit/>
          </a:bodyPr>
          <a:lstStyle/>
          <a:p>
            <a:pPr eaLnBrk="0" hangingPunct="0">
              <a:buClrTx/>
              <a:buFontTx/>
            </a:pPr>
            <a:r>
              <a:rPr lang="en-US" altLang="zh-CN" sz="3200" dirty="0">
                <a:latin typeface="Times New Roman" panose="02020603050405020304" pitchFamily="18" charset="0"/>
                <a:ea typeface="华文新魏" pitchFamily="2" charset="-122"/>
              </a:rPr>
              <a:t>4. </a:t>
            </a:r>
            <a:r>
              <a:rPr lang="zh-CN" altLang="en-US" sz="3200" dirty="0">
                <a:latin typeface="Times New Roman" panose="02020603050405020304" pitchFamily="18" charset="0"/>
                <a:ea typeface="华文新魏" pitchFamily="2" charset="-122"/>
              </a:rPr>
              <a:t>电镀工业方面</a:t>
            </a:r>
          </a:p>
        </p:txBody>
      </p:sp>
      <p:grpSp>
        <p:nvGrpSpPr>
          <p:cNvPr id="2" name="Group 31"/>
          <p:cNvGrpSpPr/>
          <p:nvPr/>
        </p:nvGrpSpPr>
        <p:grpSpPr>
          <a:xfrm>
            <a:off x="4027488" y="836616"/>
            <a:ext cx="5116512" cy="1200150"/>
            <a:chOff x="2425" y="864"/>
            <a:chExt cx="2904" cy="1008"/>
          </a:xfrm>
        </p:grpSpPr>
        <p:sp>
          <p:nvSpPr>
            <p:cNvPr id="95242" name="Text Box 26"/>
            <p:cNvSpPr txBox="1"/>
            <p:nvPr/>
          </p:nvSpPr>
          <p:spPr>
            <a:xfrm>
              <a:off x="2880" y="864"/>
              <a:ext cx="2449" cy="1008"/>
            </a:xfrm>
            <a:prstGeom prst="rect">
              <a:avLst/>
            </a:prstGeom>
            <a:noFill/>
            <a:ln w="9525" cap="flat" cmpd="sng">
              <a:solidFill>
                <a:schemeClr val="tx1"/>
              </a:solidFill>
              <a:prstDash val="solid"/>
              <a:miter/>
              <a:headEnd type="none" w="med" len="med"/>
              <a:tailEnd type="none" w="med" len="med"/>
            </a:ln>
          </p:spPr>
          <p:txBody>
            <a:bodyPr anchor="t" anchorCtr="0">
              <a:spAutoFit/>
            </a:bodyPr>
            <a:lstStyle/>
            <a:p>
              <a:pPr>
                <a:spcBef>
                  <a:spcPct val="50000"/>
                </a:spcBef>
                <a:buClrTx/>
                <a:buFontTx/>
              </a:pPr>
              <a:r>
                <a:rPr lang="en-US" altLang="zh-CN"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幼圆" pitchFamily="49" charset="-122"/>
                </a:rPr>
                <a:t>Cu(NH</a:t>
              </a:r>
              <a:r>
                <a:rPr lang="en-US" altLang="zh-CN" sz="2400" baseline="-25000" dirty="0">
                  <a:latin typeface="Times New Roman" panose="02020603050405020304" pitchFamily="18" charset="0"/>
                  <a:ea typeface="幼圆" pitchFamily="49" charset="-122"/>
                </a:rPr>
                <a:t>3</a:t>
              </a:r>
              <a:r>
                <a:rPr lang="en-US" altLang="zh-CN" sz="2400" dirty="0">
                  <a:latin typeface="Times New Roman" panose="02020603050405020304" pitchFamily="18" charset="0"/>
                  <a:ea typeface="幼圆" pitchFamily="49" charset="-122"/>
                </a:rPr>
                <a:t>)</a:t>
              </a:r>
              <a:r>
                <a:rPr lang="en-US" altLang="zh-CN" sz="2400" baseline="-25000" dirty="0">
                  <a:latin typeface="Times New Roman" panose="02020603050405020304" pitchFamily="18" charset="0"/>
                  <a:ea typeface="幼圆" pitchFamily="49" charset="-122"/>
                </a:rPr>
                <a:t>4</a:t>
              </a:r>
              <a:r>
                <a:rPr lang="en-US" altLang="zh-CN" sz="2400" dirty="0">
                  <a:latin typeface="Times New Roman" panose="02020603050405020304" pitchFamily="18" charset="0"/>
                  <a:ea typeface="幼圆" pitchFamily="49" charset="-122"/>
                </a:rPr>
                <a:t>]</a:t>
              </a:r>
              <a:r>
                <a:rPr lang="en-US" altLang="zh-CN" sz="2400" baseline="30000" dirty="0">
                  <a:latin typeface="Times New Roman" panose="02020603050405020304" pitchFamily="18" charset="0"/>
                  <a:ea typeface="幼圆" pitchFamily="49" charset="-122"/>
                </a:rPr>
                <a:t>2+</a:t>
              </a:r>
              <a:r>
                <a:rPr lang="zh-CN" altLang="en-US" sz="2400" dirty="0">
                  <a:latin typeface="Times New Roman" panose="02020603050405020304" pitchFamily="18" charset="0"/>
                  <a:ea typeface="幼圆" pitchFamily="49" charset="-122"/>
                </a:rPr>
                <a:t>为深蓝色，</a:t>
              </a:r>
              <a:r>
                <a:rPr lang="en-US" altLang="zh-CN" sz="2400" dirty="0">
                  <a:latin typeface="Times New Roman" panose="02020603050405020304" pitchFamily="18" charset="0"/>
                  <a:ea typeface="幼圆" pitchFamily="49" charset="-122"/>
                </a:rPr>
                <a:t>[Fe(SCN)</a:t>
              </a:r>
              <a:r>
                <a:rPr lang="en-US" altLang="zh-CN" sz="2400" i="1" baseline="-25000" dirty="0">
                  <a:latin typeface="Times New Roman" panose="02020603050405020304" pitchFamily="18" charset="0"/>
                  <a:ea typeface="幼圆" pitchFamily="49" charset="-122"/>
                </a:rPr>
                <a:t>n</a:t>
              </a:r>
              <a:r>
                <a:rPr lang="en-US" altLang="zh-CN" sz="2400" dirty="0">
                  <a:latin typeface="Times New Roman" panose="02020603050405020304" pitchFamily="18" charset="0"/>
                  <a:ea typeface="幼圆" pitchFamily="49" charset="-122"/>
                </a:rPr>
                <a:t>]</a:t>
              </a:r>
              <a:r>
                <a:rPr lang="en-US" altLang="zh-CN" sz="2400" baseline="30000" dirty="0">
                  <a:latin typeface="Times New Roman" panose="02020603050405020304" pitchFamily="18" charset="0"/>
                  <a:ea typeface="幼圆" pitchFamily="49" charset="-122"/>
                </a:rPr>
                <a:t>3-</a:t>
              </a:r>
              <a:r>
                <a:rPr lang="en-US" altLang="zh-CN" sz="2400" i="1" baseline="30000" dirty="0">
                  <a:latin typeface="Times New Roman" panose="02020603050405020304" pitchFamily="18" charset="0"/>
                  <a:ea typeface="幼圆" pitchFamily="49" charset="-122"/>
                </a:rPr>
                <a:t>n</a:t>
              </a:r>
              <a:r>
                <a:rPr lang="zh-CN" altLang="en-US" sz="2400" dirty="0">
                  <a:latin typeface="Times New Roman" panose="02020603050405020304" pitchFamily="18" charset="0"/>
                  <a:ea typeface="幼圆" pitchFamily="49" charset="-122"/>
                </a:rPr>
                <a:t>呈血红色，</a:t>
              </a:r>
              <a:r>
                <a:rPr lang="en-US" altLang="zh-CN" sz="2400" dirty="0">
                  <a:latin typeface="Times New Roman" panose="02020603050405020304" pitchFamily="18" charset="0"/>
                  <a:ea typeface="幼圆" pitchFamily="49" charset="-122"/>
                </a:rPr>
                <a:t>[Co(NCS)</a:t>
              </a:r>
              <a:r>
                <a:rPr lang="en-US" altLang="zh-CN" sz="2400" baseline="-25000" dirty="0">
                  <a:latin typeface="Times New Roman" panose="02020603050405020304" pitchFamily="18" charset="0"/>
                  <a:ea typeface="幼圆" pitchFamily="49" charset="-122"/>
                </a:rPr>
                <a:t>4</a:t>
              </a:r>
              <a:r>
                <a:rPr lang="en-US" altLang="zh-CN" sz="2400" dirty="0">
                  <a:latin typeface="Times New Roman" panose="02020603050405020304" pitchFamily="18" charset="0"/>
                  <a:ea typeface="幼圆" pitchFamily="49" charset="-122"/>
                </a:rPr>
                <a:t>]</a:t>
              </a:r>
              <a:r>
                <a:rPr lang="en-US" altLang="zh-CN" sz="2400" baseline="30000" dirty="0">
                  <a:latin typeface="Times New Roman" panose="02020603050405020304" pitchFamily="18" charset="0"/>
                  <a:ea typeface="幼圆" pitchFamily="49" charset="-122"/>
                </a:rPr>
                <a:t>2-</a:t>
              </a:r>
              <a:r>
                <a:rPr lang="zh-CN" altLang="en-US" sz="2400" dirty="0">
                  <a:latin typeface="Times New Roman" panose="02020603050405020304" pitchFamily="18" charset="0"/>
                  <a:ea typeface="幼圆" pitchFamily="49" charset="-122"/>
                </a:rPr>
                <a:t>在丙酮中显</a:t>
              </a:r>
              <a:r>
                <a:rPr lang="zh-CN" altLang="pt-BR" sz="2400" dirty="0">
                  <a:latin typeface="Times New Roman" panose="02020603050405020304" pitchFamily="18" charset="0"/>
                  <a:ea typeface="幼圆" pitchFamily="49" charset="-122"/>
                </a:rPr>
                <a:t>艳</a:t>
              </a:r>
              <a:r>
                <a:rPr lang="zh-CN" altLang="en-US" sz="2400" dirty="0">
                  <a:latin typeface="Times New Roman" panose="02020603050405020304" pitchFamily="18" charset="0"/>
                  <a:ea typeface="幼圆" pitchFamily="49" charset="-122"/>
                </a:rPr>
                <a:t>蓝色 </a:t>
              </a:r>
              <a:endParaRPr lang="en-US" altLang="zh-CN" sz="2400" dirty="0">
                <a:latin typeface="Times New Roman" panose="02020603050405020304" pitchFamily="18" charset="0"/>
                <a:ea typeface="幼圆" pitchFamily="49" charset="-122"/>
              </a:endParaRPr>
            </a:p>
          </p:txBody>
        </p:sp>
        <p:sp>
          <p:nvSpPr>
            <p:cNvPr id="95243" name="Rectangle 29"/>
            <p:cNvSpPr/>
            <p:nvPr/>
          </p:nvSpPr>
          <p:spPr>
            <a:xfrm>
              <a:off x="2425" y="1280"/>
              <a:ext cx="455" cy="439"/>
            </a:xfrm>
            <a:prstGeom prst="rect">
              <a:avLst/>
            </a:prstGeom>
            <a:noFill/>
            <a:ln w="9525">
              <a:noFill/>
            </a:ln>
          </p:spPr>
          <p:txBody>
            <a:bodyPr anchor="ctr" anchorCtr="0">
              <a:spAutoFit/>
            </a:bodyPr>
            <a:lstStyle/>
            <a:p>
              <a:pPr eaLnBrk="0" hangingPunct="0">
                <a:buClrTx/>
                <a:buFontTx/>
              </a:pPr>
              <a:r>
                <a:rPr lang="zh-CN" altLang="en-US" b="0" dirty="0">
                  <a:latin typeface="Times New Roman" panose="02020603050405020304" pitchFamily="18" charset="0"/>
                  <a:ea typeface="幼圆" pitchFamily="49" charset="-122"/>
                </a:rPr>
                <a:t>←</a:t>
              </a:r>
            </a:p>
          </p:txBody>
        </p:sp>
      </p:grpSp>
      <p:grpSp>
        <p:nvGrpSpPr>
          <p:cNvPr id="3" name="Group 33"/>
          <p:cNvGrpSpPr/>
          <p:nvPr/>
        </p:nvGrpSpPr>
        <p:grpSpPr>
          <a:xfrm>
            <a:off x="215906" y="2216153"/>
            <a:ext cx="8799513" cy="2285603"/>
            <a:chOff x="158" y="1842"/>
            <a:chExt cx="5543" cy="1920"/>
          </a:xfrm>
        </p:grpSpPr>
        <p:sp>
          <p:nvSpPr>
            <p:cNvPr id="95245" name="Text Box 27"/>
            <p:cNvSpPr txBox="1"/>
            <p:nvPr/>
          </p:nvSpPr>
          <p:spPr>
            <a:xfrm>
              <a:off x="158" y="1842"/>
              <a:ext cx="5489" cy="388"/>
            </a:xfrm>
            <a:prstGeom prst="rect">
              <a:avLst/>
            </a:prstGeom>
            <a:noFill/>
            <a:ln w="9525">
              <a:noFill/>
            </a:ln>
          </p:spPr>
          <p:txBody>
            <a:bodyPr anchor="t" anchorCtr="0">
              <a:spAutoFit/>
            </a:bodyPr>
            <a:lstStyle/>
            <a:p>
              <a:pPr>
                <a:buClrTx/>
                <a:buFontTx/>
              </a:pPr>
              <a:r>
                <a:rPr lang="pt-BR" altLang="zh-CN" sz="2400" dirty="0">
                  <a:latin typeface="Times New Roman" panose="02020603050405020304" pitchFamily="18" charset="0"/>
                  <a:ea typeface="宋体" panose="02010600030101010101" pitchFamily="2" charset="-122"/>
                </a:rPr>
                <a:t>[Co(H</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O)</a:t>
              </a:r>
              <a:r>
                <a:rPr lang="pt-BR" altLang="zh-CN" sz="2400" baseline="-25000" dirty="0">
                  <a:latin typeface="Times New Roman" panose="02020603050405020304" pitchFamily="18" charset="0"/>
                  <a:ea typeface="宋体" panose="02010600030101010101" pitchFamily="2" charset="-122"/>
                </a:rPr>
                <a:t>6</a:t>
              </a:r>
              <a:r>
                <a:rPr lang="pt-BR" altLang="zh-CN" sz="2400" dirty="0">
                  <a:latin typeface="Times New Roman" panose="02020603050405020304" pitchFamily="18" charset="0"/>
                  <a:ea typeface="宋体" panose="02010600030101010101" pitchFamily="2" charset="-122"/>
                </a:rPr>
                <a:t>]</a:t>
              </a:r>
              <a:r>
                <a:rPr lang="pt-BR" altLang="zh-CN" sz="2400" baseline="30000" dirty="0">
                  <a:latin typeface="Times New Roman" panose="02020603050405020304" pitchFamily="18" charset="0"/>
                  <a:ea typeface="宋体" panose="02010600030101010101" pitchFamily="2" charset="-122"/>
                </a:rPr>
                <a:t>2+</a:t>
              </a:r>
              <a:r>
                <a:rPr lang="zh-CN" altLang="pt-BR" sz="2400" dirty="0">
                  <a:latin typeface="Times New Roman" panose="02020603050405020304" pitchFamily="18" charset="0"/>
                  <a:ea typeface="宋体" panose="02010600030101010101" pitchFamily="2" charset="-122"/>
                </a:rPr>
                <a:t>（粉红 ）</a:t>
              </a:r>
              <a:r>
                <a:rPr lang="pt-BR" altLang="zh-CN" sz="2400" dirty="0">
                  <a:latin typeface="Times New Roman" panose="02020603050405020304" pitchFamily="18" charset="0"/>
                  <a:ea typeface="宋体" panose="02010600030101010101" pitchFamily="2" charset="-122"/>
                </a:rPr>
                <a:t>+4SCN</a:t>
              </a:r>
              <a:r>
                <a:rPr lang="pt-BR" altLang="zh-CN" sz="2400" baseline="30000" dirty="0">
                  <a:latin typeface="Times New Roman" panose="02020603050405020304" pitchFamily="18" charset="0"/>
                  <a:ea typeface="宋体" panose="02010600030101010101" pitchFamily="2" charset="-122"/>
                </a:rPr>
                <a:t>- </a:t>
              </a:r>
              <a:r>
                <a:rPr lang="pt-BR" altLang="zh-CN" sz="2400" dirty="0">
                  <a:latin typeface="Times New Roman" panose="02020603050405020304" pitchFamily="18" charset="0"/>
                  <a:ea typeface="宋体" panose="02010600030101010101" pitchFamily="2" charset="-122"/>
                </a:rPr>
                <a:t> →  [Co(NCS)</a:t>
              </a:r>
              <a:r>
                <a:rPr lang="pt-BR" altLang="zh-CN" sz="2400" baseline="-25000" dirty="0">
                  <a:latin typeface="Times New Roman" panose="02020603050405020304" pitchFamily="18" charset="0"/>
                  <a:ea typeface="宋体" panose="02010600030101010101" pitchFamily="2" charset="-122"/>
                </a:rPr>
                <a:t>4</a:t>
              </a:r>
              <a:r>
                <a:rPr lang="pt-BR" altLang="zh-CN" sz="2400" dirty="0">
                  <a:latin typeface="Times New Roman" panose="02020603050405020304" pitchFamily="18" charset="0"/>
                  <a:ea typeface="宋体" panose="02010600030101010101" pitchFamily="2" charset="-122"/>
                </a:rPr>
                <a:t>]</a:t>
              </a:r>
              <a:r>
                <a:rPr lang="pt-BR" altLang="zh-CN" sz="2400" baseline="30000" dirty="0">
                  <a:latin typeface="Times New Roman" panose="02020603050405020304" pitchFamily="18" charset="0"/>
                  <a:ea typeface="宋体" panose="02010600030101010101" pitchFamily="2" charset="-122"/>
                </a:rPr>
                <a:t>2-</a:t>
              </a:r>
              <a:r>
                <a:rPr lang="zh-CN" altLang="pt-BR" sz="2400" dirty="0">
                  <a:latin typeface="Times New Roman" panose="02020603050405020304" pitchFamily="18" charset="0"/>
                  <a:ea typeface="宋体" panose="02010600030101010101" pitchFamily="2" charset="-122"/>
                </a:rPr>
                <a:t>（艳蓝）</a:t>
              </a:r>
              <a:r>
                <a:rPr lang="pt-BR" altLang="zh-CN" sz="2400" dirty="0">
                  <a:latin typeface="Times New Roman" panose="02020603050405020304" pitchFamily="18" charset="0"/>
                  <a:ea typeface="宋体" panose="02010600030101010101" pitchFamily="2" charset="-122"/>
                </a:rPr>
                <a:t>+ 6H</a:t>
              </a:r>
              <a:r>
                <a:rPr lang="pt-BR" altLang="zh-CN" sz="2400" baseline="-25000" dirty="0">
                  <a:latin typeface="Times New Roman" panose="02020603050405020304" pitchFamily="18" charset="0"/>
                  <a:ea typeface="宋体" panose="02010600030101010101" pitchFamily="2" charset="-122"/>
                </a:rPr>
                <a:t>2</a:t>
              </a:r>
              <a:r>
                <a:rPr lang="pt-BR" altLang="zh-CN" sz="2400" dirty="0">
                  <a:latin typeface="Times New Roman" panose="02020603050405020304" pitchFamily="18" charset="0"/>
                  <a:ea typeface="宋体" panose="02010600030101010101" pitchFamily="2" charset="-122"/>
                </a:rPr>
                <a:t>O</a:t>
              </a:r>
              <a:endParaRPr lang="zh-CN" altLang="en-US" sz="2400" dirty="0">
                <a:latin typeface="Times New Roman" panose="02020603050405020304" pitchFamily="18" charset="0"/>
                <a:ea typeface="宋体" panose="02010600030101010101" pitchFamily="2" charset="-122"/>
              </a:endParaRPr>
            </a:p>
          </p:txBody>
        </p:sp>
        <p:grpSp>
          <p:nvGrpSpPr>
            <p:cNvPr id="95246" name="Group 32"/>
            <p:cNvGrpSpPr/>
            <p:nvPr/>
          </p:nvGrpSpPr>
          <p:grpSpPr>
            <a:xfrm>
              <a:off x="2221" y="2149"/>
              <a:ext cx="3480" cy="1613"/>
              <a:chOff x="2221" y="2149"/>
              <a:chExt cx="3480" cy="1613"/>
            </a:xfrm>
          </p:grpSpPr>
          <p:sp>
            <p:nvSpPr>
              <p:cNvPr id="95247" name="Text Box 28"/>
              <p:cNvSpPr txBox="1"/>
              <p:nvPr/>
            </p:nvSpPr>
            <p:spPr>
              <a:xfrm>
                <a:off x="2481" y="2443"/>
                <a:ext cx="3220" cy="1319"/>
              </a:xfrm>
              <a:prstGeom prst="rect">
                <a:avLst/>
              </a:prstGeom>
              <a:noFill/>
              <a:ln w="9525" cap="flat" cmpd="sng">
                <a:solidFill>
                  <a:schemeClr val="tx1"/>
                </a:solidFill>
                <a:prstDash val="solid"/>
                <a:miter/>
                <a:headEnd type="none" w="med" len="med"/>
                <a:tailEnd type="none" w="med" len="med"/>
              </a:ln>
            </p:spPr>
            <p:txBody>
              <a:bodyPr anchor="t" anchorCtr="0">
                <a:spAutoFit/>
              </a:bodyPr>
              <a:lstStyle/>
              <a:p>
                <a:pPr>
                  <a:spcBef>
                    <a:spcPct val="50000"/>
                  </a:spcBef>
                  <a:buClrTx/>
                  <a:buFontTx/>
                </a:pPr>
                <a:r>
                  <a:rPr lang="en-US" altLang="zh-CN" sz="2400" dirty="0">
                    <a:latin typeface="Times New Roman" panose="02020603050405020304" pitchFamily="18" charset="0"/>
                    <a:ea typeface="幼圆" pitchFamily="49" charset="-122"/>
                  </a:rPr>
                  <a:t>        Fe</a:t>
                </a:r>
                <a:r>
                  <a:rPr lang="en-US" altLang="zh-CN" sz="2400" baseline="30000" dirty="0">
                    <a:latin typeface="Times New Roman" panose="02020603050405020304" pitchFamily="18" charset="0"/>
                    <a:ea typeface="幼圆" pitchFamily="49" charset="-122"/>
                  </a:rPr>
                  <a:t>3+</a:t>
                </a:r>
                <a:r>
                  <a:rPr lang="zh-CN" altLang="en-US" sz="2400" dirty="0">
                    <a:latin typeface="Times New Roman" panose="02020603050405020304" pitchFamily="18" charset="0"/>
                    <a:ea typeface="幼圆" pitchFamily="49" charset="-122"/>
                  </a:rPr>
                  <a:t>干扰</a:t>
                </a:r>
                <a:r>
                  <a:rPr lang="en-US" altLang="zh-CN" sz="2400" dirty="0">
                    <a:latin typeface="Times New Roman" panose="02020603050405020304" pitchFamily="18" charset="0"/>
                    <a:ea typeface="幼圆" pitchFamily="49" charset="-122"/>
                  </a:rPr>
                  <a:t>Co</a:t>
                </a:r>
                <a:r>
                  <a:rPr lang="en-US" altLang="zh-CN" sz="2400" baseline="30000" dirty="0">
                    <a:latin typeface="Times New Roman" panose="02020603050405020304" pitchFamily="18" charset="0"/>
                    <a:ea typeface="幼圆" pitchFamily="49" charset="-122"/>
                  </a:rPr>
                  <a:t>2+</a:t>
                </a:r>
                <a:r>
                  <a:rPr lang="zh-CN" altLang="en-US" sz="2400" dirty="0">
                    <a:latin typeface="Times New Roman" panose="02020603050405020304" pitchFamily="18" charset="0"/>
                    <a:ea typeface="幼圆" pitchFamily="49" charset="-122"/>
                  </a:rPr>
                  <a:t>鉴定，只要在溶液中加入</a:t>
                </a:r>
                <a:r>
                  <a:rPr lang="en-US" altLang="zh-CN" sz="2400" dirty="0">
                    <a:latin typeface="Times New Roman" panose="02020603050405020304" pitchFamily="18" charset="0"/>
                    <a:ea typeface="幼圆" pitchFamily="49" charset="-122"/>
                  </a:rPr>
                  <a:t>NaF</a:t>
                </a:r>
                <a:r>
                  <a:rPr lang="zh-CN" altLang="en-US" sz="2400" dirty="0">
                    <a:latin typeface="Times New Roman" panose="02020603050405020304" pitchFamily="18" charset="0"/>
                    <a:ea typeface="幼圆" pitchFamily="49" charset="-122"/>
                  </a:rPr>
                  <a:t>，</a:t>
                </a:r>
                <a:r>
                  <a:rPr lang="en-US" altLang="zh-CN" sz="2400" dirty="0">
                    <a:latin typeface="Times New Roman" panose="02020603050405020304" pitchFamily="18" charset="0"/>
                    <a:ea typeface="幼圆" pitchFamily="49" charset="-122"/>
                  </a:rPr>
                  <a:t>F</a:t>
                </a:r>
                <a:r>
                  <a:rPr lang="en-US" altLang="zh-CN" sz="2400" baseline="30000" dirty="0">
                    <a:latin typeface="Times New Roman" panose="02020603050405020304" pitchFamily="18" charset="0"/>
                    <a:ea typeface="幼圆" pitchFamily="49" charset="-122"/>
                  </a:rPr>
                  <a:t>-</a:t>
                </a:r>
                <a:r>
                  <a:rPr lang="zh-CN" altLang="en-US" sz="2400" dirty="0">
                    <a:latin typeface="Times New Roman" panose="02020603050405020304" pitchFamily="18" charset="0"/>
                    <a:ea typeface="幼圆" pitchFamily="49" charset="-122"/>
                  </a:rPr>
                  <a:t>与</a:t>
                </a:r>
                <a:r>
                  <a:rPr lang="en-US" altLang="zh-CN" sz="2400" dirty="0">
                    <a:latin typeface="Times New Roman" panose="02020603050405020304" pitchFamily="18" charset="0"/>
                    <a:ea typeface="幼圆" pitchFamily="49" charset="-122"/>
                  </a:rPr>
                  <a:t>Fe</a:t>
                </a:r>
                <a:r>
                  <a:rPr lang="en-US" altLang="zh-CN" sz="2400" baseline="30000" dirty="0">
                    <a:latin typeface="Times New Roman" panose="02020603050405020304" pitchFamily="18" charset="0"/>
                    <a:ea typeface="幼圆" pitchFamily="49" charset="-122"/>
                  </a:rPr>
                  <a:t>3+</a:t>
                </a:r>
                <a:r>
                  <a:rPr lang="zh-CN" altLang="en-US" sz="2400" dirty="0">
                    <a:latin typeface="Times New Roman" panose="02020603050405020304" pitchFamily="18" charset="0"/>
                    <a:ea typeface="幼圆" pitchFamily="49" charset="-122"/>
                  </a:rPr>
                  <a:t>形成更稳定的无色配离子</a:t>
                </a:r>
                <a:r>
                  <a:rPr lang="en-US" altLang="zh-CN" sz="2400" dirty="0">
                    <a:latin typeface="Times New Roman" panose="02020603050405020304" pitchFamily="18" charset="0"/>
                    <a:ea typeface="幼圆" pitchFamily="49" charset="-122"/>
                  </a:rPr>
                  <a:t>[FeF</a:t>
                </a:r>
                <a:r>
                  <a:rPr lang="en-US" altLang="zh-CN" sz="2400" baseline="-25000" dirty="0">
                    <a:latin typeface="Times New Roman" panose="02020603050405020304" pitchFamily="18" charset="0"/>
                    <a:ea typeface="幼圆" pitchFamily="49" charset="-122"/>
                  </a:rPr>
                  <a:t>6</a:t>
                </a:r>
                <a:r>
                  <a:rPr lang="en-US" altLang="zh-CN" sz="2400" dirty="0">
                    <a:latin typeface="Times New Roman" panose="02020603050405020304" pitchFamily="18" charset="0"/>
                    <a:ea typeface="幼圆" pitchFamily="49" charset="-122"/>
                  </a:rPr>
                  <a:t>]</a:t>
                </a:r>
                <a:r>
                  <a:rPr lang="en-US" altLang="zh-CN" sz="2400" baseline="30000" dirty="0">
                    <a:latin typeface="Times New Roman" panose="02020603050405020304" pitchFamily="18" charset="0"/>
                    <a:ea typeface="幼圆" pitchFamily="49" charset="-122"/>
                  </a:rPr>
                  <a:t>3-</a:t>
                </a:r>
                <a:r>
                  <a:rPr lang="zh-CN" altLang="en-US" sz="2400" dirty="0">
                    <a:latin typeface="Times New Roman" panose="02020603050405020304" pitchFamily="18" charset="0"/>
                    <a:ea typeface="幼圆" pitchFamily="49" charset="-122"/>
                  </a:rPr>
                  <a:t>，即可避免</a:t>
                </a:r>
                <a:r>
                  <a:rPr lang="en-US" altLang="zh-CN" sz="2400" dirty="0">
                    <a:latin typeface="Times New Roman" panose="02020603050405020304" pitchFamily="18" charset="0"/>
                    <a:ea typeface="幼圆" pitchFamily="49" charset="-122"/>
                  </a:rPr>
                  <a:t>Fe</a:t>
                </a:r>
                <a:r>
                  <a:rPr lang="en-US" altLang="zh-CN" sz="2400" baseline="30000" dirty="0">
                    <a:latin typeface="Times New Roman" panose="02020603050405020304" pitchFamily="18" charset="0"/>
                    <a:ea typeface="幼圆" pitchFamily="49" charset="-122"/>
                  </a:rPr>
                  <a:t>3+</a:t>
                </a:r>
                <a:r>
                  <a:rPr lang="zh-CN" altLang="en-US" sz="2400" dirty="0">
                    <a:latin typeface="Times New Roman" panose="02020603050405020304" pitchFamily="18" charset="0"/>
                    <a:ea typeface="幼圆" pitchFamily="49" charset="-122"/>
                  </a:rPr>
                  <a:t>对</a:t>
                </a:r>
                <a:r>
                  <a:rPr lang="en-US" altLang="zh-CN" sz="2400" dirty="0">
                    <a:latin typeface="Times New Roman" panose="02020603050405020304" pitchFamily="18" charset="0"/>
                    <a:ea typeface="幼圆" pitchFamily="49" charset="-122"/>
                  </a:rPr>
                  <a:t>Co</a:t>
                </a:r>
                <a:r>
                  <a:rPr lang="en-US" altLang="zh-CN" sz="2400" baseline="30000" dirty="0">
                    <a:latin typeface="Times New Roman" panose="02020603050405020304" pitchFamily="18" charset="0"/>
                    <a:ea typeface="幼圆" pitchFamily="49" charset="-122"/>
                  </a:rPr>
                  <a:t>2+</a:t>
                </a:r>
                <a:r>
                  <a:rPr lang="zh-CN" altLang="en-US" sz="2400" dirty="0">
                    <a:latin typeface="Times New Roman" panose="02020603050405020304" pitchFamily="18" charset="0"/>
                    <a:ea typeface="幼圆" pitchFamily="49" charset="-122"/>
                  </a:rPr>
                  <a:t>鉴定的干扰。</a:t>
                </a:r>
                <a:r>
                  <a:rPr lang="zh-CN" altLang="en-US" sz="2400" dirty="0">
                    <a:latin typeface="Times New Roman" panose="02020603050405020304" pitchFamily="18" charset="0"/>
                    <a:ea typeface="宋体" panose="02010600030101010101" pitchFamily="2" charset="-122"/>
                  </a:rPr>
                  <a:t> </a:t>
                </a:r>
              </a:p>
            </p:txBody>
          </p:sp>
          <p:sp>
            <p:nvSpPr>
              <p:cNvPr id="95248" name="Rectangle 30"/>
              <p:cNvSpPr/>
              <p:nvPr/>
            </p:nvSpPr>
            <p:spPr>
              <a:xfrm rot="2195466">
                <a:off x="2221" y="2149"/>
                <a:ext cx="343" cy="440"/>
              </a:xfrm>
              <a:prstGeom prst="rect">
                <a:avLst/>
              </a:prstGeom>
              <a:noFill/>
              <a:ln w="9525">
                <a:noFill/>
              </a:ln>
            </p:spPr>
            <p:txBody>
              <a:bodyPr wrap="none" anchor="ctr" anchorCtr="0">
                <a:spAutoFit/>
              </a:bodyPr>
              <a:lstStyle/>
              <a:p>
                <a:pPr eaLnBrk="0" hangingPunct="0">
                  <a:buClrTx/>
                  <a:buFontTx/>
                </a:pPr>
                <a:r>
                  <a:rPr lang="zh-CN" altLang="en-US" b="0" dirty="0">
                    <a:latin typeface="Times New Roman" panose="02020603050405020304" pitchFamily="18" charset="0"/>
                    <a:ea typeface="幼圆" pitchFamily="49" charset="-122"/>
                  </a:rPr>
                  <a:t>←</a:t>
                </a:r>
              </a:p>
            </p:txBody>
          </p:sp>
        </p:grpSp>
      </p:gr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3747"/>
                                        </p:tgtEl>
                                        <p:attrNameLst>
                                          <p:attrName>style.visibility</p:attrName>
                                        </p:attrNameLst>
                                      </p:cBhvr>
                                      <p:to>
                                        <p:strVal val="visible"/>
                                      </p:to>
                                    </p:set>
                                    <p:anim calcmode="lin" valueType="num">
                                      <p:cBhvr additive="base">
                                        <p:cTn id="7" dur="500" fill="hold"/>
                                        <p:tgtEl>
                                          <p:spTgt spid="73747"/>
                                        </p:tgtEl>
                                        <p:attrNameLst>
                                          <p:attrName>ppt_x</p:attrName>
                                        </p:attrNameLst>
                                      </p:cBhvr>
                                      <p:tavLst>
                                        <p:tav tm="0">
                                          <p:val>
                                            <p:strVal val="1+#ppt_w/2"/>
                                          </p:val>
                                        </p:tav>
                                        <p:tav tm="100000">
                                          <p:val>
                                            <p:strVal val="#ppt_x"/>
                                          </p:val>
                                        </p:tav>
                                      </p:tavLst>
                                    </p:anim>
                                    <p:anim calcmode="lin" valueType="num">
                                      <p:cBhvr additive="base">
                                        <p:cTn id="8" dur="500" fill="hold"/>
                                        <p:tgtEl>
                                          <p:spTgt spid="7374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3751"/>
                                        </p:tgtEl>
                                        <p:attrNameLst>
                                          <p:attrName>style.visibility</p:attrName>
                                        </p:attrNameLst>
                                      </p:cBhvr>
                                      <p:to>
                                        <p:strVal val="visible"/>
                                      </p:to>
                                    </p:set>
                                    <p:anim calcmode="lin" valueType="num">
                                      <p:cBhvr additive="base">
                                        <p:cTn id="11" dur="500" fill="hold"/>
                                        <p:tgtEl>
                                          <p:spTgt spid="73751"/>
                                        </p:tgtEl>
                                        <p:attrNameLst>
                                          <p:attrName>ppt_x</p:attrName>
                                        </p:attrNameLst>
                                      </p:cBhvr>
                                      <p:tavLst>
                                        <p:tav tm="0">
                                          <p:val>
                                            <p:strVal val="0-#ppt_w/2"/>
                                          </p:val>
                                        </p:tav>
                                        <p:tav tm="100000">
                                          <p:val>
                                            <p:strVal val="#ppt_x"/>
                                          </p:val>
                                        </p:tav>
                                      </p:tavLst>
                                    </p:anim>
                                    <p:anim calcmode="lin" valueType="num">
                                      <p:cBhvr additive="base">
                                        <p:cTn id="12" dur="500" fill="hold"/>
                                        <p:tgtEl>
                                          <p:spTgt spid="7375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3752"/>
                                        </p:tgtEl>
                                        <p:attrNameLst>
                                          <p:attrName>style.visibility</p:attrName>
                                        </p:attrNameLst>
                                      </p:cBhvr>
                                      <p:to>
                                        <p:strVal val="visible"/>
                                      </p:to>
                                    </p:set>
                                    <p:anim calcmode="lin" valueType="num">
                                      <p:cBhvr additive="base">
                                        <p:cTn id="15" dur="500" fill="hold"/>
                                        <p:tgtEl>
                                          <p:spTgt spid="73752"/>
                                        </p:tgtEl>
                                        <p:attrNameLst>
                                          <p:attrName>ppt_x</p:attrName>
                                        </p:attrNameLst>
                                      </p:cBhvr>
                                      <p:tavLst>
                                        <p:tav tm="0">
                                          <p:val>
                                            <p:strVal val="0-#ppt_w/2"/>
                                          </p:val>
                                        </p:tav>
                                        <p:tav tm="100000">
                                          <p:val>
                                            <p:strVal val="#ppt_x"/>
                                          </p:val>
                                        </p:tav>
                                      </p:tavLst>
                                    </p:anim>
                                    <p:anim calcmode="lin" valueType="num">
                                      <p:cBhvr additive="base">
                                        <p:cTn id="16" dur="500" fill="hold"/>
                                        <p:tgtEl>
                                          <p:spTgt spid="7375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3753"/>
                                        </p:tgtEl>
                                        <p:attrNameLst>
                                          <p:attrName>style.visibility</p:attrName>
                                        </p:attrNameLst>
                                      </p:cBhvr>
                                      <p:to>
                                        <p:strVal val="visible"/>
                                      </p:to>
                                    </p:set>
                                    <p:anim calcmode="lin" valueType="num">
                                      <p:cBhvr additive="base">
                                        <p:cTn id="19" dur="500" fill="hold"/>
                                        <p:tgtEl>
                                          <p:spTgt spid="73753"/>
                                        </p:tgtEl>
                                        <p:attrNameLst>
                                          <p:attrName>ppt_x</p:attrName>
                                        </p:attrNameLst>
                                      </p:cBhvr>
                                      <p:tavLst>
                                        <p:tav tm="0">
                                          <p:val>
                                            <p:strVal val="0-#ppt_w/2"/>
                                          </p:val>
                                        </p:tav>
                                        <p:tav tm="100000">
                                          <p:val>
                                            <p:strVal val="#ppt_x"/>
                                          </p:val>
                                        </p:tav>
                                      </p:tavLst>
                                    </p:anim>
                                    <p:anim calcmode="lin" valueType="num">
                                      <p:cBhvr additive="base">
                                        <p:cTn id="20" dur="500" fill="hold"/>
                                        <p:tgtEl>
                                          <p:spTgt spid="7375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73748"/>
                                        </p:tgtEl>
                                        <p:attrNameLst>
                                          <p:attrName>style.visibility</p:attrName>
                                        </p:attrNameLst>
                                      </p:cBhvr>
                                      <p:to>
                                        <p:strVal val="visible"/>
                                      </p:to>
                                    </p:set>
                                    <p:animEffect transition="in" filter="box(in)">
                                      <p:cBhvr>
                                        <p:cTn id="25" dur="500"/>
                                        <p:tgtEl>
                                          <p:spTgt spid="73748"/>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73749"/>
                                        </p:tgtEl>
                                        <p:attrNameLst>
                                          <p:attrName>style.visibility</p:attrName>
                                        </p:attrNameLst>
                                      </p:cBhvr>
                                      <p:to>
                                        <p:strVal val="visible"/>
                                      </p:to>
                                    </p:set>
                                    <p:animEffect transition="in" filter="box(in)">
                                      <p:cBhvr>
                                        <p:cTn id="28" dur="500"/>
                                        <p:tgtEl>
                                          <p:spTgt spid="73749"/>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73750"/>
                                        </p:tgtEl>
                                        <p:attrNameLst>
                                          <p:attrName>style.visibility</p:attrName>
                                        </p:attrNameLst>
                                      </p:cBhvr>
                                      <p:to>
                                        <p:strVal val="visible"/>
                                      </p:to>
                                    </p:set>
                                    <p:animEffect transition="in" filter="box(in)">
                                      <p:cBhvr>
                                        <p:cTn id="31" dur="500"/>
                                        <p:tgtEl>
                                          <p:spTgt spid="73750"/>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1+#ppt_w/2"/>
                                          </p:val>
                                        </p:tav>
                                        <p:tav tm="100000">
                                          <p:val>
                                            <p:strVal val="#ppt_x"/>
                                          </p:val>
                                        </p:tav>
                                      </p:tavLst>
                                    </p:anim>
                                    <p:anim calcmode="lin" valueType="num">
                                      <p:cBhvr additive="base">
                                        <p:cTn id="37"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ppt_x"/>
                                          </p:val>
                                        </p:tav>
                                        <p:tav tm="100000">
                                          <p:val>
                                            <p:strVal val="#ppt_x"/>
                                          </p:val>
                                        </p:tav>
                                      </p:tavLst>
                                    </p:anim>
                                    <p:anim calcmode="lin" valueType="num">
                                      <p:cBhvr additive="base">
                                        <p:cTn id="4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7" grpId="0"/>
      <p:bldP spid="73748" grpId="0"/>
      <p:bldP spid="73749" grpId="0"/>
      <p:bldP spid="73750" grpId="0"/>
      <p:bldP spid="73751" grpId="0"/>
      <p:bldP spid="73752" grpId="0"/>
      <p:bldP spid="7375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699542"/>
            <a:ext cx="8712968" cy="3785652"/>
          </a:xfrm>
          <a:prstGeom prst="rect">
            <a:avLst/>
          </a:prstGeom>
        </p:spPr>
        <p:txBody>
          <a:bodyPr wrap="square">
            <a:spAutoFit/>
          </a:bodyPr>
          <a:lstStyle/>
          <a:p>
            <a:r>
              <a:rPr lang="zh-CN" altLang="zh-CN" sz="2400" dirty="0"/>
              <a:t>（</a:t>
            </a:r>
            <a:r>
              <a:rPr lang="en-US" altLang="zh-CN" sz="2400" dirty="0"/>
              <a:t>4</a:t>
            </a:r>
            <a:r>
              <a:rPr lang="zh-CN" altLang="zh-CN" sz="2400" dirty="0"/>
              <a:t>）在</a:t>
            </a:r>
            <a:r>
              <a:rPr lang="en-US" altLang="zh-CN" sz="2400" dirty="0"/>
              <a:t>PbI</a:t>
            </a:r>
            <a:r>
              <a:rPr lang="en-US" altLang="zh-CN" sz="2400" baseline="-25000" dirty="0"/>
              <a:t>2</a:t>
            </a:r>
            <a:r>
              <a:rPr lang="zh-CN" altLang="zh-CN" sz="2400" dirty="0"/>
              <a:t>沉淀中加入过量的</a:t>
            </a:r>
            <a:r>
              <a:rPr lang="en-US" altLang="zh-CN" sz="2400" dirty="0"/>
              <a:t>KI</a:t>
            </a:r>
            <a:r>
              <a:rPr lang="zh-CN" altLang="zh-CN" sz="2400" dirty="0"/>
              <a:t>溶液，使沉淀溶解的原因是</a:t>
            </a:r>
          </a:p>
          <a:p>
            <a:r>
              <a:rPr lang="en-US" altLang="zh-CN" sz="2400" dirty="0"/>
              <a:t>   A.</a:t>
            </a:r>
            <a:r>
              <a:rPr lang="zh-CN" altLang="zh-CN" sz="2400" dirty="0"/>
              <a:t>同离子效应</a:t>
            </a:r>
            <a:r>
              <a:rPr lang="en-US" altLang="zh-CN" sz="2400" dirty="0"/>
              <a:t>                    B.</a:t>
            </a:r>
            <a:r>
              <a:rPr lang="zh-CN" altLang="zh-CN" sz="2400" dirty="0"/>
              <a:t>生成配位化合物</a:t>
            </a:r>
            <a:r>
              <a:rPr lang="en-US" altLang="zh-CN" sz="2400" dirty="0"/>
              <a:t>   </a:t>
            </a:r>
          </a:p>
          <a:p>
            <a:r>
              <a:rPr lang="en-US" altLang="zh-CN" sz="2400" dirty="0"/>
              <a:t>  C.</a:t>
            </a:r>
            <a:r>
              <a:rPr lang="zh-CN" altLang="zh-CN" sz="2400" dirty="0"/>
              <a:t>氧化还原作用</a:t>
            </a:r>
            <a:r>
              <a:rPr lang="en-US" altLang="zh-CN" sz="2400" dirty="0"/>
              <a:t>                 D.</a:t>
            </a:r>
            <a:r>
              <a:rPr lang="zh-CN" altLang="zh-CN" sz="2400" dirty="0"/>
              <a:t>溶液碱性增强</a:t>
            </a:r>
          </a:p>
          <a:p>
            <a:r>
              <a:rPr lang="en-US" altLang="zh-CN" sz="2400" dirty="0"/>
              <a:t> </a:t>
            </a:r>
            <a:r>
              <a:rPr lang="zh-CN" altLang="zh-CN" sz="2400" dirty="0"/>
              <a:t>（</a:t>
            </a:r>
            <a:r>
              <a:rPr lang="en-US" altLang="zh-CN" sz="2400" dirty="0"/>
              <a:t>5</a:t>
            </a:r>
            <a:r>
              <a:rPr lang="zh-CN" altLang="zh-CN" sz="2400" dirty="0"/>
              <a:t>）下列说法中正确的是</a:t>
            </a:r>
          </a:p>
          <a:p>
            <a:r>
              <a:rPr lang="en-US" altLang="zh-CN" sz="2400" dirty="0"/>
              <a:t>   A.</a:t>
            </a:r>
            <a:r>
              <a:rPr lang="zh-CN" altLang="zh-CN" sz="2400" dirty="0"/>
              <a:t>在</a:t>
            </a:r>
            <a:r>
              <a:rPr lang="en-US" altLang="zh-CN" sz="2400" dirty="0"/>
              <a:t>H</a:t>
            </a:r>
            <a:r>
              <a:rPr lang="en-US" altLang="zh-CN" sz="2400" baseline="-25000" dirty="0"/>
              <a:t>2</a:t>
            </a:r>
            <a:r>
              <a:rPr lang="en-US" altLang="zh-CN" sz="2400" dirty="0"/>
              <a:t>S</a:t>
            </a:r>
            <a:r>
              <a:rPr lang="zh-CN" altLang="zh-CN" sz="2400" dirty="0"/>
              <a:t>的饱和溶液中加入</a:t>
            </a:r>
            <a:r>
              <a:rPr lang="en-US" altLang="zh-CN" sz="2400" dirty="0"/>
              <a:t>Cu</a:t>
            </a:r>
            <a:r>
              <a:rPr lang="en-US" altLang="zh-CN" sz="2400" baseline="30000" dirty="0"/>
              <a:t>2+</a:t>
            </a:r>
            <a:r>
              <a:rPr lang="zh-CN" altLang="zh-CN" sz="2400" dirty="0"/>
              <a:t>，溶液的</a:t>
            </a:r>
            <a:r>
              <a:rPr lang="en-US" altLang="zh-CN" sz="2400" dirty="0"/>
              <a:t>pH</a:t>
            </a:r>
            <a:r>
              <a:rPr lang="zh-CN" altLang="zh-CN" sz="2400" dirty="0"/>
              <a:t>将变小</a:t>
            </a:r>
          </a:p>
          <a:p>
            <a:r>
              <a:rPr lang="en-US" altLang="zh-CN" sz="2400" dirty="0"/>
              <a:t>   B.</a:t>
            </a:r>
            <a:r>
              <a:rPr lang="zh-CN" altLang="zh-CN" sz="2400" dirty="0"/>
              <a:t>分步沉淀的结果总能使两种溶度积不同的离子通过沉淀反应</a:t>
            </a:r>
            <a:r>
              <a:rPr lang="en-US" altLang="zh-CN" sz="2400" dirty="0"/>
              <a:t>   </a:t>
            </a:r>
            <a:r>
              <a:rPr lang="zh-CN" altLang="zh-CN" sz="2400" dirty="0"/>
              <a:t>完全分离开</a:t>
            </a:r>
          </a:p>
          <a:p>
            <a:r>
              <a:rPr lang="en-US" altLang="zh-CN" sz="2400" dirty="0"/>
              <a:t>   C.</a:t>
            </a:r>
            <a:r>
              <a:rPr lang="zh-CN" altLang="zh-CN" sz="2400" dirty="0"/>
              <a:t>所谓沉淀完全是指沉淀剂将溶液中某一离子除净了</a:t>
            </a:r>
          </a:p>
          <a:p>
            <a:r>
              <a:rPr lang="en-US" altLang="zh-CN" sz="2400" dirty="0"/>
              <a:t>   D.</a:t>
            </a:r>
            <a:r>
              <a:rPr lang="zh-CN" altLang="zh-CN" sz="2400" dirty="0"/>
              <a:t>若某系统的溶液中离子积等于溶度积，则该系统必然存在固</a:t>
            </a:r>
            <a:r>
              <a:rPr lang="en-US" altLang="zh-CN" sz="2400" dirty="0"/>
              <a:t>  </a:t>
            </a:r>
            <a:r>
              <a:rPr lang="zh-CN" altLang="zh-CN" sz="2400" dirty="0"/>
              <a:t>相</a:t>
            </a:r>
          </a:p>
        </p:txBody>
      </p:sp>
      <p:sp>
        <p:nvSpPr>
          <p:cNvPr id="4" name="矩形 3"/>
          <p:cNvSpPr/>
          <p:nvPr/>
        </p:nvSpPr>
        <p:spPr>
          <a:xfrm>
            <a:off x="323530" y="176322"/>
            <a:ext cx="1988045" cy="523220"/>
          </a:xfrm>
          <a:prstGeom prst="rect">
            <a:avLst/>
          </a:prstGeom>
        </p:spPr>
        <p:txBody>
          <a:bodyPr wrap="none">
            <a:spAutoFit/>
          </a:bodyPr>
          <a:lstStyle/>
          <a:p>
            <a:r>
              <a:rPr lang="zh-CN" altLang="zh-CN" dirty="0">
                <a:solidFill>
                  <a:srgbClr val="C00000"/>
                </a:solidFill>
              </a:rPr>
              <a:t>单项选择题</a:t>
            </a:r>
          </a:p>
        </p:txBody>
      </p:sp>
    </p:spTree>
    <p:extLst>
      <p:ext uri="{BB962C8B-B14F-4D97-AF65-F5344CB8AC3E}">
        <p14:creationId xmlns:p14="http://schemas.microsoft.com/office/powerpoint/2010/main" val="4019044452"/>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627537"/>
            <a:ext cx="8712968" cy="3637919"/>
          </a:xfrm>
          <a:prstGeom prst="rect">
            <a:avLst/>
          </a:prstGeom>
        </p:spPr>
        <p:txBody>
          <a:bodyPr wrap="square">
            <a:spAutoFit/>
          </a:bodyPr>
          <a:lstStyle/>
          <a:p>
            <a:pPr>
              <a:lnSpc>
                <a:spcPct val="120000"/>
              </a:lnSpc>
            </a:pPr>
            <a:r>
              <a:rPr lang="zh-CN" altLang="zh-CN" sz="2400" dirty="0"/>
              <a:t>（</a:t>
            </a:r>
            <a:r>
              <a:rPr lang="en-US" altLang="zh-CN" sz="2400" dirty="0"/>
              <a:t>6</a:t>
            </a:r>
            <a:r>
              <a:rPr lang="zh-CN" altLang="zh-CN" sz="2400" dirty="0"/>
              <a:t>）配离子的电荷是由（</a:t>
            </a:r>
            <a:r>
              <a:rPr lang="en-US" altLang="zh-CN" sz="2400" dirty="0"/>
              <a:t>   </a:t>
            </a:r>
            <a:r>
              <a:rPr lang="zh-CN" altLang="zh-CN" sz="2400" dirty="0"/>
              <a:t>）决定的。</a:t>
            </a:r>
          </a:p>
          <a:p>
            <a:pPr>
              <a:lnSpc>
                <a:spcPct val="120000"/>
              </a:lnSpc>
            </a:pPr>
            <a:r>
              <a:rPr lang="en-US" altLang="zh-CN" sz="2400" dirty="0"/>
              <a:t>A. </a:t>
            </a:r>
            <a:r>
              <a:rPr lang="zh-CN" altLang="zh-CN" sz="2400" dirty="0"/>
              <a:t>中心离子电荷</a:t>
            </a:r>
            <a:r>
              <a:rPr lang="en-US" altLang="zh-CN" sz="2400" dirty="0"/>
              <a:t>                          B. </a:t>
            </a:r>
            <a:r>
              <a:rPr lang="zh-CN" altLang="zh-CN" sz="2400" dirty="0"/>
              <a:t>配离子电荷 </a:t>
            </a:r>
          </a:p>
          <a:p>
            <a:pPr>
              <a:lnSpc>
                <a:spcPct val="120000"/>
              </a:lnSpc>
            </a:pPr>
            <a:r>
              <a:rPr lang="en-US" altLang="zh-CN" sz="2400" dirty="0"/>
              <a:t>C. </a:t>
            </a:r>
            <a:r>
              <a:rPr lang="zh-CN" altLang="zh-CN" sz="2400" dirty="0"/>
              <a:t>中心离子电荷与配位体电荷的代数和</a:t>
            </a:r>
            <a:r>
              <a:rPr lang="en-US" altLang="zh-CN" sz="2400" dirty="0"/>
              <a:t>      D. </a:t>
            </a:r>
            <a:r>
              <a:rPr lang="zh-CN" altLang="zh-CN" sz="2400" dirty="0"/>
              <a:t>通过实验测量才能知道</a:t>
            </a:r>
          </a:p>
          <a:p>
            <a:pPr>
              <a:lnSpc>
                <a:spcPct val="120000"/>
              </a:lnSpc>
            </a:pPr>
            <a:r>
              <a:rPr lang="zh-CN" altLang="zh-CN" sz="2400" dirty="0"/>
              <a:t>（</a:t>
            </a:r>
            <a:r>
              <a:rPr lang="en-US" altLang="zh-CN" sz="2400" dirty="0"/>
              <a:t>7</a:t>
            </a:r>
            <a:r>
              <a:rPr lang="zh-CN" altLang="zh-CN" sz="2400" dirty="0"/>
              <a:t>）在氨水中加入少许</a:t>
            </a:r>
            <a:r>
              <a:rPr lang="en-US" altLang="zh-CN" sz="2400" dirty="0"/>
              <a:t>NH</a:t>
            </a:r>
            <a:r>
              <a:rPr lang="en-US" altLang="zh-CN" sz="2400" baseline="-25000" dirty="0"/>
              <a:t>4</a:t>
            </a:r>
            <a:r>
              <a:rPr lang="en-US" altLang="zh-CN" sz="2400" dirty="0"/>
              <a:t>Cl</a:t>
            </a:r>
            <a:r>
              <a:rPr lang="zh-CN" altLang="zh-CN" sz="2400" dirty="0"/>
              <a:t>后，</a:t>
            </a:r>
            <a:r>
              <a:rPr lang="en-US" altLang="zh-CN" sz="2400" dirty="0"/>
              <a:t>NH</a:t>
            </a:r>
            <a:r>
              <a:rPr lang="en-US" altLang="zh-CN" sz="2400" baseline="-25000" dirty="0"/>
              <a:t>3</a:t>
            </a:r>
            <a:r>
              <a:rPr lang="zh-CN" altLang="zh-CN" sz="2400" dirty="0"/>
              <a:t>的离解度</a:t>
            </a:r>
            <a:r>
              <a:rPr lang="en-US" altLang="zh-CN" sz="2400" i="1" dirty="0"/>
              <a:t>α</a:t>
            </a:r>
            <a:r>
              <a:rPr lang="zh-CN" altLang="zh-CN" sz="2400" dirty="0"/>
              <a:t>和</a:t>
            </a:r>
            <a:r>
              <a:rPr lang="en-US" altLang="zh-CN" sz="2400" dirty="0"/>
              <a:t>pH</a:t>
            </a:r>
            <a:r>
              <a:rPr lang="zh-CN" altLang="zh-CN" sz="2400" dirty="0"/>
              <a:t>值变化正确的是（</a:t>
            </a:r>
            <a:r>
              <a:rPr lang="en-US" altLang="zh-CN" sz="2400" dirty="0"/>
              <a:t>   </a:t>
            </a:r>
            <a:r>
              <a:rPr lang="zh-CN" altLang="zh-CN" sz="2400" dirty="0"/>
              <a:t>） </a:t>
            </a:r>
          </a:p>
          <a:p>
            <a:pPr>
              <a:lnSpc>
                <a:spcPct val="120000"/>
              </a:lnSpc>
            </a:pPr>
            <a:r>
              <a:rPr lang="en-US" altLang="zh-CN" sz="2400" dirty="0"/>
              <a:t>A</a:t>
            </a:r>
            <a:r>
              <a:rPr lang="zh-CN" altLang="zh-CN" sz="2400" dirty="0"/>
              <a:t>．</a:t>
            </a:r>
            <a:r>
              <a:rPr lang="en-US" altLang="zh-CN" sz="2400" i="1" dirty="0"/>
              <a:t>α</a:t>
            </a:r>
            <a:r>
              <a:rPr lang="zh-CN" altLang="zh-CN" sz="2400" dirty="0"/>
              <a:t>，</a:t>
            </a:r>
            <a:r>
              <a:rPr lang="en-US" altLang="zh-CN" sz="2400" dirty="0"/>
              <a:t>pH</a:t>
            </a:r>
            <a:r>
              <a:rPr lang="zh-CN" altLang="zh-CN" sz="2400" dirty="0"/>
              <a:t>都增大</a:t>
            </a:r>
            <a:r>
              <a:rPr lang="en-US" altLang="zh-CN" sz="2400" dirty="0"/>
              <a:t>                         B</a:t>
            </a:r>
            <a:r>
              <a:rPr lang="zh-CN" altLang="zh-CN" sz="2400" dirty="0"/>
              <a:t>．</a:t>
            </a:r>
            <a:r>
              <a:rPr lang="en-US" altLang="zh-CN" sz="2400" i="1" dirty="0"/>
              <a:t>α</a:t>
            </a:r>
            <a:r>
              <a:rPr lang="zh-CN" altLang="zh-CN" sz="2400" dirty="0"/>
              <a:t>减小，</a:t>
            </a:r>
            <a:r>
              <a:rPr lang="en-US" altLang="zh-CN" sz="2400" dirty="0"/>
              <a:t>pH</a:t>
            </a:r>
            <a:r>
              <a:rPr lang="zh-CN" altLang="zh-CN" sz="2400" dirty="0"/>
              <a:t>增大</a:t>
            </a:r>
          </a:p>
          <a:p>
            <a:pPr>
              <a:lnSpc>
                <a:spcPct val="120000"/>
              </a:lnSpc>
            </a:pPr>
            <a:r>
              <a:rPr lang="en-US" altLang="zh-CN" sz="2400" dirty="0"/>
              <a:t>C</a:t>
            </a:r>
            <a:r>
              <a:rPr lang="zh-CN" altLang="zh-CN" sz="2400" dirty="0"/>
              <a:t>．</a:t>
            </a:r>
            <a:r>
              <a:rPr lang="en-US" altLang="zh-CN" sz="2400" i="1" dirty="0"/>
              <a:t>α</a:t>
            </a:r>
            <a:r>
              <a:rPr lang="zh-CN" altLang="zh-CN" sz="2400" dirty="0"/>
              <a:t>增大，</a:t>
            </a:r>
            <a:r>
              <a:rPr lang="en-US" altLang="zh-CN" sz="2400" dirty="0"/>
              <a:t>pH</a:t>
            </a:r>
            <a:r>
              <a:rPr lang="zh-CN" altLang="zh-CN" sz="2400" dirty="0"/>
              <a:t>变小</a:t>
            </a:r>
            <a:r>
              <a:rPr lang="en-US" altLang="zh-CN" sz="2400" dirty="0"/>
              <a:t>                        D</a:t>
            </a:r>
            <a:r>
              <a:rPr lang="zh-CN" altLang="zh-CN" sz="2400" dirty="0"/>
              <a:t>．</a:t>
            </a:r>
            <a:r>
              <a:rPr lang="en-US" altLang="zh-CN" sz="2400" i="1" dirty="0"/>
              <a:t>α</a:t>
            </a:r>
            <a:r>
              <a:rPr lang="zh-CN" altLang="zh-CN" sz="2400" dirty="0"/>
              <a:t>、</a:t>
            </a:r>
            <a:r>
              <a:rPr lang="en-US" altLang="zh-CN" sz="2400" dirty="0"/>
              <a:t>pH</a:t>
            </a:r>
            <a:r>
              <a:rPr lang="zh-CN" altLang="zh-CN" sz="2400" dirty="0"/>
              <a:t>都减小</a:t>
            </a:r>
          </a:p>
        </p:txBody>
      </p:sp>
      <p:sp>
        <p:nvSpPr>
          <p:cNvPr id="3" name="矩形 2"/>
          <p:cNvSpPr/>
          <p:nvPr/>
        </p:nvSpPr>
        <p:spPr>
          <a:xfrm>
            <a:off x="683568" y="4371953"/>
            <a:ext cx="7848872" cy="461665"/>
          </a:xfrm>
          <a:prstGeom prst="rect">
            <a:avLst/>
          </a:prstGeom>
        </p:spPr>
        <p:txBody>
          <a:bodyPr wrap="square">
            <a:spAutoFit/>
          </a:bodyPr>
          <a:lstStyle/>
          <a:p>
            <a:r>
              <a:rPr lang="zh-CN" altLang="zh-CN" sz="2400" dirty="0"/>
              <a:t>（</a:t>
            </a:r>
            <a:r>
              <a:rPr lang="en-US" altLang="zh-CN" sz="2400" dirty="0"/>
              <a:t>1</a:t>
            </a:r>
            <a:r>
              <a:rPr lang="zh-CN" altLang="zh-CN" sz="2400" dirty="0"/>
              <a:t>）</a:t>
            </a:r>
            <a:r>
              <a:rPr lang="en-US" altLang="zh-CN" sz="2400" dirty="0"/>
              <a:t>B</a:t>
            </a:r>
            <a:r>
              <a:rPr lang="zh-CN" altLang="zh-CN" sz="2400" dirty="0"/>
              <a:t>（</a:t>
            </a:r>
            <a:r>
              <a:rPr lang="en-US" altLang="zh-CN" sz="2400" dirty="0"/>
              <a:t>2</a:t>
            </a:r>
            <a:r>
              <a:rPr lang="zh-CN" altLang="zh-CN" sz="2400" dirty="0"/>
              <a:t>）</a:t>
            </a:r>
            <a:r>
              <a:rPr lang="en-US" altLang="zh-CN" sz="2400" dirty="0"/>
              <a:t>A</a:t>
            </a:r>
            <a:r>
              <a:rPr lang="zh-CN" altLang="zh-CN" sz="2400" dirty="0"/>
              <a:t>（</a:t>
            </a:r>
            <a:r>
              <a:rPr lang="en-US" altLang="zh-CN" sz="2400" dirty="0"/>
              <a:t>3</a:t>
            </a:r>
            <a:r>
              <a:rPr lang="zh-CN" altLang="zh-CN" sz="2400" dirty="0"/>
              <a:t>）</a:t>
            </a:r>
            <a:r>
              <a:rPr lang="en-US" altLang="zh-CN" sz="2400" dirty="0"/>
              <a:t>C</a:t>
            </a:r>
            <a:r>
              <a:rPr lang="zh-CN" altLang="zh-CN" sz="2400" dirty="0"/>
              <a:t>（</a:t>
            </a:r>
            <a:r>
              <a:rPr lang="en-US" altLang="zh-CN" sz="2400" dirty="0"/>
              <a:t>4</a:t>
            </a:r>
            <a:r>
              <a:rPr lang="zh-CN" altLang="zh-CN" sz="2400" dirty="0"/>
              <a:t>）</a:t>
            </a:r>
            <a:r>
              <a:rPr lang="en-US" altLang="zh-CN" sz="2400" dirty="0"/>
              <a:t>B</a:t>
            </a:r>
            <a:r>
              <a:rPr lang="zh-CN" altLang="zh-CN" sz="2400" dirty="0"/>
              <a:t>（</a:t>
            </a:r>
            <a:r>
              <a:rPr lang="en-US" altLang="zh-CN" sz="2400" dirty="0"/>
              <a:t>5</a:t>
            </a:r>
            <a:r>
              <a:rPr lang="zh-CN" altLang="zh-CN" sz="2400" dirty="0"/>
              <a:t>）</a:t>
            </a:r>
            <a:r>
              <a:rPr lang="en-US" altLang="zh-CN" sz="2400" dirty="0"/>
              <a:t>A</a:t>
            </a:r>
            <a:r>
              <a:rPr lang="zh-CN" altLang="zh-CN" sz="2400" dirty="0"/>
              <a:t>（</a:t>
            </a:r>
            <a:r>
              <a:rPr lang="en-US" altLang="zh-CN" sz="2400" dirty="0"/>
              <a:t>6</a:t>
            </a:r>
            <a:r>
              <a:rPr lang="zh-CN" altLang="zh-CN" sz="2400" dirty="0"/>
              <a:t>）</a:t>
            </a:r>
            <a:r>
              <a:rPr lang="en-US" altLang="zh-CN" sz="2400" dirty="0"/>
              <a:t>C</a:t>
            </a:r>
            <a:r>
              <a:rPr lang="zh-CN" altLang="zh-CN" sz="2400" dirty="0"/>
              <a:t>（</a:t>
            </a:r>
            <a:r>
              <a:rPr lang="en-US" altLang="zh-CN" sz="2400" dirty="0"/>
              <a:t>7</a:t>
            </a:r>
            <a:r>
              <a:rPr lang="zh-CN" altLang="zh-CN" sz="2400" dirty="0"/>
              <a:t>）</a:t>
            </a:r>
            <a:r>
              <a:rPr lang="en-US" altLang="zh-CN" sz="2400" dirty="0"/>
              <a:t>D</a:t>
            </a:r>
            <a:endParaRPr lang="zh-CN" altLang="zh-CN" sz="2400" dirty="0"/>
          </a:p>
        </p:txBody>
      </p:sp>
    </p:spTree>
    <p:extLst>
      <p:ext uri="{BB962C8B-B14F-4D97-AF65-F5344CB8AC3E}">
        <p14:creationId xmlns:p14="http://schemas.microsoft.com/office/powerpoint/2010/main" val="390799014"/>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WordArt 35"/>
          <p:cNvSpPr>
            <a:spLocks noTextEdit="1"/>
          </p:cNvSpPr>
          <p:nvPr/>
        </p:nvSpPr>
        <p:spPr>
          <a:xfrm>
            <a:off x="3132144" y="2247900"/>
            <a:ext cx="3024187" cy="711200"/>
          </a:xfrm>
          <a:prstGeom prst="rect">
            <a:avLst/>
          </a:prstGeom>
        </p:spPr>
        <p:txBody>
          <a:bodyPr wrap="none" fromWordArt="1">
            <a:prstTxWarp prst="textDoubleWave1">
              <a:avLst>
                <a:gd name="adj1" fmla="val 6500"/>
                <a:gd name="adj2" fmla="val 0"/>
              </a:avLst>
            </a:prstTxWarp>
            <a:normAutofit/>
          </a:bodyPr>
          <a:lstStyle/>
          <a:p>
            <a:pPr algn="ctr"/>
            <a:r>
              <a:rPr lang="zh-CN" altLang="en-US" sz="3600" b="1" spc="-360">
                <a:ln w="12700" cap="flat" cmpd="sng">
                  <a:solidFill>
                    <a:srgbClr val="000099"/>
                  </a:solidFill>
                  <a:prstDash val="solid"/>
                  <a:round/>
                  <a:headEnd type="none" w="med" len="med"/>
                  <a:tailEnd type="none" w="med" len="med"/>
                </a:ln>
                <a:solidFill>
                  <a:srgbClr val="33CCFF"/>
                </a:solidFill>
                <a:effectLst>
                  <a:outerShdw dist="125724" dir="18900000" algn="ctr" rotWithShape="0">
                    <a:srgbClr val="000099"/>
                  </a:outerShdw>
                </a:effectLst>
                <a:latin typeface="Times New Roman" panose="02020603050405020304" pitchFamily="18" charset="0"/>
                <a:ea typeface="Times New Roman" panose="02020603050405020304" pitchFamily="18" charset="0"/>
              </a:rPr>
              <a:t>The End</a:t>
            </a:r>
          </a:p>
        </p:txBody>
      </p:sp>
      <p:pic>
        <p:nvPicPr>
          <p:cNvPr id="96258" name="Picture 7" descr="http://pic2.ooopic.com/13/82/52/26b1OOOPICcc.jpg"/>
          <p:cNvPicPr>
            <a:picLocks noChangeAspect="1"/>
          </p:cNvPicPr>
          <p:nvPr/>
        </p:nvPicPr>
        <p:blipFill>
          <a:blip r:embed="rId2"/>
          <a:srcRect r="5437"/>
          <a:stretch>
            <a:fillRect/>
          </a:stretch>
        </p:blipFill>
        <p:spPr>
          <a:xfrm>
            <a:off x="0" y="0"/>
            <a:ext cx="9144000" cy="5143500"/>
          </a:xfrm>
          <a:prstGeom prst="rect">
            <a:avLst/>
          </a:prstGeom>
          <a:noFill/>
          <a:ln w="9525">
            <a:noFill/>
          </a:ln>
        </p:spPr>
      </p:pic>
      <p:sp>
        <p:nvSpPr>
          <p:cNvPr id="91140" name="WordArt 3"/>
          <p:cNvSpPr>
            <a:spLocks noTextEdit="1"/>
          </p:cNvSpPr>
          <p:nvPr/>
        </p:nvSpPr>
        <p:spPr>
          <a:xfrm>
            <a:off x="6156331" y="3868740"/>
            <a:ext cx="2519363" cy="1079500"/>
          </a:xfrm>
          <a:prstGeom prst="rect">
            <a:avLst/>
          </a:prstGeom>
        </p:spPr>
        <p:txBody>
          <a:bodyPr wrap="none" fromWordArt="1">
            <a:prstTxWarp prst="textDeflate">
              <a:avLst>
                <a:gd name="adj" fmla="val 26227"/>
              </a:avLst>
            </a:prstTxWarp>
            <a:normAutofit/>
          </a:bodyPr>
          <a:lstStyle/>
          <a:p>
            <a:pPr algn="ctr"/>
            <a:r>
              <a:rPr lang="zh-CN" altLang="en-US" sz="4000" b="1">
                <a:ln w="9525" cap="flat" cmpd="sng">
                  <a:solidFill>
                    <a:srgbClr val="000000"/>
                  </a:solidFill>
                  <a:prstDash val="solid"/>
                  <a:round/>
                  <a:headEnd type="none" w="med" len="med"/>
                  <a:tailEnd type="none" w="med" len="med"/>
                </a:ln>
                <a:solidFill>
                  <a:srgbClr val="92D050"/>
                </a:solidFill>
                <a:latin typeface="Times New Roman" panose="02020603050405020304" pitchFamily="18" charset="0"/>
                <a:ea typeface="Times New Roman" panose="02020603050405020304" pitchFamily="18" charset="0"/>
              </a:rPr>
              <a:t>The End</a:t>
            </a:r>
          </a:p>
        </p:txBody>
      </p:sp>
    </p:spTree>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91140"/>
                                        </p:tgtEl>
                                        <p:attrNameLst>
                                          <p:attrName>style.visibility</p:attrName>
                                        </p:attrNameLst>
                                      </p:cBhvr>
                                      <p:to>
                                        <p:strVal val="visible"/>
                                      </p:to>
                                    </p:set>
                                    <p:animEffect transition="in" filter="diamond(in)">
                                      <p:cBhvr>
                                        <p:cTn id="7" dur="500"/>
                                        <p:tgtEl>
                                          <p:spTgt spid="9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11C938A-64C3-DE44-37EC-ADFEFAC57047}"/>
              </a:ext>
            </a:extLst>
          </p:cNvPr>
          <p:cNvPicPr>
            <a:picLocks noChangeAspect="1"/>
          </p:cNvPicPr>
          <p:nvPr/>
        </p:nvPicPr>
        <p:blipFill>
          <a:blip r:embed="rId2"/>
          <a:stretch>
            <a:fillRect/>
          </a:stretch>
        </p:blipFill>
        <p:spPr>
          <a:xfrm rot="16200000">
            <a:off x="1564859" y="-1097316"/>
            <a:ext cx="5150186" cy="7344816"/>
          </a:xfrm>
          <a:prstGeom prst="rect">
            <a:avLst/>
          </a:prstGeom>
        </p:spPr>
      </p:pic>
    </p:spTree>
    <p:extLst>
      <p:ext uri="{BB962C8B-B14F-4D97-AF65-F5344CB8AC3E}">
        <p14:creationId xmlns:p14="http://schemas.microsoft.com/office/powerpoint/2010/main" val="1358746677"/>
      </p:ext>
    </p:extLst>
  </p:cSld>
  <p:clrMapOvr>
    <a:masterClrMapping/>
  </p:clrMapOvr>
  <mc:AlternateContent xmlns:mc="http://schemas.openxmlformats.org/markup-compatibility/2006" xmlns:p14="http://schemas.microsoft.com/office/powerpoint/2010/main">
    <mc:Choice Requires="p14">
      <p:transition spd="slow">
        <p:wipe dir="r"/>
      </p:transition>
    </mc:Choice>
    <mc:Fallback xmlns="">
      <p:transition spd="slow">
        <p:wipe dir="r"/>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53cf50c7-2297-49a0-92fc-226c23488cfc}"/>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803"/>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2803"/>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2803"/>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2803"/>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5345,&quot;width&quot;:10215}"/>
</p:tagLst>
</file>

<file path=ppt/theme/theme1.xml><?xml version="1.0" encoding="utf-8"?>
<a:theme xmlns:a="http://schemas.openxmlformats.org/drawingml/2006/main" name="1.2-2">
  <a:themeElements>
    <a:clrScheme name="1.2-2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1.2-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2-2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2-2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2-2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2-2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2-2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2-2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2-2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2-2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2-2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2-2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2-2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2-2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7">
      <a:majorFont>
        <a:latin typeface="文悦青龙体 (非商业使用) W5"/>
        <a:ea typeface="楷体"/>
        <a:cs typeface=""/>
      </a:majorFont>
      <a:minorFont>
        <a:latin typeface="文悦青龙体 (非商业使用) W5"/>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Designs\Network Blitz.pot</Template>
  <TotalTime>2232</TotalTime>
  <Words>8343</Words>
  <Application>Microsoft Office PowerPoint</Application>
  <PresentationFormat>全屏显示(16:9)</PresentationFormat>
  <Paragraphs>968</Paragraphs>
  <Slides>119</Slides>
  <Notes>6</Notes>
  <HiddenSlides>0</HiddenSlides>
  <MMClips>0</MMClips>
  <ScaleCrop>false</ScaleCrop>
  <HeadingPairs>
    <vt:vector size="10" baseType="variant">
      <vt:variant>
        <vt:lpstr>已用的字体</vt:lpstr>
      </vt:variant>
      <vt:variant>
        <vt:i4>16</vt:i4>
      </vt:variant>
      <vt:variant>
        <vt:lpstr>主题</vt:lpstr>
      </vt:variant>
      <vt:variant>
        <vt:i4>4</vt:i4>
      </vt:variant>
      <vt:variant>
        <vt:lpstr>嵌入 OLE 服务器</vt:lpstr>
      </vt:variant>
      <vt:variant>
        <vt:i4>5</vt:i4>
      </vt:variant>
      <vt:variant>
        <vt:lpstr>幻灯片标题</vt:lpstr>
      </vt:variant>
      <vt:variant>
        <vt:i4>119</vt:i4>
      </vt:variant>
      <vt:variant>
        <vt:lpstr>自定义放映</vt:lpstr>
      </vt:variant>
      <vt:variant>
        <vt:i4>1</vt:i4>
      </vt:variant>
    </vt:vector>
  </HeadingPairs>
  <TitlesOfParts>
    <vt:vector size="145" baseType="lpstr">
      <vt:lpstr>ˎ̥</vt:lpstr>
      <vt:lpstr>MS UI Gothic</vt:lpstr>
      <vt:lpstr>方正姚体</vt:lpstr>
      <vt:lpstr>黑体</vt:lpstr>
      <vt:lpstr>华文新魏</vt:lpstr>
      <vt:lpstr>楷体_GB2312</vt:lpstr>
      <vt:lpstr>宋体</vt:lpstr>
      <vt:lpstr>微软雅黑</vt:lpstr>
      <vt:lpstr>文悦青龙体 (非商业使用) W5</vt:lpstr>
      <vt:lpstr>幼圆</vt:lpstr>
      <vt:lpstr>Arial</vt:lpstr>
      <vt:lpstr>Arial Black</vt:lpstr>
      <vt:lpstr>Arial Narrow</vt:lpstr>
      <vt:lpstr>Calibri</vt:lpstr>
      <vt:lpstr>Times New Roman</vt:lpstr>
      <vt:lpstr>Wingdings</vt:lpstr>
      <vt:lpstr>1.2-2</vt:lpstr>
      <vt:lpstr>Office 主题​​</vt:lpstr>
      <vt:lpstr>Office 主题​​</vt:lpstr>
      <vt:lpstr>默认设计模板</vt:lpstr>
      <vt:lpstr>Equation.3</vt:lpstr>
      <vt:lpstr>ChemDraw.Document.4.5</vt:lpstr>
      <vt:lpstr>Equation</vt:lpstr>
      <vt:lpstr>Equation.KSEE3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YXZhu</dc:creator>
  <cp:lastModifiedBy>训臣 刘</cp:lastModifiedBy>
  <cp:revision>351</cp:revision>
  <dcterms:created xsi:type="dcterms:W3CDTF">2003-02-07T04:30:00Z</dcterms:created>
  <dcterms:modified xsi:type="dcterms:W3CDTF">2025-12-31T03:55:06Z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BA8D3BF56C5F4810A47BCFDACE6547E6</vt:lpwstr>
  </property>
</Properties>
</file>